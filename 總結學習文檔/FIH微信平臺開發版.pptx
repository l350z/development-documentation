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customXml/itemProps1.xml" ContentType="application/vnd.openxmlformats-officedocument.customXmlProperti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2.xml" ContentType="application/vnd.openxmlformats-officedocument.customXmlProperti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8" r:id="rId2"/>
    <p:sldId id="276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5" r:id="rId13"/>
    <p:sldId id="301" r:id="rId14"/>
    <p:sldId id="302" r:id="rId15"/>
    <p:sldId id="303" r:id="rId16"/>
    <p:sldId id="304" r:id="rId17"/>
    <p:sldId id="306" r:id="rId18"/>
    <p:sldId id="258" r:id="rId19"/>
    <p:sldId id="259" r:id="rId20"/>
    <p:sldId id="260" r:id="rId21"/>
    <p:sldId id="261" r:id="rId22"/>
    <p:sldId id="262" r:id="rId23"/>
    <p:sldId id="307" r:id="rId24"/>
    <p:sldId id="287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20" autoAdjust="0"/>
    <p:restoredTop sz="94667" autoAdjust="0"/>
  </p:normalViewPr>
  <p:slideViewPr>
    <p:cSldViewPr>
      <p:cViewPr varScale="1">
        <p:scale>
          <a:sx n="99" d="100"/>
          <a:sy n="99" d="100"/>
        </p:scale>
        <p:origin x="-123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473FE-7B8B-4315-B2DD-3FED90995521}" type="datetimeFigureOut">
              <a:rPr lang="zh-CN" altLang="en-US" smtClean="0"/>
              <a:pPr/>
              <a:t>2014-8-5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6B451-0AF8-4E0C-920B-2367C2F7658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5591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6B451-0AF8-4E0C-920B-2367C2F7658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 dir="in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brahim.zhao@mail.foxconn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nomaxx.fih-foxconn.com/weixin/handler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orkflow.efih-foxconn.com/menu/RightRedirect.aspx?RowGuid=3753ade7-0dc2-44df-b069-19aed33c81f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innomaxx.fih-foxconn.com/weixin/handler.asp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weixin.qq.com/cgibin/token?grant_type=client_credential&amp;appid=APPID&amp;secret=APPSECRE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weixin.qq.com/cgi-bin/media/uploadnews?access_token=ACCESS_TOKE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weixin.qq.com/cgi-bin/menu/create?access_token=ACCESS_TOKE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+mn-ea"/>
                <a:ea typeface="+mn-ea"/>
              </a:rPr>
              <a:t>FIH</a:t>
            </a:r>
            <a:r>
              <a:rPr lang="zh-CN" altLang="en-US" dirty="0" smtClean="0">
                <a:latin typeface="+mn-ea"/>
                <a:ea typeface="+mn-ea"/>
              </a:rPr>
              <a:t>微信平臺應用</a:t>
            </a:r>
            <a:r>
              <a:rPr lang="en-US" altLang="zh-CN" dirty="0" smtClean="0">
                <a:latin typeface="+mn-ea"/>
                <a:ea typeface="+mn-ea"/>
              </a:rPr>
              <a:t/>
            </a:r>
            <a:br>
              <a:rPr lang="en-US" altLang="zh-CN" dirty="0" smtClean="0">
                <a:latin typeface="+mn-ea"/>
                <a:ea typeface="+mn-ea"/>
              </a:rPr>
            </a:br>
            <a:r>
              <a:rPr lang="en-US" altLang="zh-CN" dirty="0" smtClean="0">
                <a:latin typeface="+mn-ea"/>
                <a:ea typeface="+mn-ea"/>
              </a:rPr>
              <a:t>(</a:t>
            </a:r>
            <a:r>
              <a:rPr lang="zh-CN" altLang="en-US" dirty="0" smtClean="0">
                <a:latin typeface="+mn-ea"/>
                <a:ea typeface="+mn-ea"/>
              </a:rPr>
              <a:t>開發版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zh-TW" altLang="en-US" dirty="0">
              <a:latin typeface="+mn-ea"/>
              <a:ea typeface="+mn-ea"/>
            </a:endParaRPr>
          </a:p>
        </p:txBody>
      </p:sp>
      <p:sp>
        <p:nvSpPr>
          <p:cNvPr id="3" name="副標題 4"/>
          <p:cNvSpPr>
            <a:spLocks noGrp="1"/>
          </p:cNvSpPr>
          <p:nvPr>
            <p:ph type="subTitle" idx="1"/>
          </p:nvPr>
        </p:nvSpPr>
        <p:spPr>
          <a:xfrm>
            <a:off x="1357290" y="4286256"/>
            <a:ext cx="6400800" cy="1752600"/>
          </a:xfrm>
        </p:spPr>
        <p:txBody>
          <a:bodyPr/>
          <a:lstStyle/>
          <a:p>
            <a:r>
              <a:rPr lang="en-US" altLang="zh-TW" dirty="0" smtClean="0">
                <a:hlinkClick r:id="rId2"/>
              </a:rPr>
              <a:t>Ibrahim.zhao@mail.foxconn.com</a:t>
            </a:r>
            <a:endParaRPr lang="en-US" altLang="zh-TW" dirty="0" smtClean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微信整體應用架構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8519841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賬號申請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5" name="圖片 4" descr="注册界面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00105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认证信息登记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071546"/>
            <a:ext cx="5572164" cy="496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賬號申請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928670"/>
            <a:ext cx="7715304" cy="300039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URL</a:t>
            </a:r>
          </a:p>
          <a:p>
            <a:pPr lvl="1"/>
            <a:r>
              <a:rPr lang="zh-CN" altLang="en-US" dirty="0" smtClean="0"/>
              <a:t>微信公眾平臺與我們微信平臺的接口</a:t>
            </a:r>
            <a:endParaRPr lang="en-US" altLang="zh-CN" dirty="0" smtClean="0"/>
          </a:p>
          <a:p>
            <a:pPr lvl="1"/>
            <a:r>
              <a:rPr lang="en-US" altLang="zh-CN" sz="1800" dirty="0" smtClean="0">
                <a:hlinkClick r:id="rId3"/>
              </a:rPr>
              <a:t>http://innomaxx.fih-foxconn.com/weixin/handler.aspx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公眾號碼只支持</a:t>
            </a:r>
            <a:r>
              <a:rPr lang="en-US" altLang="zh-CN" sz="1800" dirty="0" smtClean="0"/>
              <a:t>80</a:t>
            </a:r>
            <a:r>
              <a:rPr lang="zh-CN" altLang="en-US" sz="1800" dirty="0" smtClean="0"/>
              <a:t>端口</a:t>
            </a:r>
            <a:endParaRPr lang="en-US" altLang="zh-CN" sz="1800" dirty="0" smtClean="0"/>
          </a:p>
          <a:p>
            <a:r>
              <a:rPr lang="en-US" altLang="zh-CN" dirty="0" smtClean="0"/>
              <a:t>Token</a:t>
            </a:r>
          </a:p>
          <a:p>
            <a:pPr lvl="1"/>
            <a:r>
              <a:rPr lang="zh-CN" altLang="en-US" dirty="0" smtClean="0"/>
              <a:t>由申請人自己維護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作為密鑰，身份識別的一個參數</a:t>
            </a: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注冊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981450"/>
            <a:ext cx="89249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r>
              <a:rPr lang="en-US" altLang="zh-CN" dirty="0" smtClean="0"/>
              <a:t>Http</a:t>
            </a:r>
          </a:p>
          <a:p>
            <a:pPr lvl="1"/>
            <a:r>
              <a:rPr lang="en-US" altLang="zh-CN" dirty="0" smtClean="0"/>
              <a:t>Get</a:t>
            </a:r>
          </a:p>
          <a:p>
            <a:pPr lvl="2"/>
            <a:r>
              <a:rPr lang="en-US" altLang="zh-TW" sz="1600" dirty="0" smtClean="0">
                <a:hlinkClick r:id="rId2"/>
              </a:rPr>
              <a:t>http://workflow.efih-foxconn.com/menu/RightRedirect.aspx</a:t>
            </a:r>
            <a:r>
              <a:rPr lang="en-US" altLang="zh-TW" b="1" dirty="0" smtClean="0">
                <a:hlinkClick r:id="rId2"/>
              </a:rPr>
              <a:t>?</a:t>
            </a:r>
            <a:r>
              <a:rPr lang="en-US" altLang="zh-TW" sz="1600" dirty="0" smtClean="0">
                <a:hlinkClick r:id="rId2"/>
              </a:rPr>
              <a:t>RowGuid=3753ade7-0dc2-44df-b069-19aed33c81fd</a:t>
            </a:r>
            <a:endParaRPr lang="en-US" altLang="zh-TW" sz="1600" dirty="0" smtClean="0"/>
          </a:p>
          <a:p>
            <a:pPr lvl="2"/>
            <a:r>
              <a:rPr lang="en-US" altLang="zh-TW" dirty="0" smtClean="0"/>
              <a:t>GET</a:t>
            </a:r>
            <a:r>
              <a:rPr lang="zh-CN" altLang="en-US" dirty="0" smtClean="0"/>
              <a:t>提交的数据会在地址栏中显示出来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GET</a:t>
            </a:r>
            <a:r>
              <a:rPr lang="zh-TW" altLang="en-US" dirty="0" smtClean="0"/>
              <a:t>提交，請求的</a:t>
            </a:r>
            <a:r>
              <a:rPr lang="zh-CN" altLang="en-US" dirty="0" smtClean="0"/>
              <a:t>數據</a:t>
            </a:r>
            <a:r>
              <a:rPr lang="zh-TW" altLang="en-US" dirty="0" smtClean="0"/>
              <a:t>會附在</a:t>
            </a:r>
            <a:r>
              <a:rPr lang="en-US" altLang="zh-TW" dirty="0" smtClean="0"/>
              <a:t>URL</a:t>
            </a:r>
            <a:r>
              <a:rPr lang="zh-TW" altLang="en-US" dirty="0" smtClean="0"/>
              <a:t>之後（就是把資料放置在</a:t>
            </a:r>
            <a:r>
              <a:rPr lang="en-US" altLang="zh-TW" dirty="0" smtClean="0"/>
              <a:t>HTTP</a:t>
            </a:r>
            <a:r>
              <a:rPr lang="zh-TW" altLang="en-US" dirty="0" smtClean="0"/>
              <a:t>協定頭中）</a:t>
            </a:r>
            <a:r>
              <a:rPr lang="zh-CN" altLang="en-US" dirty="0" smtClean="0"/>
              <a:t>，</a:t>
            </a:r>
            <a:r>
              <a:rPr lang="zh-TW" altLang="en-US" dirty="0" smtClean="0"/>
              <a:t>以</a:t>
            </a:r>
            <a:r>
              <a:rPr lang="en-US" altLang="zh-TW" dirty="0" smtClean="0"/>
              <a:t>?</a:t>
            </a:r>
            <a:r>
              <a:rPr lang="zh-TW" altLang="en-US" dirty="0" smtClean="0"/>
              <a:t>分割</a:t>
            </a:r>
            <a:r>
              <a:rPr lang="en-US" altLang="zh-TW" dirty="0" smtClean="0"/>
              <a:t>URL</a:t>
            </a:r>
            <a:r>
              <a:rPr lang="zh-TW" altLang="en-US" dirty="0" smtClean="0"/>
              <a:t>和傳輸資料，多個參數用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連接 </a:t>
            </a:r>
            <a:r>
              <a:rPr lang="en-US" altLang="zh-TW" dirty="0" smtClean="0"/>
              <a:t>----</a:t>
            </a:r>
            <a:r>
              <a:rPr lang="en-US" altLang="zh-TW" sz="3600" dirty="0" smtClean="0"/>
              <a:t>URL</a:t>
            </a:r>
            <a:r>
              <a:rPr lang="zh-CN" altLang="en-US" sz="3600" dirty="0" smtClean="0"/>
              <a:t>傳值</a:t>
            </a:r>
            <a:endParaRPr lang="en-US" altLang="zh-TW" sz="3600" dirty="0" smtClean="0"/>
          </a:p>
          <a:p>
            <a:pPr lvl="1"/>
            <a:r>
              <a:rPr lang="en-US" altLang="zh-CN" dirty="0" smtClean="0"/>
              <a:t>Post</a:t>
            </a:r>
          </a:p>
          <a:p>
            <a:pPr lvl="2"/>
            <a:r>
              <a:rPr lang="en-US" dirty="0" smtClean="0"/>
              <a:t>POST</a:t>
            </a:r>
            <a:r>
              <a:rPr lang="zh-TW" altLang="en-US" dirty="0" smtClean="0"/>
              <a:t>提交：把提交的資料放置在是</a:t>
            </a:r>
            <a:r>
              <a:rPr lang="en-US" dirty="0" smtClean="0"/>
              <a:t>HTTP</a:t>
            </a:r>
            <a:r>
              <a:rPr lang="zh-TW" altLang="en-US" dirty="0" smtClean="0"/>
              <a:t>包的包體中</a:t>
            </a: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通信協議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28671"/>
            <a:ext cx="8229600" cy="1143008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 smtClean="0"/>
              <a:t>驗證</a:t>
            </a:r>
            <a:r>
              <a:rPr lang="en-US" altLang="zh-CN" sz="2000" dirty="0" smtClean="0"/>
              <a:t>URL</a:t>
            </a:r>
            <a:r>
              <a:rPr lang="zh-CN" altLang="en-US" sz="2000" dirty="0" smtClean="0"/>
              <a:t>有效性</a:t>
            </a:r>
            <a:endParaRPr lang="en-US" altLang="zh-CN" sz="2000" dirty="0" smtClean="0"/>
          </a:p>
          <a:p>
            <a:pPr lvl="1"/>
            <a:r>
              <a:rPr lang="zh-CN" altLang="en-US" sz="1600" dirty="0" smtClean="0"/>
              <a:t>公眾平臺會向微信服務器發送</a:t>
            </a:r>
            <a:r>
              <a:rPr lang="en-US" altLang="zh-CN" dirty="0" smtClean="0"/>
              <a:t>Get</a:t>
            </a:r>
            <a:r>
              <a:rPr lang="zh-CN" altLang="en-US" sz="1600" dirty="0" smtClean="0"/>
              <a:t>請求到填寫</a:t>
            </a:r>
            <a:r>
              <a:rPr lang="en-US" altLang="zh-CN" sz="1600" dirty="0" smtClean="0"/>
              <a:t>URL</a:t>
            </a:r>
            <a:r>
              <a:rPr lang="zh-CN" altLang="en-US" sz="1600" dirty="0" smtClean="0"/>
              <a:t>上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自己填寫的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，而且有四個參數</a:t>
            </a:r>
            <a:endParaRPr lang="en-US" altLang="zh-CN" sz="1600" dirty="0" smtClean="0"/>
          </a:p>
          <a:p>
            <a:pPr lvl="2">
              <a:buNone/>
            </a:pPr>
            <a:endParaRPr lang="zh-TW" altLang="en-US" sz="12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身份驗證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714480" y="178592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參數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signature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微信加密簽名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timestamp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時間戳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Nonce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隨機數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echostr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書籍字符串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857628"/>
            <a:ext cx="8229600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>
          <a:xfrm>
            <a:off x="0" y="3929066"/>
            <a:ext cx="8858312" cy="114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1143000" lvl="2" indent="-228600">
              <a:spcBef>
                <a:spcPct val="20000"/>
              </a:spcBef>
            </a:pPr>
            <a:r>
              <a:rPr lang="en-US" altLang="zh-CN" sz="2400" dirty="0" smtClean="0">
                <a:hlinkClick r:id="rId2"/>
              </a:rPr>
              <a:t>http://innomaxx.fih-foxconn.com/weixin/handler.aspx</a:t>
            </a:r>
            <a:endParaRPr lang="en-US" altLang="zh-CN" sz="2400" dirty="0" smtClean="0"/>
          </a:p>
          <a:p>
            <a:pPr marL="1143000" lvl="2" indent="-228600">
              <a:spcBef>
                <a:spcPct val="20000"/>
              </a:spcBef>
            </a:pPr>
            <a:r>
              <a:rPr lang="zh-CN" altLang="en-US" sz="2400" b="1" dirty="0" smtClean="0"/>
              <a:t>？</a:t>
            </a:r>
            <a:r>
              <a:rPr lang="en-US" sz="2400" dirty="0" smtClean="0">
                <a:solidFill>
                  <a:schemeClr val="dk1"/>
                </a:solidFill>
              </a:rPr>
              <a:t>signature=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xxxxx</a:t>
            </a:r>
            <a:r>
              <a:rPr lang="en-US" altLang="zh-CN" sz="2400" b="1" dirty="0" err="1" smtClean="0">
                <a:solidFill>
                  <a:schemeClr val="dk1"/>
                </a:solidFill>
              </a:rPr>
              <a:t>&amp;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timestamp</a:t>
            </a:r>
            <a:r>
              <a:rPr lang="en-US" altLang="zh-CN" sz="2400" dirty="0" smtClean="0">
                <a:solidFill>
                  <a:schemeClr val="dk1"/>
                </a:solidFill>
              </a:rPr>
              <a:t>=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xxxxx</a:t>
            </a:r>
            <a:r>
              <a:rPr lang="en-US" altLang="zh-CN" sz="2400" b="1" dirty="0" err="1" smtClean="0">
                <a:solidFill>
                  <a:schemeClr val="dk1"/>
                </a:solidFill>
              </a:rPr>
              <a:t>&amp;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nonce</a:t>
            </a:r>
            <a:r>
              <a:rPr lang="en-US" altLang="zh-CN" sz="2400" dirty="0" smtClean="0">
                <a:solidFill>
                  <a:schemeClr val="dk1"/>
                </a:solidFill>
              </a:rPr>
              <a:t>=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xxxxx</a:t>
            </a:r>
            <a:r>
              <a:rPr lang="en-US" altLang="zh-CN" sz="2400" b="1" dirty="0" err="1" smtClean="0">
                <a:solidFill>
                  <a:schemeClr val="dk1"/>
                </a:solidFill>
              </a:rPr>
              <a:t>&amp;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echostr</a:t>
            </a:r>
            <a:r>
              <a:rPr lang="en-US" altLang="zh-CN" sz="2400" dirty="0" smtClean="0">
                <a:solidFill>
                  <a:schemeClr val="dk1"/>
                </a:solidFill>
              </a:rPr>
              <a:t>=</a:t>
            </a:r>
            <a:r>
              <a:rPr lang="en-US" altLang="zh-CN" sz="2400" dirty="0" err="1" smtClean="0">
                <a:solidFill>
                  <a:schemeClr val="dk1"/>
                </a:solidFill>
              </a:rPr>
              <a:t>xxxxx</a:t>
            </a:r>
            <a:endParaRPr lang="en-US" altLang="zh-CN" sz="2400" dirty="0" smtClean="0">
              <a:solidFill>
                <a:schemeClr val="dk1"/>
              </a:solidFill>
            </a:endParaRPr>
          </a:p>
          <a:p>
            <a:pPr marL="1143000" marR="0" lvl="2" indent="-2286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2857520"/>
          </a:xfrm>
        </p:spPr>
        <p:txBody>
          <a:bodyPr/>
          <a:lstStyle/>
          <a:p>
            <a:pPr lvl="0"/>
            <a:r>
              <a:rPr lang="zh-CN" altLang="en-US" dirty="0" smtClean="0"/>
              <a:t>校驗流程：</a:t>
            </a:r>
            <a:endParaRPr lang="en-US" altLang="zh-CN" dirty="0" smtClean="0"/>
          </a:p>
          <a:p>
            <a:pPr lvl="1"/>
            <a:r>
              <a:rPr lang="en-US" altLang="zh-TW" sz="1800" dirty="0" smtClean="0"/>
              <a:t>1.</a:t>
            </a:r>
            <a:r>
              <a:rPr lang="zh-TW" altLang="en-US" sz="1800" dirty="0" smtClean="0"/>
              <a:t>將</a:t>
            </a:r>
            <a:r>
              <a:rPr lang="en-US" sz="1800" dirty="0" smtClean="0"/>
              <a:t>token</a:t>
            </a:r>
            <a:r>
              <a:rPr lang="zh-TW" altLang="en-US" sz="1800" dirty="0" smtClean="0"/>
              <a:t>、</a:t>
            </a:r>
            <a:r>
              <a:rPr lang="en-US" sz="1800" dirty="0" smtClean="0"/>
              <a:t>timestamp</a:t>
            </a:r>
            <a:r>
              <a:rPr lang="zh-TW" altLang="en-US" sz="1800" dirty="0" smtClean="0"/>
              <a:t>、</a:t>
            </a:r>
            <a:r>
              <a:rPr lang="en-US" sz="1800" dirty="0" smtClean="0"/>
              <a:t>nonce</a:t>
            </a:r>
            <a:r>
              <a:rPr lang="zh-TW" altLang="en-US" sz="1800" dirty="0" smtClean="0"/>
              <a:t>三個參數進行</a:t>
            </a:r>
            <a:r>
              <a:rPr lang="zh-TW" altLang="en-US" sz="1800" b="1" dirty="0" smtClean="0"/>
              <a:t>字典序</a:t>
            </a:r>
            <a:r>
              <a:rPr lang="zh-TW" altLang="en-US" sz="1800" dirty="0" smtClean="0"/>
              <a:t>排序 </a:t>
            </a:r>
            <a:endParaRPr lang="en-US" altLang="zh-TW" sz="1800" dirty="0" smtClean="0"/>
          </a:p>
          <a:p>
            <a:pPr lvl="1"/>
            <a:r>
              <a:rPr lang="en-US" altLang="zh-TW" sz="1800" dirty="0" smtClean="0"/>
              <a:t>2.</a:t>
            </a:r>
            <a:r>
              <a:rPr lang="zh-CN" altLang="en-US" sz="1800" dirty="0" smtClean="0"/>
              <a:t>將三個參數串接成一個字符串進行</a:t>
            </a:r>
            <a:r>
              <a:rPr lang="en-US" altLang="zh-CN" sz="1800" dirty="0" smtClean="0"/>
              <a:t>sha1</a:t>
            </a:r>
            <a:r>
              <a:rPr lang="zh-CN" altLang="en-US" sz="1800" dirty="0" smtClean="0"/>
              <a:t>加密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SHA:</a:t>
            </a:r>
            <a:r>
              <a:rPr lang="en-US" sz="1800" dirty="0" err="1" smtClean="0"/>
              <a:t>Secure</a:t>
            </a:r>
            <a:r>
              <a:rPr lang="en-US" sz="1800" dirty="0" smtClean="0"/>
              <a:t> Hash Algorithm</a:t>
            </a:r>
            <a:r>
              <a:rPr lang="en-US" altLang="zh-CN" sz="1800" dirty="0" smtClean="0"/>
              <a:t>)</a:t>
            </a:r>
          </a:p>
          <a:p>
            <a:pPr lvl="2"/>
            <a:r>
              <a:rPr lang="en-US" altLang="zh-CN" sz="1600" dirty="0" smtClean="0"/>
              <a:t>SHA1 </a:t>
            </a:r>
            <a:r>
              <a:rPr lang="zh-CN" altLang="en-US" sz="1600" dirty="0" smtClean="0"/>
              <a:t>安全</a:t>
            </a:r>
            <a:r>
              <a:rPr lang="en-US" altLang="zh-CN" sz="1600" dirty="0" smtClean="0"/>
              <a:t>Hash</a:t>
            </a:r>
            <a:r>
              <a:rPr lang="zh-CN" altLang="en-US" sz="1600" dirty="0" smtClean="0"/>
              <a:t>算法，類似</a:t>
            </a:r>
            <a:r>
              <a:rPr lang="en-US" altLang="zh-CN" sz="1600" dirty="0" smtClean="0"/>
              <a:t>MD5</a:t>
            </a:r>
            <a:r>
              <a:rPr lang="zh-CN" altLang="en-US" sz="1600" dirty="0" smtClean="0"/>
              <a:t>，不可逆</a:t>
            </a:r>
            <a:endParaRPr lang="en-US" altLang="zh-CN" sz="1600" dirty="0" smtClean="0"/>
          </a:p>
          <a:p>
            <a:pPr lvl="1"/>
            <a:r>
              <a:rPr lang="en-US" altLang="zh-TW" sz="1800" dirty="0" smtClean="0"/>
              <a:t>3.</a:t>
            </a:r>
            <a:r>
              <a:rPr lang="zh-CN" altLang="en-US" sz="1800" dirty="0" smtClean="0"/>
              <a:t>加密后，獲得一個字符串與</a:t>
            </a:r>
            <a:r>
              <a:rPr lang="en-US" altLang="zh-CN" sz="1800" dirty="0" smtClean="0"/>
              <a:t>&lt;</a:t>
            </a:r>
            <a:r>
              <a:rPr lang="en-US" altLang="en-US" sz="1800" dirty="0" smtClean="0"/>
              <a:t>signature&gt;</a:t>
            </a:r>
            <a:r>
              <a:rPr lang="zh-CN" altLang="en-US" sz="1800" dirty="0" smtClean="0"/>
              <a:t>比較，判斷此呼叫來源是否為微信平臺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4.</a:t>
            </a:r>
            <a:r>
              <a:rPr lang="zh-CN" altLang="en-US" sz="1800" dirty="0" smtClean="0"/>
              <a:t>如果判斷是需要原樣返回</a:t>
            </a:r>
            <a:r>
              <a:rPr lang="en-US" altLang="zh-CN" sz="1800" dirty="0" err="1" smtClean="0"/>
              <a:t>Echostr</a:t>
            </a:r>
            <a:r>
              <a:rPr lang="zh-CN" altLang="en-US" sz="1800" dirty="0" smtClean="0"/>
              <a:t>字符串</a:t>
            </a:r>
            <a:endParaRPr lang="en-US" altLang="zh-CN" sz="1800" dirty="0" smtClean="0"/>
          </a:p>
          <a:p>
            <a:pPr lvl="2"/>
            <a:r>
              <a:rPr lang="zh-CN" altLang="en-US" sz="1400" dirty="0" smtClean="0"/>
              <a:t>直接使用</a:t>
            </a:r>
            <a:r>
              <a:rPr lang="en-US" altLang="zh-CN" sz="1400" dirty="0" smtClean="0"/>
              <a:t>asp.net</a:t>
            </a:r>
            <a:r>
              <a:rPr lang="zh-CN" altLang="en-US" sz="1400" dirty="0" smtClean="0"/>
              <a:t>對象</a:t>
            </a:r>
            <a:r>
              <a:rPr lang="en-US" altLang="zh-CN" sz="1400" dirty="0" err="1" smtClean="0"/>
              <a:t>response.write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Echostr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方法相應即可。表示連接成功</a:t>
            </a:r>
            <a:endParaRPr lang="en-US" altLang="zh-CN" sz="1400" dirty="0" smtClean="0"/>
          </a:p>
          <a:p>
            <a:pPr lvl="1"/>
            <a:endParaRPr lang="en-US" altLang="zh-TW" sz="1800" dirty="0" smtClean="0"/>
          </a:p>
          <a:p>
            <a:pPr lvl="1">
              <a:buNone/>
            </a:pPr>
            <a:endParaRPr lang="zh-TW" altLang="en-US" sz="1800" dirty="0" smtClean="0"/>
          </a:p>
          <a:p>
            <a:endParaRPr lang="en-US" altLang="zh-CN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身份驗證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929066"/>
            <a:ext cx="57721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307183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 smtClean="0"/>
              <a:t>接收消息</a:t>
            </a:r>
            <a:endParaRPr lang="en-US" altLang="zh-CN" sz="2400" dirty="0" smtClean="0"/>
          </a:p>
          <a:p>
            <a:r>
              <a:rPr lang="zh-CN" altLang="en-US" sz="1800" dirty="0" smtClean="0"/>
              <a:t>用戶向公眾賬號發送消息時，微信將</a:t>
            </a:r>
            <a:r>
              <a:rPr lang="en-US" altLang="zh-CN" sz="2400" b="1" dirty="0" smtClean="0"/>
              <a:t>POST</a:t>
            </a:r>
            <a:r>
              <a:rPr lang="zh-CN" altLang="en-US" sz="1800" dirty="0" smtClean="0"/>
              <a:t>消息的</a:t>
            </a:r>
            <a:r>
              <a:rPr lang="en-US" altLang="zh-CN" sz="1800" dirty="0" smtClean="0"/>
              <a:t>XML</a:t>
            </a:r>
            <a:r>
              <a:rPr lang="zh-CN" altLang="en-US" sz="1800" dirty="0" smtClean="0"/>
              <a:t>數據發送到填寫</a:t>
            </a:r>
            <a:r>
              <a:rPr lang="en-US" altLang="zh-CN" sz="1800" dirty="0" smtClean="0"/>
              <a:t>URL</a:t>
            </a:r>
            <a:r>
              <a:rPr lang="zh-CN" altLang="en-US" sz="1800" dirty="0" smtClean="0"/>
              <a:t>（需要在</a:t>
            </a:r>
            <a:r>
              <a:rPr lang="en-US" altLang="zh-CN" sz="1800" dirty="0" smtClean="0"/>
              <a:t>5S</a:t>
            </a:r>
            <a:r>
              <a:rPr lang="zh-CN" altLang="en-US" sz="1800" dirty="0" smtClean="0"/>
              <a:t>內進行回應，如果不能及時處理可以回覆空字符串）</a:t>
            </a:r>
            <a:endParaRPr lang="en-US" altLang="zh-CN" sz="1800" dirty="0" smtClean="0"/>
          </a:p>
          <a:p>
            <a:r>
              <a:rPr lang="zh-CN" altLang="en-US" sz="1800" dirty="0" smtClean="0"/>
              <a:t>以下是文本消息的格式：</a:t>
            </a:r>
            <a:endParaRPr lang="en-US" altLang="zh-CN" sz="1800" dirty="0" smtClean="0"/>
          </a:p>
          <a:p>
            <a:r>
              <a:rPr lang="en-US" sz="1400" dirty="0" smtClean="0"/>
              <a:t>&lt;xml&gt;</a:t>
            </a:r>
          </a:p>
          <a:p>
            <a:pPr>
              <a:buNone/>
            </a:pPr>
            <a:r>
              <a:rPr lang="en-US" sz="1400" dirty="0" smtClean="0"/>
              <a:t>          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toUser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b="1" dirty="0" smtClean="0"/>
              <a:t>	&lt;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fromUser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</a:p>
          <a:p>
            <a:pPr>
              <a:buNone/>
            </a:pPr>
            <a:r>
              <a:rPr lang="en-US" sz="1400" b="1" dirty="0" smtClean="0"/>
              <a:t>	 &lt;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1348831860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 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&lt;![CDATA[text]]&gt;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&lt;Content&gt;</a:t>
            </a:r>
            <a:r>
              <a:rPr lang="en-US" sz="1400" dirty="0" smtClean="0"/>
              <a:t>&lt;![CDATA[this is a test]]&gt;</a:t>
            </a:r>
            <a:r>
              <a:rPr lang="en-US" sz="1400" b="1" dirty="0" smtClean="0"/>
              <a:t>&lt;/Content&gt;</a:t>
            </a:r>
          </a:p>
          <a:p>
            <a:pPr>
              <a:buNone/>
            </a:pPr>
            <a:r>
              <a:rPr lang="en-US" sz="1400" dirty="0" smtClean="0"/>
              <a:t> 	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MsgId</a:t>
            </a:r>
            <a:r>
              <a:rPr lang="en-US" sz="1400" b="1" dirty="0" smtClean="0"/>
              <a:t>&gt;</a:t>
            </a:r>
            <a:r>
              <a:rPr lang="en-US" sz="1400" dirty="0" smtClean="0"/>
              <a:t>1234567890123456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MsgId</a:t>
            </a:r>
            <a:r>
              <a:rPr lang="en-US" sz="1400" b="1" dirty="0" smtClean="0"/>
              <a:t>&gt;</a:t>
            </a:r>
            <a:r>
              <a:rPr lang="en-US" sz="1400" dirty="0" smtClean="0"/>
              <a:t> </a:t>
            </a:r>
          </a:p>
          <a:p>
            <a:pPr>
              <a:buNone/>
            </a:pPr>
            <a:r>
              <a:rPr lang="en-US" sz="1400" dirty="0" smtClean="0"/>
              <a:t>          &lt;/xml&gt; </a:t>
            </a:r>
            <a:endParaRPr lang="zh-TW" altLang="en-US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接收消息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14414" y="4143380"/>
          <a:ext cx="5357850" cy="195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925"/>
                <a:gridCol w="2678925"/>
              </a:tblGrid>
              <a:tr h="278995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參數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描述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ToUserName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開發者微信號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FromUserName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*</a:t>
                      </a:r>
                      <a:r>
                        <a:rPr lang="zh-CN" altLang="en-US" sz="1200" dirty="0" smtClean="0"/>
                        <a:t>發送方賬號</a:t>
                      </a:r>
                      <a:r>
                        <a:rPr lang="en-US" altLang="zh-CN" sz="1200" dirty="0" smtClean="0"/>
                        <a:t>(OPEN ID)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CreateTime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創建時間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en-US" altLang="zh-CN" sz="1200" dirty="0" err="1" smtClean="0"/>
                        <a:t>int</a:t>
                      </a:r>
                      <a:r>
                        <a:rPr lang="zh-CN" altLang="en-US" sz="1200" dirty="0" smtClean="0"/>
                        <a:t>型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MsgType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消息類型：</a:t>
                      </a:r>
                      <a:r>
                        <a:rPr lang="en-US" altLang="zh-CN" sz="1200" dirty="0" smtClean="0"/>
                        <a:t>text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Content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文本消息的內容</a:t>
                      </a:r>
                      <a:endParaRPr lang="zh-TW" altLang="en-US" sz="1200" dirty="0"/>
                    </a:p>
                  </a:txBody>
                  <a:tcPr/>
                </a:tc>
              </a:tr>
              <a:tr h="278995">
                <a:tc>
                  <a:txBody>
                    <a:bodyPr/>
                    <a:lstStyle/>
                    <a:p>
                      <a:r>
                        <a:rPr lang="en-US" altLang="zh-CN" sz="1200" dirty="0" err="1" smtClean="0"/>
                        <a:t>MsgId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消息</a:t>
                      </a:r>
                      <a:r>
                        <a:rPr lang="en-US" altLang="zh-CN" sz="1200" dirty="0" smtClean="0"/>
                        <a:t>ID</a:t>
                      </a:r>
                      <a:r>
                        <a:rPr lang="zh-CN" altLang="en-US" sz="1200" dirty="0" smtClean="0"/>
                        <a:t>，</a:t>
                      </a:r>
                      <a:r>
                        <a:rPr lang="en-US" altLang="zh-CN" sz="1200" dirty="0" smtClean="0"/>
                        <a:t>64</a:t>
                      </a:r>
                      <a:r>
                        <a:rPr lang="zh-CN" altLang="en-US" sz="1200" dirty="0" smtClean="0"/>
                        <a:t>整型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28596" y="6211669"/>
            <a:ext cx="792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*</a:t>
            </a:r>
            <a:r>
              <a:rPr lang="zh-TW" altLang="en-US" sz="1200" dirty="0" smtClean="0"/>
              <a:t>使用者向公眾號發送消息時，公眾號方收到的消息發送者是一個</a:t>
            </a:r>
            <a:r>
              <a:rPr lang="en-US" altLang="zh-TW" sz="1200" dirty="0" err="1" smtClean="0"/>
              <a:t>OpenID</a:t>
            </a:r>
            <a:r>
              <a:rPr lang="zh-TW" altLang="en-US" sz="1200" dirty="0" smtClean="0"/>
              <a:t>，是使用使用者微信號加密後的結果，每個用戶對每個公眾號有一個唯一的</a:t>
            </a:r>
            <a:r>
              <a:rPr lang="en-US" altLang="zh-TW" sz="1200" dirty="0" err="1" smtClean="0"/>
              <a:t>OpenID</a:t>
            </a:r>
            <a:endParaRPr lang="zh-TW" altLang="en-US" sz="12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307183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/>
              <a:t>接收事件</a:t>
            </a:r>
            <a:endParaRPr lang="en-US" altLang="zh-CN" sz="2400" dirty="0" smtClean="0"/>
          </a:p>
          <a:p>
            <a:r>
              <a:rPr lang="zh-CN" altLang="en-US" sz="1800" dirty="0" smtClean="0"/>
              <a:t>用戶在關注或者取消關注時，微信將</a:t>
            </a:r>
            <a:r>
              <a:rPr lang="en-US" altLang="zh-CN" sz="2400" b="1" dirty="0" smtClean="0"/>
              <a:t>POST</a:t>
            </a:r>
            <a:r>
              <a:rPr lang="zh-CN" altLang="en-US" sz="1800" dirty="0" smtClean="0"/>
              <a:t>消息的</a:t>
            </a:r>
            <a:r>
              <a:rPr lang="en-US" altLang="zh-CN" sz="1800" dirty="0" smtClean="0"/>
              <a:t>XML</a:t>
            </a:r>
            <a:r>
              <a:rPr lang="zh-CN" altLang="en-US" sz="1800" dirty="0" smtClean="0"/>
              <a:t>數據發送到填寫</a:t>
            </a:r>
            <a:r>
              <a:rPr lang="en-US" altLang="zh-CN" sz="1800" dirty="0" smtClean="0"/>
              <a:t>URL</a:t>
            </a:r>
            <a:r>
              <a:rPr lang="zh-CN" altLang="en-US" sz="1800" dirty="0" smtClean="0"/>
              <a:t>（需要在</a:t>
            </a:r>
            <a:r>
              <a:rPr lang="en-US" altLang="zh-CN" sz="1800" dirty="0" smtClean="0"/>
              <a:t>5S</a:t>
            </a:r>
            <a:r>
              <a:rPr lang="zh-CN" altLang="en-US" sz="1800" dirty="0" smtClean="0"/>
              <a:t>內進行回應）</a:t>
            </a:r>
            <a:endParaRPr lang="en-US" altLang="zh-CN" sz="1800" dirty="0" smtClean="0"/>
          </a:p>
          <a:p>
            <a:r>
              <a:rPr lang="zh-CN" altLang="en-US" sz="1800" dirty="0" smtClean="0"/>
              <a:t>以下是事件的格式：</a:t>
            </a:r>
            <a:endParaRPr lang="en-US" altLang="zh-CN" sz="1800" dirty="0" smtClean="0"/>
          </a:p>
          <a:p>
            <a:r>
              <a:rPr lang="en-US" sz="1400" dirty="0" smtClean="0"/>
              <a:t>&lt;xml&gt;</a:t>
            </a:r>
          </a:p>
          <a:p>
            <a:pPr>
              <a:buNone/>
            </a:pPr>
            <a:r>
              <a:rPr lang="en-US" sz="1400" dirty="0" smtClean="0"/>
              <a:t>          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toUser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b="1" dirty="0" smtClean="0"/>
              <a:t>	&lt;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fromUser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</a:p>
          <a:p>
            <a:pPr>
              <a:buNone/>
            </a:pPr>
            <a:r>
              <a:rPr lang="en-US" sz="1400" b="1" dirty="0" smtClean="0"/>
              <a:t>	 &lt;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1348831860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 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&lt;![CDATA[text]]&gt;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&lt;EVENT&gt;</a:t>
            </a:r>
            <a:r>
              <a:rPr lang="en-US" sz="1400" dirty="0" smtClean="0"/>
              <a:t>&lt;![CDATA[EVENT]]&gt;</a:t>
            </a:r>
            <a:r>
              <a:rPr lang="en-US" sz="1400" b="1" dirty="0" smtClean="0"/>
              <a:t>&lt;/EVENT&gt;</a:t>
            </a:r>
          </a:p>
          <a:p>
            <a:pPr>
              <a:buNone/>
            </a:pPr>
            <a:r>
              <a:rPr lang="en-US" sz="1400" dirty="0" smtClean="0"/>
              <a:t>&lt;/xml&gt; </a:t>
            </a:r>
            <a:endParaRPr lang="zh-TW" altLang="en-US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接收事件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14414" y="4143380"/>
          <a:ext cx="7072362" cy="19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181"/>
                <a:gridCol w="3536181"/>
              </a:tblGrid>
              <a:tr h="32147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參數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描述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ToUserName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開發者微信號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FromUserName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*</a:t>
                      </a:r>
                      <a:r>
                        <a:rPr lang="zh-CN" altLang="en-US" sz="1200" dirty="0" smtClean="0"/>
                        <a:t>發送方賬號</a:t>
                      </a:r>
                      <a:r>
                        <a:rPr lang="en-US" altLang="zh-CN" sz="1200" dirty="0" smtClean="0"/>
                        <a:t>(OPEN ID)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CreateTime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創建時間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en-US" altLang="zh-CN" sz="1200" dirty="0" err="1" smtClean="0"/>
                        <a:t>int</a:t>
                      </a:r>
                      <a:r>
                        <a:rPr lang="zh-CN" altLang="en-US" sz="1200" dirty="0" smtClean="0"/>
                        <a:t>型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MsgType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消息類型</a:t>
                      </a:r>
                      <a:r>
                        <a:rPr lang="en-US" altLang="zh-CN" sz="1200" dirty="0" smtClean="0"/>
                        <a:t>Event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Event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subscribe(</a:t>
                      </a:r>
                      <a:r>
                        <a:rPr lang="zh-CN" altLang="en-US" sz="1200" smtClean="0"/>
                        <a:t>訂閱</a:t>
                      </a:r>
                      <a:r>
                        <a:rPr lang="en-US" sz="1200" smtClean="0"/>
                        <a:t>) </a:t>
                      </a:r>
                      <a:r>
                        <a:rPr lang="en-US" altLang="zh-CN" sz="1200" smtClean="0"/>
                        <a:t>u</a:t>
                      </a:r>
                      <a:r>
                        <a:rPr lang="en-US" sz="1200" smtClean="0"/>
                        <a:t>nsubscribe(</a:t>
                      </a:r>
                      <a:r>
                        <a:rPr lang="zh-CN" altLang="en-US" sz="1200" smtClean="0"/>
                        <a:t>取消訂閱</a:t>
                      </a:r>
                      <a:r>
                        <a:rPr lang="en-US" sz="120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307183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/>
              <a:t>發送被動相應消息</a:t>
            </a:r>
            <a:endParaRPr lang="en-US" altLang="zh-CN" sz="2400" dirty="0" smtClean="0"/>
          </a:p>
          <a:p>
            <a:r>
              <a:rPr lang="zh-TW" altLang="en-US" sz="1800" dirty="0" smtClean="0"/>
              <a:t>對於每一個</a:t>
            </a:r>
            <a:r>
              <a:rPr lang="en-US" sz="1800" dirty="0" smtClean="0"/>
              <a:t>POST</a:t>
            </a:r>
            <a:r>
              <a:rPr lang="zh-TW" altLang="en-US" sz="1800" dirty="0" smtClean="0"/>
              <a:t>請求，開發者在回應包（</a:t>
            </a:r>
            <a:r>
              <a:rPr lang="en-US" sz="1800" b="1" dirty="0" smtClean="0"/>
              <a:t>Get</a:t>
            </a:r>
            <a:r>
              <a:rPr lang="zh-TW" altLang="en-US" sz="1800" dirty="0" smtClean="0"/>
              <a:t>）中返回特定</a:t>
            </a:r>
            <a:r>
              <a:rPr lang="en-US" sz="1800" dirty="0" smtClean="0"/>
              <a:t>XML</a:t>
            </a:r>
            <a:r>
              <a:rPr lang="zh-TW" altLang="en-US" sz="1800" dirty="0" smtClean="0"/>
              <a:t>結構，對該消息進行回應（現支援回復文本、圖片、圖文、語音、視頻、音樂）</a:t>
            </a:r>
            <a:endParaRPr lang="en-US" altLang="zh-TW" sz="1800" dirty="0" smtClean="0"/>
          </a:p>
          <a:p>
            <a:r>
              <a:rPr lang="zh-CN" altLang="en-US" sz="1800" dirty="0" smtClean="0"/>
              <a:t>以下是發送消息格式：</a:t>
            </a:r>
            <a:endParaRPr lang="en-US" altLang="zh-CN" sz="1800" dirty="0" smtClean="0"/>
          </a:p>
          <a:p>
            <a:r>
              <a:rPr lang="en-US" sz="1400" dirty="0" smtClean="0"/>
              <a:t>&lt;xml&gt;</a:t>
            </a:r>
          </a:p>
          <a:p>
            <a:pPr>
              <a:buNone/>
            </a:pPr>
            <a:r>
              <a:rPr lang="en-US" sz="1400" dirty="0" smtClean="0"/>
              <a:t>          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toUser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ToUserName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b="1" dirty="0" smtClean="0"/>
              <a:t>	&lt;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</a:t>
            </a:r>
            <a:r>
              <a:rPr lang="en-US" sz="1400" dirty="0" err="1" smtClean="0"/>
              <a:t>fromUser</a:t>
            </a:r>
            <a:r>
              <a:rPr lang="en-US" sz="1400" dirty="0" smtClean="0"/>
              <a:t>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FromUserName</a:t>
            </a:r>
            <a:r>
              <a:rPr lang="en-US" sz="1400" b="1" dirty="0" smtClean="0"/>
              <a:t>&gt;</a:t>
            </a:r>
          </a:p>
          <a:p>
            <a:pPr>
              <a:buNone/>
            </a:pPr>
            <a:r>
              <a:rPr lang="en-US" sz="1400" b="1" dirty="0" smtClean="0"/>
              <a:t>	 &lt;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1348831860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CreateTime</a:t>
            </a:r>
            <a:r>
              <a:rPr lang="en-US" sz="1400" b="1" dirty="0" smtClean="0"/>
              <a:t>&gt;</a:t>
            </a:r>
            <a:r>
              <a:rPr lang="en-US" sz="1400" dirty="0" smtClean="0"/>
              <a:t> 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&lt;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</a:t>
            </a:r>
            <a:r>
              <a:rPr lang="en-US" sz="1400" dirty="0" smtClean="0"/>
              <a:t>&lt;![CDATA[text]]&gt;</a:t>
            </a:r>
            <a:r>
              <a:rPr lang="en-US" sz="1400" b="1" dirty="0" smtClean="0"/>
              <a:t>&lt;/</a:t>
            </a:r>
            <a:r>
              <a:rPr lang="en-US" sz="1400" b="1" dirty="0" err="1" smtClean="0"/>
              <a:t>MsgType</a:t>
            </a:r>
            <a:r>
              <a:rPr lang="en-US" sz="1400" b="1" dirty="0" smtClean="0"/>
              <a:t>&gt; </a:t>
            </a:r>
          </a:p>
          <a:p>
            <a:pPr>
              <a:buNone/>
            </a:pPr>
            <a:r>
              <a:rPr lang="en-US" sz="1400" dirty="0" smtClean="0"/>
              <a:t>	&lt;</a:t>
            </a:r>
            <a:r>
              <a:rPr lang="en-US" sz="1400" b="1" dirty="0" smtClean="0"/>
              <a:t>Content&gt;</a:t>
            </a:r>
            <a:r>
              <a:rPr lang="en-US" sz="1400" dirty="0" smtClean="0"/>
              <a:t>&lt;![CDATA[</a:t>
            </a:r>
            <a:r>
              <a:rPr lang="zh-TW" altLang="en-US" sz="1400" dirty="0" smtClean="0"/>
              <a:t>你好</a:t>
            </a:r>
            <a:r>
              <a:rPr lang="en-US" altLang="zh-TW" sz="1400" dirty="0" smtClean="0"/>
              <a:t>]]&gt;</a:t>
            </a:r>
            <a:r>
              <a:rPr lang="en-US" altLang="zh-TW" sz="1400" b="1" dirty="0" smtClean="0"/>
              <a:t>&lt;/</a:t>
            </a:r>
            <a:r>
              <a:rPr lang="en-US" sz="1400" b="1" dirty="0" smtClean="0"/>
              <a:t>Content&gt; </a:t>
            </a:r>
          </a:p>
          <a:p>
            <a:pPr>
              <a:buNone/>
            </a:pPr>
            <a:r>
              <a:rPr lang="en-US" sz="1400" dirty="0" smtClean="0"/>
              <a:t>&lt;/xml&gt; </a:t>
            </a:r>
            <a:endParaRPr lang="zh-TW" altLang="en-US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發送被動相應消息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4143380"/>
          <a:ext cx="7072362" cy="19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181"/>
                <a:gridCol w="3536181"/>
              </a:tblGrid>
              <a:tr h="32147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參數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描述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ToUserName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接收芳賬號</a:t>
                      </a:r>
                      <a:r>
                        <a:rPr lang="en-US" altLang="zh-CN" sz="1200" dirty="0" smtClean="0"/>
                        <a:t>(OPEN ID)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FromUserName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開發者微信號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CreateTime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創建時間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en-US" altLang="zh-CN" sz="1200" dirty="0" err="1" smtClean="0"/>
                        <a:t>int</a:t>
                      </a:r>
                      <a:r>
                        <a:rPr lang="zh-CN" altLang="en-US" sz="1200" dirty="0" smtClean="0"/>
                        <a:t>型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MsgType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text</a:t>
                      </a:r>
                      <a:endParaRPr lang="zh-TW" altLang="en-US" sz="1200" dirty="0"/>
                    </a:p>
                  </a:txBody>
                  <a:tcPr/>
                </a:tc>
              </a:tr>
              <a:tr h="321471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Content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回覆的消息內容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zh-CN" altLang="en-US" sz="1200" dirty="0" smtClean="0"/>
                        <a:t>可以有換行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3071810"/>
            <a:ext cx="376417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4643470"/>
          </a:xfrm>
        </p:spPr>
        <p:txBody>
          <a:bodyPr>
            <a:normAutofit/>
          </a:bodyPr>
          <a:lstStyle/>
          <a:p>
            <a:r>
              <a:rPr lang="en-US" altLang="zh-CN" sz="1800" dirty="0" smtClean="0"/>
              <a:t>1.</a:t>
            </a:r>
            <a:r>
              <a:rPr lang="zh-CN" altLang="en-US" sz="1800" dirty="0" smtClean="0"/>
              <a:t>發送群體消息</a:t>
            </a:r>
            <a:endParaRPr lang="en-US" altLang="zh-TW" sz="1800" dirty="0" smtClean="0"/>
          </a:p>
          <a:p>
            <a:r>
              <a:rPr lang="en-US" altLang="zh-TW" sz="1800" dirty="0" smtClean="0"/>
              <a:t>2.</a:t>
            </a:r>
            <a:r>
              <a:rPr lang="zh-CN" altLang="en-US" sz="1800" dirty="0" smtClean="0"/>
              <a:t>自定義菜單</a:t>
            </a:r>
            <a:r>
              <a:rPr lang="en-US" altLang="zh-CN" sz="1800" dirty="0" smtClean="0"/>
              <a:t>	</a:t>
            </a:r>
            <a:endParaRPr lang="en-US" altLang="zh-CN" sz="1400" dirty="0" smtClean="0"/>
          </a:p>
          <a:p>
            <a:pPr lvl="1">
              <a:buNone/>
            </a:pPr>
            <a:r>
              <a:rPr lang="zh-CN" altLang="en-US" sz="1400" dirty="0" smtClean="0"/>
              <a:t>以上兩個需求，需要我們去主動調用公眾號需求。</a:t>
            </a:r>
            <a:endParaRPr lang="en-US" altLang="zh-CN" sz="1400" dirty="0" smtClean="0"/>
          </a:p>
          <a:p>
            <a:pPr lvl="1">
              <a:buNone/>
            </a:pPr>
            <a:r>
              <a:rPr lang="zh-CN" altLang="en-US" sz="1400" dirty="0" smtClean="0"/>
              <a:t>爲了進行身份安全驗證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類似與</a:t>
            </a:r>
            <a:r>
              <a:rPr lang="en-US" altLang="zh-CN" sz="1400" dirty="0" smtClean="0"/>
              <a:t>asp.net Session),</a:t>
            </a:r>
            <a:r>
              <a:rPr lang="zh-CN" altLang="en-US" sz="1400" dirty="0" smtClean="0"/>
              <a:t>我們在調用接口前，需要獲取</a:t>
            </a:r>
            <a:r>
              <a:rPr lang="en-US" altLang="zh-CN" sz="1400" dirty="0" err="1" smtClean="0"/>
              <a:t>Access_Token</a:t>
            </a:r>
            <a:endParaRPr lang="en-US" altLang="zh-CN" sz="1400" dirty="0" smtClean="0"/>
          </a:p>
          <a:p>
            <a:pPr lvl="1">
              <a:buNone/>
            </a:pPr>
            <a:r>
              <a:rPr lang="en-US" altLang="zh-CN" sz="1400" dirty="0" err="1" smtClean="0"/>
              <a:t>Access_Token</a:t>
            </a:r>
            <a:r>
              <a:rPr lang="zh-CN" altLang="en-US" sz="1400" dirty="0" smtClean="0"/>
              <a:t>有效期為</a:t>
            </a:r>
            <a:r>
              <a:rPr lang="en-US" altLang="zh-CN" sz="1400" dirty="0" smtClean="0"/>
              <a:t>7200s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lvl="1">
              <a:buNone/>
            </a:pPr>
            <a:r>
              <a:rPr lang="zh-CN" altLang="en-US" sz="1400" dirty="0" smtClean="0"/>
              <a:t>獲取</a:t>
            </a:r>
            <a:r>
              <a:rPr lang="en-US" altLang="zh-CN" sz="1400" dirty="0" err="1" smtClean="0"/>
              <a:t>Access_Token</a:t>
            </a:r>
            <a:r>
              <a:rPr lang="en-US" altLang="zh-CN" sz="1400" dirty="0" smtClean="0"/>
              <a:t>:</a:t>
            </a:r>
          </a:p>
          <a:p>
            <a:pPr lvl="1">
              <a:buNone/>
            </a:pPr>
            <a:r>
              <a:rPr lang="zh-CN" altLang="en-US" sz="1400" dirty="0" smtClean="0"/>
              <a:t>發送</a:t>
            </a:r>
            <a:r>
              <a:rPr lang="en-US" altLang="zh-CN" sz="1800" dirty="0" smtClean="0"/>
              <a:t>Http Get </a:t>
            </a:r>
            <a:r>
              <a:rPr lang="zh-CN" altLang="en-US" sz="1400" dirty="0" smtClean="0"/>
              <a:t>請求到</a:t>
            </a:r>
            <a:r>
              <a:rPr lang="en-US" sz="1400" dirty="0" smtClean="0">
                <a:hlinkClick r:id="rId2"/>
              </a:rPr>
              <a:t>https://api.weixin.qq.com/cgibin/token?grant_type=client_credential&amp;appid=APPID&amp;secret=APPSECRET</a:t>
            </a:r>
            <a:r>
              <a:rPr lang="en-US" sz="1400" dirty="0" smtClean="0"/>
              <a:t> </a:t>
            </a:r>
          </a:p>
          <a:p>
            <a:pPr lvl="1">
              <a:buNone/>
            </a:pPr>
            <a:r>
              <a:rPr lang="zh-CN" altLang="en-US" sz="1400" dirty="0" smtClean="0"/>
              <a:t>其中</a:t>
            </a:r>
            <a:r>
              <a:rPr lang="en-US" altLang="zh-CN" sz="1400" dirty="0" err="1" smtClean="0"/>
              <a:t>AppID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與 </a:t>
            </a:r>
            <a:r>
              <a:rPr lang="en-US" altLang="zh-CN" sz="1400" dirty="0" smtClean="0"/>
              <a:t>Secret </a:t>
            </a:r>
            <a:r>
              <a:rPr lang="zh-CN" altLang="en-US" sz="1400" dirty="0" smtClean="0"/>
              <a:t>在注冊服務號碼時，固定值。</a:t>
            </a:r>
            <a:endParaRPr lang="en-US" altLang="zh-CN" sz="1400" dirty="0" smtClean="0"/>
          </a:p>
          <a:p>
            <a:pPr lvl="1">
              <a:buNone/>
            </a:pPr>
            <a:endParaRPr lang="en-US" altLang="zh-CN" sz="1400" dirty="0" smtClean="0"/>
          </a:p>
          <a:p>
            <a:pPr lvl="1">
              <a:buNone/>
            </a:pPr>
            <a:r>
              <a:rPr lang="zh-CN" altLang="en-US" sz="1400" dirty="0" smtClean="0"/>
              <a:t>發送</a:t>
            </a:r>
            <a:r>
              <a:rPr lang="en-US" altLang="zh-CN" sz="2000" dirty="0" smtClean="0"/>
              <a:t>Get </a:t>
            </a:r>
            <a:r>
              <a:rPr lang="zh-CN" altLang="en-US" sz="1400" dirty="0" smtClean="0"/>
              <a:t>請求 微信平臺返回</a:t>
            </a:r>
            <a:r>
              <a:rPr lang="en-US" altLang="zh-CN" sz="1400" dirty="0" smtClean="0"/>
              <a:t>Jason</a:t>
            </a:r>
            <a:r>
              <a:rPr lang="zh-CN" altLang="en-US" sz="1400" dirty="0" smtClean="0"/>
              <a:t>數據的格式</a:t>
            </a:r>
            <a:endParaRPr lang="en-US" altLang="zh-CN" sz="1400" dirty="0" smtClean="0"/>
          </a:p>
          <a:p>
            <a:pPr lvl="1">
              <a:buNone/>
            </a:pPr>
            <a:r>
              <a:rPr lang="en-US" sz="1400" dirty="0" smtClean="0"/>
              <a:t>{"</a:t>
            </a:r>
            <a:r>
              <a:rPr lang="en-US" sz="1400" dirty="0" err="1" smtClean="0"/>
              <a:t>access_token</a:t>
            </a:r>
            <a:r>
              <a:rPr lang="en-US" sz="1400" dirty="0" smtClean="0"/>
              <a:t>":"</a:t>
            </a:r>
            <a:r>
              <a:rPr lang="en-US" sz="1400" dirty="0" err="1" smtClean="0"/>
              <a:t>ACCESS_TOKEN","expires_in</a:t>
            </a:r>
            <a:r>
              <a:rPr lang="en-US" sz="1400" dirty="0" smtClean="0"/>
              <a:t>":7200}</a:t>
            </a:r>
            <a:endParaRPr lang="en-US" altLang="zh-CN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調用公眾平臺接口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464347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發送客服消息</a:t>
            </a:r>
            <a:endParaRPr lang="en-US" altLang="zh-CN" sz="2400" dirty="0" smtClean="0"/>
          </a:p>
          <a:p>
            <a:r>
              <a:rPr lang="zh-TW" altLang="en-US" sz="1800" dirty="0" smtClean="0"/>
              <a:t>在公眾平臺網站上，為訂閱號提供了每天一條的群發</a:t>
            </a:r>
            <a:r>
              <a:rPr lang="zh-CN" altLang="en-US" sz="1800" dirty="0" smtClean="0"/>
              <a:t>權限</a:t>
            </a:r>
            <a:r>
              <a:rPr lang="zh-TW" altLang="en-US" sz="1800" dirty="0" smtClean="0"/>
              <a:t>，為服務號提供每月（自然月）</a:t>
            </a:r>
            <a:r>
              <a:rPr lang="en-US" sz="1800" dirty="0" smtClean="0"/>
              <a:t>4</a:t>
            </a:r>
            <a:r>
              <a:rPr lang="zh-TW" altLang="en-US" sz="1800" dirty="0" smtClean="0"/>
              <a:t>條的群發</a:t>
            </a:r>
            <a:r>
              <a:rPr lang="zh-CN" altLang="en-US" sz="1800" dirty="0" smtClean="0"/>
              <a:t>權限。</a:t>
            </a:r>
            <a:endParaRPr lang="en-US" altLang="zh-CN" sz="1800" dirty="0" smtClean="0"/>
          </a:p>
          <a:p>
            <a:r>
              <a:rPr lang="zh-CN" altLang="en-US" sz="1800" dirty="0" smtClean="0"/>
              <a:t>采用</a:t>
            </a:r>
            <a:r>
              <a:rPr lang="en-US" altLang="zh-CN" sz="1800" dirty="0" smtClean="0"/>
              <a:t>Http Post</a:t>
            </a:r>
            <a:r>
              <a:rPr lang="zh-CN" altLang="en-US" sz="1800" dirty="0" smtClean="0"/>
              <a:t>方式請求</a:t>
            </a:r>
            <a:r>
              <a:rPr lang="nn-NO" sz="1800" dirty="0" smtClean="0"/>
              <a:t>http请求方式: POST </a:t>
            </a:r>
          </a:p>
          <a:p>
            <a:r>
              <a:rPr lang="nn-NO" sz="1800" dirty="0" smtClean="0">
                <a:hlinkClick r:id="rId2"/>
              </a:rPr>
              <a:t>https://api.weixin.qq.com/cgi-bin/media/uploadnews?access_token=ACCESS_TOKEN</a:t>
            </a:r>
            <a:r>
              <a:rPr lang="nn-NO" sz="1800" dirty="0" smtClean="0"/>
              <a:t> </a:t>
            </a:r>
            <a:endParaRPr lang="zh-TW" altLang="en-US" sz="1800" dirty="0" smtClean="0"/>
          </a:p>
          <a:p>
            <a:r>
              <a:rPr lang="zh-CN" altLang="en-US" sz="1800" dirty="0" smtClean="0"/>
              <a:t>以下是發送消息格式：</a:t>
            </a:r>
            <a:endParaRPr lang="en-US" altLang="zh-CN" sz="1800" dirty="0" smtClean="0"/>
          </a:p>
          <a:p>
            <a:r>
              <a:rPr lang="en-US" sz="1400" dirty="0" smtClean="0"/>
              <a:t>{ "articles": [ { "</a:t>
            </a:r>
            <a:r>
              <a:rPr lang="en-US" sz="1400" dirty="0" err="1" smtClean="0"/>
              <a:t>thumb_media_id</a:t>
            </a:r>
            <a:r>
              <a:rPr lang="en-US" sz="1400" dirty="0" smtClean="0"/>
              <a:t>":"qI6_Ze_6PtV7svjolgs-rN6stStuHIjs9_DidOHaj0Q-mwvBelOXCFZiq2OsIU-p", "author":"xxx", "title":"Happy Day", "</a:t>
            </a:r>
            <a:r>
              <a:rPr lang="en-US" sz="1400" dirty="0" err="1" smtClean="0"/>
              <a:t>content_source_url</a:t>
            </a:r>
            <a:r>
              <a:rPr lang="en-US" sz="1400" dirty="0" smtClean="0"/>
              <a:t>":"www.qq.com", "content":"content", "digest":"digest", "</a:t>
            </a:r>
            <a:r>
              <a:rPr lang="en-US" sz="1400" dirty="0" err="1" smtClean="0"/>
              <a:t>show_cover_pic</a:t>
            </a:r>
            <a:r>
              <a:rPr lang="en-US" sz="1400" dirty="0" smtClean="0"/>
              <a:t>":"1" }, { "</a:t>
            </a:r>
            <a:r>
              <a:rPr lang="en-US" sz="1400" dirty="0" err="1" smtClean="0"/>
              <a:t>thumb_media_id</a:t>
            </a:r>
            <a:r>
              <a:rPr lang="en-US" sz="1400" dirty="0" smtClean="0"/>
              <a:t>":"qI6_Ze_6PtV7svjolgs-rN6stStuHIjs9_DidOHaj0Q-mwvBelOXCFZiq2OsIU-p", "author":"xxx", "title":"Happy Day", "</a:t>
            </a:r>
            <a:r>
              <a:rPr lang="en-US" sz="1400" dirty="0" err="1" smtClean="0"/>
              <a:t>content_source_url</a:t>
            </a:r>
            <a:r>
              <a:rPr lang="en-US" sz="1400" dirty="0" smtClean="0"/>
              <a:t>":"www.qq.com", "content":"content", "digest":"digest", "</a:t>
            </a:r>
            <a:r>
              <a:rPr lang="en-US" sz="1400" dirty="0" err="1" smtClean="0"/>
              <a:t>show_cover_pic</a:t>
            </a:r>
            <a:r>
              <a:rPr lang="en-US" sz="1400" dirty="0" smtClean="0"/>
              <a:t>":"0" } ] } </a:t>
            </a:r>
            <a:endParaRPr lang="zh-TW" altLang="en-US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發送群體客服消息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857232"/>
            <a:ext cx="5143536" cy="5786478"/>
          </a:xfrm>
        </p:spPr>
        <p:txBody>
          <a:bodyPr/>
          <a:lstStyle/>
          <a:p>
            <a:r>
              <a:rPr lang="zh-CN" altLang="en-US" dirty="0" smtClean="0"/>
              <a:t>自定義菜單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公眾號碼類型為</a:t>
            </a:r>
            <a:r>
              <a:rPr lang="zh-CN" altLang="en-US" sz="2400" b="1" dirty="0" smtClean="0"/>
              <a:t>服務號</a:t>
            </a:r>
            <a:endParaRPr lang="en-US" altLang="zh-CN" sz="2400" b="1" dirty="0" smtClean="0"/>
          </a:p>
          <a:p>
            <a:pPr lvl="1"/>
            <a:r>
              <a:rPr lang="zh-CN" altLang="en-US" sz="1800" dirty="0" smtClean="0"/>
              <a:t>只要服務號才支持自定義菜單</a:t>
            </a:r>
            <a:endParaRPr lang="en-US" altLang="zh-CN" sz="1800" dirty="0" smtClean="0"/>
          </a:p>
          <a:p>
            <a:pPr lvl="1"/>
            <a:r>
              <a:rPr lang="zh-TW" altLang="en-US" sz="1800" dirty="0" smtClean="0"/>
              <a:t>目前自訂功能表最多包括</a:t>
            </a:r>
            <a:r>
              <a:rPr lang="en-US" altLang="en-US" sz="1800" dirty="0" smtClean="0"/>
              <a:t>3</a:t>
            </a:r>
            <a:r>
              <a:rPr lang="zh-TW" altLang="en-US" sz="1800" dirty="0" smtClean="0"/>
              <a:t>個一級菜单，每個一級菜单最多包含</a:t>
            </a:r>
            <a:r>
              <a:rPr lang="en-US" altLang="en-US" sz="1800" dirty="0" smtClean="0"/>
              <a:t>5</a:t>
            </a:r>
            <a:r>
              <a:rPr lang="zh-TW" altLang="en-US" sz="1800" dirty="0" smtClean="0"/>
              <a:t>個二級菜單。一級菜单表最多</a:t>
            </a:r>
            <a:r>
              <a:rPr lang="en-US" altLang="en-US" sz="1800" dirty="0" smtClean="0"/>
              <a:t>4</a:t>
            </a:r>
            <a:r>
              <a:rPr lang="zh-TW" altLang="en-US" sz="1800" dirty="0" smtClean="0"/>
              <a:t>個漢字，二級菜單最多</a:t>
            </a:r>
            <a:r>
              <a:rPr lang="en-US" altLang="en-US" sz="1800" dirty="0" smtClean="0"/>
              <a:t>7</a:t>
            </a:r>
            <a:r>
              <a:rPr lang="zh-TW" altLang="en-US" sz="1800" dirty="0" smtClean="0"/>
              <a:t>個漢字，多出來的部分將會以“</a:t>
            </a:r>
            <a:r>
              <a:rPr lang="en-US" altLang="en-US" sz="1800" dirty="0" smtClean="0"/>
              <a:t>...</a:t>
            </a:r>
            <a:r>
              <a:rPr lang="zh-TW" altLang="en-US" sz="1800" dirty="0" smtClean="0"/>
              <a:t>”代替</a:t>
            </a:r>
            <a:endParaRPr lang="en-US" altLang="zh-TW" sz="1800" dirty="0" smtClean="0"/>
          </a:p>
          <a:p>
            <a:pPr lvl="1"/>
            <a:r>
              <a:rPr lang="zh-CN" altLang="en-US" sz="1800" dirty="0" smtClean="0"/>
              <a:t>注意：創建自定義菜單后，</a:t>
            </a:r>
            <a:r>
              <a:rPr lang="en-US" altLang="zh-CN" sz="1800" dirty="0" smtClean="0"/>
              <a:t>24</a:t>
            </a:r>
            <a:r>
              <a:rPr lang="zh-CN" altLang="en-US" sz="1800" dirty="0" smtClean="0"/>
              <a:t>小時后才可以在微信上看到</a:t>
            </a:r>
            <a:endParaRPr lang="en-US" altLang="zh-CN" sz="1800" dirty="0" smtClean="0"/>
          </a:p>
          <a:p>
            <a:r>
              <a:rPr lang="zh-CN" altLang="en-US" sz="2200" dirty="0" smtClean="0"/>
              <a:t>自定義菜單有兩類：</a:t>
            </a:r>
            <a:endParaRPr lang="en-US" altLang="zh-CN" sz="2200" dirty="0" smtClean="0"/>
          </a:p>
          <a:p>
            <a:pPr lvl="1"/>
            <a:r>
              <a:rPr lang="en-US" altLang="zh-CN" sz="1800" dirty="0" smtClean="0"/>
              <a:t>Click(</a:t>
            </a:r>
            <a:r>
              <a:rPr lang="zh-CN" altLang="en-US" sz="1800" dirty="0" smtClean="0"/>
              <a:t>點擊按鈕</a:t>
            </a:r>
            <a:r>
              <a:rPr lang="en-US" altLang="zh-CN" sz="1800" dirty="0" smtClean="0"/>
              <a:t>)</a:t>
            </a:r>
          </a:p>
          <a:p>
            <a:pPr lvl="2"/>
            <a:r>
              <a:rPr lang="zh-CN" altLang="en-US" sz="1400" dirty="0" smtClean="0"/>
              <a:t>用戶點擊后，微信服務器通過推送消息類型為</a:t>
            </a:r>
            <a:r>
              <a:rPr lang="en-US" altLang="zh-CN" sz="1400" dirty="0" smtClean="0"/>
              <a:t>Event</a:t>
            </a:r>
            <a:r>
              <a:rPr lang="zh-CN" altLang="en-US" sz="1400" dirty="0" smtClean="0"/>
              <a:t>，其中</a:t>
            </a:r>
            <a:r>
              <a:rPr lang="en-US" altLang="zh-CN" sz="1400" dirty="0" smtClean="0"/>
              <a:t>Event</a:t>
            </a:r>
            <a:r>
              <a:rPr lang="zh-CN" altLang="en-US" sz="1400" dirty="0" smtClean="0"/>
              <a:t>有一個重要屬性就是</a:t>
            </a:r>
            <a:r>
              <a:rPr lang="en-US" altLang="zh-CN" sz="1400" dirty="0" smtClean="0"/>
              <a:t>key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pPr lvl="1"/>
            <a:r>
              <a:rPr lang="en-US" altLang="zh-CN" sz="1800" dirty="0" smtClean="0"/>
              <a:t>View</a:t>
            </a:r>
            <a:r>
              <a:rPr lang="zh-CN" altLang="en-US" sz="1800" dirty="0" smtClean="0"/>
              <a:t>（鏈接）</a:t>
            </a:r>
            <a:endParaRPr lang="en-US" altLang="zh-CN" sz="1800" dirty="0" smtClean="0"/>
          </a:p>
          <a:p>
            <a:pPr lvl="2"/>
            <a:r>
              <a:rPr lang="zh-CN" altLang="en-US" sz="1400" dirty="0" smtClean="0"/>
              <a:t>打開相應</a:t>
            </a:r>
            <a:r>
              <a:rPr lang="en-US" altLang="zh-CN" sz="1400" dirty="0" smtClean="0"/>
              <a:t>URL</a:t>
            </a:r>
          </a:p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857884" y="857232"/>
            <a:ext cx="3112019" cy="5786478"/>
            <a:chOff x="5500694" y="785794"/>
            <a:chExt cx="3254895" cy="5786478"/>
          </a:xfrm>
        </p:grpSpPr>
        <p:pic>
          <p:nvPicPr>
            <p:cNvPr id="5" name="圖片 4" descr="Screenshot_2014-07-10-09-10-4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694" y="785794"/>
              <a:ext cx="3254895" cy="5786478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5572132" y="6072206"/>
              <a:ext cx="3143272" cy="5000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創建自定義菜單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28671"/>
            <a:ext cx="8043890" cy="642941"/>
          </a:xfrm>
        </p:spPr>
        <p:txBody>
          <a:bodyPr>
            <a:normAutofit/>
          </a:bodyPr>
          <a:lstStyle/>
          <a:p>
            <a:r>
              <a:rPr lang="en-US" sz="1600" dirty="0" smtClean="0"/>
              <a:t>http</a:t>
            </a:r>
            <a:r>
              <a:rPr lang="zh-CN" altLang="en-US" sz="1600" dirty="0" smtClean="0"/>
              <a:t>請求方式</a:t>
            </a:r>
            <a:r>
              <a:rPr lang="zh-TW" altLang="en-US" sz="1600" dirty="0" smtClean="0"/>
              <a:t>：</a:t>
            </a:r>
            <a:r>
              <a:rPr lang="en-US" sz="2000" b="1" dirty="0" smtClean="0"/>
              <a:t>POST</a:t>
            </a:r>
            <a:r>
              <a:rPr lang="en-US" sz="1600" dirty="0" smtClean="0"/>
              <a:t>（</a:t>
            </a:r>
            <a:r>
              <a:rPr lang="zh-TW" altLang="en-US" sz="1600" dirty="0" smtClean="0"/>
              <a:t>使用</a:t>
            </a:r>
            <a:r>
              <a:rPr lang="en-US" sz="1600" dirty="0" smtClean="0"/>
              <a:t>https</a:t>
            </a:r>
            <a:r>
              <a:rPr lang="zh-CN" altLang="en-US" sz="1600" dirty="0" smtClean="0"/>
              <a:t>協議</a:t>
            </a:r>
            <a:r>
              <a:rPr lang="zh-TW" altLang="en-US" sz="1600" dirty="0" smtClean="0"/>
              <a:t>） </a:t>
            </a:r>
            <a:r>
              <a:rPr lang="en-US" sz="1600" dirty="0" smtClean="0">
                <a:hlinkClick r:id="rId2"/>
              </a:rPr>
              <a:t>https://api.weixin.qq.com/cgi-bin/menu/create?access_token=ACCESS_TOKEN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創建自定義菜單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142844" y="1714488"/>
            <a:ext cx="2857520" cy="4071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{“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</a:t>
            </a: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”:[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{ “type”:”click”,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“name”:”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校園招聘</a:t>
            </a: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“key”:”</a:t>
            </a:r>
            <a:r>
              <a:rPr kumimoji="0" lang="en-US" altLang="zh-TW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Shool</a:t>
            </a:r>
            <a:r>
              <a:rPr kumimoji="0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{ “type”:”click”,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“name”:”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社會招聘</a:t>
            </a: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“key”:”</a:t>
            </a: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Society</a:t>
            </a:r>
            <a:r>
              <a:rPr kumimoji="0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},</a:t>
            </a:r>
            <a:endParaRPr lang="en-US" altLang="zh-TW" sz="1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1200" dirty="0" smtClean="0"/>
              <a:t>	{ “type”:”click”,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1200" dirty="0" smtClean="0"/>
              <a:t>	   “name”:”</a:t>
            </a:r>
            <a:r>
              <a:rPr lang="zh-CN" altLang="en-US" sz="1200" dirty="0" smtClean="0"/>
              <a:t>普工招聘</a:t>
            </a:r>
            <a:r>
              <a:rPr lang="en-US" altLang="zh-TW" sz="1200" dirty="0" smtClean="0"/>
              <a:t>”,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1200" dirty="0" smtClean="0"/>
              <a:t>	</a:t>
            </a:r>
            <a:r>
              <a:rPr lang="en-US" altLang="zh-TW" sz="1200" b="1" dirty="0" smtClean="0"/>
              <a:t>   “key”:”Operator”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1200" dirty="0" smtClean="0"/>
              <a:t>	}</a:t>
            </a:r>
            <a:endParaRPr kumimoji="0" lang="en-US" altLang="zh-TW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      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3000364" y="1571612"/>
            <a:ext cx="5929354" cy="5143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altLang="zh-TW" sz="1200" dirty="0" smtClean="0"/>
              <a:t>/// &lt;summary&gt;</a:t>
            </a:r>
          </a:p>
          <a:p>
            <a:r>
              <a:rPr lang="zh-TW" altLang="en-US" sz="1200" dirty="0" smtClean="0"/>
              <a:t>    </a:t>
            </a:r>
            <a:r>
              <a:rPr lang="en-US" altLang="zh-TW" sz="1200" dirty="0" smtClean="0"/>
              <a:t>///</a:t>
            </a:r>
            <a:r>
              <a:rPr lang="zh-TW" altLang="en-US" sz="1200" dirty="0" smtClean="0"/>
              <a:t> </a:t>
            </a:r>
            <a:r>
              <a:rPr lang="en-US" altLang="zh-TW" sz="1200" dirty="0" smtClean="0"/>
              <a:t>Post</a:t>
            </a:r>
            <a:r>
              <a:rPr lang="zh-CN" altLang="en-US" sz="1200" dirty="0" smtClean="0"/>
              <a:t>請求到微信服務器</a:t>
            </a:r>
            <a:endParaRPr lang="en-US" altLang="zh-TW" sz="1200" dirty="0" smtClean="0"/>
          </a:p>
          <a:p>
            <a:r>
              <a:rPr lang="en-US" altLang="zh-TW" sz="1200" dirty="0" smtClean="0"/>
              <a:t>    /// &lt;/summary&gt;</a:t>
            </a:r>
          </a:p>
          <a:p>
            <a:r>
              <a:rPr lang="pt-BR" altLang="zh-TW" sz="1200" dirty="0" smtClean="0"/>
              <a:t>  ///&lt;paramname="postUrl"&gt;https://api.weixin.qq.com/cgibin/menu/create?access_token=ACCESS_T///OKEN &lt;/param&gt;</a:t>
            </a:r>
          </a:p>
          <a:p>
            <a:r>
              <a:rPr lang="en-US" altLang="zh-TW" sz="1200" dirty="0" smtClean="0"/>
              <a:t>    /// &lt;</a:t>
            </a:r>
            <a:r>
              <a:rPr lang="en-US" altLang="zh-TW" sz="1200" dirty="0" err="1" smtClean="0"/>
              <a:t>param</a:t>
            </a:r>
            <a:r>
              <a:rPr lang="en-US" altLang="zh-TW" sz="1200" dirty="0" smtClean="0"/>
              <a:t> name=“</a:t>
            </a:r>
            <a:r>
              <a:rPr lang="en-US" altLang="zh-TW" sz="1200" dirty="0" err="1" smtClean="0"/>
              <a:t>paramData</a:t>
            </a:r>
            <a:r>
              <a:rPr lang="en-US" altLang="zh-TW" sz="1200" dirty="0" smtClean="0"/>
              <a:t>”&gt;</a:t>
            </a:r>
            <a:r>
              <a:rPr lang="zh-CN" altLang="en-US" sz="1200" dirty="0" smtClean="0"/>
              <a:t>自定義菜單內容，如左邊</a:t>
            </a:r>
            <a:r>
              <a:rPr lang="en-US" altLang="zh-TW" sz="1200" dirty="0" smtClean="0"/>
              <a:t>&lt;/</a:t>
            </a:r>
            <a:r>
              <a:rPr lang="en-US" altLang="zh-TW" sz="1200" dirty="0" err="1" smtClean="0"/>
              <a:t>param</a:t>
            </a:r>
            <a:r>
              <a:rPr lang="en-US" altLang="zh-TW" sz="1200" dirty="0" smtClean="0"/>
              <a:t>&gt;</a:t>
            </a:r>
          </a:p>
          <a:p>
            <a:r>
              <a:rPr lang="pt-BR" altLang="zh-TW" sz="1200" dirty="0" smtClean="0"/>
              <a:t>    /// &lt;param name=“dataEncode”&gt;Encoding</a:t>
            </a:r>
            <a:r>
              <a:rPr lang="zh-CN" altLang="en-US" sz="1200" dirty="0" smtClean="0"/>
              <a:t>方式</a:t>
            </a:r>
            <a:r>
              <a:rPr lang="pt-BR" altLang="zh-TW" sz="1200" dirty="0" smtClean="0"/>
              <a:t>&lt;/param&gt;</a:t>
            </a:r>
          </a:p>
          <a:p>
            <a:r>
              <a:rPr lang="en-US" altLang="zh-TW" sz="1200" dirty="0" smtClean="0"/>
              <a:t>    /// &lt;returns&gt;&lt;/returns&gt;</a:t>
            </a:r>
          </a:p>
          <a:p>
            <a:r>
              <a:rPr lang="en-US" altLang="zh-TW" sz="1200" dirty="0" smtClean="0"/>
              <a:t>    public string </a:t>
            </a:r>
            <a:r>
              <a:rPr lang="en-US" altLang="zh-TW" sz="1200" dirty="0" err="1" smtClean="0"/>
              <a:t>PostWebRequest</a:t>
            </a:r>
            <a:r>
              <a:rPr lang="en-US" altLang="zh-TW" sz="1200" dirty="0" smtClean="0"/>
              <a:t>(string </a:t>
            </a:r>
            <a:r>
              <a:rPr lang="en-US" altLang="zh-TW" sz="1200" dirty="0" err="1" smtClean="0"/>
              <a:t>postUrl</a:t>
            </a:r>
            <a:r>
              <a:rPr lang="en-US" altLang="zh-TW" sz="1200" dirty="0" smtClean="0"/>
              <a:t>, string </a:t>
            </a:r>
            <a:r>
              <a:rPr lang="en-US" altLang="zh-TW" sz="1200" dirty="0" err="1" smtClean="0"/>
              <a:t>paramData</a:t>
            </a:r>
            <a:r>
              <a:rPr lang="en-US" altLang="zh-TW" sz="1200" dirty="0" smtClean="0"/>
              <a:t>, Encoding </a:t>
            </a:r>
            <a:r>
              <a:rPr lang="en-US" altLang="zh-TW" sz="1200" dirty="0" err="1" smtClean="0"/>
              <a:t>dataEncode</a:t>
            </a:r>
            <a:r>
              <a:rPr lang="en-US" altLang="zh-TW" sz="1200" dirty="0" smtClean="0"/>
              <a:t>)</a:t>
            </a:r>
          </a:p>
          <a:p>
            <a:r>
              <a:rPr lang="zh-TW" altLang="en-US" sz="1200" dirty="0" smtClean="0"/>
              <a:t>    </a:t>
            </a:r>
            <a:r>
              <a:rPr lang="en-US" altLang="zh-TW" sz="1200" dirty="0" smtClean="0"/>
              <a:t>{</a:t>
            </a:r>
          </a:p>
          <a:p>
            <a:r>
              <a:rPr lang="en-US" altLang="zh-TW" sz="1200" dirty="0" smtClean="0"/>
              <a:t>        string ret = </a:t>
            </a:r>
            <a:r>
              <a:rPr lang="en-US" altLang="zh-TW" sz="1200" dirty="0" err="1" smtClean="0"/>
              <a:t>string.Empty</a:t>
            </a:r>
            <a:r>
              <a:rPr lang="en-US" altLang="zh-TW" sz="1200" dirty="0" smtClean="0"/>
              <a:t>;</a:t>
            </a:r>
          </a:p>
          <a:p>
            <a:r>
              <a:rPr lang="en-US" altLang="zh-TW" sz="1200" dirty="0" smtClean="0"/>
              <a:t>        try</a:t>
            </a:r>
          </a:p>
          <a:p>
            <a:r>
              <a:rPr lang="zh-TW" altLang="en-US" sz="1200" dirty="0" smtClean="0"/>
              <a:t>        </a:t>
            </a:r>
            <a:r>
              <a:rPr lang="en-US" altLang="zh-TW" sz="1200" dirty="0" smtClean="0"/>
              <a:t>{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b="1" dirty="0" smtClean="0"/>
              <a:t>byte[] </a:t>
            </a:r>
            <a:r>
              <a:rPr lang="en-US" altLang="zh-TW" sz="1200" b="1" dirty="0" err="1" smtClean="0"/>
              <a:t>byteArray</a:t>
            </a:r>
            <a:r>
              <a:rPr lang="en-US" altLang="zh-TW" sz="1200" b="1" dirty="0" smtClean="0"/>
              <a:t> = </a:t>
            </a:r>
            <a:r>
              <a:rPr lang="en-US" altLang="zh-TW" sz="1200" b="1" dirty="0" err="1" smtClean="0"/>
              <a:t>dataEncode.GetBytes</a:t>
            </a:r>
            <a:r>
              <a:rPr lang="en-US" altLang="zh-TW" sz="1200" b="1" dirty="0" smtClean="0"/>
              <a:t>(</a:t>
            </a:r>
            <a:r>
              <a:rPr lang="en-US" altLang="zh-TW" sz="1200" b="1" dirty="0" err="1" smtClean="0"/>
              <a:t>paramData</a:t>
            </a:r>
            <a:r>
              <a:rPr lang="en-US" altLang="zh-TW" sz="1200" b="1" dirty="0" smtClean="0"/>
              <a:t>); </a:t>
            </a:r>
          </a:p>
          <a:p>
            <a:r>
              <a:rPr lang="en-US" altLang="zh-TW" sz="1200" b="1" dirty="0" smtClean="0"/>
              <a:t>            </a:t>
            </a:r>
            <a:r>
              <a:rPr lang="en-US" altLang="zh-TW" sz="1200" b="1" dirty="0" err="1" smtClean="0"/>
              <a:t>HttpWebRequest</a:t>
            </a:r>
            <a:r>
              <a:rPr lang="en-US" altLang="zh-TW" sz="1200" b="1" dirty="0" smtClean="0"/>
              <a:t> </a:t>
            </a:r>
            <a:r>
              <a:rPr lang="en-US" altLang="zh-TW" sz="1200" b="1" dirty="0" err="1" smtClean="0"/>
              <a:t>webReq</a:t>
            </a:r>
            <a:r>
              <a:rPr lang="en-US" altLang="zh-TW" sz="1200" b="1" dirty="0" smtClean="0"/>
              <a:t> = (</a:t>
            </a:r>
            <a:r>
              <a:rPr lang="en-US" altLang="zh-TW" sz="1200" b="1" dirty="0" err="1" smtClean="0"/>
              <a:t>HttpWebRequest</a:t>
            </a:r>
            <a:r>
              <a:rPr lang="en-US" altLang="zh-TW" sz="1200" b="1" dirty="0" smtClean="0"/>
              <a:t>)</a:t>
            </a:r>
            <a:r>
              <a:rPr lang="en-US" altLang="zh-TW" sz="1200" b="1" dirty="0" err="1" smtClean="0"/>
              <a:t>WebRequest.Create</a:t>
            </a:r>
            <a:r>
              <a:rPr lang="en-US" altLang="zh-TW" sz="1200" b="1" dirty="0" smtClean="0"/>
              <a:t>(new Uri(</a:t>
            </a:r>
            <a:r>
              <a:rPr lang="en-US" altLang="zh-TW" sz="1200" b="1" dirty="0" err="1" smtClean="0"/>
              <a:t>postUrl</a:t>
            </a:r>
            <a:r>
              <a:rPr lang="en-US" altLang="zh-TW" sz="1200" b="1" dirty="0" smtClean="0"/>
              <a:t>));</a:t>
            </a:r>
          </a:p>
          <a:p>
            <a:r>
              <a:rPr lang="en-US" altLang="zh-TW" sz="1200" b="1" dirty="0" smtClean="0"/>
              <a:t>            </a:t>
            </a:r>
            <a:r>
              <a:rPr lang="en-US" altLang="zh-TW" sz="1200" b="1" dirty="0" err="1" smtClean="0"/>
              <a:t>webReq.Method</a:t>
            </a:r>
            <a:r>
              <a:rPr lang="en-US" altLang="zh-TW" sz="1200" b="1" dirty="0" smtClean="0"/>
              <a:t> = "POST";</a:t>
            </a:r>
          </a:p>
          <a:p>
            <a:r>
              <a:rPr lang="en-US" altLang="zh-TW" sz="1200" b="1" dirty="0" smtClean="0"/>
              <a:t>            </a:t>
            </a:r>
            <a:r>
              <a:rPr lang="en-US" altLang="zh-TW" sz="1200" b="1" dirty="0" err="1" smtClean="0"/>
              <a:t>webReq.ContentType</a:t>
            </a:r>
            <a:r>
              <a:rPr lang="en-US" altLang="zh-TW" sz="1200" b="1" dirty="0" smtClean="0"/>
              <a:t> = "application/x-www-form-</a:t>
            </a:r>
            <a:r>
              <a:rPr lang="en-US" altLang="zh-TW" sz="1200" b="1" dirty="0" err="1" smtClean="0"/>
              <a:t>urlencoded</a:t>
            </a:r>
            <a:r>
              <a:rPr lang="en-US" altLang="zh-TW" sz="1200" b="1" dirty="0" smtClean="0"/>
              <a:t>";</a:t>
            </a:r>
          </a:p>
          <a:p>
            <a:endParaRPr lang="zh-TW" altLang="en-US" sz="1200" b="1" dirty="0" smtClean="0"/>
          </a:p>
          <a:p>
            <a:r>
              <a:rPr lang="en-US" altLang="zh-TW" sz="1200" b="1" dirty="0" smtClean="0"/>
              <a:t>            </a:t>
            </a:r>
            <a:r>
              <a:rPr lang="en-US" altLang="zh-TW" sz="1200" b="1" dirty="0" err="1" smtClean="0"/>
              <a:t>webReq.ContentLength</a:t>
            </a:r>
            <a:r>
              <a:rPr lang="en-US" altLang="zh-TW" sz="1200" b="1" dirty="0" smtClean="0"/>
              <a:t> = </a:t>
            </a:r>
            <a:r>
              <a:rPr lang="en-US" altLang="zh-TW" sz="1200" b="1" dirty="0" err="1" smtClean="0"/>
              <a:t>byteArray.Length</a:t>
            </a:r>
            <a:r>
              <a:rPr lang="en-US" altLang="zh-TW" sz="1200" b="1" dirty="0" smtClean="0"/>
              <a:t>;</a:t>
            </a:r>
          </a:p>
          <a:p>
            <a:r>
              <a:rPr lang="en-US" altLang="zh-TW" sz="1200" b="1" dirty="0" smtClean="0"/>
              <a:t>            Stream </a:t>
            </a:r>
            <a:r>
              <a:rPr lang="en-US" altLang="zh-TW" sz="1200" b="1" dirty="0" err="1" smtClean="0"/>
              <a:t>newStream</a:t>
            </a:r>
            <a:r>
              <a:rPr lang="en-US" altLang="zh-TW" sz="1200" b="1" dirty="0" smtClean="0"/>
              <a:t> = </a:t>
            </a:r>
            <a:r>
              <a:rPr lang="en-US" altLang="zh-TW" sz="1200" b="1" dirty="0" err="1" smtClean="0"/>
              <a:t>webReq.GetRequestStream</a:t>
            </a:r>
            <a:r>
              <a:rPr lang="en-US" altLang="zh-TW" sz="1200" b="1" dirty="0" smtClean="0"/>
              <a:t>();</a:t>
            </a:r>
          </a:p>
          <a:p>
            <a:r>
              <a:rPr lang="en-US" altLang="zh-TW" sz="1200" b="1" dirty="0" smtClean="0"/>
              <a:t>            </a:t>
            </a:r>
            <a:r>
              <a:rPr lang="en-US" altLang="zh-TW" sz="1200" b="1" dirty="0" err="1" smtClean="0"/>
              <a:t>newStream.Write</a:t>
            </a:r>
            <a:r>
              <a:rPr lang="en-US" altLang="zh-TW" sz="1200" b="1" dirty="0" smtClean="0"/>
              <a:t>(</a:t>
            </a:r>
            <a:r>
              <a:rPr lang="en-US" altLang="zh-TW" sz="1200" b="1" dirty="0" err="1" smtClean="0"/>
              <a:t>byteArray</a:t>
            </a:r>
            <a:r>
              <a:rPr lang="en-US" altLang="zh-TW" sz="1200" b="1" dirty="0" smtClean="0"/>
              <a:t>, 0, </a:t>
            </a:r>
            <a:r>
              <a:rPr lang="en-US" altLang="zh-TW" sz="1200" b="1" dirty="0" err="1" smtClean="0"/>
              <a:t>byteArray.Length</a:t>
            </a:r>
            <a:r>
              <a:rPr lang="en-US" altLang="zh-TW" sz="1200" b="1" dirty="0" smtClean="0"/>
              <a:t>);</a:t>
            </a:r>
            <a:r>
              <a:rPr lang="en-US" altLang="zh-TW" sz="1200" dirty="0" smtClean="0"/>
              <a:t>//</a:t>
            </a:r>
            <a:r>
              <a:rPr lang="zh-CN" altLang="en-US" sz="1200" dirty="0" smtClean="0"/>
              <a:t>寫入參數</a:t>
            </a:r>
            <a:endParaRPr lang="zh-TW" altLang="en-US" sz="1200" dirty="0" smtClean="0"/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newStream.Close</a:t>
            </a:r>
            <a:r>
              <a:rPr lang="en-US" altLang="zh-TW" sz="1200" dirty="0" smtClean="0"/>
              <a:t>();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HttpWebResponse</a:t>
            </a:r>
            <a:r>
              <a:rPr lang="en-US" altLang="zh-TW" sz="1200" dirty="0" smtClean="0"/>
              <a:t> response = (</a:t>
            </a:r>
            <a:r>
              <a:rPr lang="en-US" altLang="zh-TW" sz="1200" dirty="0" err="1" smtClean="0"/>
              <a:t>HttpWebResponse</a:t>
            </a:r>
            <a:r>
              <a:rPr lang="en-US" altLang="zh-TW" sz="1200" dirty="0" smtClean="0"/>
              <a:t>)</a:t>
            </a:r>
            <a:r>
              <a:rPr lang="en-US" altLang="zh-TW" sz="1200" dirty="0" err="1" smtClean="0"/>
              <a:t>webReq.GetResponse</a:t>
            </a:r>
            <a:r>
              <a:rPr lang="en-US" altLang="zh-TW" sz="1200" dirty="0" smtClean="0"/>
              <a:t>();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StreamReader</a:t>
            </a:r>
            <a:r>
              <a:rPr lang="en-US" altLang="zh-TW" sz="1200" dirty="0" smtClean="0"/>
              <a:t> </a:t>
            </a:r>
            <a:r>
              <a:rPr lang="en-US" altLang="zh-TW" sz="1200" dirty="0" err="1" smtClean="0"/>
              <a:t>sr</a:t>
            </a:r>
            <a:r>
              <a:rPr lang="en-US" altLang="zh-TW" sz="1200" dirty="0" smtClean="0"/>
              <a:t> = new </a:t>
            </a:r>
            <a:r>
              <a:rPr lang="en-US" altLang="zh-TW" sz="1200" dirty="0" err="1" smtClean="0"/>
              <a:t>StreamReader</a:t>
            </a:r>
            <a:r>
              <a:rPr lang="en-US" altLang="zh-TW" sz="1200" dirty="0" smtClean="0"/>
              <a:t>(</a:t>
            </a:r>
            <a:r>
              <a:rPr lang="en-US" altLang="zh-TW" sz="1200" dirty="0" err="1" smtClean="0"/>
              <a:t>response.GetResponseStream</a:t>
            </a:r>
            <a:r>
              <a:rPr lang="en-US" altLang="zh-TW" sz="1200" dirty="0" smtClean="0"/>
              <a:t>(), </a:t>
            </a:r>
            <a:r>
              <a:rPr lang="en-US" altLang="zh-TW" sz="1200" dirty="0" err="1" smtClean="0"/>
              <a:t>Encoding.Default</a:t>
            </a:r>
            <a:r>
              <a:rPr lang="en-US" altLang="zh-TW" sz="1200" dirty="0" smtClean="0"/>
              <a:t>);</a:t>
            </a:r>
          </a:p>
          <a:p>
            <a:r>
              <a:rPr lang="en-US" altLang="zh-TW" sz="1200" dirty="0" smtClean="0"/>
              <a:t>            ret = </a:t>
            </a:r>
            <a:r>
              <a:rPr lang="en-US" altLang="zh-TW" sz="1200" dirty="0" err="1" smtClean="0"/>
              <a:t>sr.ReadToEnd</a:t>
            </a:r>
            <a:r>
              <a:rPr lang="en-US" altLang="zh-TW" sz="1200" dirty="0" smtClean="0"/>
              <a:t>();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sr.Close</a:t>
            </a:r>
            <a:r>
              <a:rPr lang="en-US" altLang="zh-TW" sz="1200" dirty="0" smtClean="0"/>
              <a:t>();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response.Close</a:t>
            </a:r>
            <a:r>
              <a:rPr lang="en-US" altLang="zh-TW" sz="1200" dirty="0" smtClean="0"/>
              <a:t>();</a:t>
            </a:r>
          </a:p>
          <a:p>
            <a:r>
              <a:rPr lang="en-US" altLang="zh-TW" sz="1200" dirty="0" smtClean="0"/>
              <a:t>            </a:t>
            </a:r>
            <a:r>
              <a:rPr lang="en-US" altLang="zh-TW" sz="1200" dirty="0" err="1" smtClean="0"/>
              <a:t>newStream.Close</a:t>
            </a:r>
            <a:r>
              <a:rPr lang="en-US" altLang="zh-TW" sz="1200" dirty="0" smtClean="0"/>
              <a:t>();</a:t>
            </a:r>
          </a:p>
          <a:p>
            <a:r>
              <a:rPr lang="zh-TW" altLang="en-US" sz="1200" dirty="0" smtClean="0"/>
              <a:t>        </a:t>
            </a:r>
            <a:r>
              <a:rPr lang="en-US" altLang="zh-TW" sz="1200" dirty="0" smtClean="0"/>
              <a:t>}</a:t>
            </a:r>
          </a:p>
          <a:p>
            <a:r>
              <a:rPr lang="en-US" altLang="zh-TW" sz="1200" dirty="0" smtClean="0"/>
              <a:t>        catch (Exception ex)</a:t>
            </a:r>
          </a:p>
          <a:p>
            <a:r>
              <a:rPr lang="zh-TW" altLang="en-US" sz="1200" dirty="0" smtClean="0"/>
              <a:t>        </a:t>
            </a:r>
            <a:r>
              <a:rPr lang="en-US" altLang="zh-TW" sz="1200" dirty="0" smtClean="0"/>
              <a:t>{</a:t>
            </a:r>
          </a:p>
          <a:p>
            <a:r>
              <a:rPr lang="en-US" altLang="zh-TW" sz="1200" dirty="0" smtClean="0"/>
              <a:t>            return </a:t>
            </a:r>
            <a:r>
              <a:rPr lang="en-US" altLang="zh-TW" sz="1200" dirty="0" err="1" smtClean="0"/>
              <a:t>ex.Message</a:t>
            </a:r>
            <a:r>
              <a:rPr lang="en-US" altLang="zh-TW" sz="1200" dirty="0" smtClean="0"/>
              <a:t>;</a:t>
            </a:r>
          </a:p>
          <a:p>
            <a:r>
              <a:rPr lang="en-US" altLang="zh-TW" sz="1200" dirty="0" smtClean="0"/>
              <a:t>            // </a:t>
            </a:r>
            <a:r>
              <a:rPr lang="en-US" altLang="zh-TW" sz="1200" dirty="0" err="1" smtClean="0"/>
              <a:t>MessageBox.Show</a:t>
            </a:r>
            <a:r>
              <a:rPr lang="en-US" altLang="zh-TW" sz="1200" dirty="0" smtClean="0"/>
              <a:t>(</a:t>
            </a:r>
            <a:r>
              <a:rPr lang="en-US" altLang="zh-TW" sz="1200" dirty="0" err="1" smtClean="0"/>
              <a:t>ex.Message</a:t>
            </a:r>
            <a:r>
              <a:rPr lang="en-US" altLang="zh-TW" sz="1200" dirty="0" smtClean="0"/>
              <a:t>);</a:t>
            </a:r>
          </a:p>
          <a:p>
            <a:r>
              <a:rPr lang="zh-TW" altLang="en-US" sz="1200" dirty="0" smtClean="0"/>
              <a:t>        </a:t>
            </a:r>
            <a:r>
              <a:rPr lang="en-US" altLang="zh-TW" sz="1200" dirty="0" smtClean="0"/>
              <a:t>}</a:t>
            </a:r>
          </a:p>
          <a:p>
            <a:r>
              <a:rPr lang="en-US" altLang="zh-TW" sz="1200" dirty="0" smtClean="0"/>
              <a:t>        return ret;</a:t>
            </a:r>
          </a:p>
          <a:p>
            <a:r>
              <a:rPr lang="zh-TW" altLang="en-US" sz="1200" dirty="0" smtClean="0"/>
              <a:t>    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57233"/>
            <a:ext cx="8229600" cy="292895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響應自定義菜單</a:t>
            </a:r>
            <a:endParaRPr lang="en-US" altLang="zh-CN" dirty="0" smtClean="0"/>
          </a:p>
          <a:p>
            <a:r>
              <a:rPr lang="zh-CN" altLang="en-US" sz="1600" dirty="0" smtClean="0"/>
              <a:t>用戶點擊菜單后，微信將點擊事件推送給開發者</a:t>
            </a:r>
            <a:endParaRPr lang="en-US" altLang="zh-CN" sz="1600" dirty="0" smtClean="0"/>
          </a:p>
          <a:p>
            <a:r>
              <a:rPr lang="zh-CN" altLang="en-US" sz="1600" dirty="0" smtClean="0"/>
              <a:t>點擊菜單事件推動</a:t>
            </a:r>
            <a:r>
              <a:rPr lang="en-US" altLang="zh-CN" sz="1600" dirty="0" smtClean="0"/>
              <a:t>XML</a:t>
            </a:r>
            <a:r>
              <a:rPr lang="zh-CN" altLang="en-US" sz="1600" dirty="0" smtClean="0"/>
              <a:t>數據包格式：</a:t>
            </a:r>
            <a:endParaRPr lang="en-US" altLang="zh-CN" sz="1600" dirty="0" smtClean="0"/>
          </a:p>
          <a:p>
            <a:r>
              <a:rPr lang="en-US" sz="1400" dirty="0" smtClean="0"/>
              <a:t>&lt;xml&gt;</a:t>
            </a:r>
          </a:p>
          <a:p>
            <a:r>
              <a:rPr lang="en-US" sz="1400" dirty="0" smtClean="0"/>
              <a:t> &lt;</a:t>
            </a:r>
            <a:r>
              <a:rPr lang="en-US" sz="1400" dirty="0" err="1" smtClean="0"/>
              <a:t>ToUserName</a:t>
            </a:r>
            <a:r>
              <a:rPr lang="en-US" sz="1400" dirty="0" smtClean="0"/>
              <a:t>&gt;&lt;![CDATA[</a:t>
            </a:r>
            <a:r>
              <a:rPr lang="en-US" sz="1400" dirty="0" err="1" smtClean="0"/>
              <a:t>toUser</a:t>
            </a:r>
            <a:r>
              <a:rPr lang="en-US" sz="1400" dirty="0" smtClean="0"/>
              <a:t>]]&gt;&lt;/</a:t>
            </a:r>
            <a:r>
              <a:rPr lang="en-US" sz="1400" dirty="0" err="1" smtClean="0"/>
              <a:t>ToUserName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&lt;</a:t>
            </a:r>
            <a:r>
              <a:rPr lang="en-US" sz="1400" dirty="0" err="1" smtClean="0"/>
              <a:t>FromUserName</a:t>
            </a:r>
            <a:r>
              <a:rPr lang="en-US" sz="1400" dirty="0" smtClean="0"/>
              <a:t>&gt;&lt;![CDATA[</a:t>
            </a:r>
            <a:r>
              <a:rPr lang="en-US" sz="1400" dirty="0" err="1" smtClean="0"/>
              <a:t>FromUser</a:t>
            </a:r>
            <a:r>
              <a:rPr lang="en-US" sz="1400" dirty="0" smtClean="0"/>
              <a:t>]]&gt;&lt;/</a:t>
            </a:r>
            <a:r>
              <a:rPr lang="en-US" sz="1400" dirty="0" err="1" smtClean="0"/>
              <a:t>FromUserName</a:t>
            </a:r>
            <a:r>
              <a:rPr lang="en-US" sz="1400" dirty="0" smtClean="0"/>
              <a:t>&gt; </a:t>
            </a:r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CreateTime</a:t>
            </a:r>
            <a:r>
              <a:rPr lang="en-US" sz="1400" dirty="0" smtClean="0"/>
              <a:t>&gt;123456789&lt;/</a:t>
            </a:r>
            <a:r>
              <a:rPr lang="en-US" sz="1400" dirty="0" err="1" smtClean="0"/>
              <a:t>CreateTime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&lt;</a:t>
            </a:r>
            <a:r>
              <a:rPr lang="en-US" sz="1400" dirty="0" err="1" smtClean="0"/>
              <a:t>MsgType</a:t>
            </a:r>
            <a:r>
              <a:rPr lang="en-US" sz="1400" dirty="0" smtClean="0"/>
              <a:t>&gt;&lt;![CDATA[event]]&gt;&lt;/</a:t>
            </a:r>
            <a:r>
              <a:rPr lang="en-US" sz="1400" dirty="0" err="1" smtClean="0"/>
              <a:t>MsgType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</a:t>
            </a:r>
            <a:r>
              <a:rPr lang="en-US" sz="1400" b="1" dirty="0" smtClean="0"/>
              <a:t>&lt;Event&gt;&lt;![CDATA[CLICK]]&gt;&lt;/Event&gt; &lt;</a:t>
            </a:r>
            <a:r>
              <a:rPr lang="en-US" sz="1400" b="1" dirty="0" err="1" smtClean="0"/>
              <a:t>EventKey</a:t>
            </a:r>
            <a:r>
              <a:rPr lang="en-US" sz="1400" b="1" dirty="0" smtClean="0"/>
              <a:t>&gt;</a:t>
            </a:r>
          </a:p>
          <a:p>
            <a:r>
              <a:rPr lang="en-US" sz="1400" dirty="0" smtClean="0"/>
              <a:t>&lt;![CDATA[EVENTKEY]]&gt;&lt;/</a:t>
            </a:r>
            <a:r>
              <a:rPr lang="en-US" sz="1400" dirty="0" err="1" smtClean="0"/>
              <a:t>EventKey</a:t>
            </a:r>
            <a:r>
              <a:rPr lang="en-US" sz="1400" dirty="0" smtClean="0"/>
              <a:t>&gt; &lt;/xml&gt;</a:t>
            </a:r>
            <a:endParaRPr lang="zh-TW" altLang="en-US" sz="1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微信開發簡介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響應自定義菜單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85720" y="3929066"/>
          <a:ext cx="6858048" cy="241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24"/>
                <a:gridCol w="3429024"/>
              </a:tblGrid>
              <a:tr h="345284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參數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描述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ToUserName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開發者微信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FromUserName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OpenID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CreateTime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創建時間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en-US" altLang="zh-CN" sz="1200" dirty="0" err="1" smtClean="0"/>
                        <a:t>int</a:t>
                      </a:r>
                      <a:r>
                        <a:rPr lang="zh-CN" altLang="en-US" sz="1200" dirty="0" smtClean="0"/>
                        <a:t>型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MsgType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event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Event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Click</a:t>
                      </a:r>
                      <a:r>
                        <a:rPr lang="en-US" altLang="zh-TW" sz="1200" baseline="0" dirty="0" smtClean="0"/>
                        <a:t>  View</a:t>
                      </a:r>
                      <a:endParaRPr lang="zh-TW" altLang="en-US" sz="1200" dirty="0"/>
                    </a:p>
                  </a:txBody>
                  <a:tcPr/>
                </a:tc>
              </a:tr>
              <a:tr h="345284"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EventKey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Key</a:t>
                      </a:r>
                      <a:r>
                        <a:rPr lang="zh-CN" altLang="en-US" sz="1200" dirty="0" smtClean="0"/>
                        <a:t>值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zh-CN" altLang="en-US" sz="1200" dirty="0" smtClean="0"/>
                        <a:t>自定義值，告訴我們哪個按鈕被點擊</a:t>
                      </a:r>
                      <a:r>
                        <a:rPr lang="en-US" altLang="zh-CN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r>
              <a:rPr lang="zh-CN" altLang="en-US" dirty="0" smtClean="0"/>
              <a:t>微信菜單模式與</a:t>
            </a:r>
            <a:r>
              <a:rPr lang="en-US" altLang="zh-CN" dirty="0" smtClean="0"/>
              <a:t>Web</a:t>
            </a:r>
            <a:r>
              <a:rPr lang="zh-CN" altLang="en-US" dirty="0" smtClean="0"/>
              <a:t>頁面結合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混合開發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Workflow</a:t>
            </a:r>
            <a:r>
              <a:rPr lang="zh-CN" altLang="en-US" dirty="0" smtClean="0"/>
              <a:t>身份驗證，手機驗證碼身份驗證等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微信</a:t>
            </a:r>
            <a:r>
              <a:rPr lang="en-US" altLang="zh-CN" dirty="0" smtClean="0"/>
              <a:t>+</a:t>
            </a:r>
            <a:r>
              <a:rPr lang="zh-CN" altLang="en-US" dirty="0" smtClean="0"/>
              <a:t>短信</a:t>
            </a:r>
            <a:r>
              <a:rPr lang="en-US" altLang="zh-CN" dirty="0" smtClean="0"/>
              <a:t>+</a:t>
            </a:r>
            <a:r>
              <a:rPr lang="zh-CN" altLang="en-US" dirty="0" smtClean="0"/>
              <a:t>郵件 豐富員工溝通平臺</a:t>
            </a:r>
            <a:endParaRPr lang="en-US" altLang="zh-CN" dirty="0" smtClean="0"/>
          </a:p>
          <a:p>
            <a:r>
              <a:rPr lang="zh-CN" altLang="en-US" dirty="0" smtClean="0"/>
              <a:t>支持管理決策，隨時查詢</a:t>
            </a:r>
            <a:r>
              <a:rPr lang="en-US" altLang="zh-CN" dirty="0" smtClean="0"/>
              <a:t>(B2B,SFC)</a:t>
            </a:r>
            <a:r>
              <a:rPr lang="zh-CN" altLang="en-US" dirty="0" smtClean="0"/>
              <a:t>訂單狀態生產狀況等（圖文并茂）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微信開發展望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功能介紹</a:t>
            </a:r>
            <a:r>
              <a:rPr lang="en-US" altLang="zh-CN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-IT</a:t>
            </a:r>
            <a:r>
              <a:rPr lang="zh-CN" altLang="en-US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服務平臺舉例</a:t>
            </a:r>
            <a:endParaRPr lang="zh-TW" sz="1600" b="1" dirty="0" smtClean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845090"/>
            <a:ext cx="5698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一、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掃描富</a:t>
            </a: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智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康</a:t>
            </a:r>
            <a:r>
              <a:rPr lang="en-US" altLang="zh-CN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IT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服務</a:t>
            </a: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平臺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微信公眾號二維碼添加關注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288" y="1928802"/>
            <a:ext cx="3195646" cy="3187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1323992"/>
            <a:ext cx="2928958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845090"/>
            <a:ext cx="27238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二、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查找公眾帳號搜索到</a:t>
            </a:r>
            <a:endParaRPr lang="zh-CN" altLang="en-US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428736"/>
            <a:ext cx="2928958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76" y="1428736"/>
            <a:ext cx="28765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1428736"/>
            <a:ext cx="284797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功能介紹</a:t>
            </a:r>
            <a:r>
              <a:rPr lang="en-US" altLang="zh-CN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-IT</a:t>
            </a:r>
            <a:r>
              <a:rPr lang="zh-CN" altLang="en-US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服務平臺舉例：加關注</a:t>
            </a:r>
            <a:endParaRPr lang="zh-TW" sz="1600" b="1" dirty="0" smtClean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845090"/>
            <a:ext cx="918713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關注成功后，出現系統問候語，并提示進行個人信息註冊，註冊成功后，系統會反饋註冊</a:t>
            </a:r>
            <a:endParaRPr lang="en-US" altLang="zh-TW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成功信息</a:t>
            </a: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，用戶可開始進行報修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571612"/>
            <a:ext cx="270510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571612"/>
            <a:ext cx="267652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功能介紹</a:t>
            </a:r>
            <a:r>
              <a:rPr lang="en-US" altLang="zh-CN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-IT</a:t>
            </a:r>
            <a:r>
              <a:rPr lang="zh-CN" altLang="en-US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服務平臺舉例</a:t>
            </a:r>
            <a:endParaRPr lang="zh-TW" sz="1600" b="1" dirty="0" smtClean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845090"/>
            <a:ext cx="918713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目前已經開通的資訊報修服務有電腦故障報修與卡機故障報修，用戶可選擇對應的數字進</a:t>
            </a:r>
            <a:endParaRPr lang="en-US" altLang="zh-TW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行相關報修或可直接輸入故障描述，由系統自動進行判斷</a:t>
            </a:r>
            <a:endParaRPr lang="zh-CN" altLang="en-US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28783"/>
            <a:ext cx="2705100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1519258"/>
            <a:ext cx="2714625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功能介紹</a:t>
            </a:r>
            <a:r>
              <a:rPr lang="en-US" altLang="zh-CN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-IT</a:t>
            </a:r>
            <a:r>
              <a:rPr lang="zh-CN" altLang="en-US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服務平臺舉例</a:t>
            </a:r>
            <a:endParaRPr lang="zh-TW" sz="1600" b="1" dirty="0" smtClean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845090"/>
            <a:ext cx="918713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用戶報修后，系統會自動反饋給用戶受理信息，同時會發短信與郵件通知相應的工程師，</a:t>
            </a:r>
            <a:endParaRPr lang="en-US" altLang="zh-TW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  <a:p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工程師會根據用戶的報修順序</a:t>
            </a:r>
            <a:r>
              <a:rPr lang="zh-CN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與緊急程度</a:t>
            </a:r>
            <a:r>
              <a:rPr lang="zh-TW" altLang="en-US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處理用戶的報修</a:t>
            </a:r>
            <a:endParaRPr lang="zh-CN" altLang="en-US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7" name="圖片 6" descr="M:\dcim\Screenshots\Screenshot_2013-10-28-16-53-47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1500174"/>
            <a:ext cx="2643206" cy="470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500174"/>
            <a:ext cx="2714625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功能介紹</a:t>
            </a:r>
            <a:r>
              <a:rPr lang="en-US" altLang="zh-CN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-IT</a:t>
            </a:r>
            <a:r>
              <a:rPr lang="zh-CN" altLang="en-US" sz="1600" b="1" dirty="0" smtClean="0">
                <a:latin typeface="黑体" pitchFamily="2" charset="-122"/>
                <a:ea typeface="黑体" pitchFamily="2" charset="-122"/>
                <a:cs typeface="Times New Roman" pitchFamily="18" charset="0"/>
              </a:rPr>
              <a:t>服務平臺舉例</a:t>
            </a:r>
            <a:endParaRPr lang="zh-TW" sz="1600" b="1" dirty="0" smtClean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285852" y="648866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用戶收到受理信息</a:t>
            </a:r>
            <a:endParaRPr lang="zh-TW" altLang="en-US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86248" y="6488692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短信和郵件通知</a:t>
            </a:r>
            <a:r>
              <a:rPr lang="en-US" altLang="zh-CN" b="1" dirty="0" smtClean="0"/>
              <a:t>IT</a:t>
            </a:r>
            <a:r>
              <a:rPr lang="zh-CN" altLang="en-US" b="1" dirty="0" smtClean="0"/>
              <a:t>工程師</a:t>
            </a:r>
            <a:endParaRPr lang="zh-TW" altLang="en-US" b="1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FIH</a:t>
            </a:r>
            <a:r>
              <a:rPr lang="zh-TW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實際</a:t>
            </a:r>
            <a:r>
              <a:rPr lang="zh-CN" altLang="en-US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應用</a:t>
            </a:r>
            <a:r>
              <a:rPr lang="en-US" altLang="zh-CN" sz="4200" b="1" dirty="0" smtClean="0">
                <a:latin typeface="Arial" pitchFamily="34" charset="0"/>
                <a:ea typeface="黑体" pitchFamily="49" charset="-122"/>
                <a:cs typeface="Times New Roman" pitchFamily="18" charset="0"/>
              </a:rPr>
              <a:t>-IT</a:t>
            </a:r>
            <a:endParaRPr lang="zh-TW" sz="4200" b="1" dirty="0" smtClean="0"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5514996"/>
            <a:ext cx="487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136093"/>
            <a:ext cx="6115067" cy="4221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8271617"/>
      </p:ext>
    </p:extLst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357430"/>
            <a:ext cx="9144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88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The End</a:t>
            </a:r>
            <a:endParaRPr lang="zh-TW" altLang="en-US" sz="88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8E6D033576FE4C89B5B58F7CDD28F5" ma:contentTypeVersion="0" ma:contentTypeDescription="Create a new document." ma:contentTypeScope="" ma:versionID="18f551522bda887c93ad28cce0dadfc2">
  <xsd:schema xmlns:xsd="http://www.w3.org/2001/XMLSchema" xmlns:p="http://schemas.microsoft.com/office/2006/metadata/properties" targetNamespace="http://schemas.microsoft.com/office/2006/metadata/properties" ma:root="true" ma:fieldsID="3a4163e51cafc3020aa42c1bc2fb0c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Ite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4DF31E9C-A286-4032-AAA5-A803840EEF29}"/>
</file>

<file path=customXml/itemProps2.xml><?xml version="1.0" encoding="utf-8"?>
<ds:datastoreItem xmlns:ds="http://schemas.openxmlformats.org/officeDocument/2006/customXml" ds:itemID="{59CBE0C7-CFC3-4E66-8585-14C1DD0AFBBB}"/>
</file>

<file path=customXml/itemProps3.xml><?xml version="1.0" encoding="utf-8"?>
<ds:datastoreItem xmlns:ds="http://schemas.openxmlformats.org/officeDocument/2006/customXml" ds:itemID="{16C2077B-F9D1-404A-80C4-95B8E7253A40}"/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1611</Words>
  <Application>Microsoft Office PowerPoint</Application>
  <PresentationFormat>如螢幕大小 (4:3)</PresentationFormat>
  <Paragraphs>249</Paragraphs>
  <Slides>24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Office 佈景主題</vt:lpstr>
      <vt:lpstr>FIH微信平臺應用 (開發版)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Duan Heling</dc:creator>
  <cp:lastModifiedBy>Xue-Lei Zhao</cp:lastModifiedBy>
  <cp:revision>286</cp:revision>
  <dcterms:created xsi:type="dcterms:W3CDTF">2013-10-29T07:04:32Z</dcterms:created>
  <dcterms:modified xsi:type="dcterms:W3CDTF">2014-08-05T04:13:51Z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0x010100358E6D033576FE4C89B5B58F7CDD28F5</vt:lpwstr>
  </property>
</Properties>
</file>