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87" r:id="rId3"/>
    <p:sldId id="286" r:id="rId4"/>
    <p:sldId id="290" r:id="rId5"/>
    <p:sldId id="291" r:id="rId6"/>
    <p:sldId id="292" r:id="rId7"/>
    <p:sldId id="293" r:id="rId8"/>
    <p:sldId id="295" r:id="rId9"/>
    <p:sldId id="305" r:id="rId10"/>
    <p:sldId id="310" r:id="rId11"/>
    <p:sldId id="308" r:id="rId12"/>
    <p:sldId id="303" r:id="rId13"/>
    <p:sldId id="275" r:id="rId14"/>
  </p:sldIdLst>
  <p:sldSz cx="9144000" cy="6858000" type="screen4x3"/>
  <p:notesSz cx="7102475" cy="8991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66"/>
    <a:srgbClr val="FFFFCC"/>
    <a:srgbClr val="3333FF"/>
    <a:srgbClr val="3366FF"/>
    <a:srgbClr val="CCFF33"/>
    <a:srgbClr val="777777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00" autoAdjust="0"/>
    <p:restoredTop sz="93533" autoAdjust="0"/>
  </p:normalViewPr>
  <p:slideViewPr>
    <p:cSldViewPr>
      <p:cViewPr varScale="1">
        <p:scale>
          <a:sx n="109" d="100"/>
          <a:sy n="109" d="100"/>
        </p:scale>
        <p:origin x="136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54075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540750"/>
            <a:ext cx="3078163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A0B16F9-9A32-4E91-974D-73EDEFB11CF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023565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BD8BB4B-054D-41D6-8833-2C45A69D6810}" type="datetimeFigureOut">
              <a:rPr lang="zh-TW" altLang="en-US"/>
              <a:pPr>
                <a:defRPr/>
              </a:pPr>
              <a:t>2017-09-22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03338" y="674688"/>
            <a:ext cx="4495800" cy="3371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613" y="4270375"/>
            <a:ext cx="5683250" cy="4046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540750"/>
            <a:ext cx="3078163" cy="4492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2725" y="8540750"/>
            <a:ext cx="3078163" cy="4492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1B29284-2F4C-4286-8EF8-DE5F95F50BFE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5785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 smtClean="0"/>
          </a:p>
        </p:txBody>
      </p:sp>
      <p:sp>
        <p:nvSpPr>
          <p:cNvPr id="1741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ADA1DA-7FCA-4699-94CD-4F5A12DF4E9D}" type="slidenum">
              <a:rPr lang="zh-TW" altLang="en-US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7562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5" name="Rectangle 18"/>
            <p:cNvSpPr>
              <a:spLocks noChangeArrowheads="1"/>
            </p:cNvSpPr>
            <p:nvPr userDrawn="1"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/>
          </p:spPr>
          <p:txBody>
            <a:bodyPr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TW" altLang="en-US" smtClean="0">
                <a:ea typeface="新細明體" panose="02020500000000000000" pitchFamily="18" charset="-120"/>
              </a:endParaRPr>
            </a:p>
          </p:txBody>
        </p:sp>
        <p:sp>
          <p:nvSpPr>
            <p:cNvPr id="6" name="Rectangle 28"/>
            <p:cNvSpPr>
              <a:spLocks noChangeArrowheads="1"/>
            </p:cNvSpPr>
            <p:nvPr userDrawn="1"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/>
          </p:spPr>
          <p:txBody>
            <a:bodyPr wrap="none" anchor="ctr"/>
            <a:lstStyle>
              <a:lvl1pPr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ctr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TW" altLang="en-US" smtClean="0">
                <a:ea typeface="新細明體" panose="02020500000000000000" pitchFamily="18" charset="-120"/>
              </a:endParaRPr>
            </a:p>
          </p:txBody>
        </p:sp>
      </p:grpSp>
      <p:sp>
        <p:nvSpPr>
          <p:cNvPr id="7" name="Rectangle 19"/>
          <p:cNvSpPr>
            <a:spLocks noChangeArrowheads="1"/>
          </p:cNvSpPr>
          <p:nvPr/>
        </p:nvSpPr>
        <p:spPr bwMode="gray">
          <a:xfrm>
            <a:off x="573088" y="2520950"/>
            <a:ext cx="576262" cy="641350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gray">
          <a:xfrm>
            <a:off x="1716088" y="628650"/>
            <a:ext cx="566737" cy="636588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gray">
          <a:xfrm>
            <a:off x="2278063" y="0"/>
            <a:ext cx="585787" cy="635000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gray">
          <a:xfrm>
            <a:off x="2281238" y="628650"/>
            <a:ext cx="585787" cy="631825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7" cy="622300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3" name="Rectangle 25"/>
          <p:cNvSpPr>
            <a:spLocks noChangeArrowheads="1"/>
          </p:cNvSpPr>
          <p:nvPr/>
        </p:nvSpPr>
        <p:spPr bwMode="gray">
          <a:xfrm>
            <a:off x="573088" y="1885950"/>
            <a:ext cx="576262" cy="644525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4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2" cy="644525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5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2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6" name="Rectangle 32"/>
          <p:cNvSpPr>
            <a:spLocks noChangeArrowheads="1"/>
          </p:cNvSpPr>
          <p:nvPr userDrawn="1"/>
        </p:nvSpPr>
        <p:spPr bwMode="auto">
          <a:xfrm>
            <a:off x="0" y="1752600"/>
            <a:ext cx="9144000" cy="44958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pic>
        <p:nvPicPr>
          <p:cNvPr id="17" name="Picture 35" descr="corp3pers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05" b="21640"/>
          <a:stretch>
            <a:fillRect/>
          </a:stretch>
        </p:blipFill>
        <p:spPr bwMode="auto">
          <a:xfrm>
            <a:off x="4610100" y="4800600"/>
            <a:ext cx="25527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7"/>
          <p:cNvSpPr>
            <a:spLocks noChangeArrowheads="1"/>
          </p:cNvSpPr>
          <p:nvPr userDrawn="1"/>
        </p:nvSpPr>
        <p:spPr bwMode="gray">
          <a:xfrm>
            <a:off x="0" y="6275388"/>
            <a:ext cx="9144000" cy="582612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9" name="Rectangle 37"/>
          <p:cNvSpPr>
            <a:spLocks noChangeArrowheads="1"/>
          </p:cNvSpPr>
          <p:nvPr userDrawn="1"/>
        </p:nvSpPr>
        <p:spPr bwMode="auto">
          <a:xfrm>
            <a:off x="0" y="1728788"/>
            <a:ext cx="9144000" cy="55721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pic>
        <p:nvPicPr>
          <p:cNvPr id="20" name="Picture 33" descr="corp3girl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6" b="7260"/>
          <a:stretch>
            <a:fillRect/>
          </a:stretch>
        </p:blipFill>
        <p:spPr bwMode="auto">
          <a:xfrm>
            <a:off x="0" y="1752600"/>
            <a:ext cx="459105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34" descr="corp3buildi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1752600"/>
            <a:ext cx="4533900" cy="30321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9" descr="businesspeople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6613" y="4800600"/>
            <a:ext cx="19573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3600" i="1">
                <a:latin typeface="Verdana" pitchFamily="34" charset="0"/>
              </a:defRPr>
            </a:lvl1pPr>
          </a:lstStyle>
          <a:p>
            <a:r>
              <a:rPr lang="en-US" altLang="zh-TW"/>
              <a:t>Click to edit Master </a:t>
            </a:r>
            <a:br>
              <a:rPr lang="en-US" altLang="zh-TW"/>
            </a:br>
            <a:r>
              <a:rPr lang="en-US" altLang="zh-TW"/>
              <a:t>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altLang="zh-TW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671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71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1658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287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287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332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080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11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163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4052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8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398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TW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228725"/>
            <a:ext cx="8229600" cy="5248275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83585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7" cy="719137"/>
          </a:xfrm>
          <a:prstGeom prst="rect">
            <a:avLst/>
          </a:prstGeom>
          <a:solidFill>
            <a:schemeClr val="folHlink"/>
          </a:solidFill>
          <a:ln>
            <a:noFill/>
          </a:ln>
          <a:extLst/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287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457200"/>
            <a:ext cx="7391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029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gray">
          <a:xfrm>
            <a:off x="328613" y="357188"/>
            <a:ext cx="328612" cy="361950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31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32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  <p:sp>
        <p:nvSpPr>
          <p:cNvPr id="1033" name="Rectangle 29"/>
          <p:cNvSpPr>
            <a:spLocks noChangeArrowheads="1"/>
          </p:cNvSpPr>
          <p:nvPr/>
        </p:nvSpPr>
        <p:spPr bwMode="gray">
          <a:xfrm>
            <a:off x="328613" y="719138"/>
            <a:ext cx="328612" cy="361950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zh-TW" altLang="en-US" smtClean="0">
              <a:ea typeface="新細明體" panose="02020500000000000000" pitchFamily="18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" Target="slide3.xml"/><Relationship Id="rId7" Type="http://schemas.openxmlformats.org/officeDocument/2006/relationships/slide" Target="slide12.xml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slide" Target="slide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slide" Target="slide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xcel_97-2003____1.xls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png"/><Relationship Id="rId5" Type="http://schemas.openxmlformats.org/officeDocument/2006/relationships/slide" Target="slide2.xml"/><Relationship Id="rId4" Type="http://schemas.openxmlformats.org/officeDocument/2006/relationships/image" Target="../media/image18.png"/><Relationship Id="rId9" Type="http://schemas.openxmlformats.org/officeDocument/2006/relationships/image" Target="../media/image1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ChangeArrowheads="1"/>
          </p:cNvSpPr>
          <p:nvPr/>
        </p:nvSpPr>
        <p:spPr bwMode="white">
          <a:xfrm>
            <a:off x="2895600" y="914400"/>
            <a:ext cx="5867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FIH</a:t>
            </a:r>
            <a:r>
              <a:rPr lang="zh-CN" altLang="en-US" sz="3600" b="1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績效考核系統</a:t>
            </a:r>
            <a:endParaRPr lang="en-US" altLang="zh-TW" sz="3600" b="1">
              <a:solidFill>
                <a:schemeClr val="accent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099" name="Text Box 12"/>
          <p:cNvSpPr txBox="1">
            <a:spLocks noChangeArrowheads="1"/>
          </p:cNvSpPr>
          <p:nvPr/>
        </p:nvSpPr>
        <p:spPr bwMode="auto">
          <a:xfrm>
            <a:off x="2590800" y="6400800"/>
            <a:ext cx="464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1600" b="1">
                <a:solidFill>
                  <a:schemeClr val="bg1"/>
                </a:solidFill>
                <a:ea typeface="新細明體" panose="02020500000000000000" pitchFamily="18" charset="-120"/>
              </a:rPr>
              <a:t>http://</a:t>
            </a:r>
            <a:r>
              <a:rPr lang="en-US" altLang="zh-CN" sz="1600" b="1">
                <a:solidFill>
                  <a:schemeClr val="bg1"/>
                </a:solidFill>
                <a:ea typeface="新細明體" panose="02020500000000000000" pitchFamily="18" charset="-120"/>
              </a:rPr>
              <a:t>performance</a:t>
            </a:r>
            <a:r>
              <a:rPr lang="en-US" altLang="zh-TW" sz="1600" b="1">
                <a:solidFill>
                  <a:schemeClr val="bg1"/>
                </a:solidFill>
                <a:ea typeface="新細明體" panose="02020500000000000000" pitchFamily="18" charset="-120"/>
              </a:rPr>
              <a:t>.efih-foxconn.com</a:t>
            </a:r>
            <a:endParaRPr lang="zh-TW" altLang="en-US" sz="1600" b="1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  <p:sp>
        <p:nvSpPr>
          <p:cNvPr id="4100" name="Text Box 14"/>
          <p:cNvSpPr txBox="1">
            <a:spLocks noChangeArrowheads="1"/>
          </p:cNvSpPr>
          <p:nvPr/>
        </p:nvSpPr>
        <p:spPr bwMode="auto">
          <a:xfrm>
            <a:off x="0" y="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b="1">
                <a:solidFill>
                  <a:srgbClr val="D1DBEB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FIH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4419600" cy="487363"/>
          </a:xfrm>
        </p:spPr>
        <p:txBody>
          <a:bodyPr/>
          <a:lstStyle/>
          <a:p>
            <a:pPr eaLnBrk="1" hangingPunct="1"/>
            <a:r>
              <a:rPr lang="en-US" altLang="zh-CN" smtClean="0">
                <a:latin typeface="標楷體" panose="03000509000000000000" pitchFamily="65" charset="-120"/>
                <a:ea typeface="標楷體" panose="03000509000000000000" pitchFamily="65" charset="-120"/>
              </a:rPr>
              <a:t>FIH</a:t>
            </a:r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績效考核系統導航目錄</a:t>
            </a:r>
          </a:p>
        </p:txBody>
      </p:sp>
      <p:pic>
        <p:nvPicPr>
          <p:cNvPr id="5123" name="Picture 71" descr="loadin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291263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68"/>
          <p:cNvSpPr txBox="1">
            <a:spLocks noChangeArrowheads="1"/>
          </p:cNvSpPr>
          <p:nvPr/>
        </p:nvSpPr>
        <p:spPr bwMode="auto">
          <a:xfrm>
            <a:off x="990600" y="6237288"/>
            <a:ext cx="495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單擊要查看的標題，直接跳轉到該部分内容介紹頁面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6" name="TextBox 5">
            <a:hlinkClick r:id="rId3" action="ppaction://hlinksldjump"/>
          </p:cNvPr>
          <p:cNvSpPr txBox="1"/>
          <p:nvPr/>
        </p:nvSpPr>
        <p:spPr>
          <a:xfrm>
            <a:off x="304800" y="3363913"/>
            <a:ext cx="1981200" cy="369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標楷體" pitchFamily="65" charset="-120"/>
                <a:ea typeface="標楷體" pitchFamily="65" charset="-120"/>
              </a:rPr>
              <a:t>系統登陸界面</a:t>
            </a:r>
            <a:endParaRPr lang="zh-TW" altLang="en-US" b="1" u="sng" dirty="0">
              <a:solidFill>
                <a:schemeClr val="accent1">
                  <a:lumMod val="60000"/>
                  <a:lumOff val="40000"/>
                </a:schemeClr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7" name="Text Box 68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4343400" y="2590800"/>
            <a:ext cx="41910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‘考勤記錄’及‘獎懲項目’</a:t>
            </a:r>
            <a:endParaRPr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8" name="Text Box 68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4343400" y="1828800"/>
            <a:ext cx="22098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1600" b="1" dirty="0">
                <a:latin typeface="Arial" charset="0"/>
                <a:ea typeface="標楷體" pitchFamily="65" charset="-120"/>
              </a:rPr>
              <a:t> </a:t>
            </a:r>
            <a:r>
              <a:rPr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系統登陸</a:t>
            </a:r>
            <a:endParaRPr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9" name="Text Box 6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4343400" y="3395663"/>
            <a:ext cx="34290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‘工作成果與績效評估’</a:t>
            </a:r>
            <a:endParaRPr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sp>
        <p:nvSpPr>
          <p:cNvPr id="12" name="Text Box 68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4343400" y="4953000"/>
            <a:ext cx="2057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1600" b="1" dirty="0">
                <a:latin typeface="Arial" charset="0"/>
                <a:ea typeface="標楷體" pitchFamily="65" charset="-120"/>
              </a:rPr>
              <a:t> </a:t>
            </a:r>
            <a:r>
              <a:rPr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自評操作注意事項</a:t>
            </a:r>
            <a:endParaRPr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  <p:pic>
        <p:nvPicPr>
          <p:cNvPr id="5130" name="Picture 2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876425"/>
            <a:ext cx="240982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 Box 68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343400" y="4191000"/>
            <a:ext cx="39624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標楷體" pitchFamily="65" charset="-120"/>
              </a:rPr>
              <a:t>主管評價‘年度績效總結’</a:t>
            </a:r>
            <a:endParaRPr lang="en-US" altLang="zh-TW" sz="1600" b="1" u="sng" dirty="0">
              <a:solidFill>
                <a:schemeClr val="accent1">
                  <a:lumMod val="60000"/>
                  <a:lumOff val="40000"/>
                </a:schemeClr>
              </a:solidFill>
              <a:latin typeface="Arial" charset="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144588"/>
            <a:ext cx="4876800" cy="413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4419600" cy="487363"/>
          </a:xfrm>
        </p:spPr>
        <p:txBody>
          <a:bodyPr/>
          <a:lstStyle/>
          <a:p>
            <a:pPr algn="ctr" eaLnBrk="1" hangingPunct="1"/>
            <a:r>
              <a:rPr lang="en-US" altLang="zh-CN" smtClean="0">
                <a:latin typeface="標楷體" panose="03000509000000000000" pitchFamily="65" charset="-120"/>
                <a:ea typeface="標楷體" panose="03000509000000000000" pitchFamily="65" charset="-120"/>
              </a:rPr>
              <a:t>FIH</a:t>
            </a:r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績效考核系統登陸界面</a:t>
            </a:r>
          </a:p>
        </p:txBody>
      </p:sp>
      <p:sp>
        <p:nvSpPr>
          <p:cNvPr id="6148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6149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0" name="Text Box 68"/>
          <p:cNvSpPr txBox="1">
            <a:spLocks noChangeArrowheads="1"/>
          </p:cNvSpPr>
          <p:nvPr/>
        </p:nvSpPr>
        <p:spPr bwMode="auto">
          <a:xfrm>
            <a:off x="381000" y="5302250"/>
            <a:ext cx="1219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注意點：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7175" name="Text Box 68"/>
          <p:cNvSpPr txBox="1">
            <a:spLocks noChangeArrowheads="1"/>
          </p:cNvSpPr>
          <p:nvPr/>
        </p:nvSpPr>
        <p:spPr bwMode="auto">
          <a:xfrm>
            <a:off x="641350" y="5646738"/>
            <a:ext cx="7816850" cy="83026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1.  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根據需要選擇語言</a:t>
            </a:r>
            <a:endParaRPr lang="en-US" altLang="zh-CN" sz="1200" b="1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2.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 ‘用戶帳號’為員工工號，‘用戶密碼’同</a:t>
            </a:r>
            <a:r>
              <a:rPr lang="en-US" altLang="zh-CN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Workflow Portal</a:t>
            </a:r>
            <a:r>
              <a:rPr lang="zh-CN" altLang="en-US" sz="1200" b="1" dirty="0" smtClean="0">
                <a:latin typeface="Arial" panose="020B0604020202020204" pitchFamily="34" charset="0"/>
                <a:ea typeface="標楷體" panose="03000509000000000000" pitchFamily="65" charset="-120"/>
              </a:rPr>
              <a:t>和考勤系統；</a:t>
            </a:r>
            <a:endParaRPr lang="en-US" altLang="zh-CN" sz="1200" b="1" dirty="0" smtClean="0">
              <a:latin typeface="Arial" panose="020B0604020202020204" pitchFamily="34" charset="0"/>
              <a:ea typeface="標楷體" panose="03000509000000000000" pitchFamily="65" charset="-120"/>
            </a:endParaRPr>
          </a:p>
          <a:p>
            <a:pPr eaLnBrk="1" hangingPunct="1">
              <a:spcBef>
                <a:spcPct val="5000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zh-CN" sz="1200" b="1" dirty="0" smtClean="0">
                <a:latin typeface="Arial" charset="0"/>
                <a:ea typeface="標楷體" pitchFamily="65" charset="-120"/>
              </a:rPr>
              <a:t>3.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  若用戶忘記密碼或想要聯係該系統相關負責人，請單擊‘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忘記密碼？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’、‘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聯係窗口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’、‘</a:t>
            </a:r>
            <a:r>
              <a:rPr lang="zh-CN" altLang="en-US" sz="1200" b="1" u="sng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幫助信息</a:t>
            </a:r>
            <a:r>
              <a:rPr lang="zh-CN" altLang="en-US" sz="1200" b="1" dirty="0" smtClean="0">
                <a:latin typeface="Arial" charset="0"/>
                <a:ea typeface="標楷體" pitchFamily="65" charset="-120"/>
              </a:rPr>
              <a:t>’等按鈕；</a:t>
            </a:r>
            <a:endParaRPr lang="en-US" altLang="zh-TW" sz="1200" b="1" dirty="0" smtClean="0">
              <a:latin typeface="Arial" charset="0"/>
              <a:ea typeface="標楷體" pitchFamily="65" charset="-120"/>
            </a:endParaRPr>
          </a:p>
        </p:txBody>
      </p:sp>
      <p:sp>
        <p:nvSpPr>
          <p:cNvPr id="6152" name="矩形 63"/>
          <p:cNvSpPr>
            <a:spLocks noChangeArrowheads="1"/>
          </p:cNvSpPr>
          <p:nvPr/>
        </p:nvSpPr>
        <p:spPr bwMode="auto">
          <a:xfrm>
            <a:off x="3505200" y="1079500"/>
            <a:ext cx="2362200" cy="4445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1.</a:t>
            </a: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53" name="矩形 63"/>
          <p:cNvSpPr>
            <a:spLocks noChangeArrowheads="1"/>
          </p:cNvSpPr>
          <p:nvPr/>
        </p:nvSpPr>
        <p:spPr bwMode="auto">
          <a:xfrm>
            <a:off x="3222625" y="2846388"/>
            <a:ext cx="3178175" cy="887412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2.</a:t>
            </a: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sp>
        <p:nvSpPr>
          <p:cNvPr id="6154" name="矩形 63"/>
          <p:cNvSpPr>
            <a:spLocks noChangeArrowheads="1"/>
          </p:cNvSpPr>
          <p:nvPr/>
        </p:nvSpPr>
        <p:spPr bwMode="auto">
          <a:xfrm>
            <a:off x="3368675" y="4495800"/>
            <a:ext cx="3032125" cy="2921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zh-TW">
                <a:solidFill>
                  <a:srgbClr val="FFFFFF"/>
                </a:solidFill>
                <a:ea typeface="新細明體" panose="02020500000000000000" pitchFamily="18" charset="-120"/>
              </a:rPr>
              <a:t>3.</a:t>
            </a:r>
            <a:endParaRPr lang="zh-TW" altLang="en-US">
              <a:solidFill>
                <a:srgbClr val="FFFFFF"/>
              </a:solidFill>
              <a:ea typeface="新細明體" panose="02020500000000000000" pitchFamily="18" charset="-120"/>
            </a:endParaRPr>
          </a:p>
        </p:txBody>
      </p:sp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057400"/>
            <a:ext cx="1219200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54102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忘記密碼的處理方法及聯係方式</a:t>
            </a:r>
          </a:p>
        </p:txBody>
      </p:sp>
      <p:sp>
        <p:nvSpPr>
          <p:cNvPr id="7171" name="Text Box 5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7172" name="Picture 60" descr="png-173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68"/>
          <p:cNvSpPr txBox="1">
            <a:spLocks noChangeArrowheads="1"/>
          </p:cNvSpPr>
          <p:nvPr/>
        </p:nvSpPr>
        <p:spPr bwMode="auto">
          <a:xfrm>
            <a:off x="5486400" y="2447925"/>
            <a:ext cx="37338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單擊登陸頁面中的‘</a:t>
            </a:r>
            <a:r>
              <a:rPr lang="zh-CN" altLang="en-US" sz="1600" b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</a:rPr>
              <a:t>忘記密碼？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’按鈕</a:t>
            </a:r>
            <a:endParaRPr lang="en-US" altLang="zh-TW" sz="1600" b="1" dirty="0">
              <a:latin typeface="Arial" charset="0"/>
              <a:ea typeface="標楷體" pitchFamily="65" charset="-120"/>
            </a:endParaRPr>
          </a:p>
        </p:txBody>
      </p:sp>
      <p:sp>
        <p:nvSpPr>
          <p:cNvPr id="7174" name="右箭头 8"/>
          <p:cNvSpPr>
            <a:spLocks noChangeArrowheads="1"/>
          </p:cNvSpPr>
          <p:nvPr/>
        </p:nvSpPr>
        <p:spPr bwMode="auto">
          <a:xfrm flipH="1">
            <a:off x="5257800" y="2541588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0" name="Text Box 68"/>
          <p:cNvSpPr txBox="1">
            <a:spLocks noChangeArrowheads="1"/>
          </p:cNvSpPr>
          <p:nvPr/>
        </p:nvSpPr>
        <p:spPr bwMode="auto">
          <a:xfrm>
            <a:off x="152400" y="5148263"/>
            <a:ext cx="37338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單擊登陸頁面中的‘</a:t>
            </a:r>
            <a:r>
              <a:rPr lang="zh-CN" altLang="en-US" sz="1600" b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</a:rPr>
              <a:t>聯係窗口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’按鈕</a:t>
            </a:r>
            <a:endParaRPr lang="en-US" altLang="zh-TW" sz="1600" b="1" dirty="0">
              <a:latin typeface="Arial" charset="0"/>
              <a:ea typeface="標楷體" pitchFamily="65" charset="-120"/>
            </a:endParaRPr>
          </a:p>
        </p:txBody>
      </p:sp>
      <p:sp>
        <p:nvSpPr>
          <p:cNvPr id="7176" name="右箭头 10"/>
          <p:cNvSpPr>
            <a:spLocks noChangeArrowheads="1"/>
          </p:cNvSpPr>
          <p:nvPr/>
        </p:nvSpPr>
        <p:spPr bwMode="auto">
          <a:xfrm>
            <a:off x="3581400" y="5257800"/>
            <a:ext cx="228600" cy="152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7177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588" y="4078288"/>
            <a:ext cx="4518025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92288"/>
            <a:ext cx="442277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0115"/>
            <a:ext cx="7974330" cy="4513421"/>
          </a:xfrm>
          <a:prstGeom prst="rect">
            <a:avLst/>
          </a:prstGeom>
        </p:spPr>
      </p:pic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457200"/>
            <a:ext cx="41910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成功登陸系統后的首頁面</a:t>
            </a:r>
          </a:p>
        </p:txBody>
      </p:sp>
      <p:sp>
        <p:nvSpPr>
          <p:cNvPr id="8196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8197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 Box 68"/>
          <p:cNvSpPr txBox="1">
            <a:spLocks noChangeArrowheads="1"/>
          </p:cNvSpPr>
          <p:nvPr/>
        </p:nvSpPr>
        <p:spPr bwMode="auto">
          <a:xfrm>
            <a:off x="457200" y="6367463"/>
            <a:ext cx="8305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solidFill>
                  <a:srgbClr val="FF0000"/>
                </a:solidFill>
                <a:ea typeface="標楷體" panose="03000509000000000000" pitchFamily="65" charset="-120"/>
              </a:rPr>
              <a:t>*</a:t>
            </a:r>
            <a:r>
              <a:rPr lang="zh-CN" altLang="en-US" sz="1600" b="1">
                <a:ea typeface="標楷體" panose="03000509000000000000" pitchFamily="65" charset="-120"/>
              </a:rPr>
              <a:t>  系統管理員角色有權限看到</a:t>
            </a:r>
            <a:r>
              <a:rPr lang="zh-CN" altLang="en-US" sz="1600" b="1">
                <a:solidFill>
                  <a:srgbClr val="FF0000"/>
                </a:solidFill>
                <a:ea typeface="標楷體" panose="03000509000000000000" pitchFamily="65" charset="-120"/>
              </a:rPr>
              <a:t>所有</a:t>
            </a:r>
            <a:r>
              <a:rPr lang="zh-CN" altLang="en-US" sz="1600" b="1">
                <a:ea typeface="標楷體" panose="03000509000000000000" pitchFamily="65" charset="-120"/>
              </a:rPr>
              <a:t>菜單項；普通用戶角色只可以看到‘員工自評作業’。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12" name="圆角矩形标注 12"/>
          <p:cNvSpPr/>
          <p:nvPr/>
        </p:nvSpPr>
        <p:spPr bwMode="auto">
          <a:xfrm>
            <a:off x="4926330" y="3354388"/>
            <a:ext cx="1752600" cy="531812"/>
          </a:xfrm>
          <a:prstGeom prst="wedgeRoundRectCallout">
            <a:avLst>
              <a:gd name="adj1" fmla="val 53895"/>
              <a:gd name="adj2" fmla="val -100732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員工點擊此處進入自評頁面</a:t>
            </a:r>
            <a:endParaRPr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8200" name="矩形 16"/>
          <p:cNvSpPr>
            <a:spLocks noChangeArrowheads="1"/>
          </p:cNvSpPr>
          <p:nvPr/>
        </p:nvSpPr>
        <p:spPr bwMode="auto">
          <a:xfrm>
            <a:off x="6755130" y="2972911"/>
            <a:ext cx="1219200" cy="304800"/>
          </a:xfrm>
          <a:prstGeom prst="rect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8201" name="矩形 17"/>
          <p:cNvSpPr>
            <a:spLocks noChangeArrowheads="1"/>
          </p:cNvSpPr>
          <p:nvPr/>
        </p:nvSpPr>
        <p:spPr bwMode="auto">
          <a:xfrm>
            <a:off x="614680" y="1828800"/>
            <a:ext cx="4083050" cy="228600"/>
          </a:xfrm>
          <a:prstGeom prst="rect">
            <a:avLst/>
          </a:prstGeom>
          <a:noFill/>
          <a:ln w="349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87500"/>
            <a:ext cx="7112000" cy="432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457200"/>
            <a:ext cx="48006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普通用戶操作步驟介紹（一）</a:t>
            </a:r>
          </a:p>
        </p:txBody>
      </p:sp>
      <p:sp>
        <p:nvSpPr>
          <p:cNvPr id="9220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9221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Text Box 68"/>
          <p:cNvSpPr txBox="1">
            <a:spLocks noChangeArrowheads="1"/>
          </p:cNvSpPr>
          <p:nvPr/>
        </p:nvSpPr>
        <p:spPr bwMode="auto">
          <a:xfrm>
            <a:off x="152400" y="1143000"/>
            <a:ext cx="6248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考勤及獎懲信息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9" name="Text Box 68"/>
          <p:cNvSpPr txBox="1">
            <a:spLocks noChangeArrowheads="1"/>
          </p:cNvSpPr>
          <p:nvPr/>
        </p:nvSpPr>
        <p:spPr bwMode="auto">
          <a:xfrm>
            <a:off x="381000" y="6019800"/>
            <a:ext cx="8458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charset="0"/>
              <a:buChar char="•"/>
              <a:defRPr/>
            </a:pPr>
            <a:r>
              <a:rPr lang="zh-CN" altLang="en-US" sz="1600" b="1" dirty="0">
                <a:latin typeface="Arial" charset="0"/>
                <a:ea typeface="標楷體" pitchFamily="65" charset="-120"/>
              </a:rPr>
              <a:t>如圖中所標註的‘</a:t>
            </a:r>
            <a:r>
              <a:rPr lang="en-US" altLang="zh-CN" sz="1600" b="1" dirty="0">
                <a:latin typeface="Arial" charset="0"/>
                <a:ea typeface="標楷體" pitchFamily="65" charset="-120"/>
              </a:rPr>
              <a:t>A.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考勤記錄’及 ‘</a:t>
            </a:r>
            <a:r>
              <a:rPr lang="en-US" altLang="zh-CN" sz="1600" b="1" dirty="0">
                <a:latin typeface="Arial" charset="0"/>
                <a:ea typeface="標楷體" pitchFamily="65" charset="-120"/>
              </a:rPr>
              <a:t>B.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獎懲項目’具體信息由系統自動帶出，員工可以查看到詳細的信息，如有疑問參看“</a:t>
            </a:r>
            <a:r>
              <a:rPr lang="zh-CN" altLang="en-US" sz="1600" b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ea typeface="標楷體" pitchFamily="65" charset="-120"/>
                <a:hlinkClick r:id="rId5" action="ppaction://hlinksldjump"/>
              </a:rPr>
              <a:t>聯係窗口</a:t>
            </a:r>
            <a:r>
              <a:rPr lang="zh-CN" altLang="en-US" sz="1600" b="1" dirty="0">
                <a:latin typeface="Arial" charset="0"/>
                <a:ea typeface="標楷體" pitchFamily="65" charset="-120"/>
              </a:rPr>
              <a:t>”聯係相關人員進行處理。</a:t>
            </a:r>
          </a:p>
        </p:txBody>
      </p:sp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600200"/>
            <a:ext cx="10509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1544638"/>
            <a:ext cx="7950200" cy="483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457200"/>
            <a:ext cx="4495800" cy="533400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普通用戶操作步驟介紹（二）</a:t>
            </a:r>
          </a:p>
        </p:txBody>
      </p:sp>
      <p:sp>
        <p:nvSpPr>
          <p:cNvPr id="10244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0245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 Box 68"/>
          <p:cNvSpPr txBox="1">
            <a:spLocks noChangeArrowheads="1"/>
          </p:cNvSpPr>
          <p:nvPr/>
        </p:nvSpPr>
        <p:spPr bwMode="auto">
          <a:xfrm>
            <a:off x="152400" y="1143000"/>
            <a:ext cx="7315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‘員工自評作業’操作界面：</a:t>
            </a:r>
            <a:r>
              <a:rPr lang="zh-CN" altLang="en-US" sz="1600" b="1" u="sng">
                <a:ea typeface="標楷體" panose="03000509000000000000" pitchFamily="65" charset="-120"/>
              </a:rPr>
              <a:t>師</a:t>
            </a:r>
            <a:r>
              <a:rPr lang="en-US" altLang="zh-CN" sz="1600" b="1" u="sng">
                <a:ea typeface="標楷體" panose="03000509000000000000" pitchFamily="65" charset="-120"/>
              </a:rPr>
              <a:t>1~</a:t>
            </a:r>
            <a:r>
              <a:rPr lang="zh-CN" altLang="en-US" sz="1600" b="1" u="sng">
                <a:ea typeface="標楷體" panose="03000509000000000000" pitchFamily="65" charset="-120"/>
              </a:rPr>
              <a:t>師</a:t>
            </a:r>
            <a:r>
              <a:rPr lang="en-US" altLang="zh-CN" sz="1600" b="1" u="sng">
                <a:ea typeface="標楷體" panose="03000509000000000000" pitchFamily="65" charset="-120"/>
              </a:rPr>
              <a:t>3</a:t>
            </a:r>
            <a:r>
              <a:rPr lang="zh-CN" altLang="en-US" sz="1600" b="1">
                <a:ea typeface="標楷體" panose="03000509000000000000" pitchFamily="65" charset="-120"/>
              </a:rPr>
              <a:t>員工工作成果與績效評估填寫界面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9227" name="矩形 15"/>
          <p:cNvSpPr>
            <a:spLocks noChangeArrowheads="1"/>
          </p:cNvSpPr>
          <p:nvPr/>
        </p:nvSpPr>
        <p:spPr bwMode="auto">
          <a:xfrm>
            <a:off x="1409700" y="3565525"/>
            <a:ext cx="1638300" cy="320675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211138" y="4332288"/>
            <a:ext cx="2743200" cy="533400"/>
          </a:xfrm>
          <a:prstGeom prst="wedgeRoundRectCallout">
            <a:avLst>
              <a:gd name="adj1" fmla="val 47282"/>
              <a:gd name="adj2" fmla="val -130153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該項目的內容由員工自己填寫，填寫要求參考註釋</a:t>
            </a:r>
            <a:endParaRPr lang="en-US" altLang="zh-CN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229" name="矩形 17"/>
          <p:cNvSpPr>
            <a:spLocks noChangeArrowheads="1"/>
          </p:cNvSpPr>
          <p:nvPr/>
        </p:nvSpPr>
        <p:spPr bwMode="auto">
          <a:xfrm>
            <a:off x="584200" y="1549400"/>
            <a:ext cx="1828800" cy="228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1" name="圆角矩形标注 20"/>
          <p:cNvSpPr/>
          <p:nvPr/>
        </p:nvSpPr>
        <p:spPr bwMode="auto">
          <a:xfrm>
            <a:off x="2371725" y="1943100"/>
            <a:ext cx="5486400" cy="762000"/>
          </a:xfrm>
          <a:prstGeom prst="wedgeRoundRectCallout">
            <a:avLst>
              <a:gd name="adj1" fmla="val -48688"/>
              <a:gd name="adj2" fmla="val -77859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員工按要求填寫完成后，可以單擊該頁面頂部或底部的‘提交’按鈕完成作業或單擊‘保存’按鈕保存編輯的數據；單擊‘返回’按鈕，頁面回到系統的首頁面</a:t>
            </a:r>
            <a:endParaRPr lang="zh-TW" altLang="en-US" sz="1400" b="1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231" name="矩形 15"/>
          <p:cNvSpPr>
            <a:spLocks noChangeArrowheads="1"/>
          </p:cNvSpPr>
          <p:nvPr/>
        </p:nvSpPr>
        <p:spPr bwMode="auto">
          <a:xfrm>
            <a:off x="5334000" y="3471863"/>
            <a:ext cx="2362200" cy="4905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8" name="圆角矩形标注 17"/>
          <p:cNvSpPr/>
          <p:nvPr/>
        </p:nvSpPr>
        <p:spPr bwMode="auto">
          <a:xfrm>
            <a:off x="6172200" y="4522788"/>
            <a:ext cx="1524000" cy="762000"/>
          </a:xfrm>
          <a:prstGeom prst="wedgeRoundRectCallout">
            <a:avLst>
              <a:gd name="adj1" fmla="val -56459"/>
              <a:gd name="adj2" fmla="val -114344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1400" b="1">
                <a:solidFill>
                  <a:srgbClr val="FF0000"/>
                </a:solidFill>
                <a:latin typeface="Arial" charset="0"/>
                <a:ea typeface="標楷體" pitchFamily="65" charset="-120"/>
              </a:rPr>
              <a:t>論調崗位為非必填項目，最多可填三個</a:t>
            </a:r>
            <a:endParaRPr lang="zh-TW" altLang="en-US" sz="1400" b="1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20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 animBg="1"/>
      <p:bldP spid="17" grpId="0" animBg="1"/>
      <p:bldP spid="9229" grpId="0" animBg="1"/>
      <p:bldP spid="21" grpId="0" animBg="1"/>
      <p:bldP spid="9231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7818438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52578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普通用戶操作步驟介紹（三） </a:t>
            </a:r>
          </a:p>
        </p:txBody>
      </p:sp>
      <p:sp>
        <p:nvSpPr>
          <p:cNvPr id="11268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1269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68"/>
          <p:cNvSpPr txBox="1">
            <a:spLocks noChangeArrowheads="1"/>
          </p:cNvSpPr>
          <p:nvPr/>
        </p:nvSpPr>
        <p:spPr bwMode="auto">
          <a:xfrm>
            <a:off x="152400" y="1262063"/>
            <a:ext cx="807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‘員工自評作業’操作界面：</a:t>
            </a:r>
            <a:r>
              <a:rPr lang="zh-CN" altLang="en-US" sz="1600" b="1" u="sng">
                <a:ea typeface="標楷體" panose="03000509000000000000" pitchFamily="65" charset="-120"/>
              </a:rPr>
              <a:t>師</a:t>
            </a:r>
            <a:r>
              <a:rPr lang="en-US" altLang="zh-CN" sz="1600" b="1" u="sng">
                <a:ea typeface="標楷體" panose="03000509000000000000" pitchFamily="65" charset="-120"/>
              </a:rPr>
              <a:t>4</a:t>
            </a:r>
            <a:r>
              <a:rPr lang="zh-CN" altLang="en-US" sz="1600" b="1" u="sng">
                <a:ea typeface="標楷體" panose="03000509000000000000" pitchFamily="65" charset="-120"/>
              </a:rPr>
              <a:t>及以上且為非課級及以上員工</a:t>
            </a:r>
            <a:r>
              <a:rPr lang="zh-CN" altLang="en-US" sz="1600" b="1">
                <a:ea typeface="標楷體" panose="03000509000000000000" pitchFamily="65" charset="-120"/>
              </a:rPr>
              <a:t>工作成果與績效評估填寫界面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11271" name="矩形 6"/>
          <p:cNvSpPr>
            <a:spLocks noChangeArrowheads="1"/>
          </p:cNvSpPr>
          <p:nvPr/>
        </p:nvSpPr>
        <p:spPr bwMode="auto">
          <a:xfrm>
            <a:off x="639763" y="3581400"/>
            <a:ext cx="7666037" cy="271938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1272" name="圆角矩形标注 12"/>
          <p:cNvSpPr>
            <a:spLocks noChangeArrowheads="1"/>
          </p:cNvSpPr>
          <p:nvPr/>
        </p:nvSpPr>
        <p:spPr bwMode="auto">
          <a:xfrm>
            <a:off x="2971800" y="2667000"/>
            <a:ext cx="4343400" cy="533400"/>
          </a:xfrm>
          <a:prstGeom prst="wedgeRoundRectCallout">
            <a:avLst>
              <a:gd name="adj1" fmla="val -37995"/>
              <a:gd name="adj2" fmla="val 119347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ea typeface="標楷體" panose="03000509000000000000" pitchFamily="65" charset="-120"/>
              </a:rPr>
              <a:t>此部分為師</a:t>
            </a:r>
            <a:r>
              <a:rPr lang="en-US" altLang="zh-CN" sz="1400" b="1">
                <a:solidFill>
                  <a:srgbClr val="FF0000"/>
                </a:solidFill>
                <a:ea typeface="標楷體" panose="03000509000000000000" pitchFamily="65" charset="-120"/>
              </a:rPr>
              <a:t>4</a:t>
            </a:r>
            <a:r>
              <a:rPr lang="zh-CN" altLang="en-US" sz="1400" b="1">
                <a:solidFill>
                  <a:srgbClr val="FF0000"/>
                </a:solidFill>
                <a:ea typeface="標楷體" panose="03000509000000000000" pitchFamily="65" charset="-120"/>
              </a:rPr>
              <a:t>及以上非課級及以上員工可見内容，具體請參考說明。</a:t>
            </a:r>
            <a:endParaRPr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831975"/>
            <a:ext cx="7639050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457200"/>
            <a:ext cx="52578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普通用戶操作步驟介紹（四） </a:t>
            </a:r>
          </a:p>
        </p:txBody>
      </p:sp>
      <p:sp>
        <p:nvSpPr>
          <p:cNvPr id="12292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2293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4" name="Text Box 68"/>
          <p:cNvSpPr txBox="1">
            <a:spLocks noChangeArrowheads="1"/>
          </p:cNvSpPr>
          <p:nvPr/>
        </p:nvSpPr>
        <p:spPr bwMode="auto">
          <a:xfrm>
            <a:off x="228600" y="1219200"/>
            <a:ext cx="845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‘員工自評作業’操作界面：</a:t>
            </a:r>
            <a:r>
              <a:rPr lang="zh-CN" altLang="en-US" sz="1600" b="1" u="sng">
                <a:ea typeface="標楷體" panose="03000509000000000000" pitchFamily="65" charset="-120"/>
              </a:rPr>
              <a:t>課級及以上主管</a:t>
            </a:r>
            <a:r>
              <a:rPr lang="zh-CN" altLang="en-US" sz="1600" b="1">
                <a:ea typeface="標楷體" panose="03000509000000000000" pitchFamily="65" charset="-120"/>
              </a:rPr>
              <a:t>工作成果與績效評估填寫界面</a:t>
            </a:r>
            <a:endParaRPr lang="en-US" altLang="zh-TW" sz="1600" b="1">
              <a:ea typeface="標楷體" panose="03000509000000000000" pitchFamily="65" charset="-120"/>
            </a:endParaRPr>
          </a:p>
        </p:txBody>
      </p:sp>
      <p:sp>
        <p:nvSpPr>
          <p:cNvPr id="12295" name="圆角矩形标注 11"/>
          <p:cNvSpPr>
            <a:spLocks noChangeArrowheads="1"/>
          </p:cNvSpPr>
          <p:nvPr/>
        </p:nvSpPr>
        <p:spPr bwMode="auto">
          <a:xfrm>
            <a:off x="3505200" y="2286000"/>
            <a:ext cx="2590800" cy="657225"/>
          </a:xfrm>
          <a:prstGeom prst="wedgeRoundRectCallout">
            <a:avLst>
              <a:gd name="adj1" fmla="val -76611"/>
              <a:gd name="adj2" fmla="val 126727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1400" b="1">
                <a:solidFill>
                  <a:srgbClr val="FF0000"/>
                </a:solidFill>
                <a:ea typeface="標楷體" panose="03000509000000000000" pitchFamily="65" charset="-120"/>
              </a:rPr>
              <a:t>此部分為課級主管可見内容，具體填寫，請參考說明</a:t>
            </a:r>
            <a:endParaRPr lang="zh-TW" altLang="en-US" sz="1400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296" name="矩形 6"/>
          <p:cNvSpPr>
            <a:spLocks noChangeArrowheads="1"/>
          </p:cNvSpPr>
          <p:nvPr/>
        </p:nvSpPr>
        <p:spPr bwMode="auto">
          <a:xfrm>
            <a:off x="652463" y="3440113"/>
            <a:ext cx="7624762" cy="2830512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19250"/>
            <a:ext cx="7602538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6324600" cy="533400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標楷體" panose="03000509000000000000" pitchFamily="65" charset="-120"/>
              </a:rPr>
              <a:t>‘員工自評作業’</a:t>
            </a:r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操作步驟介紹（五）</a:t>
            </a:r>
          </a:p>
        </p:txBody>
      </p:sp>
      <p:sp>
        <p:nvSpPr>
          <p:cNvPr id="1029" name="Text Box 53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030" name="Picture 60" descr="png-1732">
            <a:hlinkClick r:id="rId5" action="ppaction://hlinksldjump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68"/>
          <p:cNvSpPr txBox="1">
            <a:spLocks noChangeArrowheads="1"/>
          </p:cNvSpPr>
          <p:nvPr/>
        </p:nvSpPr>
        <p:spPr bwMode="auto">
          <a:xfrm>
            <a:off x="152400" y="1143000"/>
            <a:ext cx="7162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1600" b="1">
                <a:ea typeface="標楷體" panose="03000509000000000000" pitchFamily="65" charset="-120"/>
              </a:rPr>
              <a:t>‘員工自評作業’操作界面：</a:t>
            </a:r>
            <a:r>
              <a:rPr lang="zh-TW" altLang="en-US" sz="1600" b="1">
                <a:ea typeface="標楷體" panose="03000509000000000000" pitchFamily="65" charset="-120"/>
              </a:rPr>
              <a:t>下年度主要工作項目</a:t>
            </a:r>
            <a:r>
              <a:rPr lang="en-US" altLang="zh-TW" sz="1600" b="1">
                <a:ea typeface="標楷體" panose="03000509000000000000" pitchFamily="65" charset="-120"/>
              </a:rPr>
              <a:t>KPI</a:t>
            </a:r>
            <a:r>
              <a:rPr lang="zh-TW" altLang="en-US" sz="1600" b="1">
                <a:ea typeface="標楷體" panose="03000509000000000000" pitchFamily="65" charset="-120"/>
              </a:rPr>
              <a:t>與行動計劃</a:t>
            </a:r>
          </a:p>
        </p:txBody>
      </p:sp>
      <p:graphicFrame>
        <p:nvGraphicFramePr>
          <p:cNvPr id="1026" name="Object 19"/>
          <p:cNvGraphicFramePr>
            <a:graphicFrameLocks noChangeAspect="1"/>
          </p:cNvGraphicFramePr>
          <p:nvPr/>
        </p:nvGraphicFramePr>
        <p:xfrm>
          <a:off x="6858000" y="6083300"/>
          <a:ext cx="112236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工作表" showAsIcon="1" r:id="rId8" imgW="914400" imgH="685800" progId="Excel.Sheet.8">
                  <p:embed/>
                </p:oleObj>
              </mc:Choice>
              <mc:Fallback>
                <p:oleObj name="工作表" showAsIcon="1" r:id="rId8" imgW="914400" imgH="685800" progId="Excel.Sheet.8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6083300"/>
                        <a:ext cx="112236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矩形 18"/>
          <p:cNvSpPr>
            <a:spLocks noChangeArrowheads="1"/>
          </p:cNvSpPr>
          <p:nvPr/>
        </p:nvSpPr>
        <p:spPr bwMode="auto">
          <a:xfrm>
            <a:off x="785813" y="2514600"/>
            <a:ext cx="3481387" cy="228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0" name="矩形 15"/>
          <p:cNvSpPr>
            <a:spLocks noChangeArrowheads="1"/>
          </p:cNvSpPr>
          <p:nvPr/>
        </p:nvSpPr>
        <p:spPr bwMode="auto">
          <a:xfrm>
            <a:off x="973138" y="3627438"/>
            <a:ext cx="7391400" cy="1325562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11" name="圆角矩形标注 16"/>
          <p:cNvSpPr>
            <a:spLocks noChangeArrowheads="1"/>
          </p:cNvSpPr>
          <p:nvPr/>
        </p:nvSpPr>
        <p:spPr bwMode="auto">
          <a:xfrm>
            <a:off x="838200" y="5303838"/>
            <a:ext cx="2743200" cy="533400"/>
          </a:xfrm>
          <a:prstGeom prst="wedgeRoundRectCallout">
            <a:avLst>
              <a:gd name="adj1" fmla="val 42796"/>
              <a:gd name="adj2" fmla="val -113671"/>
              <a:gd name="adj3" fmla="val 16667"/>
            </a:avLst>
          </a:prstGeom>
          <a:solidFill>
            <a:srgbClr val="D1D1D1">
              <a:alpha val="83136"/>
            </a:srgbClr>
          </a:solidFill>
          <a:ln w="19050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KPI</a:t>
            </a:r>
            <a:r>
              <a:rPr lang="zh-CN" altLang="en-US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由主管協助員工制定，可參考</a:t>
            </a:r>
            <a:r>
              <a:rPr lang="en-US" altLang="zh-CN" sz="1400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OKR.</a:t>
            </a:r>
          </a:p>
        </p:txBody>
      </p:sp>
      <p:sp>
        <p:nvSpPr>
          <p:cNvPr id="1035" name="矩形 2"/>
          <p:cNvSpPr>
            <a:spLocks noChangeArrowheads="1"/>
          </p:cNvSpPr>
          <p:nvPr/>
        </p:nvSpPr>
        <p:spPr bwMode="auto">
          <a:xfrm>
            <a:off x="5654675" y="6408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參考範例：</a:t>
            </a:r>
            <a:endParaRPr lang="en-US" altLang="zh-CN" b="1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31975"/>
            <a:ext cx="8077200" cy="389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457200"/>
            <a:ext cx="57150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ea typeface="標楷體" panose="03000509000000000000" pitchFamily="65" charset="-120"/>
              </a:rPr>
              <a:t>員工自評作業’</a:t>
            </a:r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操作步驟介紹（七） </a:t>
            </a:r>
          </a:p>
        </p:txBody>
      </p:sp>
      <p:sp>
        <p:nvSpPr>
          <p:cNvPr id="13316" name="Text Box 5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3317" name="Picture 60" descr="png-1732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68"/>
          <p:cNvSpPr txBox="1">
            <a:spLocks noChangeArrowheads="1"/>
          </p:cNvSpPr>
          <p:nvPr/>
        </p:nvSpPr>
        <p:spPr bwMode="auto">
          <a:xfrm>
            <a:off x="228600" y="1219200"/>
            <a:ext cx="51054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 b="1">
                <a:ea typeface="標楷體" panose="03000509000000000000" pitchFamily="65" charset="-120"/>
              </a:rPr>
              <a:t>‘員工自評作業’操作界面：查看主管評語</a:t>
            </a:r>
            <a:endParaRPr lang="en-US" altLang="zh-CN" sz="1600" b="1">
              <a:ea typeface="標楷體" panose="03000509000000000000" pitchFamily="65" charset="-120"/>
            </a:endParaRPr>
          </a:p>
        </p:txBody>
      </p:sp>
      <p:sp>
        <p:nvSpPr>
          <p:cNvPr id="13319" name="矩形 10"/>
          <p:cNvSpPr>
            <a:spLocks noChangeArrowheads="1"/>
          </p:cNvSpPr>
          <p:nvPr/>
        </p:nvSpPr>
        <p:spPr bwMode="auto">
          <a:xfrm>
            <a:off x="533400" y="5943600"/>
            <a:ext cx="5797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600" b="1">
                <a:ea typeface="標楷體" panose="03000509000000000000" pitchFamily="65" charset="-120"/>
              </a:rPr>
              <a:t>員工待直屬主管評價后，可以打開自評頁面查看主管的評語。</a:t>
            </a:r>
          </a:p>
        </p:txBody>
      </p:sp>
      <p:sp>
        <p:nvSpPr>
          <p:cNvPr id="12" name="圆角矩形标注 11"/>
          <p:cNvSpPr/>
          <p:nvPr/>
        </p:nvSpPr>
        <p:spPr bwMode="auto">
          <a:xfrm>
            <a:off x="4114800" y="3778250"/>
            <a:ext cx="1524000" cy="762000"/>
          </a:xfrm>
          <a:prstGeom prst="wedgeRoundRectCallout">
            <a:avLst>
              <a:gd name="adj1" fmla="val -75065"/>
              <a:gd name="adj2" fmla="val 70581"/>
              <a:gd name="adj3" fmla="val 16667"/>
            </a:avLst>
          </a:prstGeom>
          <a:solidFill>
            <a:schemeClr val="bg2">
              <a:lumMod val="60000"/>
              <a:lumOff val="40000"/>
              <a:alpha val="8300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 sz="1400" b="1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員工可以在此項區域查看直屬主管的評語</a:t>
            </a:r>
          </a:p>
        </p:txBody>
      </p:sp>
      <p:cxnSp>
        <p:nvCxnSpPr>
          <p:cNvPr id="13321" name="直接连接符 10"/>
          <p:cNvCxnSpPr>
            <a:cxnSpLocks noChangeShapeType="1"/>
          </p:cNvCxnSpPr>
          <p:nvPr/>
        </p:nvCxnSpPr>
        <p:spPr bwMode="auto">
          <a:xfrm>
            <a:off x="811213" y="4572000"/>
            <a:ext cx="1246187" cy="0"/>
          </a:xfrm>
          <a:prstGeom prst="line">
            <a:avLst/>
          </a:prstGeom>
          <a:noFill/>
          <a:ln w="158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05000"/>
            <a:ext cx="876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3429000" cy="487363"/>
          </a:xfrm>
        </p:spPr>
        <p:txBody>
          <a:bodyPr/>
          <a:lstStyle/>
          <a:p>
            <a:pPr eaLnBrk="1" hangingPunct="1"/>
            <a:r>
              <a:rPr lang="zh-CN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自評操作注意事項</a:t>
            </a:r>
          </a:p>
        </p:txBody>
      </p:sp>
      <p:sp>
        <p:nvSpPr>
          <p:cNvPr id="14339" name="Text Box 5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6324600" y="0"/>
            <a:ext cx="14478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400" b="1">
                <a:ea typeface="標楷體" panose="03000509000000000000" pitchFamily="65" charset="-120"/>
              </a:rPr>
              <a:t>返回導航目錄</a:t>
            </a:r>
          </a:p>
        </p:txBody>
      </p:sp>
      <p:pic>
        <p:nvPicPr>
          <p:cNvPr id="14340" name="Picture 60" descr="png-1732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7625"/>
            <a:ext cx="2381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990600" y="1355725"/>
            <a:ext cx="746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1</a:t>
            </a:r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自評時，輸入內容控制在</a:t>
            </a:r>
            <a:r>
              <a:rPr lang="en-US" altLang="zh-CN" sz="2000" b="1">
                <a:latin typeface="SimSun" panose="02010600030101010101" pitchFamily="2" charset="-122"/>
                <a:ea typeface="SimSun" panose="02010600030101010101" pitchFamily="2" charset="-122"/>
              </a:rPr>
              <a:t>5~200</a:t>
            </a: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字內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輪調崗位為非必填項，最多可填寫三項</a:t>
            </a:r>
            <a:endParaRPr lang="en-US" altLang="zh-CN" sz="2000" b="1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989013" y="4648200"/>
            <a:ext cx="72405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3</a:t>
            </a:r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endParaRPr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員工只能查看直屬主管的評語，查看不到複評主管的評語</a:t>
            </a:r>
          </a:p>
        </p:txBody>
      </p:sp>
      <p:sp>
        <p:nvSpPr>
          <p:cNvPr id="14343" name="Text Box 5"/>
          <p:cNvSpPr txBox="1">
            <a:spLocks noChangeArrowheads="1"/>
          </p:cNvSpPr>
          <p:nvPr/>
        </p:nvSpPr>
        <p:spPr bwMode="auto">
          <a:xfrm>
            <a:off x="990600" y="2895600"/>
            <a:ext cx="7086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5113" indent="-2651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000" b="1" u="sng">
                <a:latin typeface="SimSun" panose="02010600030101010101" pitchFamily="2" charset="-122"/>
                <a:ea typeface="SimSun" panose="02010600030101010101" pitchFamily="2" charset="-122"/>
              </a:rPr>
              <a:t>注意事項</a:t>
            </a:r>
            <a:r>
              <a:rPr lang="en-US" altLang="zh-CN" sz="2000" b="1" u="sng">
                <a:latin typeface="SimSun" panose="02010600030101010101" pitchFamily="2" charset="-122"/>
                <a:ea typeface="SimSun" panose="02010600030101010101" pitchFamily="2" charset="-122"/>
              </a:rPr>
              <a:t>2</a:t>
            </a:r>
            <a:endParaRPr lang="en-GB" altLang="zh-TW" sz="2000" b="1" u="sng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zh-CN" altLang="en-US" sz="2000" b="1">
                <a:latin typeface="SimSun" panose="02010600030101010101" pitchFamily="2" charset="-122"/>
                <a:ea typeface="SimSun" panose="02010600030101010101" pitchFamily="2" charset="-122"/>
              </a:rPr>
              <a:t>自評時，若發現考勤、獎懲與實際情況有偏差，請盡早聯繫各單位人資進行核對調整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3" name="WordArt 5"/>
          <p:cNvSpPr>
            <a:spLocks noChangeArrowheads="1" noChangeShapeType="1" noTextEdit="1"/>
          </p:cNvSpPr>
          <p:nvPr/>
        </p:nvSpPr>
        <p:spPr bwMode="gray">
          <a:xfrm>
            <a:off x="1676400" y="3276600"/>
            <a:ext cx="5689600" cy="79216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defRPr/>
            </a:pPr>
            <a:r>
              <a:rPr lang="en-US" altLang="zh-TW" sz="36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>
                  <a:gsLst>
                    <a:gs pos="100000">
                      <a:schemeClr val="hlink"/>
                    </a:gs>
                    <a:gs pos="0">
                      <a:schemeClr val="accent1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           </a:t>
            </a:r>
            <a:endParaRPr lang="zh-TW" altLang="en-US" sz="36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>
                <a:gsLst>
                  <a:gs pos="100000">
                    <a:schemeClr val="hlink"/>
                  </a:gs>
                  <a:gs pos="0">
                    <a:schemeClr val="accent1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2">
                    <a:alpha val="50000"/>
                  </a:scheme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5363" name="Rectangle 7"/>
          <p:cNvSpPr>
            <a:spLocks noChangeArrowheads="1"/>
          </p:cNvSpPr>
          <p:nvPr/>
        </p:nvSpPr>
        <p:spPr bwMode="white">
          <a:xfrm>
            <a:off x="2895600" y="914400"/>
            <a:ext cx="58674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36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FIH</a:t>
            </a:r>
            <a:r>
              <a:rPr lang="zh-CN" altLang="en-US" sz="360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績效考核系統</a:t>
            </a:r>
            <a:endParaRPr lang="en-US" altLang="zh-TW" sz="3600" b="1">
              <a:solidFill>
                <a:schemeClr val="bg1"/>
              </a:solidFill>
              <a:latin typeface="Verdana" panose="020B0604030504040204" pitchFamily="34" charset="0"/>
              <a:ea typeface="標楷體" panose="03000509000000000000" pitchFamily="65" charset="-120"/>
            </a:endParaRPr>
          </a:p>
        </p:txBody>
      </p:sp>
      <p:sp>
        <p:nvSpPr>
          <p:cNvPr id="15364" name="Text Box 8"/>
          <p:cNvSpPr txBox="1">
            <a:spLocks noChangeArrowheads="1"/>
          </p:cNvSpPr>
          <p:nvPr/>
        </p:nvSpPr>
        <p:spPr bwMode="auto">
          <a:xfrm>
            <a:off x="0" y="0"/>
            <a:ext cx="1371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b="1">
                <a:solidFill>
                  <a:srgbClr val="D1DBEB"/>
                </a:solidFill>
                <a:latin typeface="Verdana" panose="020B0604030504040204" pitchFamily="34" charset="0"/>
                <a:ea typeface="SimSun" panose="02010600030101010101" pitchFamily="2" charset="-122"/>
              </a:rPr>
              <a:t>FIH</a:t>
            </a:r>
          </a:p>
        </p:txBody>
      </p:sp>
      <p:sp>
        <p:nvSpPr>
          <p:cNvPr id="15365" name="Text Box 12"/>
          <p:cNvSpPr txBox="1">
            <a:spLocks noChangeArrowheads="1"/>
          </p:cNvSpPr>
          <p:nvPr/>
        </p:nvSpPr>
        <p:spPr bwMode="auto">
          <a:xfrm>
            <a:off x="2590800" y="6400800"/>
            <a:ext cx="4648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TW" sz="1600" b="1">
                <a:solidFill>
                  <a:schemeClr val="bg1"/>
                </a:solidFill>
                <a:ea typeface="新細明體" panose="02020500000000000000" pitchFamily="18" charset="-120"/>
              </a:rPr>
              <a:t>http://</a:t>
            </a:r>
            <a:r>
              <a:rPr lang="en-US" altLang="zh-CN" sz="1600" b="1">
                <a:solidFill>
                  <a:schemeClr val="bg1"/>
                </a:solidFill>
                <a:ea typeface="新細明體" panose="02020500000000000000" pitchFamily="18" charset="-120"/>
              </a:rPr>
              <a:t>performance</a:t>
            </a:r>
            <a:r>
              <a:rPr lang="en-US" altLang="zh-TW" sz="1600" b="1">
                <a:solidFill>
                  <a:schemeClr val="bg1"/>
                </a:solidFill>
                <a:ea typeface="新細明體" panose="02020500000000000000" pitchFamily="18" charset="-120"/>
              </a:rPr>
              <a:t>.efih-foxconn.com</a:t>
            </a:r>
            <a:endParaRPr lang="zh-TW" altLang="en-US" sz="1600" b="1">
              <a:solidFill>
                <a:schemeClr val="bg1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mple">
  <a:themeElements>
    <a:clrScheme name="sample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</TotalTime>
  <Words>712</Words>
  <Application>Microsoft Office PowerPoint</Application>
  <PresentationFormat>如螢幕大小 (4:3)</PresentationFormat>
  <Paragraphs>70</Paragraphs>
  <Slides>13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2" baseType="lpstr">
      <vt:lpstr>SimSun</vt:lpstr>
      <vt:lpstr>新細明體</vt:lpstr>
      <vt:lpstr>標楷體</vt:lpstr>
      <vt:lpstr>Arial</vt:lpstr>
      <vt:lpstr>Calibri</vt:lpstr>
      <vt:lpstr>Verdana</vt:lpstr>
      <vt:lpstr>Wingdings</vt:lpstr>
      <vt:lpstr>sample</vt:lpstr>
      <vt:lpstr>工作表</vt:lpstr>
      <vt:lpstr>PowerPoint 簡報</vt:lpstr>
      <vt:lpstr>FIH績效考核系統導航目錄</vt:lpstr>
      <vt:lpstr>FIH績效考核系統登陸界面</vt:lpstr>
      <vt:lpstr>忘記密碼的處理方法及聯係方式</vt:lpstr>
      <vt:lpstr>成功登陸系統后的首頁面</vt:lpstr>
      <vt:lpstr>普通用戶操作步驟介紹（一）</vt:lpstr>
      <vt:lpstr>普通用戶操作步驟介紹（二）</vt:lpstr>
      <vt:lpstr>普通用戶操作步驟介紹（三） </vt:lpstr>
      <vt:lpstr>普通用戶操作步驟介紹（四） </vt:lpstr>
      <vt:lpstr>‘員工自評作業’操作步驟介紹（五）</vt:lpstr>
      <vt:lpstr>員工自評作業’操作步驟介紹（七） </vt:lpstr>
      <vt:lpstr>自評操作注意事項</vt:lpstr>
      <vt:lpstr>PowerPoint 簡報</vt:lpstr>
    </vt:vector>
  </TitlesOfParts>
  <Company>GuildDesign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ThemeGallery.com</dc:creator>
  <cp:lastModifiedBy>Peak</cp:lastModifiedBy>
  <cp:revision>253</cp:revision>
  <dcterms:created xsi:type="dcterms:W3CDTF">2004-08-26T06:30:40Z</dcterms:created>
  <dcterms:modified xsi:type="dcterms:W3CDTF">2017-09-22T08:59:38Z</dcterms:modified>
</cp:coreProperties>
</file>