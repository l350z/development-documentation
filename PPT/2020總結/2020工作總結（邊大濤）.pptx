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90" r:id="rId5"/>
    <p:sldId id="297" r:id="rId6"/>
    <p:sldId id="300" r:id="rId7"/>
    <p:sldId id="299" r:id="rId8"/>
    <p:sldId id="302" r:id="rId9"/>
    <p:sldId id="304" r:id="rId10"/>
    <p:sldId id="306" r:id="rId11"/>
    <p:sldId id="298" r:id="rId12"/>
    <p:sldId id="276" r:id="rId13"/>
    <p:sldId id="307" r:id="rId14"/>
    <p:sldId id="287" r:id="rId15"/>
    <p:sldId id="308" r:id="rId16"/>
    <p:sldId id="29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3A9"/>
    <a:srgbClr val="708045"/>
    <a:srgbClr val="449BD8"/>
    <a:srgbClr val="FFC253"/>
    <a:srgbClr val="FF6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8" autoAdjust="0"/>
    <p:restoredTop sz="95042" autoAdjust="0"/>
  </p:normalViewPr>
  <p:slideViewPr>
    <p:cSldViewPr snapToGrid="0">
      <p:cViewPr varScale="1">
        <p:scale>
          <a:sx n="88" d="100"/>
          <a:sy n="88" d="100"/>
        </p:scale>
        <p:origin x="25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33256;&#26178;&#25991;&#27284;\PCRSearch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6195240\Documents\&#25105;&#24050;&#25509;&#25910;&#30340;&#27284;&#26696;\&#26032;&#22686;%20Microsoft%20Excel%20&#24037;&#20316;&#34920;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PCR</a:t>
            </a:r>
            <a:endParaRPr 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工作表1!$G$3</c:f>
              <c:strCache>
                <c:ptCount val="1"/>
                <c:pt idx="0">
                  <c:v>數量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工作表1!$F$4:$F$12</c:f>
              <c:strCache>
                <c:ptCount val="9"/>
                <c:pt idx="0">
                  <c:v>李平</c:v>
                </c:pt>
                <c:pt idx="1">
                  <c:v>喻再平</c:v>
                </c:pt>
                <c:pt idx="2">
                  <c:v>房心歌</c:v>
                </c:pt>
                <c:pt idx="3">
                  <c:v>王丹</c:v>
                </c:pt>
                <c:pt idx="4">
                  <c:v>邊大濤</c:v>
                </c:pt>
                <c:pt idx="5">
                  <c:v>張雪梅</c:v>
                </c:pt>
                <c:pt idx="6">
                  <c:v>段會峰</c:v>
                </c:pt>
                <c:pt idx="7">
                  <c:v>李冊</c:v>
                </c:pt>
                <c:pt idx="8">
                  <c:v>郝運</c:v>
                </c:pt>
              </c:strCache>
            </c:strRef>
          </c:cat>
          <c:val>
            <c:numRef>
              <c:f>工作表1!$G$4:$G$12</c:f>
              <c:numCache>
                <c:formatCode>General</c:formatCode>
                <c:ptCount val="9"/>
                <c:pt idx="0">
                  <c:v>16</c:v>
                </c:pt>
                <c:pt idx="1">
                  <c:v>15</c:v>
                </c:pt>
                <c:pt idx="2">
                  <c:v>11</c:v>
                </c:pt>
                <c:pt idx="3">
                  <c:v>7</c:v>
                </c:pt>
                <c:pt idx="4">
                  <c:v>5</c:v>
                </c:pt>
                <c:pt idx="5">
                  <c:v>5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9-4FCD-BB88-7C2CF64909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551418576"/>
        <c:axId val="551419560"/>
        <c:axId val="0"/>
      </c:bar3DChart>
      <c:catAx>
        <c:axId val="551418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51419560"/>
        <c:crosses val="autoZero"/>
        <c:auto val="1"/>
        <c:lblAlgn val="ctr"/>
        <c:lblOffset val="100"/>
        <c:noMultiLvlLbl val="0"/>
      </c:catAx>
      <c:valAx>
        <c:axId val="5514195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1418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'[新增 Microsoft Excel 工作表(1).xlsx]工作表5'!$F$21</c:f>
              <c:strCache>
                <c:ptCount val="1"/>
                <c:pt idx="0">
                  <c:v>合計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'[新增 Microsoft Excel 工作表(1).xlsx]工作表5'!$E$22:$E$29</c:f>
              <c:strCache>
                <c:ptCount val="8"/>
                <c:pt idx="0">
                  <c:v>郝運</c:v>
                </c:pt>
                <c:pt idx="1">
                  <c:v>房新歌</c:v>
                </c:pt>
                <c:pt idx="2">
                  <c:v>邊大濤</c:v>
                </c:pt>
                <c:pt idx="3">
                  <c:v>王丹</c:v>
                </c:pt>
                <c:pt idx="4">
                  <c:v>張雪梅</c:v>
                </c:pt>
                <c:pt idx="5">
                  <c:v>喻再平</c:v>
                </c:pt>
                <c:pt idx="6">
                  <c:v>李平</c:v>
                </c:pt>
                <c:pt idx="7">
                  <c:v>段會峰</c:v>
                </c:pt>
              </c:strCache>
            </c:strRef>
          </c:cat>
          <c:val>
            <c:numRef>
              <c:f>'[新增 Microsoft Excel 工作表(1).xlsx]工作表5'!$F$22:$F$29</c:f>
              <c:numCache>
                <c:formatCode>General</c:formatCode>
                <c:ptCount val="8"/>
                <c:pt idx="0">
                  <c:v>251</c:v>
                </c:pt>
                <c:pt idx="1">
                  <c:v>121</c:v>
                </c:pt>
                <c:pt idx="2">
                  <c:v>112</c:v>
                </c:pt>
                <c:pt idx="3">
                  <c:v>81</c:v>
                </c:pt>
                <c:pt idx="4">
                  <c:v>37</c:v>
                </c:pt>
                <c:pt idx="5">
                  <c:v>17</c:v>
                </c:pt>
                <c:pt idx="6">
                  <c:v>12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3E-49BA-85ED-625EEEA78B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78209536"/>
        <c:axId val="478204616"/>
        <c:axId val="0"/>
      </c:bar3DChart>
      <c:catAx>
        <c:axId val="47820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04616"/>
        <c:crosses val="autoZero"/>
        <c:auto val="1"/>
        <c:lblAlgn val="ctr"/>
        <c:lblOffset val="100"/>
        <c:noMultiLvlLbl val="0"/>
      </c:catAx>
      <c:valAx>
        <c:axId val="478204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7820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8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D308A-B09E-4A3A-BC1D-7793654A6514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E07FD-A246-4536-958F-F9EB0D16B81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95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4477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85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CBE41-6C63-4A16-873F-5A51AEDA08C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1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12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43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453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563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CBE41-6C63-4A16-873F-5A51AEDA08C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222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28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 亮亮图文旗舰店</a:t>
            </a:r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57303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1900" y="288925"/>
            <a:ext cx="10109200" cy="409575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708045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-32351" y="-1293"/>
            <a:ext cx="1129843" cy="11874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10035445" y="5605221"/>
            <a:ext cx="2159961" cy="1350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3454396" y="3768676"/>
            <a:ext cx="5689604" cy="45917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D3A9"/>
              </a:gs>
              <a:gs pos="100000">
                <a:srgbClr val="708045"/>
              </a:gs>
            </a:gsLst>
            <a:lin ang="5400000" scaled="1"/>
          </a:gradFill>
          <a:ln>
            <a:gradFill>
              <a:gsLst>
                <a:gs pos="0">
                  <a:srgbClr val="BFD3A9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_文本框 19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ltGray">
          <a:xfrm>
            <a:off x="2284006" y="3204129"/>
            <a:ext cx="8030384" cy="8211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667" tIns="40833" rIns="81667" bIns="40833">
            <a:spAutoFit/>
          </a:bodyPr>
          <a:lstStyle>
            <a:lvl1pPr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830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597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5550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385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10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82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54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626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</a:pPr>
            <a:r>
              <a:rPr lang="zh-CN" altLang="en-US" sz="4800" b="1" dirty="0" smtClean="0">
                <a:ln w="17780" cmpd="sng">
                  <a:noFill/>
                  <a:prstDash val="solid"/>
                  <a:miter lim="800000"/>
                </a:ln>
                <a:solidFill>
                  <a:schemeClr val="bg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      年度工作总结报告</a:t>
            </a:r>
            <a:endParaRPr lang="zh-CN" altLang="en-US" sz="4800" b="1" dirty="0">
              <a:ln w="17780" cmpd="sng">
                <a:noFill/>
                <a:prstDash val="solid"/>
                <a:miter lim="800000"/>
              </a:ln>
              <a:solidFill>
                <a:schemeClr val="bg2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PA_文本框 8"/>
          <p:cNvSpPr txBox="1"/>
          <p:nvPr>
            <p:custDataLst>
              <p:tags r:id="rId2"/>
            </p:custDataLst>
          </p:nvPr>
        </p:nvSpPr>
        <p:spPr>
          <a:xfrm>
            <a:off x="3067430" y="4381838"/>
            <a:ext cx="6463536" cy="61369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DETAILED TEXT DESCRIPTION IS ADDED HERE. IT IS SUGGESTED TO BE RELATED TO THE TITLE AND CONFORM TO THE OVERALL LANGUAGE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4675998" y="1070957"/>
            <a:ext cx="3246403" cy="18620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1500" dirty="0" smtClean="0">
                <a:solidFill>
                  <a:schemeClr val="bg2"/>
                </a:solidFill>
                <a:latin typeface="Impact" panose="020B0806030902050204" pitchFamily="34" charset="0"/>
              </a:rPr>
              <a:t>2020</a:t>
            </a:r>
            <a:endParaRPr lang="zh-CN" altLang="en-US" sz="11500" dirty="0"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5219696" y="5149515"/>
            <a:ext cx="2159004" cy="459179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rgbClr val="BFD3A9"/>
                </a:gs>
                <a:gs pos="100000">
                  <a:srgbClr val="70804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08045"/>
                </a:solidFill>
              </a:rPr>
              <a:t>汇报</a:t>
            </a:r>
            <a:r>
              <a:rPr lang="zh-CN" altLang="en-US" sz="1600" dirty="0" smtClean="0">
                <a:solidFill>
                  <a:srgbClr val="708045"/>
                </a:solidFill>
              </a:rPr>
              <a:t>人：邊大濤</a:t>
            </a:r>
            <a:endParaRPr lang="zh-CN" altLang="en-US" sz="1600" dirty="0">
              <a:solidFill>
                <a:srgbClr val="70804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/>
        </p:nvSpPr>
        <p:spPr bwMode="auto">
          <a:xfrm>
            <a:off x="6094736" y="1784763"/>
            <a:ext cx="2976331" cy="513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135" b="1" dirty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年度工作概述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31"/>
          <p:cNvSpPr txBox="1"/>
          <p:nvPr/>
        </p:nvSpPr>
        <p:spPr>
          <a:xfrm>
            <a:off x="4973654" y="1575649"/>
            <a:ext cx="686406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265" dirty="0">
                <a:solidFill>
                  <a:srgbClr val="708045"/>
                </a:solidFill>
                <a:latin typeface="Impact" panose="020B0806030902050204" pitchFamily="34" charset="0"/>
              </a:rPr>
              <a:t>01</a:t>
            </a:r>
            <a:endParaRPr lang="zh-CN" altLang="en-US" sz="4265" dirty="0">
              <a:solidFill>
                <a:srgbClr val="708045"/>
              </a:solidFill>
              <a:latin typeface="Impact" panose="020B080603090205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838455" y="1651432"/>
            <a:ext cx="0" cy="628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9"/>
          <p:cNvSpPr>
            <a:spLocks noChangeArrowheads="1"/>
          </p:cNvSpPr>
          <p:nvPr/>
        </p:nvSpPr>
        <p:spPr bwMode="auto">
          <a:xfrm>
            <a:off x="6094733" y="2837043"/>
            <a:ext cx="2976331" cy="3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135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主要工作成果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36"/>
          <p:cNvSpPr txBox="1"/>
          <p:nvPr/>
        </p:nvSpPr>
        <p:spPr>
          <a:xfrm>
            <a:off x="4940792" y="2640859"/>
            <a:ext cx="752129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265" dirty="0">
                <a:solidFill>
                  <a:srgbClr val="708045"/>
                </a:solidFill>
                <a:latin typeface="Impact" panose="020B0806030902050204" pitchFamily="34" charset="0"/>
              </a:rPr>
              <a:t>02</a:t>
            </a:r>
            <a:endParaRPr lang="zh-CN" altLang="en-US" sz="4265" dirty="0">
              <a:solidFill>
                <a:srgbClr val="708045"/>
              </a:solidFill>
              <a:latin typeface="Impact" panose="020B080603090205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838453" y="2716641"/>
            <a:ext cx="0" cy="628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39"/>
          <p:cNvSpPr txBox="1"/>
          <p:nvPr/>
        </p:nvSpPr>
        <p:spPr>
          <a:xfrm>
            <a:off x="4940792" y="3674621"/>
            <a:ext cx="768159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chemeClr val="tx2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sz="4265" dirty="0">
                <a:solidFill>
                  <a:srgbClr val="708045"/>
                </a:solidFill>
              </a:rPr>
              <a:t>03</a:t>
            </a:r>
            <a:endParaRPr lang="zh-CN" altLang="en-US" sz="4265" dirty="0">
              <a:solidFill>
                <a:srgbClr val="708045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846468" y="3750403"/>
            <a:ext cx="0" cy="628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9"/>
          <p:cNvSpPr>
            <a:spLocks noChangeArrowheads="1"/>
          </p:cNvSpPr>
          <p:nvPr/>
        </p:nvSpPr>
        <p:spPr bwMode="auto">
          <a:xfrm>
            <a:off x="6102748" y="3896754"/>
            <a:ext cx="2976331" cy="3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135" b="1" dirty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工作存在</a:t>
            </a:r>
            <a:r>
              <a:rPr lang="zh-CN" altLang="en-US" sz="2135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不足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42"/>
          <p:cNvSpPr txBox="1"/>
          <p:nvPr/>
        </p:nvSpPr>
        <p:spPr>
          <a:xfrm>
            <a:off x="4940792" y="4692676"/>
            <a:ext cx="752129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265" dirty="0">
                <a:solidFill>
                  <a:srgbClr val="708045"/>
                </a:solidFill>
                <a:latin typeface="Impact" panose="020B0806030902050204" pitchFamily="34" charset="0"/>
              </a:rPr>
              <a:t>04</a:t>
            </a:r>
            <a:endParaRPr lang="zh-CN" altLang="en-US" sz="4265" dirty="0">
              <a:solidFill>
                <a:srgbClr val="708045"/>
              </a:solidFill>
              <a:latin typeface="Impact" panose="020B080603090205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838455" y="4768458"/>
            <a:ext cx="0" cy="628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6094735" y="4883378"/>
            <a:ext cx="2976331" cy="3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135" b="1" dirty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明年工作计</a:t>
            </a:r>
            <a:r>
              <a:rPr lang="zh-CN" altLang="en-US" sz="2135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划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41376" y="850665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708045"/>
                </a:solidFill>
              </a:rPr>
              <a:t>目 录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190882" y="1574481"/>
            <a:ext cx="1688283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135" b="1">
                <a:solidFill>
                  <a:srgbClr val="708045"/>
                </a:solidFill>
              </a:rPr>
              <a:t>CONTENTS</a:t>
            </a:r>
            <a:endParaRPr lang="zh-CN" altLang="en-US" sz="2135" b="1">
              <a:solidFill>
                <a:srgbClr val="708045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15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2" fill="hold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 p14:presetBounceEnd="50000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 p14:presetBounceEnd="50000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2" fill="hold" nodeType="withEffect" p14:presetBounceEnd="50000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grpId="0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3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3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6" presetClass="emph" presetSubtype="0" autoRev="1" fill="hold" grpId="1" nodeType="withEffect">
                                      <p:stCondLst>
                                        <p:cond delay="4200"/>
                                      </p:stCondLst>
                                      <p:childTnLst>
                                        <p:animScale>
                                          <p:cBhvr>
                                            <p:cTn id="58" dur="15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nodeType="withEffect" p14:presetBounceEnd="50000">
                                      <p:stCondLst>
                                        <p:cond delay="42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2" fill="hold" grpId="0" nodeType="withEffect" p14:presetBounceEnd="50000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2" fill="hold" grpId="0" nodeType="withEffect" p14:presetBounceEnd="50000">
                                      <p:stCondLst>
                                        <p:cond delay="54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5" grpId="1"/>
          <p:bldP spid="7" grpId="0"/>
          <p:bldP spid="8" grpId="0"/>
          <p:bldP spid="8" grpId="1"/>
          <p:bldP spid="11" grpId="0"/>
          <p:bldP spid="11" grpId="1"/>
          <p:bldP spid="13" grpId="0"/>
          <p:bldP spid="14" grpId="0"/>
          <p:bldP spid="14" grpId="1"/>
          <p:bldP spid="19" grpId="0"/>
          <p:bldP spid="22" grpId="0"/>
          <p:bldP spid="2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15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2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2" fill="hold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grpId="0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3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3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6" presetClass="emph" presetSubtype="0" autoRev="1" fill="hold" grpId="1" nodeType="withEffect">
                                      <p:stCondLst>
                                        <p:cond delay="4200"/>
                                      </p:stCondLst>
                                      <p:childTnLst>
                                        <p:animScale>
                                          <p:cBhvr>
                                            <p:cTn id="58" dur="15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nodeType="withEffect">
                                      <p:stCondLst>
                                        <p:cond delay="42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2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2" fill="hold" grpId="0" nodeType="withEffect">
                                      <p:stCondLst>
                                        <p:cond delay="54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5" grpId="1"/>
          <p:bldP spid="7" grpId="0"/>
          <p:bldP spid="8" grpId="0"/>
          <p:bldP spid="8" grpId="1"/>
          <p:bldP spid="11" grpId="0"/>
          <p:bldP spid="11" grpId="1"/>
          <p:bldP spid="13" grpId="0"/>
          <p:bldP spid="14" grpId="0"/>
          <p:bldP spid="14" grpId="1"/>
          <p:bldP spid="19" grpId="0"/>
          <p:bldP spid="22" grpId="0"/>
          <p:bldP spid="23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9"/>
          <p:cNvSpPr/>
          <p:nvPr/>
        </p:nvSpPr>
        <p:spPr bwMode="auto">
          <a:xfrm>
            <a:off x="2616894" y="1738548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807040" y="1951707"/>
            <a:ext cx="2196057" cy="2461843"/>
            <a:chOff x="5002386" y="2208630"/>
            <a:chExt cx="2196057" cy="2461843"/>
          </a:xfrm>
        </p:grpSpPr>
        <p:sp>
          <p:nvSpPr>
            <p:cNvPr id="4" name="Freeform 19"/>
            <p:cNvSpPr/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 flipH="1">
              <a:off x="5332415" y="2508527"/>
              <a:ext cx="153599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1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664784" y="284517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年度工作概述</a:t>
            </a:r>
            <a:endParaRPr lang="zh-CN" altLang="en-US" sz="4800" b="1" dirty="0">
              <a:solidFill>
                <a:srgbClr val="7080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1977641" y="2225935"/>
            <a:ext cx="2399243" cy="3884488"/>
          </a:xfrm>
          <a:prstGeom prst="roundRect">
            <a:avLst>
              <a:gd name="adj" fmla="val 5505"/>
            </a:avLst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WORKFLOW</a:t>
            </a:r>
          </a:p>
          <a:p>
            <a:pPr algn="ctr"/>
            <a:endParaRPr lang="en-US" altLang="zh-CN" sz="2400" dirty="0" smtClean="0"/>
          </a:p>
        </p:txBody>
      </p:sp>
      <p:grpSp>
        <p:nvGrpSpPr>
          <p:cNvPr id="9" name="组合 8"/>
          <p:cNvGrpSpPr/>
          <p:nvPr/>
        </p:nvGrpSpPr>
        <p:grpSpPr>
          <a:xfrm>
            <a:off x="2735961" y="1795335"/>
            <a:ext cx="908121" cy="908692"/>
            <a:chOff x="1197813" y="1203598"/>
            <a:chExt cx="681268" cy="681697"/>
          </a:xfrm>
        </p:grpSpPr>
        <p:sp>
          <p:nvSpPr>
            <p:cNvPr id="10" name="椭圆 9"/>
            <p:cNvSpPr/>
            <p:nvPr/>
          </p:nvSpPr>
          <p:spPr>
            <a:xfrm>
              <a:off x="1197813" y="1203598"/>
              <a:ext cx="681268" cy="681697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30">
                <a:solidFill>
                  <a:srgbClr val="0278A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9"/>
            <p:cNvSpPr txBox="1"/>
            <p:nvPr/>
          </p:nvSpPr>
          <p:spPr>
            <a:xfrm>
              <a:off x="1321159" y="1214705"/>
              <a:ext cx="439177" cy="655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07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507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圆角矩形 12"/>
          <p:cNvSpPr/>
          <p:nvPr/>
        </p:nvSpPr>
        <p:spPr>
          <a:xfrm>
            <a:off x="5154689" y="2215956"/>
            <a:ext cx="2399243" cy="3884488"/>
          </a:xfrm>
          <a:prstGeom prst="roundRect">
            <a:avLst>
              <a:gd name="adj" fmla="val 5505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海外</a:t>
            </a:r>
            <a:endParaRPr lang="en-US" altLang="zh-CN" sz="2400" dirty="0" smtClean="0"/>
          </a:p>
          <a:p>
            <a:pPr algn="ctr"/>
            <a:endParaRPr lang="en-US" altLang="zh-CN" sz="2400" dirty="0" smtClean="0"/>
          </a:p>
          <a:p>
            <a:pPr algn="ctr"/>
            <a:r>
              <a:rPr lang="zh-CN" altLang="en-US" sz="2400" dirty="0" smtClean="0"/>
              <a:t>相關</a:t>
            </a:r>
            <a:endParaRPr lang="zh-CN" altLang="en-US" sz="2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913010" y="1785357"/>
            <a:ext cx="908121" cy="908692"/>
            <a:chOff x="3183899" y="1203598"/>
            <a:chExt cx="681268" cy="681697"/>
          </a:xfrm>
        </p:grpSpPr>
        <p:sp>
          <p:nvSpPr>
            <p:cNvPr id="15" name="椭圆 14"/>
            <p:cNvSpPr/>
            <p:nvPr/>
          </p:nvSpPr>
          <p:spPr>
            <a:xfrm>
              <a:off x="3183899" y="1203598"/>
              <a:ext cx="681268" cy="68169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30">
                <a:solidFill>
                  <a:srgbClr val="0278A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9"/>
            <p:cNvSpPr txBox="1"/>
            <p:nvPr/>
          </p:nvSpPr>
          <p:spPr>
            <a:xfrm>
              <a:off x="3305704" y="1239131"/>
              <a:ext cx="415126" cy="606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65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465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8312253" y="2215956"/>
            <a:ext cx="2399243" cy="3884488"/>
          </a:xfrm>
          <a:prstGeom prst="roundRect">
            <a:avLst>
              <a:gd name="adj" fmla="val 5505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其他系統</a:t>
            </a:r>
            <a:endParaRPr lang="en-US" altLang="zh-CN" sz="2400" dirty="0" smtClean="0"/>
          </a:p>
          <a:p>
            <a:pPr algn="ctr"/>
            <a:endParaRPr lang="en-US" altLang="zh-CN" sz="2400" dirty="0" smtClean="0"/>
          </a:p>
          <a:p>
            <a:pPr algn="ctr"/>
            <a:r>
              <a:rPr lang="zh-CN" altLang="en-US" sz="2400" dirty="0" smtClean="0"/>
              <a:t>開發及維護</a:t>
            </a:r>
            <a:endParaRPr lang="zh-CN" altLang="en-US" sz="24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9070573" y="1785357"/>
            <a:ext cx="908121" cy="908692"/>
            <a:chOff x="5195222" y="1203598"/>
            <a:chExt cx="681268" cy="681697"/>
          </a:xfrm>
        </p:grpSpPr>
        <p:sp>
          <p:nvSpPr>
            <p:cNvPr id="20" name="椭圆 19"/>
            <p:cNvSpPr/>
            <p:nvPr/>
          </p:nvSpPr>
          <p:spPr>
            <a:xfrm>
              <a:off x="5195222" y="1203598"/>
              <a:ext cx="681268" cy="681697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30">
                <a:solidFill>
                  <a:srgbClr val="0278A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19"/>
            <p:cNvSpPr txBox="1"/>
            <p:nvPr/>
          </p:nvSpPr>
          <p:spPr>
            <a:xfrm>
              <a:off x="5328292" y="1239131"/>
              <a:ext cx="415126" cy="606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65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465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年度工作概述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9"/>
          <p:cNvSpPr/>
          <p:nvPr/>
        </p:nvSpPr>
        <p:spPr bwMode="auto">
          <a:xfrm>
            <a:off x="2616894" y="1738548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807040" y="1951707"/>
            <a:ext cx="2196057" cy="2461843"/>
            <a:chOff x="5002386" y="2208630"/>
            <a:chExt cx="2196057" cy="2461843"/>
          </a:xfrm>
        </p:grpSpPr>
        <p:sp>
          <p:nvSpPr>
            <p:cNvPr id="4" name="Freeform 19"/>
            <p:cNvSpPr/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 flipH="1">
              <a:off x="5242647" y="2508527"/>
              <a:ext cx="1715534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1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664784" y="284517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主要工作成果</a:t>
            </a:r>
            <a:endParaRPr lang="zh-CN" altLang="en-US" sz="4800" b="1" dirty="0">
              <a:solidFill>
                <a:srgbClr val="7080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7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88393" y="2086852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53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17464" y="1727224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53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46536" y="2398591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53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75607" y="1508787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53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80729" y="2854938"/>
            <a:ext cx="2345079" cy="2388468"/>
            <a:chOff x="735046" y="2996952"/>
            <a:chExt cx="1759038" cy="1791351"/>
          </a:xfrm>
        </p:grpSpPr>
        <p:sp>
          <p:nvSpPr>
            <p:cNvPr id="14" name="椭圆 13"/>
            <p:cNvSpPr/>
            <p:nvPr/>
          </p:nvSpPr>
          <p:spPr>
            <a:xfrm>
              <a:off x="1500529" y="2996952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35046" y="3098642"/>
              <a:ext cx="1759038" cy="1689661"/>
              <a:chOff x="735046" y="3098642"/>
              <a:chExt cx="1759038" cy="1689661"/>
            </a:xfrm>
          </p:grpSpPr>
          <p:sp>
            <p:nvSpPr>
              <p:cNvPr id="10" name="任意多边形 9"/>
              <p:cNvSpPr/>
              <p:nvPr/>
            </p:nvSpPr>
            <p:spPr>
              <a:xfrm>
                <a:off x="1001626" y="3098642"/>
                <a:ext cx="1222819" cy="390623"/>
              </a:xfrm>
              <a:custGeom>
                <a:avLst/>
                <a:gdLst>
                  <a:gd name="connsiteX0" fmla="*/ 0 w 1779373"/>
                  <a:gd name="connsiteY0" fmla="*/ 568411 h 568411"/>
                  <a:gd name="connsiteX1" fmla="*/ 864973 w 1779373"/>
                  <a:gd name="connsiteY1" fmla="*/ 0 h 568411"/>
                  <a:gd name="connsiteX2" fmla="*/ 1779373 w 1779373"/>
                  <a:gd name="connsiteY2" fmla="*/ 543698 h 568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79373" h="568411">
                    <a:moveTo>
                      <a:pt x="0" y="568411"/>
                    </a:moveTo>
                    <a:lnTo>
                      <a:pt x="864973" y="0"/>
                    </a:lnTo>
                    <a:lnTo>
                      <a:pt x="1779373" y="543698"/>
                    </a:lnTo>
                  </a:path>
                </a:pathLst>
              </a:cu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735046" y="3453597"/>
                <a:ext cx="1759038" cy="1334706"/>
              </a:xfrm>
              <a:custGeom>
                <a:avLst/>
                <a:gdLst/>
                <a:ahLst/>
                <a:cxnLst/>
                <a:rect l="l" t="t" r="r" b="b"/>
                <a:pathLst>
                  <a:path w="1759038" h="1334706">
                    <a:moveTo>
                      <a:pt x="65637" y="63758"/>
                    </a:moveTo>
                    <a:lnTo>
                      <a:pt x="65637" y="1271391"/>
                    </a:lnTo>
                    <a:lnTo>
                      <a:pt x="1711798" y="1271391"/>
                    </a:lnTo>
                    <a:lnTo>
                      <a:pt x="1711798" y="63758"/>
                    </a:lnTo>
                    <a:close/>
                    <a:moveTo>
                      <a:pt x="0" y="0"/>
                    </a:moveTo>
                    <a:lnTo>
                      <a:pt x="1759038" y="0"/>
                    </a:lnTo>
                    <a:lnTo>
                      <a:pt x="1759038" y="1334706"/>
                    </a:lnTo>
                    <a:lnTo>
                      <a:pt x="0" y="133470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013298" y="3704838"/>
                <a:ext cx="1100444" cy="76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Workflow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服務器遷移</a:t>
                </a:r>
                <a:endParaRPr lang="zh-CN" altLang="en-US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3709800" y="2495310"/>
            <a:ext cx="2345079" cy="2388468"/>
            <a:chOff x="2782116" y="2727231"/>
            <a:chExt cx="1759038" cy="1791351"/>
          </a:xfrm>
        </p:grpSpPr>
        <p:sp>
          <p:nvSpPr>
            <p:cNvPr id="19" name="任意多边形 18"/>
            <p:cNvSpPr/>
            <p:nvPr/>
          </p:nvSpPr>
          <p:spPr>
            <a:xfrm>
              <a:off x="3048696" y="2828921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3547599" y="2727231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矩形 10"/>
            <p:cNvSpPr/>
            <p:nvPr/>
          </p:nvSpPr>
          <p:spPr>
            <a:xfrm>
              <a:off x="2782116" y="3183876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26356" y="3555240"/>
              <a:ext cx="138566" cy="281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438870" y="3166677"/>
            <a:ext cx="5008131" cy="2388468"/>
            <a:chOff x="4829186" y="3230756"/>
            <a:chExt cx="3756587" cy="1791351"/>
          </a:xfrm>
        </p:grpSpPr>
        <p:sp>
          <p:nvSpPr>
            <p:cNvPr id="29" name="任意多边形 28"/>
            <p:cNvSpPr/>
            <p:nvPr/>
          </p:nvSpPr>
          <p:spPr>
            <a:xfrm>
              <a:off x="5095766" y="3332446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594669" y="3230756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矩形 10"/>
            <p:cNvSpPr/>
            <p:nvPr/>
          </p:nvSpPr>
          <p:spPr>
            <a:xfrm>
              <a:off x="4829186" y="3687401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08172" y="3453687"/>
              <a:ext cx="1677601" cy="374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郵件發送附件改造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481417" y="2276873"/>
            <a:ext cx="5031604" cy="2703943"/>
            <a:chOff x="4861100" y="2563403"/>
            <a:chExt cx="3774194" cy="2027957"/>
          </a:xfrm>
        </p:grpSpPr>
        <p:sp>
          <p:nvSpPr>
            <p:cNvPr id="39" name="任意多边形 38"/>
            <p:cNvSpPr/>
            <p:nvPr/>
          </p:nvSpPr>
          <p:spPr>
            <a:xfrm>
              <a:off x="7142836" y="2665093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641739" y="2563403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 10"/>
            <p:cNvSpPr/>
            <p:nvPr/>
          </p:nvSpPr>
          <p:spPr>
            <a:xfrm>
              <a:off x="6876256" y="3020048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61100" y="3870778"/>
              <a:ext cx="1677601" cy="720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  <a:t>Workflow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待辦</a:t>
              </a:r>
              <a:r>
                <a:rPr lang="zh-CN" altLang="en-US" sz="2000" dirty="0">
                  <a:solidFill>
                    <a:schemeClr val="accent1">
                      <a:lumMod val="50000"/>
                    </a:schemeClr>
                  </a:solidFill>
                </a:rPr>
                <a:t>刷新</a:t>
              </a: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作業推動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</a:t>
            </a:r>
            <a:r>
              <a:rPr lang="en-US" altLang="zh-CN" dirty="0" smtClean="0"/>
              <a:t>WORKFLOW</a:t>
            </a:r>
            <a:endParaRPr lang="zh-CN" altLang="en-US" dirty="0"/>
          </a:p>
        </p:txBody>
      </p:sp>
      <p:sp>
        <p:nvSpPr>
          <p:cNvPr id="35" name="TextBox 12"/>
          <p:cNvSpPr txBox="1"/>
          <p:nvPr/>
        </p:nvSpPr>
        <p:spPr>
          <a:xfrm>
            <a:off x="4230012" y="3434206"/>
            <a:ext cx="1210589" cy="960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批量簽核</a:t>
            </a:r>
            <a:endParaRPr lang="en-US" altLang="zh-CN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相關預警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TextBox 32"/>
          <p:cNvSpPr txBox="1"/>
          <p:nvPr/>
        </p:nvSpPr>
        <p:spPr>
          <a:xfrm>
            <a:off x="9219386" y="3030700"/>
            <a:ext cx="2238112" cy="499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員寶</a:t>
            </a:r>
            <a:r>
              <a:rPr lang="en-US" altLang="zh-CN" sz="2000" dirty="0" smtClean="0">
                <a:solidFill>
                  <a:schemeClr val="accent1">
                    <a:lumMod val="50000"/>
                  </a:schemeClr>
                </a:solidFill>
              </a:rPr>
              <a:t>PDF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查看接口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TextBox 32"/>
          <p:cNvSpPr txBox="1"/>
          <p:nvPr/>
        </p:nvSpPr>
        <p:spPr>
          <a:xfrm>
            <a:off x="9238542" y="3962909"/>
            <a:ext cx="21804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等</a:t>
            </a:r>
            <a:r>
              <a:rPr lang="en-US" altLang="zh-CN" sz="2000" dirty="0" smtClean="0">
                <a:solidFill>
                  <a:schemeClr val="accent1">
                    <a:lumMod val="50000"/>
                  </a:schemeClr>
                </a:solidFill>
              </a:rPr>
              <a:t>Bug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修復及改善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28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 p14:presetBounceEnd="54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 p14:presetBounceEnd="5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  <p:bldP spid="5" grpId="0"/>
          <p:bldP spid="6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二、海外相關</a:t>
            </a:r>
            <a:endParaRPr lang="en-US" altLang="zh-CN" dirty="0"/>
          </a:p>
        </p:txBody>
      </p:sp>
      <p:sp>
        <p:nvSpPr>
          <p:cNvPr id="22" name="TextBox 2"/>
          <p:cNvSpPr txBox="1"/>
          <p:nvPr/>
        </p:nvSpPr>
        <p:spPr>
          <a:xfrm>
            <a:off x="1888393" y="2086852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53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3"/>
          <p:cNvSpPr txBox="1"/>
          <p:nvPr/>
        </p:nvSpPr>
        <p:spPr>
          <a:xfrm>
            <a:off x="4617464" y="1727224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53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4"/>
          <p:cNvSpPr txBox="1"/>
          <p:nvPr/>
        </p:nvSpPr>
        <p:spPr>
          <a:xfrm>
            <a:off x="7346536" y="2398591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53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5"/>
          <p:cNvSpPr txBox="1"/>
          <p:nvPr/>
        </p:nvSpPr>
        <p:spPr>
          <a:xfrm>
            <a:off x="10075607" y="1508787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53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6"/>
          <p:cNvGrpSpPr/>
          <p:nvPr/>
        </p:nvGrpSpPr>
        <p:grpSpPr>
          <a:xfrm>
            <a:off x="980729" y="2854940"/>
            <a:ext cx="2345079" cy="2454469"/>
            <a:chOff x="735046" y="2996952"/>
            <a:chExt cx="1759038" cy="1840851"/>
          </a:xfrm>
        </p:grpSpPr>
        <p:sp>
          <p:nvSpPr>
            <p:cNvPr id="32" name="椭圆 13"/>
            <p:cNvSpPr/>
            <p:nvPr/>
          </p:nvSpPr>
          <p:spPr>
            <a:xfrm>
              <a:off x="1500529" y="2996952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3" name="组合 8"/>
            <p:cNvGrpSpPr/>
            <p:nvPr/>
          </p:nvGrpSpPr>
          <p:grpSpPr>
            <a:xfrm>
              <a:off x="735046" y="3098642"/>
              <a:ext cx="1759038" cy="1739161"/>
              <a:chOff x="735046" y="3098642"/>
              <a:chExt cx="1759038" cy="1739161"/>
            </a:xfrm>
          </p:grpSpPr>
          <p:sp>
            <p:nvSpPr>
              <p:cNvPr id="34" name="任意多边形 9"/>
              <p:cNvSpPr/>
              <p:nvPr/>
            </p:nvSpPr>
            <p:spPr>
              <a:xfrm>
                <a:off x="1001626" y="3098642"/>
                <a:ext cx="1222819" cy="390623"/>
              </a:xfrm>
              <a:custGeom>
                <a:avLst/>
                <a:gdLst>
                  <a:gd name="connsiteX0" fmla="*/ 0 w 1779373"/>
                  <a:gd name="connsiteY0" fmla="*/ 568411 h 568411"/>
                  <a:gd name="connsiteX1" fmla="*/ 864973 w 1779373"/>
                  <a:gd name="connsiteY1" fmla="*/ 0 h 568411"/>
                  <a:gd name="connsiteX2" fmla="*/ 1779373 w 1779373"/>
                  <a:gd name="connsiteY2" fmla="*/ 543698 h 568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79373" h="568411">
                    <a:moveTo>
                      <a:pt x="0" y="568411"/>
                    </a:moveTo>
                    <a:lnTo>
                      <a:pt x="864973" y="0"/>
                    </a:lnTo>
                    <a:lnTo>
                      <a:pt x="1779373" y="543698"/>
                    </a:lnTo>
                  </a:path>
                </a:pathLst>
              </a:cu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矩形 10"/>
              <p:cNvSpPr/>
              <p:nvPr/>
            </p:nvSpPr>
            <p:spPr>
              <a:xfrm>
                <a:off x="735046" y="3453597"/>
                <a:ext cx="1759038" cy="1334706"/>
              </a:xfrm>
              <a:custGeom>
                <a:avLst/>
                <a:gdLst/>
                <a:ahLst/>
                <a:cxnLst/>
                <a:rect l="l" t="t" r="r" b="b"/>
                <a:pathLst>
                  <a:path w="1759038" h="1334706">
                    <a:moveTo>
                      <a:pt x="65637" y="63758"/>
                    </a:moveTo>
                    <a:lnTo>
                      <a:pt x="65637" y="1271391"/>
                    </a:lnTo>
                    <a:lnTo>
                      <a:pt x="1711798" y="1271391"/>
                    </a:lnTo>
                    <a:lnTo>
                      <a:pt x="1711798" y="63758"/>
                    </a:lnTo>
                    <a:close/>
                    <a:moveTo>
                      <a:pt x="0" y="0"/>
                    </a:moveTo>
                    <a:lnTo>
                      <a:pt x="1759038" y="0"/>
                    </a:lnTo>
                    <a:lnTo>
                      <a:pt x="1759038" y="1334706"/>
                    </a:lnTo>
                    <a:lnTo>
                      <a:pt x="0" y="133470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TextBox 12"/>
              <p:cNvSpPr txBox="1"/>
              <p:nvPr/>
            </p:nvSpPr>
            <p:spPr>
              <a:xfrm>
                <a:off x="866870" y="3833682"/>
                <a:ext cx="1485215" cy="1004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桂武廠薪資系統</a:t>
                </a:r>
                <a:endPara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上線及後續優化</a:t>
                </a:r>
                <a:endPara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7" name="组合 17"/>
          <p:cNvGrpSpPr/>
          <p:nvPr/>
        </p:nvGrpSpPr>
        <p:grpSpPr>
          <a:xfrm>
            <a:off x="3709800" y="2495310"/>
            <a:ext cx="2345079" cy="2388468"/>
            <a:chOff x="2782116" y="2727231"/>
            <a:chExt cx="1759038" cy="1791351"/>
          </a:xfrm>
        </p:grpSpPr>
        <p:sp>
          <p:nvSpPr>
            <p:cNvPr id="38" name="任意多边形 18"/>
            <p:cNvSpPr/>
            <p:nvPr/>
          </p:nvSpPr>
          <p:spPr>
            <a:xfrm>
              <a:off x="3048696" y="2828921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9" name="椭圆 23"/>
            <p:cNvSpPr/>
            <p:nvPr/>
          </p:nvSpPr>
          <p:spPr>
            <a:xfrm>
              <a:off x="3547599" y="2727231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10"/>
            <p:cNvSpPr/>
            <p:nvPr/>
          </p:nvSpPr>
          <p:spPr>
            <a:xfrm>
              <a:off x="2782116" y="3183876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Box 22"/>
            <p:cNvSpPr txBox="1"/>
            <p:nvPr/>
          </p:nvSpPr>
          <p:spPr>
            <a:xfrm>
              <a:off x="3626356" y="3555240"/>
              <a:ext cx="138566" cy="281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2" name="组合 27"/>
          <p:cNvGrpSpPr/>
          <p:nvPr/>
        </p:nvGrpSpPr>
        <p:grpSpPr>
          <a:xfrm>
            <a:off x="6438871" y="3166677"/>
            <a:ext cx="2345079" cy="2388468"/>
            <a:chOff x="4829186" y="3230756"/>
            <a:chExt cx="1759038" cy="1791351"/>
          </a:xfrm>
        </p:grpSpPr>
        <p:sp>
          <p:nvSpPr>
            <p:cNvPr id="43" name="任意多边形 28"/>
            <p:cNvSpPr/>
            <p:nvPr/>
          </p:nvSpPr>
          <p:spPr>
            <a:xfrm>
              <a:off x="5095766" y="3332446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" name="椭圆 33"/>
            <p:cNvSpPr/>
            <p:nvPr/>
          </p:nvSpPr>
          <p:spPr>
            <a:xfrm>
              <a:off x="5594669" y="3230756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 10"/>
            <p:cNvSpPr/>
            <p:nvPr/>
          </p:nvSpPr>
          <p:spPr>
            <a:xfrm>
              <a:off x="4829186" y="3687401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TextBox 32"/>
            <p:cNvSpPr txBox="1"/>
            <p:nvPr/>
          </p:nvSpPr>
          <p:spPr>
            <a:xfrm>
              <a:off x="4900762" y="4017286"/>
              <a:ext cx="1677601" cy="761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針對越南人事系統</a:t>
              </a:r>
              <a:endParaRPr lang="en-US" altLang="zh-CN" sz="2000" dirty="0" smtClean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對越南</a:t>
              </a:r>
              <a: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  <a:t>IT</a:t>
              </a: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提供服務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组合 37"/>
          <p:cNvGrpSpPr/>
          <p:nvPr/>
        </p:nvGrpSpPr>
        <p:grpSpPr>
          <a:xfrm>
            <a:off x="9167943" y="2276873"/>
            <a:ext cx="2345079" cy="2388468"/>
            <a:chOff x="6876256" y="2563403"/>
            <a:chExt cx="1759038" cy="1791351"/>
          </a:xfrm>
        </p:grpSpPr>
        <p:sp>
          <p:nvSpPr>
            <p:cNvPr id="48" name="任意多边形 38"/>
            <p:cNvSpPr/>
            <p:nvPr/>
          </p:nvSpPr>
          <p:spPr>
            <a:xfrm>
              <a:off x="7142836" y="2665093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9" name="椭圆 43"/>
            <p:cNvSpPr/>
            <p:nvPr/>
          </p:nvSpPr>
          <p:spPr>
            <a:xfrm>
              <a:off x="7641739" y="2563403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矩形 10"/>
            <p:cNvSpPr/>
            <p:nvPr/>
          </p:nvSpPr>
          <p:spPr>
            <a:xfrm>
              <a:off x="6876256" y="3020048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TextBox 42"/>
            <p:cNvSpPr txBox="1"/>
            <p:nvPr/>
          </p:nvSpPr>
          <p:spPr>
            <a:xfrm>
              <a:off x="7097699" y="3412365"/>
              <a:ext cx="1463572" cy="761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對印度</a:t>
              </a:r>
              <a: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  <a:t>IT</a:t>
              </a: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的相關</a:t>
              </a:r>
              <a:endParaRPr lang="en-US" altLang="zh-CN" sz="2000" dirty="0" smtClean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支援工作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52" name="TextBox 12"/>
          <p:cNvSpPr txBox="1"/>
          <p:nvPr/>
        </p:nvSpPr>
        <p:spPr>
          <a:xfrm>
            <a:off x="3717051" y="3434206"/>
            <a:ext cx="2236511" cy="960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河內薪資系統</a:t>
            </a:r>
            <a:endParaRPr lang="en-US" altLang="zh-CN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單例模式問題優化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17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 p14:presetBounceEnd="54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 p14:presetBounceEnd="5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29" grpId="0"/>
          <p:bldP spid="3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29" grpId="0"/>
          <p:bldP spid="30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其他系統</a:t>
            </a:r>
            <a:endParaRPr lang="en-US" altLang="zh-CN" dirty="0"/>
          </a:p>
        </p:txBody>
      </p:sp>
      <p:sp>
        <p:nvSpPr>
          <p:cNvPr id="22" name="TextBox 2"/>
          <p:cNvSpPr txBox="1"/>
          <p:nvPr/>
        </p:nvSpPr>
        <p:spPr>
          <a:xfrm>
            <a:off x="1888393" y="2086852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53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3"/>
          <p:cNvSpPr txBox="1"/>
          <p:nvPr/>
        </p:nvSpPr>
        <p:spPr>
          <a:xfrm>
            <a:off x="4617464" y="1727224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53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4"/>
          <p:cNvSpPr txBox="1"/>
          <p:nvPr/>
        </p:nvSpPr>
        <p:spPr>
          <a:xfrm>
            <a:off x="7346536" y="2398591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53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5"/>
          <p:cNvSpPr txBox="1"/>
          <p:nvPr/>
        </p:nvSpPr>
        <p:spPr>
          <a:xfrm>
            <a:off x="10075607" y="1508787"/>
            <a:ext cx="506282" cy="94384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en-US" altLang="zh-CN" sz="53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53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6"/>
          <p:cNvGrpSpPr/>
          <p:nvPr/>
        </p:nvGrpSpPr>
        <p:grpSpPr>
          <a:xfrm>
            <a:off x="980728" y="2854940"/>
            <a:ext cx="2345078" cy="2388469"/>
            <a:chOff x="735046" y="2996952"/>
            <a:chExt cx="1759038" cy="1791351"/>
          </a:xfrm>
        </p:grpSpPr>
        <p:sp>
          <p:nvSpPr>
            <p:cNvPr id="32" name="椭圆 13"/>
            <p:cNvSpPr/>
            <p:nvPr/>
          </p:nvSpPr>
          <p:spPr>
            <a:xfrm>
              <a:off x="1500529" y="2996952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3" name="组合 8"/>
            <p:cNvGrpSpPr/>
            <p:nvPr/>
          </p:nvGrpSpPr>
          <p:grpSpPr>
            <a:xfrm>
              <a:off x="735046" y="3098642"/>
              <a:ext cx="1759038" cy="1689661"/>
              <a:chOff x="735046" y="3098642"/>
              <a:chExt cx="1759038" cy="1689661"/>
            </a:xfrm>
          </p:grpSpPr>
          <p:sp>
            <p:nvSpPr>
              <p:cNvPr id="34" name="任意多边形 9"/>
              <p:cNvSpPr/>
              <p:nvPr/>
            </p:nvSpPr>
            <p:spPr>
              <a:xfrm>
                <a:off x="1001626" y="3098642"/>
                <a:ext cx="1222819" cy="390623"/>
              </a:xfrm>
              <a:custGeom>
                <a:avLst/>
                <a:gdLst>
                  <a:gd name="connsiteX0" fmla="*/ 0 w 1779373"/>
                  <a:gd name="connsiteY0" fmla="*/ 568411 h 568411"/>
                  <a:gd name="connsiteX1" fmla="*/ 864973 w 1779373"/>
                  <a:gd name="connsiteY1" fmla="*/ 0 h 568411"/>
                  <a:gd name="connsiteX2" fmla="*/ 1779373 w 1779373"/>
                  <a:gd name="connsiteY2" fmla="*/ 543698 h 568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79373" h="568411">
                    <a:moveTo>
                      <a:pt x="0" y="568411"/>
                    </a:moveTo>
                    <a:lnTo>
                      <a:pt x="864973" y="0"/>
                    </a:lnTo>
                    <a:lnTo>
                      <a:pt x="1779373" y="543698"/>
                    </a:lnTo>
                  </a:path>
                </a:pathLst>
              </a:cu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矩形 10"/>
              <p:cNvSpPr/>
              <p:nvPr/>
            </p:nvSpPr>
            <p:spPr>
              <a:xfrm>
                <a:off x="735046" y="3453597"/>
                <a:ext cx="1759038" cy="1334706"/>
              </a:xfrm>
              <a:custGeom>
                <a:avLst/>
                <a:gdLst/>
                <a:ahLst/>
                <a:cxnLst/>
                <a:rect l="l" t="t" r="r" b="b"/>
                <a:pathLst>
                  <a:path w="1759038" h="1334706">
                    <a:moveTo>
                      <a:pt x="65637" y="63758"/>
                    </a:moveTo>
                    <a:lnTo>
                      <a:pt x="65637" y="1271391"/>
                    </a:lnTo>
                    <a:lnTo>
                      <a:pt x="1711798" y="1271391"/>
                    </a:lnTo>
                    <a:lnTo>
                      <a:pt x="1711798" y="63758"/>
                    </a:lnTo>
                    <a:close/>
                    <a:moveTo>
                      <a:pt x="0" y="0"/>
                    </a:moveTo>
                    <a:lnTo>
                      <a:pt x="1759038" y="0"/>
                    </a:lnTo>
                    <a:lnTo>
                      <a:pt x="1759038" y="1334706"/>
                    </a:lnTo>
                    <a:lnTo>
                      <a:pt x="0" y="133470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20000"/>
                  </a:lnSpc>
                </a:pPr>
                <a:endPara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TextBox 12"/>
              <p:cNvSpPr txBox="1"/>
              <p:nvPr/>
            </p:nvSpPr>
            <p:spPr>
              <a:xfrm>
                <a:off x="1052740" y="3632306"/>
                <a:ext cx="1100445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北富、廊坊</a:t>
                </a:r>
                <a:endPara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工務系統</a:t>
                </a:r>
                <a:endPara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需求</a:t>
                </a:r>
                <a:r>
                  <a:rPr lang="en-US" altLang="zh-CN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PCR</a:t>
                </a:r>
                <a:endParaRPr lang="zh-CN" altLang="en-US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7" name="组合 17"/>
          <p:cNvGrpSpPr/>
          <p:nvPr/>
        </p:nvGrpSpPr>
        <p:grpSpPr>
          <a:xfrm>
            <a:off x="3709800" y="2495310"/>
            <a:ext cx="2345079" cy="2388468"/>
            <a:chOff x="2782116" y="2727231"/>
            <a:chExt cx="1759038" cy="1791351"/>
          </a:xfrm>
        </p:grpSpPr>
        <p:sp>
          <p:nvSpPr>
            <p:cNvPr id="38" name="任意多边形 18"/>
            <p:cNvSpPr/>
            <p:nvPr/>
          </p:nvSpPr>
          <p:spPr>
            <a:xfrm>
              <a:off x="3048696" y="2828921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9" name="椭圆 23"/>
            <p:cNvSpPr/>
            <p:nvPr/>
          </p:nvSpPr>
          <p:spPr>
            <a:xfrm>
              <a:off x="3547599" y="2727231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10"/>
            <p:cNvSpPr/>
            <p:nvPr/>
          </p:nvSpPr>
          <p:spPr>
            <a:xfrm>
              <a:off x="2782116" y="3183876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Box 22"/>
            <p:cNvSpPr txBox="1"/>
            <p:nvPr/>
          </p:nvSpPr>
          <p:spPr>
            <a:xfrm>
              <a:off x="3626356" y="3555240"/>
              <a:ext cx="138566" cy="281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2" name="组合 27"/>
          <p:cNvGrpSpPr/>
          <p:nvPr/>
        </p:nvGrpSpPr>
        <p:grpSpPr>
          <a:xfrm>
            <a:off x="6438871" y="3166677"/>
            <a:ext cx="2345079" cy="2388468"/>
            <a:chOff x="4829186" y="3230756"/>
            <a:chExt cx="1759038" cy="1791351"/>
          </a:xfrm>
        </p:grpSpPr>
        <p:sp>
          <p:nvSpPr>
            <p:cNvPr id="43" name="任意多边形 28"/>
            <p:cNvSpPr/>
            <p:nvPr/>
          </p:nvSpPr>
          <p:spPr>
            <a:xfrm>
              <a:off x="5095766" y="3332446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4" name="椭圆 33"/>
            <p:cNvSpPr/>
            <p:nvPr/>
          </p:nvSpPr>
          <p:spPr>
            <a:xfrm>
              <a:off x="5594669" y="3230756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 10"/>
            <p:cNvSpPr/>
            <p:nvPr/>
          </p:nvSpPr>
          <p:spPr>
            <a:xfrm>
              <a:off x="4829186" y="3687401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TextBox 32"/>
            <p:cNvSpPr txBox="1"/>
            <p:nvPr/>
          </p:nvSpPr>
          <p:spPr>
            <a:xfrm>
              <a:off x="5095766" y="3793238"/>
              <a:ext cx="1292830" cy="1066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萬家燈火</a:t>
              </a:r>
              <a:endParaRPr lang="en-US" altLang="zh-CN" sz="2000" dirty="0" smtClean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對接</a:t>
              </a:r>
              <a:endParaRPr lang="en-US" altLang="zh-CN" sz="2000" dirty="0" smtClean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宿舍管理系統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组合 37"/>
          <p:cNvGrpSpPr/>
          <p:nvPr/>
        </p:nvGrpSpPr>
        <p:grpSpPr>
          <a:xfrm>
            <a:off x="9167943" y="2276873"/>
            <a:ext cx="2345079" cy="2388468"/>
            <a:chOff x="6876256" y="2563403"/>
            <a:chExt cx="1759038" cy="1791351"/>
          </a:xfrm>
        </p:grpSpPr>
        <p:sp>
          <p:nvSpPr>
            <p:cNvPr id="48" name="任意多边形 38"/>
            <p:cNvSpPr/>
            <p:nvPr/>
          </p:nvSpPr>
          <p:spPr>
            <a:xfrm>
              <a:off x="7142836" y="2665093"/>
              <a:ext cx="1222819" cy="390623"/>
            </a:xfrm>
            <a:custGeom>
              <a:avLst/>
              <a:gdLst>
                <a:gd name="connsiteX0" fmla="*/ 0 w 1779373"/>
                <a:gd name="connsiteY0" fmla="*/ 568411 h 568411"/>
                <a:gd name="connsiteX1" fmla="*/ 864973 w 1779373"/>
                <a:gd name="connsiteY1" fmla="*/ 0 h 568411"/>
                <a:gd name="connsiteX2" fmla="*/ 1779373 w 1779373"/>
                <a:gd name="connsiteY2" fmla="*/ 543698 h 56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373" h="568411">
                  <a:moveTo>
                    <a:pt x="0" y="568411"/>
                  </a:moveTo>
                  <a:lnTo>
                    <a:pt x="864973" y="0"/>
                  </a:lnTo>
                  <a:lnTo>
                    <a:pt x="1779373" y="543698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9" name="椭圆 43"/>
            <p:cNvSpPr/>
            <p:nvPr/>
          </p:nvSpPr>
          <p:spPr>
            <a:xfrm>
              <a:off x="7641739" y="2563403"/>
              <a:ext cx="210466" cy="2104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矩形 10"/>
            <p:cNvSpPr/>
            <p:nvPr/>
          </p:nvSpPr>
          <p:spPr>
            <a:xfrm>
              <a:off x="6876256" y="3020048"/>
              <a:ext cx="1759038" cy="1334706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TextBox 42"/>
            <p:cNvSpPr txBox="1"/>
            <p:nvPr/>
          </p:nvSpPr>
          <p:spPr>
            <a:xfrm>
              <a:off x="6995273" y="3104674"/>
              <a:ext cx="1503396" cy="1066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  <a:t>Workflow</a:t>
              </a: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及其他</a:t>
              </a:r>
              <a: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  <a:t/>
              </a:r>
              <a:br>
                <a:rPr lang="en-US" altLang="zh-CN" sz="2000" dirty="0" smtClean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多個系統的</a:t>
              </a:r>
              <a:endParaRPr lang="en-US" altLang="zh-CN" sz="2000" dirty="0" smtClean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1">
                      <a:lumMod val="50000"/>
                    </a:schemeClr>
                  </a:solidFill>
                </a:rPr>
                <a:t>維護工作</a:t>
              </a:r>
              <a:endParaRPr lang="zh-CN" altLang="en-US" sz="2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53" name="TextBox 12"/>
          <p:cNvSpPr txBox="1"/>
          <p:nvPr/>
        </p:nvSpPr>
        <p:spPr>
          <a:xfrm>
            <a:off x="4299013" y="3479967"/>
            <a:ext cx="1241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組織</a:t>
            </a:r>
            <a:r>
              <a:rPr lang="zh-CN" altLang="en-US" dirty="0" smtClean="0"/>
              <a:t>系統</a:t>
            </a:r>
            <a:endParaRPr lang="en-US" altLang="zh-CN" dirty="0" smtClean="0"/>
          </a:p>
          <a:p>
            <a:r>
              <a:rPr lang="zh-CN" altLang="en-US" dirty="0" smtClean="0"/>
              <a:t>需求</a:t>
            </a:r>
            <a:r>
              <a:rPr lang="en-US" altLang="zh-CN" dirty="0" smtClean="0"/>
              <a:t>PCR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83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 p14:presetBounceEnd="54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 p14:presetBounceEnd="5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29" grpId="0"/>
          <p:bldP spid="3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29" grpId="0"/>
          <p:bldP spid="30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PCR  </a:t>
            </a:r>
            <a:endParaRPr lang="en-US" altLang="zh-CN" dirty="0"/>
          </a:p>
        </p:txBody>
      </p:sp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582170"/>
              </p:ext>
            </p:extLst>
          </p:nvPr>
        </p:nvGraphicFramePr>
        <p:xfrm>
          <a:off x="827314" y="1099455"/>
          <a:ext cx="10276114" cy="4931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377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106</a:t>
            </a:r>
            <a:r>
              <a:rPr lang="zh-CN" altLang="en-US" dirty="0" smtClean="0"/>
              <a:t>工單</a:t>
            </a:r>
            <a:endParaRPr lang="en-US" altLang="zh-CN" dirty="0"/>
          </a:p>
        </p:txBody>
      </p:sp>
      <p:graphicFrame>
        <p:nvGraphicFramePr>
          <p:cNvPr id="4" name="圖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33970"/>
              </p:ext>
            </p:extLst>
          </p:nvPr>
        </p:nvGraphicFramePr>
        <p:xfrm>
          <a:off x="870857" y="990600"/>
          <a:ext cx="10570028" cy="5617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220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9"/>
          <p:cNvSpPr/>
          <p:nvPr/>
        </p:nvSpPr>
        <p:spPr bwMode="auto">
          <a:xfrm>
            <a:off x="2616894" y="1738548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807040" y="1951707"/>
            <a:ext cx="2196057" cy="2461843"/>
            <a:chOff x="5002386" y="2208630"/>
            <a:chExt cx="2196057" cy="2461843"/>
          </a:xfrm>
        </p:grpSpPr>
        <p:sp>
          <p:nvSpPr>
            <p:cNvPr id="4" name="Freeform 19"/>
            <p:cNvSpPr/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 flipH="1">
              <a:off x="5221808" y="2508527"/>
              <a:ext cx="1757212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1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664784" y="284517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工作存在不足</a:t>
            </a:r>
            <a:endParaRPr lang="zh-CN" altLang="en-US" sz="4800" b="1" dirty="0">
              <a:solidFill>
                <a:srgbClr val="7080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6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68332" y="1455473"/>
            <a:ext cx="1701381" cy="2313635"/>
            <a:chOff x="1419399" y="1213071"/>
            <a:chExt cx="1385887" cy="1884363"/>
          </a:xfrm>
        </p:grpSpPr>
        <p:sp>
          <p:nvSpPr>
            <p:cNvPr id="5" name="任意多边形 29"/>
            <p:cNvSpPr/>
            <p:nvPr/>
          </p:nvSpPr>
          <p:spPr bwMode="auto">
            <a:xfrm rot="20832717" flipH="1">
              <a:off x="2009949" y="1213071"/>
              <a:ext cx="161925" cy="695325"/>
            </a:xfrm>
            <a:custGeom>
              <a:avLst/>
              <a:gdLst>
                <a:gd name="T0" fmla="*/ 8589 w 151176"/>
                <a:gd name="T1" fmla="*/ 0 h 643551"/>
                <a:gd name="T2" fmla="*/ 75351 w 151176"/>
                <a:gd name="T3" fmla="*/ 355512 h 643551"/>
                <a:gd name="T4" fmla="*/ 151176 w 151176"/>
                <a:gd name="T5" fmla="*/ 643551 h 643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176" h="643551">
                  <a:moveTo>
                    <a:pt x="8589" y="0"/>
                  </a:moveTo>
                  <a:cubicBezTo>
                    <a:pt x="-25570" y="125248"/>
                    <a:pt x="51587" y="248254"/>
                    <a:pt x="75351" y="355512"/>
                  </a:cubicBezTo>
                  <a:cubicBezTo>
                    <a:pt x="99115" y="462770"/>
                    <a:pt x="106507" y="555089"/>
                    <a:pt x="151176" y="643551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" name="椭圆 51"/>
            <p:cNvSpPr>
              <a:spLocks noChangeArrowheads="1"/>
            </p:cNvSpPr>
            <p:nvPr/>
          </p:nvSpPr>
          <p:spPr bwMode="auto">
            <a:xfrm>
              <a:off x="1419399" y="1711546"/>
              <a:ext cx="1385887" cy="13858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椭圆 12"/>
            <p:cNvSpPr>
              <a:spLocks noChangeArrowheads="1"/>
            </p:cNvSpPr>
            <p:nvPr/>
          </p:nvSpPr>
          <p:spPr bwMode="auto">
            <a:xfrm>
              <a:off x="1486868" y="1779809"/>
              <a:ext cx="1249363" cy="1249362"/>
            </a:xfrm>
            <a:prstGeom prst="ellipse">
              <a:avLst/>
            </a:prstGeom>
            <a:solidFill>
              <a:schemeClr val="accent2"/>
            </a:solidFill>
            <a:ln w="3175" cmpd="sng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algn="ctr" eaLnBrk="1" hangingPunct="1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工作效率</a:t>
              </a:r>
              <a:r>
                <a:rPr lang="en-US" altLang="zh-CN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/>
              </a:r>
              <a:br>
                <a:rPr lang="en-US" altLang="zh-CN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endParaRPr lang="en-US" altLang="zh-CN" sz="19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低</a:t>
              </a:r>
              <a:endParaRPr lang="zh-CN" altLang="en-US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8" name="椭圆 16"/>
            <p:cNvGrpSpPr/>
            <p:nvPr/>
          </p:nvGrpSpPr>
          <p:grpSpPr bwMode="auto">
            <a:xfrm>
              <a:off x="2048049" y="1906809"/>
              <a:ext cx="128587" cy="127000"/>
              <a:chOff x="0" y="0"/>
              <a:chExt cx="81" cy="80"/>
            </a:xfrm>
          </p:grpSpPr>
          <p:pic>
            <p:nvPicPr>
              <p:cNvPr id="10" name="椭圆 16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 Box 8"/>
              <p:cNvSpPr txBox="1">
                <a:spLocks noChangeArrowheads="1"/>
              </p:cNvSpPr>
              <p:nvPr/>
            </p:nvSpPr>
            <p:spPr bwMode="auto">
              <a:xfrm>
                <a:off x="11" y="12"/>
                <a:ext cx="58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9" name="任意多边形 5"/>
            <p:cNvSpPr/>
            <p:nvPr/>
          </p:nvSpPr>
          <p:spPr bwMode="auto">
            <a:xfrm>
              <a:off x="1978199" y="1232121"/>
              <a:ext cx="133350" cy="738188"/>
            </a:xfrm>
            <a:custGeom>
              <a:avLst/>
              <a:gdLst>
                <a:gd name="T0" fmla="*/ 74340 w 122824"/>
                <a:gd name="T1" fmla="*/ 0 h 682499"/>
                <a:gd name="T2" fmla="*/ 522 w 122824"/>
                <a:gd name="T3" fmla="*/ 342900 h 682499"/>
                <a:gd name="T4" fmla="*/ 107678 w 122824"/>
                <a:gd name="T5" fmla="*/ 657225 h 682499"/>
                <a:gd name="T6" fmla="*/ 119584 w 122824"/>
                <a:gd name="T7" fmla="*/ 640556 h 682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824" h="682499">
                  <a:moveTo>
                    <a:pt x="74340" y="0"/>
                  </a:moveTo>
                  <a:cubicBezTo>
                    <a:pt x="34653" y="116681"/>
                    <a:pt x="-5034" y="233363"/>
                    <a:pt x="522" y="342900"/>
                  </a:cubicBezTo>
                  <a:cubicBezTo>
                    <a:pt x="6078" y="452437"/>
                    <a:pt x="87834" y="607616"/>
                    <a:pt x="107678" y="657225"/>
                  </a:cubicBezTo>
                  <a:cubicBezTo>
                    <a:pt x="127522" y="706834"/>
                    <a:pt x="123553" y="673695"/>
                    <a:pt x="119584" y="640556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86060" y="1455473"/>
            <a:ext cx="1701381" cy="2313635"/>
            <a:chOff x="3816524" y="1213071"/>
            <a:chExt cx="1385887" cy="1884363"/>
          </a:xfrm>
        </p:grpSpPr>
        <p:sp>
          <p:nvSpPr>
            <p:cNvPr id="13" name="任意多边形 43"/>
            <p:cNvSpPr/>
            <p:nvPr/>
          </p:nvSpPr>
          <p:spPr bwMode="auto">
            <a:xfrm rot="20832717" flipH="1">
              <a:off x="4407074" y="1213071"/>
              <a:ext cx="163512" cy="695325"/>
            </a:xfrm>
            <a:custGeom>
              <a:avLst/>
              <a:gdLst>
                <a:gd name="T0" fmla="*/ 8589 w 151176"/>
                <a:gd name="T1" fmla="*/ 0 h 643551"/>
                <a:gd name="T2" fmla="*/ 75351 w 151176"/>
                <a:gd name="T3" fmla="*/ 355512 h 643551"/>
                <a:gd name="T4" fmla="*/ 151176 w 151176"/>
                <a:gd name="T5" fmla="*/ 643551 h 643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176" h="643551">
                  <a:moveTo>
                    <a:pt x="8589" y="0"/>
                  </a:moveTo>
                  <a:cubicBezTo>
                    <a:pt x="-25570" y="125248"/>
                    <a:pt x="51587" y="248254"/>
                    <a:pt x="75351" y="355512"/>
                  </a:cubicBezTo>
                  <a:cubicBezTo>
                    <a:pt x="99115" y="462770"/>
                    <a:pt x="106507" y="555089"/>
                    <a:pt x="151176" y="643551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  <p:sp>
          <p:nvSpPr>
            <p:cNvPr id="14" name="椭圆 44"/>
            <p:cNvSpPr>
              <a:spLocks noChangeArrowheads="1"/>
            </p:cNvSpPr>
            <p:nvPr/>
          </p:nvSpPr>
          <p:spPr bwMode="auto">
            <a:xfrm>
              <a:off x="3816524" y="1711546"/>
              <a:ext cx="1385887" cy="138588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 eaLnBrk="1" hangingPunct="1"/>
              <a:endPara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椭圆 45"/>
            <p:cNvSpPr>
              <a:spLocks noChangeArrowheads="1"/>
            </p:cNvSpPr>
            <p:nvPr/>
          </p:nvSpPr>
          <p:spPr bwMode="auto">
            <a:xfrm>
              <a:off x="3884786" y="1779809"/>
              <a:ext cx="1249363" cy="1249362"/>
            </a:xfrm>
            <a:prstGeom prst="ellipse">
              <a:avLst/>
            </a:prstGeom>
            <a:solidFill>
              <a:schemeClr val="accent1"/>
            </a:solidFill>
            <a:ln w="3175" cmpd="sng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新技術</a:t>
              </a:r>
              <a:endParaRPr lang="en-US" altLang="zh-CN" sz="19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差</a:t>
              </a:r>
              <a:endParaRPr lang="zh-CN" altLang="en-US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椭圆 46"/>
            <p:cNvGrpSpPr/>
            <p:nvPr/>
          </p:nvGrpSpPr>
          <p:grpSpPr bwMode="auto">
            <a:xfrm>
              <a:off x="4443586" y="1906809"/>
              <a:ext cx="128588" cy="127000"/>
              <a:chOff x="0" y="0"/>
              <a:chExt cx="81" cy="80"/>
            </a:xfrm>
          </p:grpSpPr>
          <p:pic>
            <p:nvPicPr>
              <p:cNvPr id="18" name="椭圆 46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Text Box 15"/>
              <p:cNvSpPr txBox="1">
                <a:spLocks noChangeArrowheads="1"/>
              </p:cNvSpPr>
              <p:nvPr/>
            </p:nvSpPr>
            <p:spPr bwMode="auto">
              <a:xfrm>
                <a:off x="13" y="12"/>
                <a:ext cx="57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1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7" name="任意多边形 47"/>
            <p:cNvSpPr/>
            <p:nvPr/>
          </p:nvSpPr>
          <p:spPr bwMode="auto">
            <a:xfrm>
              <a:off x="4376911" y="1232121"/>
              <a:ext cx="131763" cy="738188"/>
            </a:xfrm>
            <a:custGeom>
              <a:avLst/>
              <a:gdLst>
                <a:gd name="T0" fmla="*/ 74340 w 122824"/>
                <a:gd name="T1" fmla="*/ 0 h 682499"/>
                <a:gd name="T2" fmla="*/ 522 w 122824"/>
                <a:gd name="T3" fmla="*/ 342900 h 682499"/>
                <a:gd name="T4" fmla="*/ 107678 w 122824"/>
                <a:gd name="T5" fmla="*/ 657225 h 682499"/>
                <a:gd name="T6" fmla="*/ 119584 w 122824"/>
                <a:gd name="T7" fmla="*/ 640556 h 682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824" h="682499">
                  <a:moveTo>
                    <a:pt x="74340" y="0"/>
                  </a:moveTo>
                  <a:cubicBezTo>
                    <a:pt x="34653" y="116681"/>
                    <a:pt x="-5034" y="233363"/>
                    <a:pt x="522" y="342900"/>
                  </a:cubicBezTo>
                  <a:cubicBezTo>
                    <a:pt x="6078" y="452437"/>
                    <a:pt x="87834" y="607616"/>
                    <a:pt x="107678" y="657225"/>
                  </a:cubicBezTo>
                  <a:cubicBezTo>
                    <a:pt x="127522" y="706834"/>
                    <a:pt x="123553" y="673695"/>
                    <a:pt x="119584" y="640556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403788" y="1455473"/>
            <a:ext cx="1701381" cy="2313635"/>
            <a:chOff x="6213649" y="1213071"/>
            <a:chExt cx="1385887" cy="1884363"/>
          </a:xfrm>
        </p:grpSpPr>
        <p:sp>
          <p:nvSpPr>
            <p:cNvPr id="21" name="任意多边形 48"/>
            <p:cNvSpPr/>
            <p:nvPr/>
          </p:nvSpPr>
          <p:spPr bwMode="auto">
            <a:xfrm rot="20832717" flipH="1">
              <a:off x="6804199" y="1213071"/>
              <a:ext cx="163512" cy="695325"/>
            </a:xfrm>
            <a:custGeom>
              <a:avLst/>
              <a:gdLst>
                <a:gd name="T0" fmla="*/ 8589 w 151176"/>
                <a:gd name="T1" fmla="*/ 0 h 643551"/>
                <a:gd name="T2" fmla="*/ 75351 w 151176"/>
                <a:gd name="T3" fmla="*/ 355512 h 643551"/>
                <a:gd name="T4" fmla="*/ 151176 w 151176"/>
                <a:gd name="T5" fmla="*/ 643551 h 643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176" h="643551">
                  <a:moveTo>
                    <a:pt x="8589" y="0"/>
                  </a:moveTo>
                  <a:cubicBezTo>
                    <a:pt x="-25570" y="125248"/>
                    <a:pt x="51587" y="248254"/>
                    <a:pt x="75351" y="355512"/>
                  </a:cubicBezTo>
                  <a:cubicBezTo>
                    <a:pt x="99115" y="462770"/>
                    <a:pt x="106507" y="555089"/>
                    <a:pt x="151176" y="643551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  <p:sp>
          <p:nvSpPr>
            <p:cNvPr id="22" name="椭圆 49"/>
            <p:cNvSpPr>
              <a:spLocks noChangeArrowheads="1"/>
            </p:cNvSpPr>
            <p:nvPr/>
          </p:nvSpPr>
          <p:spPr bwMode="auto">
            <a:xfrm>
              <a:off x="6213649" y="1711546"/>
              <a:ext cx="1385887" cy="13858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 eaLnBrk="1" hangingPunct="1"/>
              <a:endPara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50"/>
            <p:cNvSpPr>
              <a:spLocks noChangeArrowheads="1"/>
            </p:cNvSpPr>
            <p:nvPr/>
          </p:nvSpPr>
          <p:spPr bwMode="auto">
            <a:xfrm>
              <a:off x="6281911" y="1779809"/>
              <a:ext cx="1249363" cy="1249362"/>
            </a:xfrm>
            <a:prstGeom prst="ellipse">
              <a:avLst/>
            </a:prstGeom>
            <a:solidFill>
              <a:schemeClr val="accent3"/>
            </a:solidFill>
            <a:ln w="3175" cmpd="sng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執行力</a:t>
              </a:r>
              <a:endParaRPr lang="en-US" altLang="zh-CN" sz="19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弱</a:t>
              </a:r>
              <a:endParaRPr lang="zh-CN" altLang="en-US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4" name="椭圆 71"/>
            <p:cNvGrpSpPr/>
            <p:nvPr/>
          </p:nvGrpSpPr>
          <p:grpSpPr bwMode="auto">
            <a:xfrm>
              <a:off x="6840711" y="1906809"/>
              <a:ext cx="133350" cy="127000"/>
              <a:chOff x="0" y="0"/>
              <a:chExt cx="84" cy="80"/>
            </a:xfrm>
          </p:grpSpPr>
          <p:pic>
            <p:nvPicPr>
              <p:cNvPr id="26" name="椭圆 7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4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3" y="12"/>
                <a:ext cx="58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1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5" name="任意多边形 72"/>
            <p:cNvSpPr/>
            <p:nvPr/>
          </p:nvSpPr>
          <p:spPr bwMode="auto">
            <a:xfrm>
              <a:off x="6774036" y="1232121"/>
              <a:ext cx="131763" cy="738188"/>
            </a:xfrm>
            <a:custGeom>
              <a:avLst/>
              <a:gdLst>
                <a:gd name="T0" fmla="*/ 74340 w 122824"/>
                <a:gd name="T1" fmla="*/ 0 h 682499"/>
                <a:gd name="T2" fmla="*/ 522 w 122824"/>
                <a:gd name="T3" fmla="*/ 342900 h 682499"/>
                <a:gd name="T4" fmla="*/ 107678 w 122824"/>
                <a:gd name="T5" fmla="*/ 657225 h 682499"/>
                <a:gd name="T6" fmla="*/ 119584 w 122824"/>
                <a:gd name="T7" fmla="*/ 640556 h 682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824" h="682499">
                  <a:moveTo>
                    <a:pt x="74340" y="0"/>
                  </a:moveTo>
                  <a:cubicBezTo>
                    <a:pt x="34653" y="116681"/>
                    <a:pt x="-5034" y="233363"/>
                    <a:pt x="522" y="342900"/>
                  </a:cubicBezTo>
                  <a:cubicBezTo>
                    <a:pt x="6078" y="452437"/>
                    <a:pt x="87834" y="607616"/>
                    <a:pt x="107678" y="657225"/>
                  </a:cubicBezTo>
                  <a:cubicBezTo>
                    <a:pt x="127522" y="706834"/>
                    <a:pt x="123553" y="673695"/>
                    <a:pt x="119584" y="640556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921518" y="1455473"/>
            <a:ext cx="1701381" cy="2313635"/>
            <a:chOff x="6213649" y="1213071"/>
            <a:chExt cx="1385887" cy="1884363"/>
          </a:xfrm>
        </p:grpSpPr>
        <p:sp>
          <p:nvSpPr>
            <p:cNvPr id="31" name="任意多边形 48"/>
            <p:cNvSpPr/>
            <p:nvPr/>
          </p:nvSpPr>
          <p:spPr bwMode="auto">
            <a:xfrm rot="20832717" flipH="1">
              <a:off x="6804199" y="1213071"/>
              <a:ext cx="163512" cy="695325"/>
            </a:xfrm>
            <a:custGeom>
              <a:avLst/>
              <a:gdLst>
                <a:gd name="T0" fmla="*/ 8589 w 151176"/>
                <a:gd name="T1" fmla="*/ 0 h 643551"/>
                <a:gd name="T2" fmla="*/ 75351 w 151176"/>
                <a:gd name="T3" fmla="*/ 355512 h 643551"/>
                <a:gd name="T4" fmla="*/ 151176 w 151176"/>
                <a:gd name="T5" fmla="*/ 643551 h 643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176" h="643551">
                  <a:moveTo>
                    <a:pt x="8589" y="0"/>
                  </a:moveTo>
                  <a:cubicBezTo>
                    <a:pt x="-25570" y="125248"/>
                    <a:pt x="51587" y="248254"/>
                    <a:pt x="75351" y="355512"/>
                  </a:cubicBezTo>
                  <a:cubicBezTo>
                    <a:pt x="99115" y="462770"/>
                    <a:pt x="106507" y="555089"/>
                    <a:pt x="151176" y="643551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  <p:sp>
          <p:nvSpPr>
            <p:cNvPr id="32" name="椭圆 49"/>
            <p:cNvSpPr>
              <a:spLocks noChangeArrowheads="1"/>
            </p:cNvSpPr>
            <p:nvPr/>
          </p:nvSpPr>
          <p:spPr bwMode="auto">
            <a:xfrm>
              <a:off x="6213649" y="1711546"/>
              <a:ext cx="1385887" cy="13858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 eaLnBrk="1" hangingPunct="1"/>
              <a:endPara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50"/>
            <p:cNvSpPr>
              <a:spLocks noChangeArrowheads="1"/>
            </p:cNvSpPr>
            <p:nvPr/>
          </p:nvSpPr>
          <p:spPr bwMode="auto">
            <a:xfrm>
              <a:off x="6281911" y="1779809"/>
              <a:ext cx="1249363" cy="1249362"/>
            </a:xfrm>
            <a:prstGeom prst="ellipse">
              <a:avLst/>
            </a:prstGeom>
            <a:solidFill>
              <a:schemeClr val="accent4"/>
            </a:solidFill>
            <a:ln w="3175" cmpd="sng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勝負欲</a:t>
              </a:r>
              <a:endParaRPr lang="en-US" altLang="zh-CN" sz="19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90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低</a:t>
              </a:r>
              <a:endParaRPr lang="zh-CN" altLang="en-US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4" name="椭圆 71"/>
            <p:cNvGrpSpPr/>
            <p:nvPr/>
          </p:nvGrpSpPr>
          <p:grpSpPr bwMode="auto">
            <a:xfrm>
              <a:off x="6840711" y="1906809"/>
              <a:ext cx="133350" cy="127000"/>
              <a:chOff x="0" y="0"/>
              <a:chExt cx="84" cy="80"/>
            </a:xfrm>
          </p:grpSpPr>
          <p:pic>
            <p:nvPicPr>
              <p:cNvPr id="36" name="椭圆 7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4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13" y="12"/>
                <a:ext cx="58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1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5" name="任意多边形 72"/>
            <p:cNvSpPr/>
            <p:nvPr/>
          </p:nvSpPr>
          <p:spPr bwMode="auto">
            <a:xfrm>
              <a:off x="6774036" y="1232121"/>
              <a:ext cx="131763" cy="738188"/>
            </a:xfrm>
            <a:custGeom>
              <a:avLst/>
              <a:gdLst>
                <a:gd name="T0" fmla="*/ 74340 w 122824"/>
                <a:gd name="T1" fmla="*/ 0 h 682499"/>
                <a:gd name="T2" fmla="*/ 522 w 122824"/>
                <a:gd name="T3" fmla="*/ 342900 h 682499"/>
                <a:gd name="T4" fmla="*/ 107678 w 122824"/>
                <a:gd name="T5" fmla="*/ 657225 h 682499"/>
                <a:gd name="T6" fmla="*/ 119584 w 122824"/>
                <a:gd name="T7" fmla="*/ 640556 h 682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824" h="682499">
                  <a:moveTo>
                    <a:pt x="74340" y="0"/>
                  </a:moveTo>
                  <a:cubicBezTo>
                    <a:pt x="34653" y="116681"/>
                    <a:pt x="-5034" y="233363"/>
                    <a:pt x="522" y="342900"/>
                  </a:cubicBezTo>
                  <a:cubicBezTo>
                    <a:pt x="6078" y="452437"/>
                    <a:pt x="87834" y="607616"/>
                    <a:pt x="107678" y="657225"/>
                  </a:cubicBezTo>
                  <a:cubicBezTo>
                    <a:pt x="127522" y="706834"/>
                    <a:pt x="123553" y="673695"/>
                    <a:pt x="119584" y="640556"/>
                  </a:cubicBezTo>
                </a:path>
              </a:pathLst>
            </a:custGeom>
            <a:noFill/>
            <a:ln w="19050" cap="flat" cmpd="sng">
              <a:solidFill>
                <a:srgbClr val="BFBFB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sz="19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工作存在不足</a:t>
            </a:r>
          </a:p>
        </p:txBody>
      </p:sp>
      <p:sp>
        <p:nvSpPr>
          <p:cNvPr id="40" name="矩形 67"/>
          <p:cNvSpPr>
            <a:spLocks noChangeArrowheads="1"/>
          </p:cNvSpPr>
          <p:nvPr/>
        </p:nvSpPr>
        <p:spPr bwMode="auto">
          <a:xfrm>
            <a:off x="1219791" y="4071239"/>
            <a:ext cx="2109552" cy="1163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8" tIns="60954" rIns="121908" bIns="60954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多項工作同時進行時，</a:t>
            </a:r>
            <a:endParaRPr lang="en-US" altLang="zh-CN" sz="1300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對於主次及時效把握</a:t>
            </a:r>
            <a:endParaRPr lang="en-US" altLang="zh-CN" sz="1300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較差， 從而導致效率</a:t>
            </a:r>
            <a:endParaRPr lang="en-US" altLang="zh-CN" sz="1300" dirty="0" smtClean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低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67"/>
          <p:cNvSpPr>
            <a:spLocks noChangeArrowheads="1"/>
          </p:cNvSpPr>
          <p:nvPr/>
        </p:nvSpPr>
        <p:spPr bwMode="auto">
          <a:xfrm>
            <a:off x="3758956" y="4060335"/>
            <a:ext cx="2109552" cy="90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8" tIns="60954" rIns="121908" bIns="60954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對於</a:t>
            </a:r>
            <a:r>
              <a:rPr lang="en-US" altLang="zh-CN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ABP</a:t>
            </a: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框架，</a:t>
            </a:r>
            <a:r>
              <a:rPr lang="en-US" altLang="zh-CN" sz="1300" dirty="0" err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.net</a:t>
            </a:r>
            <a:r>
              <a:rPr lang="en-US" altLang="zh-CN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Core</a:t>
            </a:r>
            <a:r>
              <a:rPr lang="zh-CN" altLang="en-US" sz="130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等新技術還</a:t>
            </a: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不能做到熟練應用及理解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67"/>
          <p:cNvSpPr>
            <a:spLocks noChangeArrowheads="1"/>
          </p:cNvSpPr>
          <p:nvPr/>
        </p:nvSpPr>
        <p:spPr bwMode="auto">
          <a:xfrm>
            <a:off x="6350467" y="4071239"/>
            <a:ext cx="2109552" cy="142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8" tIns="60954" rIns="121908" bIns="60954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多數的系統修改及數據維護，不能讓用戶提交對應的</a:t>
            </a:r>
            <a:r>
              <a:rPr lang="en-US" altLang="zh-CN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PCR</a:t>
            </a: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申請或數據維護申請單，代碼變更未從</a:t>
            </a:r>
            <a:r>
              <a:rPr lang="en-US" altLang="zh-CN" sz="1300" dirty="0" err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Redmine</a:t>
            </a: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進行議題追蹤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67"/>
          <p:cNvSpPr>
            <a:spLocks noChangeArrowheads="1"/>
          </p:cNvSpPr>
          <p:nvPr/>
        </p:nvSpPr>
        <p:spPr bwMode="auto">
          <a:xfrm>
            <a:off x="9005320" y="4071239"/>
            <a:ext cx="2109552" cy="35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8" tIns="60954" rIns="121908" bIns="60954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做事不夠積極主動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4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54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54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2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0" grpId="0"/>
          <p:bldP spid="41" grpId="0"/>
          <p:bldP spid="42" grpId="0"/>
          <p:bldP spid="4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2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0" grpId="0"/>
          <p:bldP spid="41" grpId="0"/>
          <p:bldP spid="42" grpId="0"/>
          <p:bldP spid="43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9"/>
          <p:cNvSpPr/>
          <p:nvPr/>
        </p:nvSpPr>
        <p:spPr bwMode="auto">
          <a:xfrm>
            <a:off x="2616894" y="1738548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807040" y="1951707"/>
            <a:ext cx="2196057" cy="2461843"/>
            <a:chOff x="5002386" y="2208630"/>
            <a:chExt cx="2196057" cy="2461843"/>
          </a:xfrm>
        </p:grpSpPr>
        <p:sp>
          <p:nvSpPr>
            <p:cNvPr id="4" name="Freeform 19"/>
            <p:cNvSpPr/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 flipH="1">
              <a:off x="5244250" y="2508527"/>
              <a:ext cx="1712328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115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664784" y="284517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明年工作計劃</a:t>
            </a:r>
            <a:endParaRPr lang="zh-CN" altLang="en-US" sz="4800" b="1" dirty="0">
              <a:solidFill>
                <a:srgbClr val="7080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1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4"/>
          <p:cNvGrpSpPr/>
          <p:nvPr/>
        </p:nvGrpSpPr>
        <p:grpSpPr>
          <a:xfrm>
            <a:off x="3185087" y="4251133"/>
            <a:ext cx="5457487" cy="406634"/>
            <a:chOff x="2221306" y="3931835"/>
            <a:chExt cx="4093648" cy="304976"/>
          </a:xfrm>
        </p:grpSpPr>
        <p:grpSp>
          <p:nvGrpSpPr>
            <p:cNvPr id="5" name="Group 50"/>
            <p:cNvGrpSpPr/>
            <p:nvPr/>
          </p:nvGrpSpPr>
          <p:grpSpPr>
            <a:xfrm>
              <a:off x="2221306" y="3931835"/>
              <a:ext cx="897338" cy="194452"/>
              <a:chOff x="2221306" y="3914656"/>
              <a:chExt cx="897338" cy="194452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618442" y="3934938"/>
                <a:ext cx="500202" cy="15004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13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技術提升</a:t>
                </a:r>
                <a:endParaRPr 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Oval 62"/>
              <p:cNvSpPr>
                <a:spLocks noChangeAspect="1"/>
              </p:cNvSpPr>
              <p:nvPr/>
            </p:nvSpPr>
            <p:spPr>
              <a:xfrm>
                <a:off x="2221306" y="3914656"/>
                <a:ext cx="200183" cy="194452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n-ea"/>
                </a:endParaRPr>
              </a:p>
            </p:txBody>
          </p:sp>
        </p:grpSp>
        <p:grpSp>
          <p:nvGrpSpPr>
            <p:cNvPr id="6" name="Group 45"/>
            <p:cNvGrpSpPr/>
            <p:nvPr/>
          </p:nvGrpSpPr>
          <p:grpSpPr>
            <a:xfrm>
              <a:off x="3300234" y="3931835"/>
              <a:ext cx="967638" cy="194452"/>
              <a:chOff x="3477532" y="3947915"/>
              <a:chExt cx="967638" cy="194452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771820" y="3968197"/>
                <a:ext cx="67335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1400" dirty="0" smtClean="0"/>
                  <a:t>提升執行力</a:t>
                </a:r>
                <a:endParaRPr 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9" name="Oval 58"/>
              <p:cNvSpPr>
                <a:spLocks noChangeAspect="1"/>
              </p:cNvSpPr>
              <p:nvPr/>
            </p:nvSpPr>
            <p:spPr>
              <a:xfrm>
                <a:off x="3477532" y="3947915"/>
                <a:ext cx="200183" cy="19445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n-ea"/>
                </a:endParaRPr>
              </a:p>
            </p:txBody>
          </p:sp>
        </p:grpSp>
        <p:grpSp>
          <p:nvGrpSpPr>
            <p:cNvPr id="7" name="Group 37"/>
            <p:cNvGrpSpPr/>
            <p:nvPr/>
          </p:nvGrpSpPr>
          <p:grpSpPr>
            <a:xfrm>
              <a:off x="4346222" y="3931835"/>
              <a:ext cx="1045988" cy="194452"/>
              <a:chOff x="4407454" y="3949014"/>
              <a:chExt cx="1045988" cy="194452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4675531" y="3989453"/>
                <a:ext cx="777911" cy="13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改善</a:t>
                </a:r>
                <a:r>
                  <a:rPr lang="en-US" altLang="zh-CN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workflow</a:t>
                </a:r>
                <a:endPara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6" name="Oval 55"/>
              <p:cNvSpPr>
                <a:spLocks noChangeAspect="1"/>
              </p:cNvSpPr>
              <p:nvPr/>
            </p:nvSpPr>
            <p:spPr>
              <a:xfrm>
                <a:off x="4407454" y="3949014"/>
                <a:ext cx="200183" cy="19445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n-ea"/>
                </a:endParaRPr>
              </a:p>
            </p:txBody>
          </p:sp>
        </p:grpSp>
        <p:grpSp>
          <p:nvGrpSpPr>
            <p:cNvPr id="8" name="Group 41"/>
            <p:cNvGrpSpPr/>
            <p:nvPr/>
          </p:nvGrpSpPr>
          <p:grpSpPr>
            <a:xfrm>
              <a:off x="5474209" y="3931835"/>
              <a:ext cx="840745" cy="304976"/>
              <a:chOff x="5474209" y="3949014"/>
              <a:chExt cx="840745" cy="304976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5968660" y="3976991"/>
                <a:ext cx="3462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新專案</a:t>
                </a:r>
                <a:endParaRPr lang="en-US" altLang="zh-CN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  <a:p>
                <a:pPr algn="ctr"/>
                <a:endPara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8" name="Oval 47"/>
              <p:cNvSpPr>
                <a:spLocks noChangeAspect="1"/>
              </p:cNvSpPr>
              <p:nvPr/>
            </p:nvSpPr>
            <p:spPr>
              <a:xfrm>
                <a:off x="5474209" y="3949014"/>
                <a:ext cx="200183" cy="19445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n-ea"/>
                </a:endParaRPr>
              </a:p>
            </p:txBody>
          </p:sp>
        </p:grpSp>
      </p:grpSp>
      <p:cxnSp>
        <p:nvCxnSpPr>
          <p:cNvPr id="47" name="Straight Connector 46"/>
          <p:cNvCxnSpPr/>
          <p:nvPr/>
        </p:nvCxnSpPr>
        <p:spPr>
          <a:xfrm>
            <a:off x="1043634" y="4826705"/>
            <a:ext cx="1010473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643248" y="1704376"/>
            <a:ext cx="2619034" cy="1831731"/>
            <a:chOff x="481903" y="1497356"/>
            <a:chExt cx="1964531" cy="1373798"/>
          </a:xfrm>
        </p:grpSpPr>
        <p:sp>
          <p:nvSpPr>
            <p:cNvPr id="51" name="Freeform 50"/>
            <p:cNvSpPr/>
            <p:nvPr/>
          </p:nvSpPr>
          <p:spPr>
            <a:xfrm>
              <a:off x="874809" y="1497356"/>
              <a:ext cx="1571625" cy="1373798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chemeClr val="tx2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8627" tIns="217500" rIns="435411" bIns="217500" numCol="1" spcCol="1270" anchor="ctr" anchorCtr="0">
              <a:noAutofit/>
            </a:bodyPr>
            <a:lstStyle/>
            <a:p>
              <a:pPr marL="228600" lvl="1" indent="-228600" defTabSz="106616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6400" dirty="0">
                <a:latin typeface="Agency FB" panose="020B0503020202020204" pitchFamily="34" charset="0"/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481903" y="1791349"/>
              <a:ext cx="785812" cy="78581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115080 w 785812"/>
                <a:gd name="connsiteY1" fmla="*/ 115080 h 785812"/>
                <a:gd name="connsiteX2" fmla="*/ 392907 w 785812"/>
                <a:gd name="connsiteY2" fmla="*/ 1 h 785812"/>
                <a:gd name="connsiteX3" fmla="*/ 670733 w 785812"/>
                <a:gd name="connsiteY3" fmla="*/ 115081 h 785812"/>
                <a:gd name="connsiteX4" fmla="*/ 785812 w 785812"/>
                <a:gd name="connsiteY4" fmla="*/ 392908 h 785812"/>
                <a:gd name="connsiteX5" fmla="*/ 670732 w 785812"/>
                <a:gd name="connsiteY5" fmla="*/ 670735 h 785812"/>
                <a:gd name="connsiteX6" fmla="*/ 392905 w 785812"/>
                <a:gd name="connsiteY6" fmla="*/ 785814 h 785812"/>
                <a:gd name="connsiteX7" fmla="*/ 115078 w 785812"/>
                <a:gd name="connsiteY7" fmla="*/ 670734 h 785812"/>
                <a:gd name="connsiteX8" fmla="*/ -1 w 785812"/>
                <a:gd name="connsiteY8" fmla="*/ 392907 h 785812"/>
                <a:gd name="connsiteX9" fmla="*/ 0 w 785812"/>
                <a:gd name="connsiteY9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288701"/>
                    <a:pt x="41396" y="188764"/>
                    <a:pt x="115080" y="115080"/>
                  </a:cubicBezTo>
                  <a:cubicBezTo>
                    <a:pt x="188764" y="41396"/>
                    <a:pt x="288702" y="1"/>
                    <a:pt x="392907" y="1"/>
                  </a:cubicBezTo>
                  <a:cubicBezTo>
                    <a:pt x="497112" y="1"/>
                    <a:pt x="597049" y="41397"/>
                    <a:pt x="670733" y="115081"/>
                  </a:cubicBezTo>
                  <a:cubicBezTo>
                    <a:pt x="744417" y="188765"/>
                    <a:pt x="785812" y="288703"/>
                    <a:pt x="785812" y="392908"/>
                  </a:cubicBezTo>
                  <a:cubicBezTo>
                    <a:pt x="785812" y="497113"/>
                    <a:pt x="744417" y="597050"/>
                    <a:pt x="670732" y="670735"/>
                  </a:cubicBezTo>
                  <a:cubicBezTo>
                    <a:pt x="597048" y="744419"/>
                    <a:pt x="497111" y="785814"/>
                    <a:pt x="392905" y="785814"/>
                  </a:cubicBezTo>
                  <a:cubicBezTo>
                    <a:pt x="288700" y="785814"/>
                    <a:pt x="188763" y="744419"/>
                    <a:pt x="115078" y="670734"/>
                  </a:cubicBezTo>
                  <a:cubicBezTo>
                    <a:pt x="41394" y="597050"/>
                    <a:pt x="-1" y="497112"/>
                    <a:pt x="-1" y="392907"/>
                  </a:cubicBezTo>
                  <a:lnTo>
                    <a:pt x="0" y="39290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510" tIns="126509" rIns="126510" bIns="126509" numCol="1" spcCol="1270" anchor="ctr" anchorCtr="0">
              <a:noAutofit/>
            </a:bodyPr>
            <a:lstStyle/>
            <a:p>
              <a:pPr algn="ctr" defTabSz="10661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b="1" dirty="0">
                  <a:solidFill>
                    <a:schemeClr val="tx2">
                      <a:lumMod val="75000"/>
                    </a:schemeClr>
                  </a:solidFill>
                  <a:latin typeface="Agency FB" panose="020B0503020202020204" pitchFamily="34" charset="0"/>
                </a:rPr>
                <a:t>01</a:t>
              </a:r>
              <a:endParaRPr lang="en-US" sz="3700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393234" y="1704376"/>
            <a:ext cx="2619034" cy="1831731"/>
            <a:chOff x="2544661" y="1497356"/>
            <a:chExt cx="1964531" cy="1373798"/>
          </a:xfrm>
        </p:grpSpPr>
        <p:sp>
          <p:nvSpPr>
            <p:cNvPr id="53" name="Freeform 52"/>
            <p:cNvSpPr/>
            <p:nvPr/>
          </p:nvSpPr>
          <p:spPr>
            <a:xfrm>
              <a:off x="2937567" y="1497356"/>
              <a:ext cx="1571625" cy="1373798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8626" tIns="217500" rIns="435412" bIns="217500" numCol="1" spcCol="1270" anchor="ctr" anchorCtr="0">
              <a:noAutofit/>
            </a:bodyPr>
            <a:lstStyle/>
            <a:p>
              <a:pPr marL="228600" lvl="1" indent="-228600" defTabSz="106616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4800" dirty="0">
                <a:latin typeface="Agency FB" panose="020B0503020202020204" pitchFamily="34" charset="0"/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2544661" y="1791349"/>
              <a:ext cx="785812" cy="78581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115080 w 785812"/>
                <a:gd name="connsiteY1" fmla="*/ 115080 h 785812"/>
                <a:gd name="connsiteX2" fmla="*/ 392907 w 785812"/>
                <a:gd name="connsiteY2" fmla="*/ 1 h 785812"/>
                <a:gd name="connsiteX3" fmla="*/ 670733 w 785812"/>
                <a:gd name="connsiteY3" fmla="*/ 115081 h 785812"/>
                <a:gd name="connsiteX4" fmla="*/ 785812 w 785812"/>
                <a:gd name="connsiteY4" fmla="*/ 392908 h 785812"/>
                <a:gd name="connsiteX5" fmla="*/ 670732 w 785812"/>
                <a:gd name="connsiteY5" fmla="*/ 670735 h 785812"/>
                <a:gd name="connsiteX6" fmla="*/ 392905 w 785812"/>
                <a:gd name="connsiteY6" fmla="*/ 785814 h 785812"/>
                <a:gd name="connsiteX7" fmla="*/ 115078 w 785812"/>
                <a:gd name="connsiteY7" fmla="*/ 670734 h 785812"/>
                <a:gd name="connsiteX8" fmla="*/ -1 w 785812"/>
                <a:gd name="connsiteY8" fmla="*/ 392907 h 785812"/>
                <a:gd name="connsiteX9" fmla="*/ 0 w 785812"/>
                <a:gd name="connsiteY9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288701"/>
                    <a:pt x="41396" y="188764"/>
                    <a:pt x="115080" y="115080"/>
                  </a:cubicBezTo>
                  <a:cubicBezTo>
                    <a:pt x="188764" y="41396"/>
                    <a:pt x="288702" y="1"/>
                    <a:pt x="392907" y="1"/>
                  </a:cubicBezTo>
                  <a:cubicBezTo>
                    <a:pt x="497112" y="1"/>
                    <a:pt x="597049" y="41397"/>
                    <a:pt x="670733" y="115081"/>
                  </a:cubicBezTo>
                  <a:cubicBezTo>
                    <a:pt x="744417" y="188765"/>
                    <a:pt x="785812" y="288703"/>
                    <a:pt x="785812" y="392908"/>
                  </a:cubicBezTo>
                  <a:cubicBezTo>
                    <a:pt x="785812" y="497113"/>
                    <a:pt x="744417" y="597050"/>
                    <a:pt x="670732" y="670735"/>
                  </a:cubicBezTo>
                  <a:cubicBezTo>
                    <a:pt x="597048" y="744419"/>
                    <a:pt x="497111" y="785814"/>
                    <a:pt x="392905" y="785814"/>
                  </a:cubicBezTo>
                  <a:cubicBezTo>
                    <a:pt x="288700" y="785814"/>
                    <a:pt x="188763" y="744419"/>
                    <a:pt x="115078" y="670734"/>
                  </a:cubicBezTo>
                  <a:cubicBezTo>
                    <a:pt x="41394" y="597050"/>
                    <a:pt x="-1" y="497112"/>
                    <a:pt x="-1" y="392907"/>
                  </a:cubicBezTo>
                  <a:lnTo>
                    <a:pt x="0" y="39290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510" tIns="126509" rIns="126510" bIns="126509" numCol="1" spcCol="1270" anchor="ctr" anchorCtr="0">
              <a:noAutofit/>
            </a:bodyPr>
            <a:lstStyle/>
            <a:p>
              <a:pPr algn="ctr" defTabSz="10661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b="1" dirty="0">
                  <a:solidFill>
                    <a:schemeClr val="accent4"/>
                  </a:solidFill>
                  <a:latin typeface="Agency FB" panose="020B0503020202020204" pitchFamily="34" charset="0"/>
                </a:rPr>
                <a:t>02</a:t>
              </a:r>
              <a:endParaRPr lang="en-US" sz="3700" dirty="0">
                <a:solidFill>
                  <a:schemeClr val="accent4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43220" y="1704376"/>
            <a:ext cx="2619034" cy="1831731"/>
            <a:chOff x="4607419" y="1497356"/>
            <a:chExt cx="1964531" cy="1373798"/>
          </a:xfrm>
        </p:grpSpPr>
        <p:sp>
          <p:nvSpPr>
            <p:cNvPr id="55" name="Freeform 54"/>
            <p:cNvSpPr/>
            <p:nvPr/>
          </p:nvSpPr>
          <p:spPr>
            <a:xfrm>
              <a:off x="5000325" y="1497356"/>
              <a:ext cx="1571625" cy="1373798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8626" tIns="217500" rIns="435412" bIns="217500" numCol="1" spcCol="1270" anchor="ctr" anchorCtr="0">
              <a:noAutofit/>
            </a:bodyPr>
            <a:lstStyle/>
            <a:p>
              <a:pPr marL="228600" lvl="1" indent="-228600" defTabSz="106616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4800" dirty="0">
                <a:latin typeface="Agency FB" panose="020B0503020202020204" pitchFamily="34" charset="0"/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4607419" y="1791349"/>
              <a:ext cx="785812" cy="78581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115080 w 785812"/>
                <a:gd name="connsiteY1" fmla="*/ 115080 h 785812"/>
                <a:gd name="connsiteX2" fmla="*/ 392907 w 785812"/>
                <a:gd name="connsiteY2" fmla="*/ 1 h 785812"/>
                <a:gd name="connsiteX3" fmla="*/ 670733 w 785812"/>
                <a:gd name="connsiteY3" fmla="*/ 115081 h 785812"/>
                <a:gd name="connsiteX4" fmla="*/ 785812 w 785812"/>
                <a:gd name="connsiteY4" fmla="*/ 392908 h 785812"/>
                <a:gd name="connsiteX5" fmla="*/ 670732 w 785812"/>
                <a:gd name="connsiteY5" fmla="*/ 670735 h 785812"/>
                <a:gd name="connsiteX6" fmla="*/ 392905 w 785812"/>
                <a:gd name="connsiteY6" fmla="*/ 785814 h 785812"/>
                <a:gd name="connsiteX7" fmla="*/ 115078 w 785812"/>
                <a:gd name="connsiteY7" fmla="*/ 670734 h 785812"/>
                <a:gd name="connsiteX8" fmla="*/ -1 w 785812"/>
                <a:gd name="connsiteY8" fmla="*/ 392907 h 785812"/>
                <a:gd name="connsiteX9" fmla="*/ 0 w 785812"/>
                <a:gd name="connsiteY9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288701"/>
                    <a:pt x="41396" y="188764"/>
                    <a:pt x="115080" y="115080"/>
                  </a:cubicBezTo>
                  <a:cubicBezTo>
                    <a:pt x="188764" y="41396"/>
                    <a:pt x="288702" y="1"/>
                    <a:pt x="392907" y="1"/>
                  </a:cubicBezTo>
                  <a:cubicBezTo>
                    <a:pt x="497112" y="1"/>
                    <a:pt x="597049" y="41397"/>
                    <a:pt x="670733" y="115081"/>
                  </a:cubicBezTo>
                  <a:cubicBezTo>
                    <a:pt x="744417" y="188765"/>
                    <a:pt x="785812" y="288703"/>
                    <a:pt x="785812" y="392908"/>
                  </a:cubicBezTo>
                  <a:cubicBezTo>
                    <a:pt x="785812" y="497113"/>
                    <a:pt x="744417" y="597050"/>
                    <a:pt x="670732" y="670735"/>
                  </a:cubicBezTo>
                  <a:cubicBezTo>
                    <a:pt x="597048" y="744419"/>
                    <a:pt x="497111" y="785814"/>
                    <a:pt x="392905" y="785814"/>
                  </a:cubicBezTo>
                  <a:cubicBezTo>
                    <a:pt x="288700" y="785814"/>
                    <a:pt x="188763" y="744419"/>
                    <a:pt x="115078" y="670734"/>
                  </a:cubicBezTo>
                  <a:cubicBezTo>
                    <a:pt x="41394" y="597050"/>
                    <a:pt x="-1" y="497112"/>
                    <a:pt x="-1" y="392907"/>
                  </a:cubicBezTo>
                  <a:lnTo>
                    <a:pt x="0" y="39290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510" tIns="126509" rIns="126510" bIns="126509" numCol="1" spcCol="1270" anchor="ctr" anchorCtr="0">
              <a:noAutofit/>
            </a:bodyPr>
            <a:lstStyle/>
            <a:p>
              <a:pPr algn="ctr" defTabSz="10661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b="1" dirty="0">
                  <a:solidFill>
                    <a:schemeClr val="accent1"/>
                  </a:solidFill>
                  <a:latin typeface="Agency FB" panose="020B0503020202020204" pitchFamily="34" charset="0"/>
                </a:rPr>
                <a:t>03</a:t>
              </a:r>
              <a:endParaRPr lang="en-US" sz="3700" dirty="0">
                <a:solidFill>
                  <a:schemeClr val="accent1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8911965" y="1704376"/>
            <a:ext cx="2619034" cy="1831731"/>
            <a:chOff x="6684248" y="1497356"/>
            <a:chExt cx="1964531" cy="1373798"/>
          </a:xfrm>
        </p:grpSpPr>
        <p:sp>
          <p:nvSpPr>
            <p:cNvPr id="60" name="Freeform 59"/>
            <p:cNvSpPr/>
            <p:nvPr/>
          </p:nvSpPr>
          <p:spPr>
            <a:xfrm>
              <a:off x="7077154" y="1497356"/>
              <a:ext cx="1571625" cy="1373798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8626" tIns="217500" rIns="435412" bIns="217500" numCol="1" spcCol="1270" anchor="ctr" anchorCtr="0">
              <a:noAutofit/>
            </a:bodyPr>
            <a:lstStyle/>
            <a:p>
              <a:pPr marL="228600" lvl="1" indent="-228600" defTabSz="106616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4300" dirty="0">
                <a:latin typeface="Agency FB" panose="020B0503020202020204" pitchFamily="34" charset="0"/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6684248" y="1791349"/>
              <a:ext cx="785812" cy="78581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115080 w 785812"/>
                <a:gd name="connsiteY1" fmla="*/ 115080 h 785812"/>
                <a:gd name="connsiteX2" fmla="*/ 392907 w 785812"/>
                <a:gd name="connsiteY2" fmla="*/ 1 h 785812"/>
                <a:gd name="connsiteX3" fmla="*/ 670733 w 785812"/>
                <a:gd name="connsiteY3" fmla="*/ 115081 h 785812"/>
                <a:gd name="connsiteX4" fmla="*/ 785812 w 785812"/>
                <a:gd name="connsiteY4" fmla="*/ 392908 h 785812"/>
                <a:gd name="connsiteX5" fmla="*/ 670732 w 785812"/>
                <a:gd name="connsiteY5" fmla="*/ 670735 h 785812"/>
                <a:gd name="connsiteX6" fmla="*/ 392905 w 785812"/>
                <a:gd name="connsiteY6" fmla="*/ 785814 h 785812"/>
                <a:gd name="connsiteX7" fmla="*/ 115078 w 785812"/>
                <a:gd name="connsiteY7" fmla="*/ 670734 h 785812"/>
                <a:gd name="connsiteX8" fmla="*/ -1 w 785812"/>
                <a:gd name="connsiteY8" fmla="*/ 392907 h 785812"/>
                <a:gd name="connsiteX9" fmla="*/ 0 w 785812"/>
                <a:gd name="connsiteY9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288701"/>
                    <a:pt x="41396" y="188764"/>
                    <a:pt x="115080" y="115080"/>
                  </a:cubicBezTo>
                  <a:cubicBezTo>
                    <a:pt x="188764" y="41396"/>
                    <a:pt x="288702" y="1"/>
                    <a:pt x="392907" y="1"/>
                  </a:cubicBezTo>
                  <a:cubicBezTo>
                    <a:pt x="497112" y="1"/>
                    <a:pt x="597049" y="41397"/>
                    <a:pt x="670733" y="115081"/>
                  </a:cubicBezTo>
                  <a:cubicBezTo>
                    <a:pt x="744417" y="188765"/>
                    <a:pt x="785812" y="288703"/>
                    <a:pt x="785812" y="392908"/>
                  </a:cubicBezTo>
                  <a:cubicBezTo>
                    <a:pt x="785812" y="497113"/>
                    <a:pt x="744417" y="597050"/>
                    <a:pt x="670732" y="670735"/>
                  </a:cubicBezTo>
                  <a:cubicBezTo>
                    <a:pt x="597048" y="744419"/>
                    <a:pt x="497111" y="785814"/>
                    <a:pt x="392905" y="785814"/>
                  </a:cubicBezTo>
                  <a:cubicBezTo>
                    <a:pt x="288700" y="785814"/>
                    <a:pt x="188763" y="744419"/>
                    <a:pt x="115078" y="670734"/>
                  </a:cubicBezTo>
                  <a:cubicBezTo>
                    <a:pt x="41394" y="597050"/>
                    <a:pt x="-1" y="497112"/>
                    <a:pt x="-1" y="392907"/>
                  </a:cubicBezTo>
                  <a:lnTo>
                    <a:pt x="0" y="39290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510" tIns="126509" rIns="126510" bIns="126509" numCol="1" spcCol="1270" anchor="ctr" anchorCtr="0">
              <a:noAutofit/>
            </a:bodyPr>
            <a:lstStyle/>
            <a:p>
              <a:pPr algn="ctr" defTabSz="10661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b="1" dirty="0">
                  <a:solidFill>
                    <a:schemeClr val="accent3"/>
                  </a:solidFill>
                  <a:latin typeface="Agency FB" panose="020B0503020202020204" pitchFamily="34" charset="0"/>
                </a:rPr>
                <a:t>04</a:t>
              </a:r>
              <a:endParaRPr lang="en-US" sz="3700" dirty="0">
                <a:solidFill>
                  <a:schemeClr val="accent3"/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明年目標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42300" y="2299112"/>
            <a:ext cx="1063225" cy="642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技術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238687" y="2299110"/>
            <a:ext cx="1143322" cy="642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Workflow 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0007432" y="2299111"/>
            <a:ext cx="1143322" cy="642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新專案</a:t>
            </a:r>
            <a:r>
              <a:rPr lang="en-US" altLang="zh-CN" dirty="0" smtClean="0"/>
              <a:t> 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4528764" y="2299111"/>
            <a:ext cx="1143322" cy="642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執行力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13602" y="2445745"/>
            <a:ext cx="8638710" cy="3105850"/>
          </a:xfrm>
          <a:prstGeom prst="rect">
            <a:avLst/>
          </a:prstGeom>
          <a:noFill/>
          <a:ln w="9525">
            <a:noFill/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65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2020</a:t>
            </a:r>
            <a:r>
              <a:rPr lang="zh-CN" altLang="en-US" sz="1865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是特殊的一年，疫情影響下，公司工作員工的生活起居都有一些影響。</a:t>
            </a:r>
            <a:endParaRPr lang="en-US" altLang="zh-CN" sz="1865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65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針對個人而言，也是使我們慢下腳步，更看到了自己的不足之處，希望在新的一年裏，針對自身不足，進行針對性改進，尤以新技術（也可能並不新了，只是我還不會）的掌握爲主，以期能應用新技術</a:t>
            </a:r>
            <a:r>
              <a:rPr lang="zh-CN" altLang="en-US" sz="1865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進行實戰開發，並針對工作效率，執行力等方面進行改善，以</a:t>
            </a:r>
            <a:r>
              <a:rPr lang="en-US" altLang="zh-CN" sz="1865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Redmine</a:t>
            </a:r>
            <a:r>
              <a:rPr lang="zh-CN" altLang="en-US" sz="1865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爲工具，對工作流程及工作匯總進行優化。</a:t>
            </a:r>
            <a:endParaRPr lang="en-US" altLang="zh-CN" sz="1865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86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86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L 形 19"/>
          <p:cNvSpPr/>
          <p:nvPr/>
        </p:nvSpPr>
        <p:spPr>
          <a:xfrm rot="5400000">
            <a:off x="1085307" y="2385833"/>
            <a:ext cx="458433" cy="393812"/>
          </a:xfrm>
          <a:prstGeom prst="corner">
            <a:avLst>
              <a:gd name="adj1" fmla="val 25014"/>
              <a:gd name="adj2" fmla="val 23544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39774" y="1132506"/>
            <a:ext cx="17235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 smtClean="0">
                <a:solidFill>
                  <a:srgbClr val="708045"/>
                </a:solidFill>
                <a:latin typeface="微软雅黑" panose="020B0503020204020204" charset="-122"/>
                <a:ea typeface="微软雅黑" panose="020B0503020204020204" charset="-122"/>
              </a:rPr>
              <a:t>總結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766495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3454396" y="3768676"/>
            <a:ext cx="5689604" cy="45917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FD3A9"/>
              </a:gs>
              <a:gs pos="100000">
                <a:srgbClr val="708045"/>
              </a:gs>
            </a:gsLst>
            <a:lin ang="5400000" scaled="1"/>
          </a:gradFill>
          <a:ln>
            <a:gradFill>
              <a:gsLst>
                <a:gs pos="0">
                  <a:srgbClr val="BFD3A9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17500" y="292100"/>
            <a:ext cx="11557000" cy="621030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BFD3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_文本框 19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ltGray">
          <a:xfrm>
            <a:off x="2284008" y="2787038"/>
            <a:ext cx="8030384" cy="8211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667" tIns="40833" rIns="81667" bIns="40833">
            <a:spAutoFit/>
          </a:bodyPr>
          <a:lstStyle>
            <a:lvl1pPr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830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597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5550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3855" algn="l" defTabSz="815975" fontAlgn="base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10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82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54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62655" defTabSz="8159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800" b="1" dirty="0">
                <a:ln w="17780" cmpd="sng">
                  <a:noFill/>
                  <a:prstDash val="solid"/>
                  <a:miter lim="800000"/>
                </a:ln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谢谢观看   </a:t>
            </a:r>
            <a:r>
              <a:rPr lang="en-US" altLang="zh-CN" sz="4800" b="1" dirty="0">
                <a:ln w="17780" cmpd="sng">
                  <a:noFill/>
                  <a:prstDash val="solid"/>
                  <a:miter lim="800000"/>
                </a:ln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endParaRPr lang="zh-CN" altLang="en-US" sz="4800" b="1" dirty="0">
              <a:ln w="17780" cmpd="sng">
                <a:noFill/>
                <a:prstDash val="solid"/>
                <a:miter lim="800000"/>
              </a:ln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4675998" y="1070957"/>
            <a:ext cx="3246403" cy="18620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1500" dirty="0" smtClean="0">
                <a:solidFill>
                  <a:schemeClr val="bg2"/>
                </a:solidFill>
                <a:latin typeface="Impact" panose="020B0806030902050204" pitchFamily="34" charset="0"/>
              </a:rPr>
              <a:t>2020</a:t>
            </a:r>
            <a:endParaRPr lang="zh-CN" altLang="en-US" sz="11500" dirty="0"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7"/>
          <a:stretch/>
        </p:blipFill>
        <p:spPr>
          <a:xfrm>
            <a:off x="8274725" y="-54443"/>
            <a:ext cx="3599775" cy="22508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07"/>
          <a:stretch/>
        </p:blipFill>
        <p:spPr>
          <a:xfrm rot="1985394">
            <a:off x="41069" y="3924173"/>
            <a:ext cx="2873827" cy="3020299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5219696" y="5149515"/>
            <a:ext cx="2159004" cy="459179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rgbClr val="BFD3A9"/>
                </a:gs>
                <a:gs pos="100000">
                  <a:srgbClr val="70804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08045"/>
                </a:solidFill>
              </a:rPr>
              <a:t>汇报</a:t>
            </a:r>
            <a:r>
              <a:rPr lang="zh-CN" altLang="en-US" sz="1600" dirty="0" smtClean="0">
                <a:solidFill>
                  <a:srgbClr val="708045"/>
                </a:solidFill>
              </a:rPr>
              <a:t>人：邊大濤</a:t>
            </a:r>
            <a:endParaRPr lang="zh-CN" altLang="en-US" sz="1600" dirty="0">
              <a:solidFill>
                <a:srgbClr val="7080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7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自定义 987">
      <a:dk1>
        <a:sysClr val="windowText" lastClr="000000"/>
      </a:dk1>
      <a:lt1>
        <a:sysClr val="window" lastClr="FFFFFF"/>
      </a:lt1>
      <a:dk2>
        <a:srgbClr val="ADBD84"/>
      </a:dk2>
      <a:lt2>
        <a:srgbClr val="708045"/>
      </a:lt2>
      <a:accent1>
        <a:srgbClr val="708045"/>
      </a:accent1>
      <a:accent2>
        <a:srgbClr val="ADBD84"/>
      </a:accent2>
      <a:accent3>
        <a:srgbClr val="708045"/>
      </a:accent3>
      <a:accent4>
        <a:srgbClr val="ADBD84"/>
      </a:accent4>
      <a:accent5>
        <a:srgbClr val="708045"/>
      </a:accent5>
      <a:accent6>
        <a:srgbClr val="ADBD84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518</Words>
  <Application>Microsoft Office PowerPoint</Application>
  <PresentationFormat>寬螢幕</PresentationFormat>
  <Paragraphs>133</Paragraphs>
  <Slides>16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微软雅黑</vt:lpstr>
      <vt:lpstr>宋体</vt:lpstr>
      <vt:lpstr>Agency FB</vt:lpstr>
      <vt:lpstr>Arial</vt:lpstr>
      <vt:lpstr>Arial Black</vt:lpstr>
      <vt:lpstr>Calibri</vt:lpstr>
      <vt:lpstr>Impact</vt:lpstr>
      <vt:lpstr>Office 主题</vt:lpstr>
      <vt:lpstr>PowerPoint 簡報</vt:lpstr>
      <vt:lpstr>PowerPoint 簡報</vt:lpstr>
      <vt:lpstr>PowerPoint 簡報</vt:lpstr>
      <vt:lpstr>年度工作概述</vt:lpstr>
      <vt:lpstr>PowerPoint 簡報</vt:lpstr>
      <vt:lpstr>一、WORKFLOW</vt:lpstr>
      <vt:lpstr>二、海外相關</vt:lpstr>
      <vt:lpstr>其他系統</vt:lpstr>
      <vt:lpstr>PCR  </vt:lpstr>
      <vt:lpstr>106工單</vt:lpstr>
      <vt:lpstr>PowerPoint 簡報</vt:lpstr>
      <vt:lpstr>工作存在不足</vt:lpstr>
      <vt:lpstr>PowerPoint 簡報</vt:lpstr>
      <vt:lpstr>明年目標</vt:lpstr>
      <vt:lpstr>PowerPoint 簡報</vt:lpstr>
      <vt:lpstr>PowerPoint 簡報</vt:lpstr>
    </vt:vector>
  </TitlesOfParts>
  <Manager>www.51ppt mo ban.com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东方之P</dc:creator>
  <cp:keywords>51PPT模板网</cp:keywords>
  <dc:description>www.51p ptm oban.com</dc:description>
  <cp:lastModifiedBy>Foxconn</cp:lastModifiedBy>
  <cp:revision>80</cp:revision>
  <dcterms:created xsi:type="dcterms:W3CDTF">2015-05-05T08:02:00Z</dcterms:created>
  <dcterms:modified xsi:type="dcterms:W3CDTF">2020-11-05T06:59:36Z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2052-10.1.0.6390</vt:lpwstr>
  </property>
</Properties>
</file>