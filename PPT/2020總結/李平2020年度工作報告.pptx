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9" r:id="rId4"/>
    <p:sldId id="271" r:id="rId5"/>
    <p:sldId id="272" r:id="rId6"/>
    <p:sldId id="280" r:id="rId7"/>
    <p:sldId id="273" r:id="rId8"/>
    <p:sldId id="274" r:id="rId9"/>
    <p:sldId id="28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55" autoAdjust="0"/>
  </p:normalViewPr>
  <p:slideViewPr>
    <p:cSldViewPr snapToGrid="0">
      <p:cViewPr varScale="1">
        <p:scale>
          <a:sx n="80" d="100"/>
          <a:sy n="80" d="100"/>
        </p:scale>
        <p:origin x="14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D03F-1218-4188-A3DC-7D5896DE8B51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3ABF6-368A-4FA0-B549-2610B83C2F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9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新表單上線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類大表單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 9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類子表單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：廊坊開發上線三類表單；</a:t>
            </a: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盤點量產維護單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盤點試產維護單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量試量產報廢申請單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：北京上線兩類表單；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工單退料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2) 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工單入庫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3) 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報廢轉良單 及 除賬單 需求確認 調整中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：增加各類的單據小類以及對應的簽核流程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：物料申請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退回申請單 新增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單據小類。詳如：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單據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,--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線下過賬方式。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2):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費用性領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退申請單 新增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單據小類。詳如：不歸還單據類型 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3):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拆解報廢申請單 新增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單據小類。詳如：主板拆解退分析維修倉 與 主板拆解退倉庫； 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4): LX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轉撥單 新增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單據小類。詳如：植球倉轉入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轉出，採購待退倉互轉，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報廢倉互轉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LX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委外發料單 增加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單據小類。詳如：委外退料類型。</a:t>
            </a:r>
          </a:p>
          <a:p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以上的單據小類均涉及到 新增或修改 簽核流程 及 過賬方式。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以上： 取消紙檔作業，人工跑單模式，實現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化簽核。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跨部門合作對接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WMS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智能倉儲管理系統：累計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表單 對接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WMS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系統，配合 測試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接口變更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業務調整等。 例如：工廠費領類，工單類表單等等。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Suse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：轉播單對接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Suse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實現自動拋料功能  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：對接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系統，以及北京廠區的部分業務。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以上：配合其他部門及系統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實現自動拋轉 出入庫 等，減少對應人員工作量，實現自動化管理。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表單類 管控及改善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：增加 數據準確率，數據匹配度 的管控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）工單 的物料主檔管控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----6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類表單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類表單，增加工單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成品料號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料號 對應關係，允許提單條件等的管控；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）倉碼與 物料狀態管控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---3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類表單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製程不良品保簽樣模塊領料類別增加組件類別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增加物料狀態（良品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不良品）及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製程不良與拆解的 倉碼管控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）數量管控 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---2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類表單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工單退料數量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對接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SAP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及系統的歷史記錄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計算管控的數量是否合格。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：改善表單作業模式，提升提單及簽單效率等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由單筆作業調整為批量作業，或者單筆與批量共存的情況。例如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）新增及改善 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ECN 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管控，單筆驗證數據的修改為批量上傳驗證，提升提單效率。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----5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類表單；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LX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銷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 增加 批量提單與簽核 以及 退單可更新數據功能。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：其他改善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部分數據信息的展示與否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如何展示，如何對接，以及精確度，排序，自行結案 等等。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以上：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）根據用戶反饋，極大的降低了，被小米客戶退單，返工處理的情況。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 管控過程中</a:t>
            </a:r>
            <a:r>
              <a:rPr lang="en-US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採用同類對比，批量處理的形式，形成對應的 標準化管控流程，作為後期新表單開發 管控模板。</a:t>
            </a:r>
            <a:endParaRPr lang="zh-TW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B069B-5A13-4F58-BBAF-BF6398D343E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69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3ABF6-368A-4FA0-B549-2610B83C2FC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43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06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43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55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66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399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47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5319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56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7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852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84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66" y="0"/>
            <a:ext cx="140967" cy="962147"/>
            <a:chOff x="281524" y="0"/>
            <a:chExt cx="105725" cy="721610"/>
          </a:xfrm>
          <a:solidFill>
            <a:srgbClr val="0070C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5" y="6617464"/>
            <a:ext cx="140967" cy="240536"/>
            <a:chOff x="281524" y="0"/>
            <a:chExt cx="105725" cy="721610"/>
          </a:xfrm>
          <a:solidFill>
            <a:srgbClr val="0070C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695400" y="908720"/>
            <a:ext cx="46805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695400" y="352006"/>
            <a:ext cx="7928834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Add the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42581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9EC55-8BA2-48F4-BDEC-9D79FF71BE9F}" type="datetimeFigureOut">
              <a:rPr lang="zh-TW" altLang="en-US" smtClean="0"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DB7E9-FD54-4BB4-92EC-009D80A492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51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49855" y="0"/>
            <a:ext cx="12193647" cy="6860642"/>
          </a:xfrm>
          <a:prstGeom prst="rect">
            <a:avLst/>
          </a:prstGeom>
        </p:spPr>
      </p:pic>
      <p:sp>
        <p:nvSpPr>
          <p:cNvPr id="5" name="TextBox 23"/>
          <p:cNvSpPr txBox="1"/>
          <p:nvPr/>
        </p:nvSpPr>
        <p:spPr>
          <a:xfrm>
            <a:off x="5364309" y="3392234"/>
            <a:ext cx="6106795" cy="95410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2020</a:t>
            </a:r>
            <a:r>
              <a:rPr lang="zh-CN" altLang="en-US" sz="5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年度工作報告</a:t>
            </a:r>
            <a:endParaRPr lang="zh-CN" altLang="en-US" sz="5400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28"/>
          <p:cNvSpPr txBox="1"/>
          <p:nvPr/>
        </p:nvSpPr>
        <p:spPr>
          <a:xfrm>
            <a:off x="582825" y="455097"/>
            <a:ext cx="1238475" cy="86177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Eras Bold ITC" panose="020B0907030504020204" pitchFamily="34" charset="0"/>
              </a:rPr>
              <a:t>FIH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8" name="TextBox 29"/>
          <p:cNvSpPr txBox="1"/>
          <p:nvPr/>
        </p:nvSpPr>
        <p:spPr>
          <a:xfrm>
            <a:off x="7539335" y="4582189"/>
            <a:ext cx="4104457" cy="984881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zh-CN" altLang="en-US" sz="2800" b="1" dirty="0" smtClean="0">
                <a:latin typeface="KaiTi" pitchFamily="49" charset="-122"/>
                <a:ea typeface="KaiTi" pitchFamily="49" charset="-122"/>
              </a:rPr>
              <a:t>報告人</a:t>
            </a:r>
            <a:r>
              <a:rPr lang="en-US" altLang="zh-CN" sz="2800" b="1" dirty="0" smtClean="0">
                <a:latin typeface="KaiTi" pitchFamily="49" charset="-122"/>
                <a:ea typeface="KaiTi" pitchFamily="49" charset="-122"/>
              </a:rPr>
              <a:t>: </a:t>
            </a:r>
            <a:r>
              <a:rPr lang="zh-CN" altLang="en-US" sz="2800" b="1" dirty="0" smtClean="0">
                <a:latin typeface="KaiTi" pitchFamily="49" charset="-122"/>
                <a:ea typeface="KaiTi" pitchFamily="49" charset="-122"/>
              </a:rPr>
              <a:t>李平</a:t>
            </a:r>
            <a:endParaRPr lang="en-US" altLang="zh-CN" sz="2800" b="1" dirty="0" smtClean="0">
              <a:latin typeface="KaiTi" pitchFamily="49" charset="-122"/>
              <a:ea typeface="KaiTi" pitchFamily="49" charset="-122"/>
            </a:endParaRPr>
          </a:p>
          <a:p>
            <a:r>
              <a:rPr lang="zh-CN" altLang="en-US" sz="2800" b="1" dirty="0" smtClean="0">
                <a:latin typeface="KaiTi" pitchFamily="49" charset="-122"/>
                <a:ea typeface="KaiTi" pitchFamily="49" charset="-122"/>
              </a:rPr>
              <a:t>報告時間</a:t>
            </a:r>
            <a:r>
              <a:rPr lang="en-US" altLang="zh-CN" sz="2800" b="1" dirty="0" smtClean="0">
                <a:latin typeface="KaiTi" pitchFamily="49" charset="-122"/>
                <a:ea typeface="KaiTi" pitchFamily="49" charset="-122"/>
              </a:rPr>
              <a:t>: </a:t>
            </a:r>
            <a:r>
              <a:rPr lang="en-US" altLang="zh-CN" sz="28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2020-11-03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839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圆角矩形 66"/>
          <p:cNvSpPr/>
          <p:nvPr/>
        </p:nvSpPr>
        <p:spPr>
          <a:xfrm>
            <a:off x="5683526" y="1128554"/>
            <a:ext cx="512927" cy="51150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" name="组合 67"/>
          <p:cNvGrpSpPr/>
          <p:nvPr/>
        </p:nvGrpSpPr>
        <p:grpSpPr>
          <a:xfrm>
            <a:off x="6565041" y="1128553"/>
            <a:ext cx="3741980" cy="511504"/>
            <a:chOff x="6339097" y="1573726"/>
            <a:chExt cx="3744416" cy="511504"/>
          </a:xfrm>
          <a:solidFill>
            <a:srgbClr val="0070C0"/>
          </a:solidFill>
        </p:grpSpPr>
        <p:sp>
          <p:nvSpPr>
            <p:cNvPr id="5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723350" y="1614014"/>
              <a:ext cx="2653075" cy="430928"/>
            </a:xfrm>
            <a:prstGeom prst="rect">
              <a:avLst/>
            </a:prstGeom>
            <a:grpFill/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工作回顧</a:t>
              </a:r>
              <a:endParaRPr lang="zh-CN" altLang="zh-CN" sz="2000" b="1" kern="1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圆角矩形 70"/>
          <p:cNvSpPr/>
          <p:nvPr/>
        </p:nvSpPr>
        <p:spPr>
          <a:xfrm>
            <a:off x="5731290" y="2374719"/>
            <a:ext cx="512927" cy="51150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" name="组合 71"/>
          <p:cNvGrpSpPr/>
          <p:nvPr/>
        </p:nvGrpSpPr>
        <p:grpSpPr>
          <a:xfrm>
            <a:off x="6588923" y="2374719"/>
            <a:ext cx="3741980" cy="511504"/>
            <a:chOff x="6315199" y="2410178"/>
            <a:chExt cx="3744416" cy="511504"/>
          </a:xfrm>
          <a:solidFill>
            <a:srgbClr val="0070C0"/>
          </a:solidFill>
        </p:grpSpPr>
        <p:sp>
          <p:nvSpPr>
            <p:cNvPr id="9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747248" y="2450466"/>
              <a:ext cx="2653075" cy="430928"/>
            </a:xfrm>
            <a:prstGeom prst="rect">
              <a:avLst/>
            </a:prstGeom>
            <a:grpFill/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工作亮點</a:t>
              </a:r>
              <a:endParaRPr lang="zh-CN" altLang="zh-CN" sz="2000" b="1" kern="1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圆角矩形 74"/>
          <p:cNvSpPr/>
          <p:nvPr/>
        </p:nvSpPr>
        <p:spPr>
          <a:xfrm>
            <a:off x="5683526" y="3620884"/>
            <a:ext cx="512927" cy="51150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2" name="组合 75"/>
          <p:cNvGrpSpPr/>
          <p:nvPr/>
        </p:nvGrpSpPr>
        <p:grpSpPr>
          <a:xfrm>
            <a:off x="6565041" y="3620882"/>
            <a:ext cx="3741980" cy="511504"/>
            <a:chOff x="6339097" y="3296031"/>
            <a:chExt cx="3744416" cy="511504"/>
          </a:xfrm>
          <a:solidFill>
            <a:srgbClr val="0070C0"/>
          </a:solidFill>
        </p:grpSpPr>
        <p:sp>
          <p:nvSpPr>
            <p:cNvPr id="13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723349" y="3336319"/>
              <a:ext cx="2736305" cy="430928"/>
            </a:xfrm>
            <a:prstGeom prst="rect">
              <a:avLst/>
            </a:prstGeom>
            <a:grpFill/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工作效果</a:t>
              </a:r>
              <a:endParaRPr lang="zh-CN" altLang="zh-CN" sz="2000" b="1" kern="1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圆角矩形 74"/>
          <p:cNvSpPr/>
          <p:nvPr/>
        </p:nvSpPr>
        <p:spPr>
          <a:xfrm>
            <a:off x="5729940" y="4867047"/>
            <a:ext cx="512927" cy="51150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7" name="组合 75"/>
          <p:cNvGrpSpPr/>
          <p:nvPr/>
        </p:nvGrpSpPr>
        <p:grpSpPr>
          <a:xfrm>
            <a:off x="6611455" y="4867045"/>
            <a:ext cx="3741980" cy="511504"/>
            <a:chOff x="6339097" y="3296031"/>
            <a:chExt cx="3744416" cy="511504"/>
          </a:xfrm>
          <a:solidFill>
            <a:srgbClr val="0070C0"/>
          </a:solidFill>
        </p:grpSpPr>
        <p:sp>
          <p:nvSpPr>
            <p:cNvPr id="28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723349" y="3336319"/>
              <a:ext cx="2736305" cy="430928"/>
            </a:xfrm>
            <a:prstGeom prst="rect">
              <a:avLst/>
            </a:prstGeom>
            <a:grpFill/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經驗教訓</a:t>
              </a:r>
              <a:endParaRPr lang="zh-CN" altLang="zh-CN" sz="2000" b="1" kern="1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7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935428" y="1508788"/>
            <a:ext cx="2280249" cy="22802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zh-CN" altLang="en-US" sz="2400" b="1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上線</a:t>
            </a:r>
            <a:r>
              <a:rPr lang="en-US" altLang="zh-CN" sz="2400" b="1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400" b="1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類大表單</a:t>
            </a:r>
            <a:endParaRPr lang="zh-CN" altLang="en-US" sz="2400" b="1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195790" y="1508790"/>
            <a:ext cx="2280249" cy="22802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zh-CN" altLang="en-US" sz="2400" b="1" ker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跨部門合作對接</a:t>
            </a:r>
            <a:endParaRPr lang="zh-CN" altLang="en-US" sz="2400" b="1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565609" y="1508789"/>
            <a:ext cx="2280249" cy="22802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zh-CN" altLang="en-US" sz="2400" b="1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上線</a:t>
            </a:r>
            <a:r>
              <a:rPr lang="en-US" altLang="zh-CN" sz="2400" b="1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sz="2400" b="1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類子表單</a:t>
            </a:r>
            <a:endParaRPr lang="zh-CN" altLang="en-US" sz="2400" b="1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825972" y="1508792"/>
            <a:ext cx="2280249" cy="22802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zh-CN" altLang="en-US" sz="2400" b="1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管控及改善</a:t>
            </a:r>
          </a:p>
        </p:txBody>
      </p:sp>
      <p:sp>
        <p:nvSpPr>
          <p:cNvPr id="11" name="矩形 10"/>
          <p:cNvSpPr/>
          <p:nvPr/>
        </p:nvSpPr>
        <p:spPr>
          <a:xfrm>
            <a:off x="3565609" y="3978562"/>
            <a:ext cx="228024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）工廠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費領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 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 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</a:t>
            </a:r>
            <a:r>
              <a:rPr lang="zh-TW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TW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</a:t>
            </a:r>
            <a:r>
              <a:rPr lang="zh-TW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報廢 </a:t>
            </a:r>
            <a:r>
              <a:rPr lang="en-US" altLang="zh-TW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TW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 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小類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lang="en-US" altLang="zh-TW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TW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TW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LX</a:t>
            </a:r>
            <a:r>
              <a:rPr lang="zh-TW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轉撥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單 </a:t>
            </a:r>
            <a:r>
              <a:rPr lang="en-US" altLang="zh-TW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TW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 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小類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lang="en-US" altLang="zh-TW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TW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TW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LX </a:t>
            </a:r>
            <a:r>
              <a:rPr lang="zh-TW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委外發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料 </a:t>
            </a:r>
            <a:r>
              <a:rPr lang="en-US" altLang="zh-TW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TW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 </a:t>
            </a:r>
            <a:r>
              <a:rPr lang="zh-TW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</a:t>
            </a:r>
            <a:r>
              <a:rPr lang="zh-TW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類。</a:t>
            </a:r>
            <a:endParaRPr lang="en-US" altLang="zh-TW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lnSpc>
                <a:spcPct val="150000"/>
              </a:lnSpc>
            </a:pPr>
            <a:r>
              <a:rPr lang="zh-CN" altLang="en-US" sz="10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以上均涉及到頁面</a:t>
            </a:r>
            <a:r>
              <a:rPr lang="en-US" altLang="zh-CN" sz="10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0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</a:t>
            </a:r>
            <a:r>
              <a:rPr lang="en-US" altLang="zh-CN" sz="10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0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過賬。</a:t>
            </a:r>
            <a:endParaRPr lang="en-US" altLang="zh-CN" sz="10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95790" y="3978562"/>
            <a:ext cx="228024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表單對接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WMS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）轉撥單對接</a:t>
            </a:r>
            <a:r>
              <a:rPr lang="en-US" altLang="zh-CN" sz="1400" kern="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Suse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）量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試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量產對接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Fuse;</a:t>
            </a: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）北京廠區部分業務。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lnSpc>
                <a:spcPct val="150000"/>
              </a:lnSpc>
            </a:pP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825972" y="3978562"/>
            <a:ext cx="2280249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）準確率管控：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類新增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工單管控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倉碼管控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類計算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數量管控等；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）作業模式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改善：例如：新增及調整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ECN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管控，批量銷退單提單及退單更新等；</a:t>
            </a: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634442" y="377560"/>
            <a:ext cx="7928834" cy="535531"/>
          </a:xfrm>
        </p:spPr>
        <p:txBody>
          <a:bodyPr/>
          <a:lstStyle/>
          <a:p>
            <a:r>
              <a:rPr lang="en-US" altLang="zh-CN" dirty="0" smtClean="0"/>
              <a:t>LX </a:t>
            </a:r>
            <a:r>
              <a:rPr lang="zh-CN" altLang="en-US" dirty="0" smtClean="0"/>
              <a:t>物料管理電子簽核系統</a:t>
            </a:r>
            <a:endParaRPr lang="en-US" altLang="zh-CN" dirty="0"/>
          </a:p>
        </p:txBody>
      </p:sp>
      <p:sp>
        <p:nvSpPr>
          <p:cNvPr id="15" name="矩形 14"/>
          <p:cNvSpPr/>
          <p:nvPr/>
        </p:nvSpPr>
        <p:spPr>
          <a:xfrm>
            <a:off x="935428" y="3972731"/>
            <a:ext cx="228024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）廊坊上線 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 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表單；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）北京上線 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 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表單；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）尚有 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多個 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表單規劃中；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lnSpc>
                <a:spcPct val="150000"/>
              </a:lnSpc>
            </a:pPr>
            <a:r>
              <a:rPr lang="zh-CN" altLang="en-US" sz="10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詳情見備註。</a:t>
            </a:r>
            <a:endParaRPr lang="zh-CN" altLang="en-US" sz="10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245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5"/>
          </p:nvPr>
        </p:nvSpPr>
        <p:spPr>
          <a:xfrm>
            <a:off x="691837" y="351709"/>
            <a:ext cx="7928834" cy="535531"/>
          </a:xfrm>
        </p:spPr>
        <p:txBody>
          <a:bodyPr/>
          <a:lstStyle/>
          <a:p>
            <a:r>
              <a:rPr lang="zh-CN" altLang="en-US" dirty="0" smtClean="0"/>
              <a:t>會計行政表單電子簽核系統</a:t>
            </a:r>
            <a:endParaRPr lang="zh-TW" altLang="en-US" dirty="0"/>
          </a:p>
        </p:txBody>
      </p:sp>
      <p:sp>
        <p:nvSpPr>
          <p:cNvPr id="3" name="椭圆 33"/>
          <p:cNvSpPr/>
          <p:nvPr/>
        </p:nvSpPr>
        <p:spPr>
          <a:xfrm>
            <a:off x="4265798" y="1328767"/>
            <a:ext cx="3660407" cy="3660407"/>
          </a:xfrm>
          <a:prstGeom prst="ellipse">
            <a:avLst/>
          </a:prstGeom>
          <a:noFill/>
          <a:ln>
            <a:solidFill>
              <a:srgbClr val="1A7BA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椭圆 8"/>
          <p:cNvSpPr/>
          <p:nvPr/>
        </p:nvSpPr>
        <p:spPr>
          <a:xfrm>
            <a:off x="785411" y="1328767"/>
            <a:ext cx="3660407" cy="3660407"/>
          </a:xfrm>
          <a:prstGeom prst="ellipse">
            <a:avLst/>
          </a:prstGeom>
          <a:noFill/>
          <a:ln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5867" y="2588907"/>
            <a:ext cx="2879495" cy="178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>
              <a:lnSpc>
                <a:spcPct val="150000"/>
              </a:lnSpc>
            </a:pPr>
            <a:r>
              <a:rPr lang="en-US" altLang="zh-CN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TW" altLang="en-US" sz="1467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增加銷售預估</a:t>
            </a:r>
            <a:r>
              <a:rPr lang="zh-TW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467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實現對銷單的管控。</a:t>
            </a:r>
            <a:endParaRPr lang="zh-TW" altLang="en-US" sz="1467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1219170">
              <a:lnSpc>
                <a:spcPct val="150000"/>
              </a:lnSpc>
            </a:pPr>
            <a:r>
              <a:rPr lang="en-US" altLang="zh-CN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）增加線下管控</a:t>
            </a:r>
            <a:r>
              <a:rPr lang="zh-CN" altLang="en-US" sz="1467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表單，實現對</a:t>
            </a:r>
            <a:r>
              <a:rPr lang="en-US" altLang="zh-CN" sz="1467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FIH</a:t>
            </a:r>
            <a:r>
              <a:rPr lang="zh-TW" altLang="en-US" sz="1467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中遊的法人</a:t>
            </a:r>
            <a:r>
              <a:rPr lang="zh-CN" altLang="en-US" sz="1467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的管控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467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1219170">
              <a:lnSpc>
                <a:spcPct val="150000"/>
              </a:lnSpc>
            </a:pPr>
            <a:endParaRPr lang="zh-CN" altLang="en-US" sz="1467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16784" y="2137501"/>
            <a:ext cx="1997663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</a:t>
            </a:r>
            <a:r>
              <a:rPr lang="en-US" altLang="zh-CN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類新表單</a:t>
            </a:r>
            <a:endParaRPr lang="zh-CN" altLang="en-US" sz="2133" b="1" kern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56254" y="2588907"/>
            <a:ext cx="2879495" cy="178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>
              <a:lnSpc>
                <a:spcPct val="150000"/>
              </a:lnSpc>
            </a:pP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針對 國內外，線上線下的所有管控在內的預算，計算</a:t>
            </a:r>
            <a:r>
              <a:rPr lang="en-US" altLang="zh-CN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SAP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及用戶上傳的各類 預估實際 數據 生成年度，月度，</a:t>
            </a:r>
            <a:r>
              <a:rPr lang="en-US" altLang="zh-CN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類的大型統計</a:t>
            </a:r>
            <a:r>
              <a:rPr lang="en-US" altLang="zh-CN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表。</a:t>
            </a:r>
            <a:endParaRPr lang="zh-CN" altLang="en-US" sz="1467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58562" y="2137501"/>
            <a:ext cx="307488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</a:t>
            </a:r>
            <a:r>
              <a:rPr lang="zh-CN" altLang="en-US" sz="2133" b="1" kern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大型</a:t>
            </a:r>
            <a:r>
              <a:rPr lang="zh-CN" altLang="en-US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統計</a:t>
            </a:r>
            <a:r>
              <a:rPr lang="en-US" altLang="zh-CN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lang="zh-CN" altLang="en-US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報表</a:t>
            </a:r>
            <a:endParaRPr lang="zh-CN" altLang="en-US" sz="2133" b="1" kern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36641" y="2588907"/>
            <a:ext cx="2879495" cy="1108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zh-CN" altLang="en-US" sz="1467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上線英文版本，推廣至印度，越南廠區等，并培訓用戶後期使用等。</a:t>
            </a:r>
            <a:endParaRPr lang="zh-CN" altLang="en-US" sz="1467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661714" y="2137501"/>
            <a:ext cx="182934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133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推廣海外使用</a:t>
            </a:r>
            <a:endParaRPr lang="zh-CN" altLang="en-US" sz="2133" b="1" kern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10675" y="5306872"/>
            <a:ext cx="9570652" cy="40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</a:pP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以上：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取消了紙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檔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作業，實現了自動化簽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核，</a:t>
            </a:r>
            <a:r>
              <a:rPr lang="zh-CN" altLang="en-US" sz="1333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增加了數據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準確度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，並自動匯總成大型報表。</a:t>
            </a:r>
            <a:endParaRPr lang="zh-CN" altLang="en-US" sz="1333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椭圆 1"/>
          <p:cNvSpPr/>
          <p:nvPr/>
        </p:nvSpPr>
        <p:spPr>
          <a:xfrm>
            <a:off x="1010229" y="1643596"/>
            <a:ext cx="525264" cy="5252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altLang="zh-CN" sz="2400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400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椭圆 15"/>
          <p:cNvSpPr/>
          <p:nvPr/>
        </p:nvSpPr>
        <p:spPr>
          <a:xfrm>
            <a:off x="4490616" y="1643596"/>
            <a:ext cx="525264" cy="5252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altLang="zh-CN" sz="2400" ker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400" ker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椭圆 16"/>
          <p:cNvSpPr/>
          <p:nvPr/>
        </p:nvSpPr>
        <p:spPr>
          <a:xfrm>
            <a:off x="7971003" y="1643596"/>
            <a:ext cx="525264" cy="52526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altLang="zh-CN" sz="2400" ker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400" ker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椭圆 36"/>
          <p:cNvSpPr/>
          <p:nvPr/>
        </p:nvSpPr>
        <p:spPr>
          <a:xfrm>
            <a:off x="7746185" y="1328767"/>
            <a:ext cx="3660407" cy="3660407"/>
          </a:xfrm>
          <a:prstGeom prst="ellipse">
            <a:avLst/>
          </a:prstGeom>
          <a:noFill/>
          <a:ln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93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 smtClean="0"/>
              <a:t>問卷調查前後端 及 論壇 等</a:t>
            </a:r>
            <a:endParaRPr lang="zh-TW" altLang="en-US" dirty="0"/>
          </a:p>
        </p:txBody>
      </p:sp>
      <p:grpSp>
        <p:nvGrpSpPr>
          <p:cNvPr id="9" name="组合 17"/>
          <p:cNvGrpSpPr/>
          <p:nvPr/>
        </p:nvGrpSpPr>
        <p:grpSpPr>
          <a:xfrm rot="2700000">
            <a:off x="3935532" y="1179850"/>
            <a:ext cx="4230086" cy="4263435"/>
            <a:chOff x="1932258" y="760101"/>
            <a:chExt cx="3773569" cy="3803319"/>
          </a:xfrm>
        </p:grpSpPr>
        <p:sp>
          <p:nvSpPr>
            <p:cNvPr id="10" name="椭圆 168"/>
            <p:cNvSpPr/>
            <p:nvPr/>
          </p:nvSpPr>
          <p:spPr>
            <a:xfrm>
              <a:off x="2710237" y="760101"/>
              <a:ext cx="2207694" cy="2207694"/>
            </a:xfrm>
            <a:custGeom>
              <a:avLst/>
              <a:gdLst/>
              <a:ahLst/>
              <a:cxnLst/>
              <a:rect l="l" t="t" r="r" b="b"/>
              <a:pathLst>
                <a:path w="2207694" h="2207694">
                  <a:moveTo>
                    <a:pt x="1240201" y="2198410"/>
                  </a:moveTo>
                  <a:cubicBezTo>
                    <a:pt x="1195601" y="2204855"/>
                    <a:pt x="1150057" y="2207694"/>
                    <a:pt x="1103851" y="2207694"/>
                  </a:cubicBezTo>
                  <a:close/>
                  <a:moveTo>
                    <a:pt x="1396176" y="2167304"/>
                  </a:moveTo>
                  <a:cubicBezTo>
                    <a:pt x="1355911" y="2179613"/>
                    <a:pt x="1314389" y="2188486"/>
                    <a:pt x="1271865" y="2193577"/>
                  </a:cubicBezTo>
                  <a:close/>
                  <a:moveTo>
                    <a:pt x="7872" y="976750"/>
                  </a:moveTo>
                  <a:lnTo>
                    <a:pt x="1" y="1103847"/>
                  </a:lnTo>
                  <a:cubicBezTo>
                    <a:pt x="1" y="1713485"/>
                    <a:pt x="494210" y="2207694"/>
                    <a:pt x="1103848" y="2207694"/>
                  </a:cubicBezTo>
                  <a:cubicBezTo>
                    <a:pt x="494209" y="2207694"/>
                    <a:pt x="0" y="1713485"/>
                    <a:pt x="0" y="1103847"/>
                  </a:cubicBezTo>
                  <a:cubicBezTo>
                    <a:pt x="0" y="1060839"/>
                    <a:pt x="2460" y="1018405"/>
                    <a:pt x="7872" y="976750"/>
                  </a:cubicBezTo>
                  <a:close/>
                  <a:moveTo>
                    <a:pt x="1103847" y="0"/>
                  </a:moveTo>
                  <a:cubicBezTo>
                    <a:pt x="1713485" y="0"/>
                    <a:pt x="2207694" y="494209"/>
                    <a:pt x="2207694" y="1103847"/>
                  </a:cubicBezTo>
                  <a:cubicBezTo>
                    <a:pt x="2207694" y="1612162"/>
                    <a:pt x="1864110" y="2040229"/>
                    <a:pt x="1396188" y="2167301"/>
                  </a:cubicBezTo>
                  <a:cubicBezTo>
                    <a:pt x="1418536" y="2082435"/>
                    <a:pt x="1429716" y="1993353"/>
                    <a:pt x="1429716" y="1901660"/>
                  </a:cubicBezTo>
                  <a:cubicBezTo>
                    <a:pt x="1429716" y="1292022"/>
                    <a:pt x="935507" y="797813"/>
                    <a:pt x="325869" y="797813"/>
                  </a:cubicBezTo>
                  <a:cubicBezTo>
                    <a:pt x="224547" y="797813"/>
                    <a:pt x="126413" y="811464"/>
                    <a:pt x="33529" y="838206"/>
                  </a:cubicBezTo>
                  <a:cubicBezTo>
                    <a:pt x="23934" y="874644"/>
                    <a:pt x="16397" y="911859"/>
                    <a:pt x="11973" y="949877"/>
                  </a:cubicBezTo>
                  <a:cubicBezTo>
                    <a:pt x="85667" y="413031"/>
                    <a:pt x="546523" y="0"/>
                    <a:pt x="110384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椭圆 161"/>
            <p:cNvSpPr/>
            <p:nvPr/>
          </p:nvSpPr>
          <p:spPr>
            <a:xfrm>
              <a:off x="1932258" y="1557914"/>
              <a:ext cx="2207690" cy="2207691"/>
            </a:xfrm>
            <a:custGeom>
              <a:avLst/>
              <a:gdLst/>
              <a:ahLst/>
              <a:cxnLst/>
              <a:rect l="l" t="t" r="r" b="b"/>
              <a:pathLst>
                <a:path w="2207690" h="2207691">
                  <a:moveTo>
                    <a:pt x="967503" y="2198411"/>
                  </a:moveTo>
                  <a:lnTo>
                    <a:pt x="1103795" y="2207691"/>
                  </a:lnTo>
                  <a:cubicBezTo>
                    <a:pt x="1057608" y="2207692"/>
                    <a:pt x="1012085" y="2204853"/>
                    <a:pt x="967503" y="2198411"/>
                  </a:cubicBezTo>
                  <a:close/>
                  <a:moveTo>
                    <a:pt x="811529" y="2167307"/>
                  </a:moveTo>
                  <a:lnTo>
                    <a:pt x="935821" y="2193576"/>
                  </a:lnTo>
                  <a:cubicBezTo>
                    <a:pt x="893304" y="2188486"/>
                    <a:pt x="851788" y="2179614"/>
                    <a:pt x="811529" y="2167307"/>
                  </a:cubicBezTo>
                  <a:close/>
                  <a:moveTo>
                    <a:pt x="2199826" y="976772"/>
                  </a:moveTo>
                  <a:cubicBezTo>
                    <a:pt x="2205232" y="1018393"/>
                    <a:pt x="2207691" y="1060793"/>
                    <a:pt x="2207690" y="1103766"/>
                  </a:cubicBezTo>
                  <a:close/>
                  <a:moveTo>
                    <a:pt x="2174170" y="838223"/>
                  </a:moveTo>
                  <a:cubicBezTo>
                    <a:pt x="2184491" y="874470"/>
                    <a:pt x="2191713" y="911752"/>
                    <a:pt x="2195714" y="949832"/>
                  </a:cubicBezTo>
                  <a:close/>
                  <a:moveTo>
                    <a:pt x="1103847" y="0"/>
                  </a:moveTo>
                  <a:cubicBezTo>
                    <a:pt x="1621792" y="0"/>
                    <a:pt x="2056420" y="356726"/>
                    <a:pt x="2174166" y="838207"/>
                  </a:cubicBezTo>
                  <a:cubicBezTo>
                    <a:pt x="2081282" y="811466"/>
                    <a:pt x="1983150" y="797814"/>
                    <a:pt x="1881827" y="797814"/>
                  </a:cubicBezTo>
                  <a:cubicBezTo>
                    <a:pt x="1272189" y="797814"/>
                    <a:pt x="777980" y="1292023"/>
                    <a:pt x="777980" y="1901661"/>
                  </a:cubicBezTo>
                  <a:cubicBezTo>
                    <a:pt x="777980" y="1993354"/>
                    <a:pt x="789160" y="2082435"/>
                    <a:pt x="811508" y="2167301"/>
                  </a:cubicBezTo>
                  <a:cubicBezTo>
                    <a:pt x="343585" y="2040230"/>
                    <a:pt x="0" y="1612163"/>
                    <a:pt x="0" y="1103847"/>
                  </a:cubicBezTo>
                  <a:cubicBezTo>
                    <a:pt x="0" y="494209"/>
                    <a:pt x="494209" y="0"/>
                    <a:pt x="1103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椭圆 162"/>
            <p:cNvSpPr/>
            <p:nvPr/>
          </p:nvSpPr>
          <p:spPr>
            <a:xfrm>
              <a:off x="3498133" y="1547998"/>
              <a:ext cx="2207694" cy="2207694"/>
            </a:xfrm>
            <a:custGeom>
              <a:avLst/>
              <a:gdLst/>
              <a:ahLst/>
              <a:cxnLst/>
              <a:rect l="l" t="t" r="r" b="b"/>
              <a:pathLst>
                <a:path w="2207694" h="2207694">
                  <a:moveTo>
                    <a:pt x="1269814" y="13804"/>
                  </a:moveTo>
                  <a:cubicBezTo>
                    <a:pt x="1800820" y="92567"/>
                    <a:pt x="2207694" y="550692"/>
                    <a:pt x="2207694" y="1103847"/>
                  </a:cubicBezTo>
                  <a:cubicBezTo>
                    <a:pt x="2207694" y="1713485"/>
                    <a:pt x="1713485" y="2207694"/>
                    <a:pt x="1103847" y="2207694"/>
                  </a:cubicBezTo>
                  <a:cubicBezTo>
                    <a:pt x="546709" y="2207694"/>
                    <a:pt x="85975" y="1794939"/>
                    <a:pt x="12055" y="1258354"/>
                  </a:cubicBezTo>
                  <a:lnTo>
                    <a:pt x="33789" y="1370498"/>
                  </a:lnTo>
                  <a:cubicBezTo>
                    <a:pt x="125494" y="1396610"/>
                    <a:pt x="222299" y="1409882"/>
                    <a:pt x="322205" y="1409882"/>
                  </a:cubicBezTo>
                  <a:cubicBezTo>
                    <a:pt x="931843" y="1409882"/>
                    <a:pt x="1426052" y="915673"/>
                    <a:pt x="1426052" y="306035"/>
                  </a:cubicBezTo>
                  <a:cubicBezTo>
                    <a:pt x="1426052" y="213979"/>
                    <a:pt x="1414784" y="124554"/>
                    <a:pt x="1392265" y="39385"/>
                  </a:cubicBezTo>
                  <a:cubicBezTo>
                    <a:pt x="1352416" y="28038"/>
                    <a:pt x="1311604" y="19116"/>
                    <a:pt x="1269814" y="13804"/>
                  </a:cubicBezTo>
                  <a:close/>
                  <a:moveTo>
                    <a:pt x="1103847" y="0"/>
                  </a:moveTo>
                  <a:cubicBezTo>
                    <a:pt x="1149577" y="0"/>
                    <a:pt x="1194657" y="2781"/>
                    <a:pt x="1238818" y="9073"/>
                  </a:cubicBezTo>
                  <a:lnTo>
                    <a:pt x="1103848" y="1"/>
                  </a:lnTo>
                  <a:cubicBezTo>
                    <a:pt x="494210" y="1"/>
                    <a:pt x="1" y="494210"/>
                    <a:pt x="1" y="1103848"/>
                  </a:cubicBezTo>
                  <a:cubicBezTo>
                    <a:pt x="1" y="1146981"/>
                    <a:pt x="2475" y="1189536"/>
                    <a:pt x="7924" y="1231287"/>
                  </a:cubicBezTo>
                  <a:cubicBezTo>
                    <a:pt x="2473" y="1189523"/>
                    <a:pt x="0" y="1146974"/>
                    <a:pt x="0" y="1103847"/>
                  </a:cubicBezTo>
                  <a:cubicBezTo>
                    <a:pt x="0" y="494209"/>
                    <a:pt x="494209" y="0"/>
                    <a:pt x="1103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椭圆 163"/>
            <p:cNvSpPr/>
            <p:nvPr/>
          </p:nvSpPr>
          <p:spPr>
            <a:xfrm>
              <a:off x="2710237" y="2355728"/>
              <a:ext cx="2207690" cy="2207692"/>
            </a:xfrm>
            <a:custGeom>
              <a:avLst/>
              <a:gdLst/>
              <a:ahLst/>
              <a:cxnLst/>
              <a:rect l="l" t="t" r="r" b="b"/>
              <a:pathLst>
                <a:path w="2207690" h="2207692">
                  <a:moveTo>
                    <a:pt x="2195631" y="1258405"/>
                  </a:moveTo>
                  <a:cubicBezTo>
                    <a:pt x="2191595" y="1296645"/>
                    <a:pt x="2184315" y="1334081"/>
                    <a:pt x="2173913" y="1370472"/>
                  </a:cubicBezTo>
                  <a:close/>
                  <a:moveTo>
                    <a:pt x="2207690" y="1103924"/>
                  </a:moveTo>
                  <a:cubicBezTo>
                    <a:pt x="2207691" y="1147015"/>
                    <a:pt x="2205219" y="1189529"/>
                    <a:pt x="2199774" y="1231259"/>
                  </a:cubicBezTo>
                  <a:close/>
                  <a:moveTo>
                    <a:pt x="815432" y="39382"/>
                  </a:moveTo>
                  <a:cubicBezTo>
                    <a:pt x="792913" y="124550"/>
                    <a:pt x="781644" y="213975"/>
                    <a:pt x="781644" y="306031"/>
                  </a:cubicBezTo>
                  <a:cubicBezTo>
                    <a:pt x="781644" y="915669"/>
                    <a:pt x="1275853" y="1409878"/>
                    <a:pt x="1885491" y="1409878"/>
                  </a:cubicBezTo>
                  <a:cubicBezTo>
                    <a:pt x="1985397" y="1409878"/>
                    <a:pt x="2082202" y="1396606"/>
                    <a:pt x="2173907" y="1370494"/>
                  </a:cubicBezTo>
                  <a:cubicBezTo>
                    <a:pt x="2055810" y="1851467"/>
                    <a:pt x="1621429" y="2207692"/>
                    <a:pt x="1103847" y="2207692"/>
                  </a:cubicBezTo>
                  <a:cubicBezTo>
                    <a:pt x="494209" y="2207692"/>
                    <a:pt x="0" y="1713483"/>
                    <a:pt x="0" y="1103845"/>
                  </a:cubicBezTo>
                  <a:cubicBezTo>
                    <a:pt x="0" y="594112"/>
                    <a:pt x="345503" y="165076"/>
                    <a:pt x="815432" y="39382"/>
                  </a:cubicBezTo>
                  <a:close/>
                  <a:moveTo>
                    <a:pt x="937859" y="13805"/>
                  </a:moveTo>
                  <a:lnTo>
                    <a:pt x="815433" y="39382"/>
                  </a:lnTo>
                  <a:cubicBezTo>
                    <a:pt x="855095" y="27337"/>
                    <a:pt x="895991" y="18718"/>
                    <a:pt x="937859" y="13805"/>
                  </a:cubicBezTo>
                  <a:close/>
                  <a:moveTo>
                    <a:pt x="1103792" y="1"/>
                  </a:moveTo>
                  <a:lnTo>
                    <a:pt x="968896" y="9068"/>
                  </a:lnTo>
                  <a:cubicBezTo>
                    <a:pt x="1013034" y="2780"/>
                    <a:pt x="1058088" y="0"/>
                    <a:pt x="1103792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kern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4" name="椭圆 23"/>
          <p:cNvSpPr/>
          <p:nvPr/>
        </p:nvSpPr>
        <p:spPr>
          <a:xfrm>
            <a:off x="5007523" y="2276975"/>
            <a:ext cx="2064229" cy="206422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zh-CN" altLang="en-US" sz="2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問卷及論壇等</a:t>
            </a:r>
            <a:endParaRPr lang="zh-CN" altLang="en-US" sz="2400" b="1" kern="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15481" y="1425926"/>
            <a:ext cx="2584032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01.  </a:t>
            </a:r>
            <a:r>
              <a:rPr lang="zh-CN" altLang="en-US" sz="1867" b="1" kern="0" dirty="0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</a:t>
            </a:r>
            <a:r>
              <a:rPr lang="en-US" altLang="zh-CN" sz="1867" b="1" kern="0" dirty="0" err="1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Echart</a:t>
            </a:r>
            <a:r>
              <a:rPr lang="zh-CN" altLang="en-US" sz="1867" b="1" kern="0" dirty="0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智能化圖表分析，優化導出報表等。</a:t>
            </a:r>
            <a:endParaRPr lang="en-US" altLang="zh-CN" sz="1867" b="1" kern="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15481" y="3705250"/>
            <a:ext cx="2584032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r>
              <a:rPr lang="en-US" altLang="zh-CN" sz="1867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  </a:t>
            </a:r>
            <a:r>
              <a:rPr lang="zh-CN" altLang="en-US" sz="1867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配合印度用戶</a:t>
            </a:r>
            <a:r>
              <a:rPr lang="zh-CN" altLang="en-US" sz="1867" b="1" kern="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實現各類客製化需求等</a:t>
            </a:r>
            <a:r>
              <a:rPr lang="en-US" altLang="zh-CN" sz="1867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  <a:r>
              <a:rPr lang="zh-CN" altLang="en-US" sz="1867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如指定用戶，特定彈窗等。</a:t>
            </a:r>
            <a:endParaRPr lang="zh-CN" altLang="en-US" sz="1867" b="1" kern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40217" y="1425926"/>
            <a:ext cx="2584032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02.  </a:t>
            </a:r>
            <a:r>
              <a:rPr lang="zh-CN" altLang="en-US" sz="1867" b="1" kern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改善移動端展示模式，由 翻頁模式 調整為 單頁下拉模式。</a:t>
            </a:r>
            <a:endParaRPr lang="zh-CN" altLang="en-US" sz="1867" b="1" kern="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40217" y="3705250"/>
            <a:ext cx="2584032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en-US" altLang="zh-CN" sz="1867" b="1" kern="0" dirty="0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  </a:t>
            </a:r>
            <a:r>
              <a:rPr lang="zh-CN" altLang="en-US" sz="1867" b="1" kern="0" dirty="0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收集整理實際使用過程中的各類問題，為整體改善做 業務儲備。</a:t>
            </a:r>
            <a:endParaRPr lang="zh-CN" altLang="en-US" sz="1867" b="1" kern="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496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"/>
          <p:cNvSpPr/>
          <p:nvPr/>
        </p:nvSpPr>
        <p:spPr bwMode="auto">
          <a:xfrm>
            <a:off x="842591" y="549475"/>
            <a:ext cx="10585176" cy="6048672"/>
          </a:xfrm>
          <a:prstGeom prst="roundRect">
            <a:avLst>
              <a:gd name="adj" fmla="val 3926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38" tIns="45719" rIns="91438" bIns="45719" numCol="1" rtlCol="0" anchor="t" anchorCtr="0" compatLnSpc="1">
            <a:prstTxWarp prst="textNoShape">
              <a:avLst/>
            </a:prstTxWarp>
          </a:bodyPr>
          <a:lstStyle/>
          <a:p>
            <a:pPr defTabSz="816122"/>
            <a:endParaRPr lang="zh-CN" altLang="en-US"/>
          </a:p>
        </p:txBody>
      </p:sp>
      <p:grpSp>
        <p:nvGrpSpPr>
          <p:cNvPr id="4" name="组合 7"/>
          <p:cNvGrpSpPr/>
          <p:nvPr/>
        </p:nvGrpSpPr>
        <p:grpSpPr>
          <a:xfrm>
            <a:off x="1562670" y="162865"/>
            <a:ext cx="3803770" cy="773220"/>
            <a:chOff x="2115018" y="365182"/>
            <a:chExt cx="1859969" cy="608493"/>
          </a:xfrm>
          <a:solidFill>
            <a:srgbClr val="0070C0"/>
          </a:solidFill>
        </p:grpSpPr>
        <p:sp>
          <p:nvSpPr>
            <p:cNvPr id="5" name="圆角矩形 8"/>
            <p:cNvSpPr/>
            <p:nvPr/>
          </p:nvSpPr>
          <p:spPr bwMode="auto">
            <a:xfrm>
              <a:off x="2115018" y="365182"/>
              <a:ext cx="1859969" cy="608493"/>
            </a:xfrm>
            <a:prstGeom prst="roundRect">
              <a:avLst>
                <a:gd name="adj" fmla="val 50000"/>
              </a:avLst>
            </a:prstGeom>
            <a:grp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108816" tIns="54408" rIns="108816" bIns="5440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088135"/>
              <a:endParaRPr lang="zh-CN" altLang="en-US" sz="370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406648" y="479648"/>
              <a:ext cx="1276709" cy="3795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700" b="1" dirty="0" smtClean="0">
                  <a:latin typeface="SimSun" panose="02010600030101010101" pitchFamily="2" charset="-122"/>
                  <a:ea typeface="SimSun" panose="02010600030101010101" pitchFamily="2" charset="-122"/>
                </a:rPr>
                <a:t>工作亮點</a:t>
              </a:r>
              <a:endParaRPr lang="zh-CN" altLang="en-US" sz="3700" b="1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</p:grpSp>
      <p:sp>
        <p:nvSpPr>
          <p:cNvPr id="16" name="文本框 8"/>
          <p:cNvSpPr txBox="1"/>
          <p:nvPr/>
        </p:nvSpPr>
        <p:spPr>
          <a:xfrm>
            <a:off x="1696452" y="1177242"/>
            <a:ext cx="9216190" cy="117262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針對 使用頻率及調整頻率 極高的系統做有針對性的優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化改善 </a:t>
            </a:r>
            <a:endParaRPr lang="en-US" altLang="zh-CN" b="1" dirty="0" smtClean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b="1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A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：流程變更頻繁 </a:t>
            </a:r>
            <a:endParaRPr lang="en-US" altLang="zh-CN" b="1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b="1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B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：業務管控變更頻繁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96452" y="2494775"/>
            <a:ext cx="921619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情景：</a:t>
            </a:r>
            <a:endParaRPr lang="en-US" altLang="zh-CN" sz="1400" b="1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因虧損原因，導致各類表單 增加或者減少 各類部門人員 簽核檢討，且虧損改善后還需重新調整。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問題：</a:t>
            </a:r>
            <a:endParaRPr lang="en-US" altLang="zh-CN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A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：使用單位，流程不穩定甚至不確定，變更頻繁且時間要求緊。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B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變更流程需要時間，且針對判斷條件多的流程變更困難，例如拆解報廢含</a:t>
            </a:r>
            <a:r>
              <a:rPr lang="en-US" altLang="zh-CN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子項判斷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改善方案：</a:t>
            </a:r>
            <a:endParaRPr lang="en-US" altLang="zh-CN" sz="1400" b="1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1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：使用</a:t>
            </a:r>
            <a:r>
              <a:rPr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簽核流程模板 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代替 特定流程圖，實現一個表單僅一個簽核流程圖，新增或者減少簽核節點均不受影響。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2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 </a:t>
            </a: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：規劃單位自行設置簽核流程節點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 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：使用單位根據單據小類查看及設置最終簽核人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1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類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表單簽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核流程變更的部分，已經交由規劃單位自行升級修改等，降低</a:t>
            </a: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了工作量，且提升了用戶使用效率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zh-CN" alt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後期推廣： 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功能可以複用 及 推廣至所用 流程變更頻繁 的表單。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57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 smtClean="0"/>
              <a:t>工作效果</a:t>
            </a:r>
            <a:endParaRPr lang="zh-TW" altLang="en-US" dirty="0"/>
          </a:p>
        </p:txBody>
      </p:sp>
      <p:sp>
        <p:nvSpPr>
          <p:cNvPr id="4" name="圆角矩形 27"/>
          <p:cNvSpPr/>
          <p:nvPr/>
        </p:nvSpPr>
        <p:spPr>
          <a:xfrm>
            <a:off x="1137427" y="1369324"/>
            <a:ext cx="9879120" cy="1279589"/>
          </a:xfrm>
          <a:prstGeom prst="roundRect">
            <a:avLst>
              <a:gd name="adj" fmla="val 900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68200" y="1369324"/>
            <a:ext cx="8408349" cy="12795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30"/>
          <p:cNvSpPr txBox="1"/>
          <p:nvPr/>
        </p:nvSpPr>
        <p:spPr>
          <a:xfrm>
            <a:off x="2435623" y="1518464"/>
            <a:ext cx="5472608" cy="37965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1867" b="1" kern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新表單上線</a:t>
            </a:r>
            <a:endParaRPr lang="zh-CN" altLang="en-US" sz="1867" b="1" kern="0" dirty="0">
              <a:solidFill>
                <a:schemeClr val="accent1">
                  <a:lumMod val="60000"/>
                  <a:lumOff val="4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35623" y="1912867"/>
            <a:ext cx="8100900" cy="33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取消了紙檔作業，人工跑單模式，實現了</a:t>
            </a:r>
            <a:r>
              <a:rPr lang="en-US" altLang="zh-CN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化管理，降低了作業成本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333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且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實時在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線處理，用戶滿意度高。</a:t>
            </a:r>
            <a:endParaRPr lang="zh-CN" altLang="en-US" sz="1333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圆角矩形 35"/>
          <p:cNvSpPr/>
          <p:nvPr/>
        </p:nvSpPr>
        <p:spPr>
          <a:xfrm>
            <a:off x="1137427" y="2869491"/>
            <a:ext cx="9879120" cy="1279589"/>
          </a:xfrm>
          <a:prstGeom prst="roundRect">
            <a:avLst>
              <a:gd name="adj" fmla="val 900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68200" y="2869491"/>
            <a:ext cx="8408349" cy="12795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38"/>
          <p:cNvSpPr txBox="1"/>
          <p:nvPr/>
        </p:nvSpPr>
        <p:spPr>
          <a:xfrm>
            <a:off x="2435623" y="3018631"/>
            <a:ext cx="5472608" cy="37965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1867" b="1" kern="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</a:t>
            </a:r>
            <a:r>
              <a:rPr lang="zh-CN" altLang="en-US" sz="1867" b="1" kern="0" dirty="0" smtClean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部門合作</a:t>
            </a:r>
            <a:endParaRPr lang="zh-CN" altLang="en-US" sz="1867" b="1" kern="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35623" y="3413034"/>
            <a:ext cx="8100900" cy="35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配合其他部門及系統，實現自動拋轉出入庫，自動拋料等，減少對應人員工作量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，實現</a:t>
            </a: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自動化管理。</a:t>
            </a:r>
            <a:endParaRPr lang="zh-CN" altLang="en-US" sz="1333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圆角矩形 41"/>
          <p:cNvSpPr/>
          <p:nvPr/>
        </p:nvSpPr>
        <p:spPr>
          <a:xfrm>
            <a:off x="1137427" y="4369658"/>
            <a:ext cx="9879120" cy="1279589"/>
          </a:xfrm>
          <a:prstGeom prst="roundRect">
            <a:avLst>
              <a:gd name="adj" fmla="val 900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68200" y="4369658"/>
            <a:ext cx="8408349" cy="12795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44"/>
          <p:cNvSpPr txBox="1"/>
          <p:nvPr/>
        </p:nvSpPr>
        <p:spPr>
          <a:xfrm>
            <a:off x="2435623" y="4518797"/>
            <a:ext cx="5472608" cy="37965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1867" b="1" kern="0" dirty="0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管控及改善</a:t>
            </a:r>
            <a:endParaRPr lang="zh-CN" altLang="en-US" sz="1867" b="1" kern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35623" y="4913200"/>
            <a:ext cx="8100900" cy="625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333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根據用戶反饋，目前已經極大的降低了，被小米客戶退單，重工的情況。且已形成同類表單的管控模板，用於新表單開發參考使用。</a:t>
            </a:r>
            <a:endParaRPr lang="zh-CN" altLang="en-US" sz="1333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6" name="组合 50"/>
          <p:cNvGrpSpPr/>
          <p:nvPr/>
        </p:nvGrpSpPr>
        <p:grpSpPr>
          <a:xfrm>
            <a:off x="1410676" y="1649144"/>
            <a:ext cx="684276" cy="719948"/>
            <a:chOff x="6523038" y="1993900"/>
            <a:chExt cx="1339850" cy="14097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Freeform 31"/>
            <p:cNvSpPr>
              <a:spLocks/>
            </p:cNvSpPr>
            <p:nvPr/>
          </p:nvSpPr>
          <p:spPr bwMode="auto">
            <a:xfrm>
              <a:off x="7031038" y="2005013"/>
              <a:ext cx="325438" cy="163512"/>
            </a:xfrm>
            <a:custGeom>
              <a:avLst/>
              <a:gdLst>
                <a:gd name="T0" fmla="*/ 132 w 177"/>
                <a:gd name="T1" fmla="*/ 88 h 88"/>
                <a:gd name="T2" fmla="*/ 132 w 177"/>
                <a:gd name="T3" fmla="*/ 88 h 88"/>
                <a:gd name="T4" fmla="*/ 177 w 177"/>
                <a:gd name="T5" fmla="*/ 0 h 88"/>
                <a:gd name="T6" fmla="*/ 0 w 177"/>
                <a:gd name="T7" fmla="*/ 0 h 88"/>
                <a:gd name="T8" fmla="*/ 44 w 177"/>
                <a:gd name="T9" fmla="*/ 88 h 88"/>
                <a:gd name="T10" fmla="*/ 132 w 177"/>
                <a:gd name="T11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88">
                  <a:moveTo>
                    <a:pt x="132" y="88"/>
                  </a:moveTo>
                  <a:lnTo>
                    <a:pt x="132" y="88"/>
                  </a:lnTo>
                  <a:lnTo>
                    <a:pt x="177" y="0"/>
                  </a:lnTo>
                  <a:lnTo>
                    <a:pt x="0" y="0"/>
                  </a:lnTo>
                  <a:lnTo>
                    <a:pt x="44" y="88"/>
                  </a:lnTo>
                  <a:lnTo>
                    <a:pt x="132" y="8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Freeform 32"/>
            <p:cNvSpPr>
              <a:spLocks/>
            </p:cNvSpPr>
            <p:nvPr/>
          </p:nvSpPr>
          <p:spPr bwMode="auto">
            <a:xfrm>
              <a:off x="7092950" y="2205038"/>
              <a:ext cx="207963" cy="1127125"/>
            </a:xfrm>
            <a:custGeom>
              <a:avLst/>
              <a:gdLst>
                <a:gd name="T0" fmla="*/ 0 w 113"/>
                <a:gd name="T1" fmla="*/ 367 h 611"/>
                <a:gd name="T2" fmla="*/ 0 w 113"/>
                <a:gd name="T3" fmla="*/ 367 h 611"/>
                <a:gd name="T4" fmla="*/ 54 w 113"/>
                <a:gd name="T5" fmla="*/ 611 h 611"/>
                <a:gd name="T6" fmla="*/ 113 w 113"/>
                <a:gd name="T7" fmla="*/ 369 h 611"/>
                <a:gd name="T8" fmla="*/ 98 w 113"/>
                <a:gd name="T9" fmla="*/ 0 h 611"/>
                <a:gd name="T10" fmla="*/ 10 w 113"/>
                <a:gd name="T11" fmla="*/ 0 h 611"/>
                <a:gd name="T12" fmla="*/ 0 w 113"/>
                <a:gd name="T13" fmla="*/ 367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11">
                  <a:moveTo>
                    <a:pt x="0" y="367"/>
                  </a:moveTo>
                  <a:lnTo>
                    <a:pt x="0" y="367"/>
                  </a:lnTo>
                  <a:cubicBezTo>
                    <a:pt x="19" y="429"/>
                    <a:pt x="54" y="611"/>
                    <a:pt x="54" y="611"/>
                  </a:cubicBezTo>
                  <a:cubicBezTo>
                    <a:pt x="54" y="611"/>
                    <a:pt x="95" y="431"/>
                    <a:pt x="113" y="369"/>
                  </a:cubicBezTo>
                  <a:lnTo>
                    <a:pt x="98" y="0"/>
                  </a:lnTo>
                  <a:lnTo>
                    <a:pt x="10" y="0"/>
                  </a:lnTo>
                  <a:lnTo>
                    <a:pt x="0" y="36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Freeform 33"/>
            <p:cNvSpPr>
              <a:spLocks/>
            </p:cNvSpPr>
            <p:nvPr/>
          </p:nvSpPr>
          <p:spPr bwMode="auto">
            <a:xfrm>
              <a:off x="6523038" y="1993900"/>
              <a:ext cx="669925" cy="1409700"/>
            </a:xfrm>
            <a:custGeom>
              <a:avLst/>
              <a:gdLst>
                <a:gd name="T0" fmla="*/ 243 w 364"/>
                <a:gd name="T1" fmla="*/ 0 h 764"/>
                <a:gd name="T2" fmla="*/ 243 w 364"/>
                <a:gd name="T3" fmla="*/ 0 h 764"/>
                <a:gd name="T4" fmla="*/ 134 w 364"/>
                <a:gd name="T5" fmla="*/ 79 h 764"/>
                <a:gd name="T6" fmla="*/ 0 w 364"/>
                <a:gd name="T7" fmla="*/ 49 h 764"/>
                <a:gd name="T8" fmla="*/ 299 w 364"/>
                <a:gd name="T9" fmla="*/ 687 h 764"/>
                <a:gd name="T10" fmla="*/ 364 w 364"/>
                <a:gd name="T11" fmla="*/ 764 h 764"/>
                <a:gd name="T12" fmla="*/ 305 w 364"/>
                <a:gd name="T13" fmla="*/ 562 h 764"/>
                <a:gd name="T14" fmla="*/ 243 w 364"/>
                <a:gd name="T1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4" h="764">
                  <a:moveTo>
                    <a:pt x="243" y="0"/>
                  </a:moveTo>
                  <a:lnTo>
                    <a:pt x="243" y="0"/>
                  </a:lnTo>
                  <a:lnTo>
                    <a:pt x="134" y="79"/>
                  </a:lnTo>
                  <a:lnTo>
                    <a:pt x="0" y="49"/>
                  </a:lnTo>
                  <a:cubicBezTo>
                    <a:pt x="129" y="412"/>
                    <a:pt x="235" y="597"/>
                    <a:pt x="299" y="687"/>
                  </a:cubicBezTo>
                  <a:cubicBezTo>
                    <a:pt x="340" y="746"/>
                    <a:pt x="364" y="764"/>
                    <a:pt x="364" y="764"/>
                  </a:cubicBezTo>
                  <a:cubicBezTo>
                    <a:pt x="340" y="707"/>
                    <a:pt x="320" y="637"/>
                    <a:pt x="305" y="562"/>
                  </a:cubicBezTo>
                  <a:cubicBezTo>
                    <a:pt x="251" y="307"/>
                    <a:pt x="243" y="0"/>
                    <a:pt x="24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Freeform 34"/>
            <p:cNvSpPr>
              <a:spLocks/>
            </p:cNvSpPr>
            <p:nvPr/>
          </p:nvSpPr>
          <p:spPr bwMode="auto">
            <a:xfrm>
              <a:off x="7192963" y="1993900"/>
              <a:ext cx="669925" cy="1409700"/>
            </a:xfrm>
            <a:custGeom>
              <a:avLst/>
              <a:gdLst>
                <a:gd name="T0" fmla="*/ 230 w 364"/>
                <a:gd name="T1" fmla="*/ 79 h 764"/>
                <a:gd name="T2" fmla="*/ 230 w 364"/>
                <a:gd name="T3" fmla="*/ 79 h 764"/>
                <a:gd name="T4" fmla="*/ 121 w 364"/>
                <a:gd name="T5" fmla="*/ 0 h 764"/>
                <a:gd name="T6" fmla="*/ 59 w 364"/>
                <a:gd name="T7" fmla="*/ 562 h 764"/>
                <a:gd name="T8" fmla="*/ 0 w 364"/>
                <a:gd name="T9" fmla="*/ 764 h 764"/>
                <a:gd name="T10" fmla="*/ 66 w 364"/>
                <a:gd name="T11" fmla="*/ 687 h 764"/>
                <a:gd name="T12" fmla="*/ 364 w 364"/>
                <a:gd name="T13" fmla="*/ 48 h 764"/>
                <a:gd name="T14" fmla="*/ 230 w 364"/>
                <a:gd name="T15" fmla="*/ 79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4" h="764">
                  <a:moveTo>
                    <a:pt x="230" y="79"/>
                  </a:moveTo>
                  <a:lnTo>
                    <a:pt x="230" y="79"/>
                  </a:lnTo>
                  <a:lnTo>
                    <a:pt x="121" y="0"/>
                  </a:lnTo>
                  <a:cubicBezTo>
                    <a:pt x="121" y="0"/>
                    <a:pt x="113" y="306"/>
                    <a:pt x="59" y="562"/>
                  </a:cubicBezTo>
                  <a:cubicBezTo>
                    <a:pt x="44" y="637"/>
                    <a:pt x="24" y="707"/>
                    <a:pt x="0" y="764"/>
                  </a:cubicBezTo>
                  <a:cubicBezTo>
                    <a:pt x="0" y="764"/>
                    <a:pt x="24" y="746"/>
                    <a:pt x="66" y="687"/>
                  </a:cubicBezTo>
                  <a:cubicBezTo>
                    <a:pt x="129" y="597"/>
                    <a:pt x="236" y="411"/>
                    <a:pt x="364" y="48"/>
                  </a:cubicBezTo>
                  <a:lnTo>
                    <a:pt x="230" y="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1" name="组合 50"/>
          <p:cNvGrpSpPr/>
          <p:nvPr/>
        </p:nvGrpSpPr>
        <p:grpSpPr>
          <a:xfrm>
            <a:off x="1410676" y="3142963"/>
            <a:ext cx="684276" cy="719948"/>
            <a:chOff x="6523038" y="1993900"/>
            <a:chExt cx="1339850" cy="14097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Freeform 31"/>
            <p:cNvSpPr>
              <a:spLocks/>
            </p:cNvSpPr>
            <p:nvPr/>
          </p:nvSpPr>
          <p:spPr bwMode="auto">
            <a:xfrm>
              <a:off x="7031038" y="2005013"/>
              <a:ext cx="325438" cy="163512"/>
            </a:xfrm>
            <a:custGeom>
              <a:avLst/>
              <a:gdLst>
                <a:gd name="T0" fmla="*/ 132 w 177"/>
                <a:gd name="T1" fmla="*/ 88 h 88"/>
                <a:gd name="T2" fmla="*/ 132 w 177"/>
                <a:gd name="T3" fmla="*/ 88 h 88"/>
                <a:gd name="T4" fmla="*/ 177 w 177"/>
                <a:gd name="T5" fmla="*/ 0 h 88"/>
                <a:gd name="T6" fmla="*/ 0 w 177"/>
                <a:gd name="T7" fmla="*/ 0 h 88"/>
                <a:gd name="T8" fmla="*/ 44 w 177"/>
                <a:gd name="T9" fmla="*/ 88 h 88"/>
                <a:gd name="T10" fmla="*/ 132 w 177"/>
                <a:gd name="T11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88">
                  <a:moveTo>
                    <a:pt x="132" y="88"/>
                  </a:moveTo>
                  <a:lnTo>
                    <a:pt x="132" y="88"/>
                  </a:lnTo>
                  <a:lnTo>
                    <a:pt x="177" y="0"/>
                  </a:lnTo>
                  <a:lnTo>
                    <a:pt x="0" y="0"/>
                  </a:lnTo>
                  <a:lnTo>
                    <a:pt x="44" y="88"/>
                  </a:lnTo>
                  <a:lnTo>
                    <a:pt x="132" y="8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Freeform 32"/>
            <p:cNvSpPr>
              <a:spLocks/>
            </p:cNvSpPr>
            <p:nvPr/>
          </p:nvSpPr>
          <p:spPr bwMode="auto">
            <a:xfrm>
              <a:off x="7092950" y="2205038"/>
              <a:ext cx="207963" cy="1127125"/>
            </a:xfrm>
            <a:custGeom>
              <a:avLst/>
              <a:gdLst>
                <a:gd name="T0" fmla="*/ 0 w 113"/>
                <a:gd name="T1" fmla="*/ 367 h 611"/>
                <a:gd name="T2" fmla="*/ 0 w 113"/>
                <a:gd name="T3" fmla="*/ 367 h 611"/>
                <a:gd name="T4" fmla="*/ 54 w 113"/>
                <a:gd name="T5" fmla="*/ 611 h 611"/>
                <a:gd name="T6" fmla="*/ 113 w 113"/>
                <a:gd name="T7" fmla="*/ 369 h 611"/>
                <a:gd name="T8" fmla="*/ 98 w 113"/>
                <a:gd name="T9" fmla="*/ 0 h 611"/>
                <a:gd name="T10" fmla="*/ 10 w 113"/>
                <a:gd name="T11" fmla="*/ 0 h 611"/>
                <a:gd name="T12" fmla="*/ 0 w 113"/>
                <a:gd name="T13" fmla="*/ 367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11">
                  <a:moveTo>
                    <a:pt x="0" y="367"/>
                  </a:moveTo>
                  <a:lnTo>
                    <a:pt x="0" y="367"/>
                  </a:lnTo>
                  <a:cubicBezTo>
                    <a:pt x="19" y="429"/>
                    <a:pt x="54" y="611"/>
                    <a:pt x="54" y="611"/>
                  </a:cubicBezTo>
                  <a:cubicBezTo>
                    <a:pt x="54" y="611"/>
                    <a:pt x="95" y="431"/>
                    <a:pt x="113" y="369"/>
                  </a:cubicBezTo>
                  <a:lnTo>
                    <a:pt x="98" y="0"/>
                  </a:lnTo>
                  <a:lnTo>
                    <a:pt x="10" y="0"/>
                  </a:lnTo>
                  <a:lnTo>
                    <a:pt x="0" y="36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Freeform 33"/>
            <p:cNvSpPr>
              <a:spLocks/>
            </p:cNvSpPr>
            <p:nvPr/>
          </p:nvSpPr>
          <p:spPr bwMode="auto">
            <a:xfrm>
              <a:off x="6523038" y="1993900"/>
              <a:ext cx="669925" cy="1409700"/>
            </a:xfrm>
            <a:custGeom>
              <a:avLst/>
              <a:gdLst>
                <a:gd name="T0" fmla="*/ 243 w 364"/>
                <a:gd name="T1" fmla="*/ 0 h 764"/>
                <a:gd name="T2" fmla="*/ 243 w 364"/>
                <a:gd name="T3" fmla="*/ 0 h 764"/>
                <a:gd name="T4" fmla="*/ 134 w 364"/>
                <a:gd name="T5" fmla="*/ 79 h 764"/>
                <a:gd name="T6" fmla="*/ 0 w 364"/>
                <a:gd name="T7" fmla="*/ 49 h 764"/>
                <a:gd name="T8" fmla="*/ 299 w 364"/>
                <a:gd name="T9" fmla="*/ 687 h 764"/>
                <a:gd name="T10" fmla="*/ 364 w 364"/>
                <a:gd name="T11" fmla="*/ 764 h 764"/>
                <a:gd name="T12" fmla="*/ 305 w 364"/>
                <a:gd name="T13" fmla="*/ 562 h 764"/>
                <a:gd name="T14" fmla="*/ 243 w 364"/>
                <a:gd name="T1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4" h="764">
                  <a:moveTo>
                    <a:pt x="243" y="0"/>
                  </a:moveTo>
                  <a:lnTo>
                    <a:pt x="243" y="0"/>
                  </a:lnTo>
                  <a:lnTo>
                    <a:pt x="134" y="79"/>
                  </a:lnTo>
                  <a:lnTo>
                    <a:pt x="0" y="49"/>
                  </a:lnTo>
                  <a:cubicBezTo>
                    <a:pt x="129" y="412"/>
                    <a:pt x="235" y="597"/>
                    <a:pt x="299" y="687"/>
                  </a:cubicBezTo>
                  <a:cubicBezTo>
                    <a:pt x="340" y="746"/>
                    <a:pt x="364" y="764"/>
                    <a:pt x="364" y="764"/>
                  </a:cubicBezTo>
                  <a:cubicBezTo>
                    <a:pt x="340" y="707"/>
                    <a:pt x="320" y="637"/>
                    <a:pt x="305" y="562"/>
                  </a:cubicBezTo>
                  <a:cubicBezTo>
                    <a:pt x="251" y="307"/>
                    <a:pt x="243" y="0"/>
                    <a:pt x="24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Freeform 34"/>
            <p:cNvSpPr>
              <a:spLocks/>
            </p:cNvSpPr>
            <p:nvPr/>
          </p:nvSpPr>
          <p:spPr bwMode="auto">
            <a:xfrm>
              <a:off x="7192963" y="1993900"/>
              <a:ext cx="669925" cy="1409700"/>
            </a:xfrm>
            <a:custGeom>
              <a:avLst/>
              <a:gdLst>
                <a:gd name="T0" fmla="*/ 230 w 364"/>
                <a:gd name="T1" fmla="*/ 79 h 764"/>
                <a:gd name="T2" fmla="*/ 230 w 364"/>
                <a:gd name="T3" fmla="*/ 79 h 764"/>
                <a:gd name="T4" fmla="*/ 121 w 364"/>
                <a:gd name="T5" fmla="*/ 0 h 764"/>
                <a:gd name="T6" fmla="*/ 59 w 364"/>
                <a:gd name="T7" fmla="*/ 562 h 764"/>
                <a:gd name="T8" fmla="*/ 0 w 364"/>
                <a:gd name="T9" fmla="*/ 764 h 764"/>
                <a:gd name="T10" fmla="*/ 66 w 364"/>
                <a:gd name="T11" fmla="*/ 687 h 764"/>
                <a:gd name="T12" fmla="*/ 364 w 364"/>
                <a:gd name="T13" fmla="*/ 48 h 764"/>
                <a:gd name="T14" fmla="*/ 230 w 364"/>
                <a:gd name="T15" fmla="*/ 79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4" h="764">
                  <a:moveTo>
                    <a:pt x="230" y="79"/>
                  </a:moveTo>
                  <a:lnTo>
                    <a:pt x="230" y="79"/>
                  </a:lnTo>
                  <a:lnTo>
                    <a:pt x="121" y="0"/>
                  </a:lnTo>
                  <a:cubicBezTo>
                    <a:pt x="121" y="0"/>
                    <a:pt x="113" y="306"/>
                    <a:pt x="59" y="562"/>
                  </a:cubicBezTo>
                  <a:cubicBezTo>
                    <a:pt x="44" y="637"/>
                    <a:pt x="24" y="707"/>
                    <a:pt x="0" y="764"/>
                  </a:cubicBezTo>
                  <a:cubicBezTo>
                    <a:pt x="0" y="764"/>
                    <a:pt x="24" y="746"/>
                    <a:pt x="66" y="687"/>
                  </a:cubicBezTo>
                  <a:cubicBezTo>
                    <a:pt x="129" y="597"/>
                    <a:pt x="236" y="411"/>
                    <a:pt x="364" y="48"/>
                  </a:cubicBezTo>
                  <a:lnTo>
                    <a:pt x="230" y="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6" name="组合 50"/>
          <p:cNvGrpSpPr/>
          <p:nvPr/>
        </p:nvGrpSpPr>
        <p:grpSpPr>
          <a:xfrm>
            <a:off x="1410676" y="4649478"/>
            <a:ext cx="684276" cy="719948"/>
            <a:chOff x="6523038" y="1993900"/>
            <a:chExt cx="1339850" cy="14097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Freeform 31"/>
            <p:cNvSpPr>
              <a:spLocks/>
            </p:cNvSpPr>
            <p:nvPr/>
          </p:nvSpPr>
          <p:spPr bwMode="auto">
            <a:xfrm>
              <a:off x="7031038" y="2005013"/>
              <a:ext cx="325438" cy="163512"/>
            </a:xfrm>
            <a:custGeom>
              <a:avLst/>
              <a:gdLst>
                <a:gd name="T0" fmla="*/ 132 w 177"/>
                <a:gd name="T1" fmla="*/ 88 h 88"/>
                <a:gd name="T2" fmla="*/ 132 w 177"/>
                <a:gd name="T3" fmla="*/ 88 h 88"/>
                <a:gd name="T4" fmla="*/ 177 w 177"/>
                <a:gd name="T5" fmla="*/ 0 h 88"/>
                <a:gd name="T6" fmla="*/ 0 w 177"/>
                <a:gd name="T7" fmla="*/ 0 h 88"/>
                <a:gd name="T8" fmla="*/ 44 w 177"/>
                <a:gd name="T9" fmla="*/ 88 h 88"/>
                <a:gd name="T10" fmla="*/ 132 w 177"/>
                <a:gd name="T11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88">
                  <a:moveTo>
                    <a:pt x="132" y="88"/>
                  </a:moveTo>
                  <a:lnTo>
                    <a:pt x="132" y="88"/>
                  </a:lnTo>
                  <a:lnTo>
                    <a:pt x="177" y="0"/>
                  </a:lnTo>
                  <a:lnTo>
                    <a:pt x="0" y="0"/>
                  </a:lnTo>
                  <a:lnTo>
                    <a:pt x="44" y="88"/>
                  </a:lnTo>
                  <a:lnTo>
                    <a:pt x="132" y="8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auto">
            <a:xfrm>
              <a:off x="7092950" y="2205038"/>
              <a:ext cx="207963" cy="1127125"/>
            </a:xfrm>
            <a:custGeom>
              <a:avLst/>
              <a:gdLst>
                <a:gd name="T0" fmla="*/ 0 w 113"/>
                <a:gd name="T1" fmla="*/ 367 h 611"/>
                <a:gd name="T2" fmla="*/ 0 w 113"/>
                <a:gd name="T3" fmla="*/ 367 h 611"/>
                <a:gd name="T4" fmla="*/ 54 w 113"/>
                <a:gd name="T5" fmla="*/ 611 h 611"/>
                <a:gd name="T6" fmla="*/ 113 w 113"/>
                <a:gd name="T7" fmla="*/ 369 h 611"/>
                <a:gd name="T8" fmla="*/ 98 w 113"/>
                <a:gd name="T9" fmla="*/ 0 h 611"/>
                <a:gd name="T10" fmla="*/ 10 w 113"/>
                <a:gd name="T11" fmla="*/ 0 h 611"/>
                <a:gd name="T12" fmla="*/ 0 w 113"/>
                <a:gd name="T13" fmla="*/ 367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11">
                  <a:moveTo>
                    <a:pt x="0" y="367"/>
                  </a:moveTo>
                  <a:lnTo>
                    <a:pt x="0" y="367"/>
                  </a:lnTo>
                  <a:cubicBezTo>
                    <a:pt x="19" y="429"/>
                    <a:pt x="54" y="611"/>
                    <a:pt x="54" y="611"/>
                  </a:cubicBezTo>
                  <a:cubicBezTo>
                    <a:pt x="54" y="611"/>
                    <a:pt x="95" y="431"/>
                    <a:pt x="113" y="369"/>
                  </a:cubicBezTo>
                  <a:lnTo>
                    <a:pt x="98" y="0"/>
                  </a:lnTo>
                  <a:lnTo>
                    <a:pt x="10" y="0"/>
                  </a:lnTo>
                  <a:lnTo>
                    <a:pt x="0" y="36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auto">
            <a:xfrm>
              <a:off x="6523038" y="1993900"/>
              <a:ext cx="669925" cy="1409700"/>
            </a:xfrm>
            <a:custGeom>
              <a:avLst/>
              <a:gdLst>
                <a:gd name="T0" fmla="*/ 243 w 364"/>
                <a:gd name="T1" fmla="*/ 0 h 764"/>
                <a:gd name="T2" fmla="*/ 243 w 364"/>
                <a:gd name="T3" fmla="*/ 0 h 764"/>
                <a:gd name="T4" fmla="*/ 134 w 364"/>
                <a:gd name="T5" fmla="*/ 79 h 764"/>
                <a:gd name="T6" fmla="*/ 0 w 364"/>
                <a:gd name="T7" fmla="*/ 49 h 764"/>
                <a:gd name="T8" fmla="*/ 299 w 364"/>
                <a:gd name="T9" fmla="*/ 687 h 764"/>
                <a:gd name="T10" fmla="*/ 364 w 364"/>
                <a:gd name="T11" fmla="*/ 764 h 764"/>
                <a:gd name="T12" fmla="*/ 305 w 364"/>
                <a:gd name="T13" fmla="*/ 562 h 764"/>
                <a:gd name="T14" fmla="*/ 243 w 364"/>
                <a:gd name="T1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4" h="764">
                  <a:moveTo>
                    <a:pt x="243" y="0"/>
                  </a:moveTo>
                  <a:lnTo>
                    <a:pt x="243" y="0"/>
                  </a:lnTo>
                  <a:lnTo>
                    <a:pt x="134" y="79"/>
                  </a:lnTo>
                  <a:lnTo>
                    <a:pt x="0" y="49"/>
                  </a:lnTo>
                  <a:cubicBezTo>
                    <a:pt x="129" y="412"/>
                    <a:pt x="235" y="597"/>
                    <a:pt x="299" y="687"/>
                  </a:cubicBezTo>
                  <a:cubicBezTo>
                    <a:pt x="340" y="746"/>
                    <a:pt x="364" y="764"/>
                    <a:pt x="364" y="764"/>
                  </a:cubicBezTo>
                  <a:cubicBezTo>
                    <a:pt x="340" y="707"/>
                    <a:pt x="320" y="637"/>
                    <a:pt x="305" y="562"/>
                  </a:cubicBezTo>
                  <a:cubicBezTo>
                    <a:pt x="251" y="307"/>
                    <a:pt x="243" y="0"/>
                    <a:pt x="24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auto">
            <a:xfrm>
              <a:off x="7192963" y="1993900"/>
              <a:ext cx="669925" cy="1409700"/>
            </a:xfrm>
            <a:custGeom>
              <a:avLst/>
              <a:gdLst>
                <a:gd name="T0" fmla="*/ 230 w 364"/>
                <a:gd name="T1" fmla="*/ 79 h 764"/>
                <a:gd name="T2" fmla="*/ 230 w 364"/>
                <a:gd name="T3" fmla="*/ 79 h 764"/>
                <a:gd name="T4" fmla="*/ 121 w 364"/>
                <a:gd name="T5" fmla="*/ 0 h 764"/>
                <a:gd name="T6" fmla="*/ 59 w 364"/>
                <a:gd name="T7" fmla="*/ 562 h 764"/>
                <a:gd name="T8" fmla="*/ 0 w 364"/>
                <a:gd name="T9" fmla="*/ 764 h 764"/>
                <a:gd name="T10" fmla="*/ 66 w 364"/>
                <a:gd name="T11" fmla="*/ 687 h 764"/>
                <a:gd name="T12" fmla="*/ 364 w 364"/>
                <a:gd name="T13" fmla="*/ 48 h 764"/>
                <a:gd name="T14" fmla="*/ 230 w 364"/>
                <a:gd name="T15" fmla="*/ 79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4" h="764">
                  <a:moveTo>
                    <a:pt x="230" y="79"/>
                  </a:moveTo>
                  <a:lnTo>
                    <a:pt x="230" y="79"/>
                  </a:lnTo>
                  <a:lnTo>
                    <a:pt x="121" y="0"/>
                  </a:lnTo>
                  <a:cubicBezTo>
                    <a:pt x="121" y="0"/>
                    <a:pt x="113" y="306"/>
                    <a:pt x="59" y="562"/>
                  </a:cubicBezTo>
                  <a:cubicBezTo>
                    <a:pt x="44" y="637"/>
                    <a:pt x="24" y="707"/>
                    <a:pt x="0" y="764"/>
                  </a:cubicBezTo>
                  <a:cubicBezTo>
                    <a:pt x="0" y="764"/>
                    <a:pt x="24" y="746"/>
                    <a:pt x="66" y="687"/>
                  </a:cubicBezTo>
                  <a:cubicBezTo>
                    <a:pt x="129" y="597"/>
                    <a:pt x="236" y="411"/>
                    <a:pt x="364" y="48"/>
                  </a:cubicBezTo>
                  <a:lnTo>
                    <a:pt x="230" y="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19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 smtClean="0"/>
              <a:t>經驗教訓</a:t>
            </a:r>
            <a:endParaRPr lang="zh-TW" altLang="en-US" dirty="0"/>
          </a:p>
        </p:txBody>
      </p:sp>
      <p:sp>
        <p:nvSpPr>
          <p:cNvPr id="3" name="五边形 27"/>
          <p:cNvSpPr/>
          <p:nvPr/>
        </p:nvSpPr>
        <p:spPr>
          <a:xfrm>
            <a:off x="815417" y="1508787"/>
            <a:ext cx="10525631" cy="42004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</a:t>
            </a:r>
            <a:r>
              <a:rPr lang="zh-CN" altLang="en-US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調整個人工作模式</a:t>
            </a:r>
            <a:endParaRPr lang="zh-CN" altLang="en-US" sz="2133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五边形 28"/>
          <p:cNvSpPr/>
          <p:nvPr/>
        </p:nvSpPr>
        <p:spPr>
          <a:xfrm>
            <a:off x="3446823" y="1927802"/>
            <a:ext cx="7894224" cy="42004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</a:t>
            </a:r>
            <a:r>
              <a:rPr lang="zh-CN" altLang="en-US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系統化知識結構</a:t>
            </a:r>
            <a:endParaRPr lang="zh-CN" altLang="en-US" sz="2133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五边形 30"/>
          <p:cNvSpPr/>
          <p:nvPr/>
        </p:nvSpPr>
        <p:spPr>
          <a:xfrm>
            <a:off x="6078230" y="2347849"/>
            <a:ext cx="5262815" cy="42004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</a:t>
            </a:r>
            <a:r>
              <a:rPr lang="zh-CN" altLang="en-US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以項目為導向，學習新技術</a:t>
            </a:r>
            <a:endParaRPr lang="zh-CN" altLang="en-US" sz="2133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五边形 32"/>
          <p:cNvSpPr/>
          <p:nvPr/>
        </p:nvSpPr>
        <p:spPr>
          <a:xfrm>
            <a:off x="8709638" y="2767894"/>
            <a:ext cx="2631407" cy="42004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</a:t>
            </a:r>
            <a:r>
              <a: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</a:t>
            </a:r>
            <a:r>
              <a:rPr lang="zh-CN" altLang="en-US" sz="2133" kern="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數據經驗積累</a:t>
            </a:r>
            <a:endParaRPr lang="zh-CN" altLang="en-US" sz="2133" kern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408" y="2703694"/>
            <a:ext cx="252027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當前工作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業務變更居多，根據當前用戶業務返工情況看，我需要在提升溝通協調技巧之外，適當的拒絕用戶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只有一起改善工作模式，才會有整體的改善。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轉換視角，除了自己的系統，還要看到部門的系統，例如自購料最終規劃入備品，報廢邏輯最終在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SAP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處理等。</a:t>
            </a: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4299" y="2054592"/>
            <a:ext cx="2520277" cy="66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zh-TW" altLang="en-US" sz="1867" b="1" kern="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系統的價值在於理順的管理內涵</a:t>
            </a:r>
            <a:r>
              <a:rPr lang="zh-CN" altLang="en-US" sz="1867" b="1" kern="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6096003" y="3380803"/>
            <a:ext cx="25202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開發或者改善固定的小型案例，不斷的迭代技術，而非散點式學習，不易查找與對比差距。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6002" y="2948947"/>
            <a:ext cx="2520277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zh-CN" altLang="en-US" sz="1867" b="1" kern="0" dirty="0" smtClean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以項目為導向</a:t>
            </a:r>
            <a:endParaRPr lang="zh-CN" altLang="en-US" sz="1867" b="1" kern="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25705" y="3239040"/>
            <a:ext cx="25202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對部分知識除了會使用外，還需要體系化的看官方文檔，全面打牢知識結構，以防止只看到問題，看不到其他更好解決方案的情況。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</a:p>
        </p:txBody>
      </p:sp>
      <p:sp>
        <p:nvSpPr>
          <p:cNvPr id="12" name="矩形 11"/>
          <p:cNvSpPr/>
          <p:nvPr/>
        </p:nvSpPr>
        <p:spPr>
          <a:xfrm>
            <a:off x="3395702" y="2598585"/>
            <a:ext cx="2520277" cy="66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zh-CN" altLang="en-US" sz="1867" b="1" kern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知道怎麼</a:t>
            </a:r>
            <a:r>
              <a:rPr lang="zh-CN" altLang="en-US" sz="1867" b="1" kern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用以及為什麼</a:t>
            </a:r>
            <a:r>
              <a:rPr lang="zh-CN" altLang="en-US" sz="1867" b="1" kern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  <a:endParaRPr lang="zh-CN" altLang="en-US" sz="1867" b="1" kern="0" dirty="0">
              <a:solidFill>
                <a:schemeClr val="accent1">
                  <a:lumMod val="60000"/>
                  <a:lumOff val="4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676290" y="3719356"/>
            <a:ext cx="2520277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針對大型的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表格的處理，例如會計的</a:t>
            </a:r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1245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列計算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數據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和問卷的問題與答案整合展示。</a:t>
            </a:r>
            <a:endParaRPr lang="en-US" altLang="zh-CN" sz="14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1219170">
              <a:lnSpc>
                <a:spcPct val="150000"/>
              </a:lnSpc>
            </a:pP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採用視圖代替游標，以及臨時表，添加索引</a:t>
            </a:r>
            <a:r>
              <a: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中間表</a:t>
            </a:r>
            <a:r>
              <a: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zh-CN" altLang="en-US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形式改善效率。</a:t>
            </a: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676288" y="3318665"/>
            <a:ext cx="2520277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zh-CN" altLang="en-US" sz="1867" b="1" kern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學習提升效率 方法</a:t>
            </a:r>
            <a:endParaRPr lang="zh-CN" altLang="en-US" sz="1867" b="1" kern="0" dirty="0">
              <a:solidFill>
                <a:schemeClr val="accent1">
                  <a:lumMod val="60000"/>
                  <a:lumOff val="4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接连接符 47"/>
          <p:cNvCxnSpPr/>
          <p:nvPr/>
        </p:nvCxnSpPr>
        <p:spPr>
          <a:xfrm>
            <a:off x="3275687" y="3239040"/>
            <a:ext cx="0" cy="187014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48"/>
          <p:cNvCxnSpPr/>
          <p:nvPr/>
        </p:nvCxnSpPr>
        <p:spPr>
          <a:xfrm>
            <a:off x="5975987" y="3729034"/>
            <a:ext cx="0" cy="13801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49"/>
          <p:cNvCxnSpPr/>
          <p:nvPr/>
        </p:nvCxnSpPr>
        <p:spPr>
          <a:xfrm>
            <a:off x="8616280" y="4119466"/>
            <a:ext cx="0" cy="9897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51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>
            <a:spLocks/>
          </p:cNvSpPr>
          <p:nvPr/>
        </p:nvSpPr>
        <p:spPr>
          <a:xfrm>
            <a:off x="1893887" y="2467589"/>
            <a:ext cx="8404225" cy="830997"/>
          </a:xfrm>
          <a:prstGeom prst="rect">
            <a:avLst/>
          </a:prstGeom>
          <a:ln>
            <a:solidFill>
              <a:srgbClr val="0070C0"/>
            </a:solidFill>
            <a:prstDash val="lgDashDot"/>
          </a:ln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報告完畢，謝謝！</a:t>
            </a:r>
            <a:endParaRPr lang="zh-CN" altLang="en-US" sz="4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18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1105</Words>
  <Application>Microsoft Office PowerPoint</Application>
  <PresentationFormat>寬螢幕</PresentationFormat>
  <Paragraphs>142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21" baseType="lpstr">
      <vt:lpstr>Arial Unicode MS</vt:lpstr>
      <vt:lpstr>KaiTi</vt:lpstr>
      <vt:lpstr>Microsoft YaHei</vt:lpstr>
      <vt:lpstr>SimSun</vt:lpstr>
      <vt:lpstr>SimSun</vt:lpstr>
      <vt:lpstr>新細明體</vt:lpstr>
      <vt:lpstr>Arial</vt:lpstr>
      <vt:lpstr>Calibri</vt:lpstr>
      <vt:lpstr>Calibri Light</vt:lpstr>
      <vt:lpstr>Eras Bold ITC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LF-IT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LiPing</dc:creator>
  <cp:lastModifiedBy>LiPing</cp:lastModifiedBy>
  <cp:revision>20</cp:revision>
  <dcterms:created xsi:type="dcterms:W3CDTF">2019-12-20T01:10:51Z</dcterms:created>
  <dcterms:modified xsi:type="dcterms:W3CDTF">2020-11-03T09:18:41Z</dcterms:modified>
</cp:coreProperties>
</file>