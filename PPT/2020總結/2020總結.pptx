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</p:sldMasterIdLst>
  <p:notesMasterIdLst>
    <p:notesMasterId r:id="rId22"/>
  </p:notesMasterIdLst>
  <p:handoutMasterIdLst>
    <p:handoutMasterId r:id="rId23"/>
  </p:handoutMasterIdLst>
  <p:sldIdLst>
    <p:sldId id="256" r:id="rId3"/>
    <p:sldId id="257" r:id="rId4"/>
    <p:sldId id="327" r:id="rId5"/>
    <p:sldId id="352" r:id="rId6"/>
    <p:sldId id="353" r:id="rId7"/>
    <p:sldId id="359" r:id="rId8"/>
    <p:sldId id="354" r:id="rId9"/>
    <p:sldId id="328" r:id="rId10"/>
    <p:sldId id="349" r:id="rId11"/>
    <p:sldId id="350" r:id="rId12"/>
    <p:sldId id="312" r:id="rId13"/>
    <p:sldId id="296" r:id="rId14"/>
    <p:sldId id="333" r:id="rId15"/>
    <p:sldId id="334" r:id="rId16"/>
    <p:sldId id="329" r:id="rId17"/>
    <p:sldId id="355" r:id="rId18"/>
    <p:sldId id="361" r:id="rId19"/>
    <p:sldId id="258" r:id="rId20"/>
    <p:sldId id="362" r:id="rId21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983E"/>
    <a:srgbClr val="2DB2A4"/>
    <a:srgbClr val="0000FF"/>
    <a:srgbClr val="F87A08"/>
    <a:srgbClr val="0E647C"/>
    <a:srgbClr val="74AF47"/>
    <a:srgbClr val="FDFDFD"/>
    <a:srgbClr val="E47006"/>
    <a:srgbClr val="27998E"/>
    <a:srgbClr val="0C56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35" autoAdjust="0"/>
    <p:restoredTop sz="94660"/>
  </p:normalViewPr>
  <p:slideViewPr>
    <p:cSldViewPr snapToGrid="0">
      <p:cViewPr>
        <p:scale>
          <a:sx n="75" d="100"/>
          <a:sy n="75" d="100"/>
        </p:scale>
        <p:origin x="2010" y="9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85280A-7C64-4A24-ABF1-D69E2EDD762A}" type="datetimeFigureOut">
              <a:rPr lang="zh-TW" altLang="en-US" smtClean="0"/>
              <a:t>2020/11/12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zh-TW" dirty="0" smtClean="0"/>
              <a:t>20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86FF5-8507-4A30-9312-C30EAABE60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048757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2C33EC-1BFB-4AC8-BB98-0E51B18C01BC}" type="datetimeFigureOut">
              <a:rPr lang="zh-CN" altLang="en-US" smtClean="0"/>
              <a:t>2020/11/12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zh-CN" dirty="0" smtClean="0"/>
              <a:t>20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366D4-CED0-4664-8B5D-C3A3A417DD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2849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830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097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9486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169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FB620B-A08D-4C2C-95C5-A78EEC44F6D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741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89264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8927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9339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2169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6358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613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slide" Target="../slides/slide2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73852-6FD2-4DA3-B28F-EA31401A8081}" type="datetime1">
              <a:rPr lang="zh-CN" altLang="en-US" smtClean="0"/>
              <a:t>2020/11/12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CD8BB-5593-45B4-989A-D8D5518AAFB0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70721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51EE-8CC3-4C80-9720-C3D21F02785D}" type="datetime1">
              <a:rPr lang="zh-CN" altLang="en-US" smtClean="0"/>
              <a:t>2020/11/12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fld id="{8A1CD8BB-5593-45B4-989A-D8D5518AAFB0}" type="slidenum">
              <a:rPr lang="zh-CN" altLang="en-US" smtClean="0"/>
              <a:pPr/>
              <a:t>‹#›</a:t>
            </a:fld>
            <a:r>
              <a:rPr lang="en-US" altLang="zh-CN" dirty="0" smtClean="0"/>
              <a:t>/26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90389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2DAE-C95E-4873-9A34-6149AA85BF2D}" type="datetime1">
              <a:rPr lang="zh-CN" altLang="en-US" smtClean="0"/>
              <a:t>2020/11/12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CD8BB-5593-45B4-989A-D8D5518AAFB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22460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94105-9C0C-4142-B895-69663A4A3334}" type="datetime1">
              <a:rPr lang="zh-CN" altLang="en-US" smtClean="0"/>
              <a:t>2020/11/12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CD8BB-5593-45B4-989A-D8D5518AAF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518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DAA8-EEB8-4D76-8B2D-CCA47236FB40}" type="datetime1">
              <a:rPr lang="zh-CN" altLang="en-US" smtClean="0"/>
              <a:t>2020/11/12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CD8BB-5593-45B4-989A-D8D5518AAFB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8831427" y="6431122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657296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1C55A-FEE6-4878-BFC3-C8D1CAC1D370}" type="datetime1">
              <a:rPr lang="zh-CN" altLang="en-US" smtClean="0"/>
              <a:t>2020/11/12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CD8BB-5593-45B4-989A-D8D5518AAF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845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94D9A-CBDA-458E-A323-F4846B886149}" type="datetime1">
              <a:rPr lang="zh-CN" altLang="en-US" smtClean="0"/>
              <a:t>2020/11/12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CD8BB-5593-45B4-989A-D8D5518AAF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2508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423C8-1B20-4C60-B84B-734077EF51A5}" type="datetime1">
              <a:rPr lang="zh-CN" altLang="en-US" smtClean="0"/>
              <a:t>2020/11/12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CD8BB-5593-45B4-989A-D8D5518AAF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200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24D4E-249C-451D-9B18-ED4A7F1B932E}" type="datetime1">
              <a:rPr lang="zh-CN" altLang="en-US" smtClean="0"/>
              <a:t>2020/11/12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CD8BB-5593-45B4-989A-D8D5518AAF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534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B0D39-40DD-410D-BBDA-23E3AA02A17D}" type="datetime1">
              <a:rPr lang="zh-CN" altLang="en-US" smtClean="0"/>
              <a:t>2020/11/12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CD8BB-5593-45B4-989A-D8D5518AAF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468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D9E3-46EC-432A-85A0-EEBEDEFA97BD}" type="datetime1">
              <a:rPr lang="zh-CN" altLang="en-US" smtClean="0"/>
              <a:t>2020/11/12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CD8BB-5593-45B4-989A-D8D5518AAF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19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12948" y="2420888"/>
            <a:ext cx="6331651" cy="863600"/>
          </a:xfrm>
        </p:spPr>
        <p:txBody>
          <a:bodyPr/>
          <a:lstStyle>
            <a:lvl1pPr algn="ctr">
              <a:defRPr sz="3598"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714533" y="3500388"/>
            <a:ext cx="6333237" cy="647700"/>
          </a:xfrm>
        </p:spPr>
        <p:txBody>
          <a:bodyPr/>
          <a:lstStyle>
            <a:lvl1pPr marL="0" indent="0" algn="ctr">
              <a:buFontTx/>
              <a:buNone/>
              <a:defRPr sz="2399"/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3529239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4"/>
          <p:cNvSpPr/>
          <p:nvPr userDrawn="1"/>
        </p:nvSpPr>
        <p:spPr>
          <a:xfrm>
            <a:off x="1587" y="1169988"/>
            <a:ext cx="1946848" cy="5368925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799" dirty="0"/>
          </a:p>
        </p:txBody>
      </p:sp>
      <p:pic>
        <p:nvPicPr>
          <p:cNvPr id="3075" name="图片 4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25488"/>
            <a:ext cx="12190414" cy="4524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6" name="图片 5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38913"/>
            <a:ext cx="12190414" cy="341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7" name="Freeform 10"/>
          <p:cNvSpPr/>
          <p:nvPr userDrawn="1"/>
        </p:nvSpPr>
        <p:spPr>
          <a:xfrm>
            <a:off x="10781448" y="6602414"/>
            <a:ext cx="442681" cy="206375"/>
          </a:xfrm>
          <a:custGeom>
            <a:avLst/>
            <a:gdLst/>
            <a:ahLst/>
            <a:cxnLst>
              <a:cxn ang="0">
                <a:pos x="68155670" y="0"/>
              </a:cxn>
              <a:cxn ang="0">
                <a:pos x="249662321" y="0"/>
              </a:cxn>
              <a:cxn ang="0">
                <a:pos x="317817991" y="79460830"/>
              </a:cxn>
              <a:cxn ang="0">
                <a:pos x="317817991" y="79460830"/>
              </a:cxn>
              <a:cxn ang="0">
                <a:pos x="249662321" y="158921110"/>
              </a:cxn>
              <a:cxn ang="0">
                <a:pos x="68155670" y="158921110"/>
              </a:cxn>
              <a:cxn ang="0">
                <a:pos x="0" y="79460830"/>
              </a:cxn>
              <a:cxn ang="0">
                <a:pos x="0" y="79460830"/>
              </a:cxn>
              <a:cxn ang="0">
                <a:pos x="68155670" y="0"/>
              </a:cxn>
            </a:cxnLst>
            <a:rect l="0" t="0" r="0" b="0"/>
            <a:pathLst>
              <a:path w="872" h="374">
                <a:moveTo>
                  <a:pt x="187" y="0"/>
                </a:moveTo>
                <a:lnTo>
                  <a:pt x="685" y="0"/>
                </a:lnTo>
                <a:cubicBezTo>
                  <a:pt x="788" y="0"/>
                  <a:pt x="872" y="84"/>
                  <a:pt x="872" y="187"/>
                </a:cubicBezTo>
                <a:cubicBezTo>
                  <a:pt x="872" y="290"/>
                  <a:pt x="788" y="374"/>
                  <a:pt x="685" y="374"/>
                </a:cubicBezTo>
                <a:lnTo>
                  <a:pt x="187" y="374"/>
                </a:lnTo>
                <a:cubicBezTo>
                  <a:pt x="85" y="374"/>
                  <a:pt x="0" y="290"/>
                  <a:pt x="0" y="187"/>
                </a:cubicBezTo>
                <a:cubicBezTo>
                  <a:pt x="0" y="84"/>
                  <a:pt x="85" y="0"/>
                  <a:pt x="187" y="0"/>
                </a:cubicBezTo>
                <a:close/>
              </a:path>
            </a:pathLst>
          </a:custGeom>
          <a:solidFill>
            <a:schemeClr val="bg2">
              <a:alpha val="100000"/>
            </a:schemeClr>
          </a:solidFill>
          <a:ln w="9525">
            <a:noFill/>
          </a:ln>
        </p:spPr>
        <p:txBody>
          <a:bodyPr/>
          <a:lstStyle/>
          <a:p>
            <a:endParaRPr lang="zh-CN" altLang="en-US" sz="1799"/>
          </a:p>
        </p:txBody>
      </p:sp>
      <p:sp>
        <p:nvSpPr>
          <p:cNvPr id="3078" name="Freeform 13">
            <a:hlinkClick r:id="" action="ppaction://hlinkshowjump?jump=firstslide"/>
          </p:cNvPr>
          <p:cNvSpPr>
            <a:spLocks noEditPoints="1"/>
          </p:cNvSpPr>
          <p:nvPr userDrawn="1"/>
        </p:nvSpPr>
        <p:spPr>
          <a:xfrm>
            <a:off x="10197552" y="6600825"/>
            <a:ext cx="193574" cy="209550"/>
          </a:xfrm>
          <a:custGeom>
            <a:avLst/>
            <a:gdLst/>
            <a:ahLst/>
            <a:cxnLst>
              <a:cxn ang="0">
                <a:pos x="109134399" y="33607650"/>
              </a:cxn>
              <a:cxn ang="0">
                <a:pos x="48382881" y="83380434"/>
              </a:cxn>
              <a:cxn ang="0">
                <a:pos x="109134399" y="132728342"/>
              </a:cxn>
              <a:cxn ang="0">
                <a:pos x="109134399" y="33607650"/>
              </a:cxn>
              <a:cxn ang="0">
                <a:pos x="104041491" y="121667784"/>
              </a:cxn>
              <a:cxn ang="0">
                <a:pos x="104041491" y="121667784"/>
              </a:cxn>
              <a:cxn ang="0">
                <a:pos x="57113654" y="83380434"/>
              </a:cxn>
              <a:cxn ang="0">
                <a:pos x="104041491" y="45093635"/>
              </a:cxn>
              <a:cxn ang="0">
                <a:pos x="104041491" y="121667784"/>
              </a:cxn>
              <a:cxn ang="0">
                <a:pos x="42198818" y="132728342"/>
              </a:cxn>
              <a:cxn ang="0">
                <a:pos x="42198818" y="132728342"/>
              </a:cxn>
              <a:cxn ang="0">
                <a:pos x="42198818" y="33607650"/>
              </a:cxn>
              <a:cxn ang="0">
                <a:pos x="33831933" y="33607650"/>
              </a:cxn>
              <a:cxn ang="0">
                <a:pos x="33831933" y="132728342"/>
              </a:cxn>
              <a:cxn ang="0">
                <a:pos x="42198818" y="132728342"/>
              </a:cxn>
              <a:cxn ang="0">
                <a:pos x="69482290" y="0"/>
              </a:cxn>
              <a:cxn ang="0">
                <a:pos x="138964580" y="81253849"/>
              </a:cxn>
              <a:cxn ang="0">
                <a:pos x="69482290" y="162507147"/>
              </a:cxn>
              <a:cxn ang="0">
                <a:pos x="0" y="81253849"/>
              </a:cxn>
              <a:cxn ang="0">
                <a:pos x="69482290" y="0"/>
              </a:cxn>
            </a:cxnLst>
            <a:rect l="0" t="0" r="0" b="0"/>
            <a:pathLst>
              <a:path w="382" h="382">
                <a:moveTo>
                  <a:pt x="300" y="79"/>
                </a:moveTo>
                <a:lnTo>
                  <a:pt x="133" y="196"/>
                </a:lnTo>
                <a:lnTo>
                  <a:pt x="300" y="312"/>
                </a:lnTo>
                <a:lnTo>
                  <a:pt x="300" y="79"/>
                </a:lnTo>
                <a:close/>
                <a:moveTo>
                  <a:pt x="286" y="286"/>
                </a:moveTo>
                <a:lnTo>
                  <a:pt x="286" y="286"/>
                </a:lnTo>
                <a:lnTo>
                  <a:pt x="157" y="196"/>
                </a:lnTo>
                <a:lnTo>
                  <a:pt x="286" y="106"/>
                </a:lnTo>
                <a:lnTo>
                  <a:pt x="286" y="286"/>
                </a:lnTo>
                <a:close/>
                <a:moveTo>
                  <a:pt x="116" y="312"/>
                </a:moveTo>
                <a:lnTo>
                  <a:pt x="116" y="312"/>
                </a:lnTo>
                <a:lnTo>
                  <a:pt x="116" y="79"/>
                </a:lnTo>
                <a:lnTo>
                  <a:pt x="93" y="79"/>
                </a:lnTo>
                <a:lnTo>
                  <a:pt x="93" y="312"/>
                </a:lnTo>
                <a:lnTo>
                  <a:pt x="116" y="312"/>
                </a:lnTo>
                <a:close/>
                <a:moveTo>
                  <a:pt x="191" y="0"/>
                </a:moveTo>
                <a:cubicBezTo>
                  <a:pt x="297" y="0"/>
                  <a:pt x="382" y="85"/>
                  <a:pt x="382" y="191"/>
                </a:cubicBezTo>
                <a:cubicBezTo>
                  <a:pt x="382" y="296"/>
                  <a:pt x="297" y="382"/>
                  <a:pt x="191" y="382"/>
                </a:cubicBezTo>
                <a:cubicBezTo>
                  <a:pt x="86" y="382"/>
                  <a:pt x="0" y="296"/>
                  <a:pt x="0" y="191"/>
                </a:cubicBezTo>
                <a:cubicBezTo>
                  <a:pt x="0" y="85"/>
                  <a:pt x="86" y="0"/>
                  <a:pt x="191" y="0"/>
                </a:cubicBezTo>
                <a:close/>
              </a:path>
            </a:pathLst>
          </a:custGeom>
          <a:solidFill>
            <a:schemeClr val="bg2">
              <a:alpha val="100000"/>
            </a:schemeClr>
          </a:solidFill>
          <a:ln w="9525">
            <a:noFill/>
          </a:ln>
        </p:spPr>
        <p:txBody>
          <a:bodyPr/>
          <a:lstStyle/>
          <a:p>
            <a:endParaRPr lang="zh-CN" altLang="en-US" sz="1799"/>
          </a:p>
        </p:txBody>
      </p:sp>
      <p:sp>
        <p:nvSpPr>
          <p:cNvPr id="3079" name="Freeform 14">
            <a:hlinkClick r:id="rId5" action="ppaction://hlinksldjump"/>
          </p:cNvPr>
          <p:cNvSpPr>
            <a:spLocks noEditPoints="1"/>
          </p:cNvSpPr>
          <p:nvPr userDrawn="1"/>
        </p:nvSpPr>
        <p:spPr>
          <a:xfrm>
            <a:off x="9910364" y="6600825"/>
            <a:ext cx="193574" cy="209550"/>
          </a:xfrm>
          <a:custGeom>
            <a:avLst/>
            <a:gdLst/>
            <a:ahLst/>
            <a:cxnLst>
              <a:cxn ang="0">
                <a:pos x="69482290" y="0"/>
              </a:cxn>
              <a:cxn ang="0">
                <a:pos x="138964580" y="81253849"/>
              </a:cxn>
              <a:cxn ang="0">
                <a:pos x="69482290" y="162507147"/>
              </a:cxn>
              <a:cxn ang="0">
                <a:pos x="0" y="81253849"/>
              </a:cxn>
              <a:cxn ang="0">
                <a:pos x="69482290" y="0"/>
              </a:cxn>
              <a:cxn ang="0">
                <a:pos x="119320215" y="87209280"/>
              </a:cxn>
              <a:cxn ang="0">
                <a:pos x="116774016" y="89336416"/>
              </a:cxn>
              <a:cxn ang="0">
                <a:pos x="108407132" y="89336416"/>
              </a:cxn>
              <a:cxn ang="0">
                <a:pos x="106224311" y="88485561"/>
              </a:cxn>
              <a:cxn ang="0">
                <a:pos x="69482290" y="43391926"/>
              </a:cxn>
              <a:cxn ang="0">
                <a:pos x="32376381" y="88485561"/>
              </a:cxn>
              <a:cxn ang="0">
                <a:pos x="30557449" y="89336416"/>
              </a:cxn>
              <a:cxn ang="0">
                <a:pos x="21826676" y="89336416"/>
              </a:cxn>
              <a:cxn ang="0">
                <a:pos x="19280477" y="87209280"/>
              </a:cxn>
              <a:cxn ang="0">
                <a:pos x="20007744" y="83805862"/>
              </a:cxn>
              <a:cxn ang="0">
                <a:pos x="66935582" y="26800815"/>
              </a:cxn>
              <a:cxn ang="0">
                <a:pos x="69482290" y="25524533"/>
              </a:cxn>
              <a:cxn ang="0">
                <a:pos x="71665110" y="26800815"/>
              </a:cxn>
              <a:cxn ang="0">
                <a:pos x="118956836" y="83805862"/>
              </a:cxn>
              <a:cxn ang="0">
                <a:pos x="119320215" y="87209280"/>
              </a:cxn>
              <a:cxn ang="0">
                <a:pos x="34923089" y="92739833"/>
              </a:cxn>
              <a:cxn ang="0">
                <a:pos x="34923089" y="92739833"/>
              </a:cxn>
              <a:cxn ang="0">
                <a:pos x="34923089" y="126772361"/>
              </a:cxn>
              <a:cxn ang="0">
                <a:pos x="38924842" y="132728342"/>
              </a:cxn>
              <a:cxn ang="0">
                <a:pos x="58204809" y="132728342"/>
              </a:cxn>
              <a:cxn ang="0">
                <a:pos x="58204809" y="95292397"/>
              </a:cxn>
              <a:cxn ang="0">
                <a:pos x="63298226" y="89761843"/>
              </a:cxn>
              <a:cxn ang="0">
                <a:pos x="75666354" y="89761843"/>
              </a:cxn>
              <a:cxn ang="0">
                <a:pos x="80395883" y="95292397"/>
              </a:cxn>
              <a:cxn ang="0">
                <a:pos x="80395883" y="132728342"/>
              </a:cxn>
              <a:cxn ang="0">
                <a:pos x="99676359" y="132728342"/>
              </a:cxn>
              <a:cxn ang="0">
                <a:pos x="103677603" y="126772361"/>
              </a:cxn>
              <a:cxn ang="0">
                <a:pos x="103677603" y="92739833"/>
              </a:cxn>
              <a:cxn ang="0">
                <a:pos x="69482290" y="50624189"/>
              </a:cxn>
              <a:cxn ang="0">
                <a:pos x="34923089" y="92739833"/>
              </a:cxn>
            </a:cxnLst>
            <a:rect l="0" t="0" r="0" b="0"/>
            <a:pathLst>
              <a:path w="382" h="382">
                <a:moveTo>
                  <a:pt x="191" y="0"/>
                </a:moveTo>
                <a:cubicBezTo>
                  <a:pt x="296" y="0"/>
                  <a:pt x="382" y="85"/>
                  <a:pt x="382" y="191"/>
                </a:cubicBezTo>
                <a:cubicBezTo>
                  <a:pt x="382" y="296"/>
                  <a:pt x="296" y="382"/>
                  <a:pt x="191" y="382"/>
                </a:cubicBezTo>
                <a:cubicBezTo>
                  <a:pt x="85" y="382"/>
                  <a:pt x="0" y="296"/>
                  <a:pt x="0" y="191"/>
                </a:cubicBezTo>
                <a:cubicBezTo>
                  <a:pt x="0" y="85"/>
                  <a:pt x="85" y="0"/>
                  <a:pt x="191" y="0"/>
                </a:cubicBezTo>
                <a:close/>
                <a:moveTo>
                  <a:pt x="328" y="205"/>
                </a:moveTo>
                <a:cubicBezTo>
                  <a:pt x="327" y="208"/>
                  <a:pt x="324" y="210"/>
                  <a:pt x="321" y="210"/>
                </a:cubicBezTo>
                <a:lnTo>
                  <a:pt x="298" y="210"/>
                </a:lnTo>
                <a:cubicBezTo>
                  <a:pt x="296" y="210"/>
                  <a:pt x="294" y="209"/>
                  <a:pt x="292" y="208"/>
                </a:cubicBezTo>
                <a:lnTo>
                  <a:pt x="191" y="102"/>
                </a:lnTo>
                <a:lnTo>
                  <a:pt x="89" y="208"/>
                </a:lnTo>
                <a:cubicBezTo>
                  <a:pt x="88" y="209"/>
                  <a:pt x="86" y="210"/>
                  <a:pt x="84" y="210"/>
                </a:cubicBezTo>
                <a:lnTo>
                  <a:pt x="60" y="210"/>
                </a:lnTo>
                <a:cubicBezTo>
                  <a:pt x="57" y="210"/>
                  <a:pt x="55" y="208"/>
                  <a:pt x="53" y="205"/>
                </a:cubicBezTo>
                <a:cubicBezTo>
                  <a:pt x="52" y="203"/>
                  <a:pt x="53" y="200"/>
                  <a:pt x="55" y="197"/>
                </a:cubicBezTo>
                <a:lnTo>
                  <a:pt x="184" y="63"/>
                </a:lnTo>
                <a:cubicBezTo>
                  <a:pt x="186" y="61"/>
                  <a:pt x="188" y="60"/>
                  <a:pt x="191" y="60"/>
                </a:cubicBezTo>
                <a:cubicBezTo>
                  <a:pt x="193" y="60"/>
                  <a:pt x="196" y="61"/>
                  <a:pt x="197" y="63"/>
                </a:cubicBezTo>
                <a:lnTo>
                  <a:pt x="327" y="197"/>
                </a:lnTo>
                <a:cubicBezTo>
                  <a:pt x="329" y="200"/>
                  <a:pt x="329" y="203"/>
                  <a:pt x="328" y="205"/>
                </a:cubicBezTo>
                <a:close/>
                <a:moveTo>
                  <a:pt x="96" y="218"/>
                </a:moveTo>
                <a:lnTo>
                  <a:pt x="96" y="218"/>
                </a:lnTo>
                <a:lnTo>
                  <a:pt x="96" y="298"/>
                </a:lnTo>
                <a:cubicBezTo>
                  <a:pt x="96" y="306"/>
                  <a:pt x="101" y="312"/>
                  <a:pt x="107" y="312"/>
                </a:cubicBezTo>
                <a:lnTo>
                  <a:pt x="160" y="312"/>
                </a:lnTo>
                <a:lnTo>
                  <a:pt x="160" y="224"/>
                </a:lnTo>
                <a:cubicBezTo>
                  <a:pt x="160" y="217"/>
                  <a:pt x="166" y="211"/>
                  <a:pt x="174" y="211"/>
                </a:cubicBezTo>
                <a:lnTo>
                  <a:pt x="208" y="211"/>
                </a:lnTo>
                <a:cubicBezTo>
                  <a:pt x="215" y="211"/>
                  <a:pt x="221" y="217"/>
                  <a:pt x="221" y="224"/>
                </a:cubicBezTo>
                <a:lnTo>
                  <a:pt x="221" y="312"/>
                </a:lnTo>
                <a:lnTo>
                  <a:pt x="274" y="312"/>
                </a:lnTo>
                <a:cubicBezTo>
                  <a:pt x="280" y="312"/>
                  <a:pt x="285" y="306"/>
                  <a:pt x="285" y="298"/>
                </a:cubicBezTo>
                <a:lnTo>
                  <a:pt x="285" y="218"/>
                </a:lnTo>
                <a:lnTo>
                  <a:pt x="191" y="119"/>
                </a:lnTo>
                <a:lnTo>
                  <a:pt x="96" y="218"/>
                </a:lnTo>
                <a:close/>
              </a:path>
            </a:pathLst>
          </a:custGeom>
          <a:solidFill>
            <a:schemeClr val="bg2">
              <a:alpha val="100000"/>
            </a:schemeClr>
          </a:solidFill>
          <a:ln w="9525">
            <a:noFill/>
          </a:ln>
        </p:spPr>
        <p:txBody>
          <a:bodyPr/>
          <a:lstStyle/>
          <a:p>
            <a:endParaRPr lang="zh-CN" altLang="en-US" sz="1799"/>
          </a:p>
        </p:txBody>
      </p:sp>
      <p:sp>
        <p:nvSpPr>
          <p:cNvPr id="3080" name="Freeform 15">
            <a:hlinkClick r:id="" action="ppaction://hlinkshowjump?jump=previousslide"/>
          </p:cNvPr>
          <p:cNvSpPr>
            <a:spLocks noEditPoints="1"/>
          </p:cNvSpPr>
          <p:nvPr userDrawn="1"/>
        </p:nvSpPr>
        <p:spPr>
          <a:xfrm>
            <a:off x="10484740" y="6600825"/>
            <a:ext cx="195161" cy="209550"/>
          </a:xfrm>
          <a:custGeom>
            <a:avLst/>
            <a:gdLst/>
            <a:ahLst/>
            <a:cxnLst>
              <a:cxn ang="0">
                <a:pos x="69482290" y="0"/>
              </a:cxn>
              <a:cxn ang="0">
                <a:pos x="138964580" y="81253849"/>
              </a:cxn>
              <a:cxn ang="0">
                <a:pos x="69482290" y="162507147"/>
              </a:cxn>
              <a:cxn ang="0">
                <a:pos x="0" y="81253849"/>
              </a:cxn>
              <a:cxn ang="0">
                <a:pos x="69482290" y="0"/>
              </a:cxn>
              <a:cxn ang="0">
                <a:pos x="98584695" y="26800815"/>
              </a:cxn>
              <a:cxn ang="0">
                <a:pos x="98584695" y="141236336"/>
              </a:cxn>
              <a:cxn ang="0">
                <a:pos x="11277481" y="83805862"/>
              </a:cxn>
              <a:cxn ang="0">
                <a:pos x="98584695" y="26800815"/>
              </a:cxn>
              <a:cxn ang="0">
                <a:pos x="90217811" y="41264790"/>
              </a:cxn>
              <a:cxn ang="0">
                <a:pos x="90217811" y="41264790"/>
              </a:cxn>
              <a:cxn ang="0">
                <a:pos x="24737273" y="83805862"/>
              </a:cxn>
              <a:cxn ang="0">
                <a:pos x="90217811" y="126772361"/>
              </a:cxn>
              <a:cxn ang="0">
                <a:pos x="90217811" y="41264790"/>
              </a:cxn>
            </a:cxnLst>
            <a:rect l="0" t="0" r="0" b="0"/>
            <a:pathLst>
              <a:path w="382" h="382">
                <a:moveTo>
                  <a:pt x="191" y="0"/>
                </a:moveTo>
                <a:cubicBezTo>
                  <a:pt x="297" y="0"/>
                  <a:pt x="382" y="85"/>
                  <a:pt x="382" y="191"/>
                </a:cubicBezTo>
                <a:cubicBezTo>
                  <a:pt x="382" y="296"/>
                  <a:pt x="297" y="382"/>
                  <a:pt x="191" y="382"/>
                </a:cubicBezTo>
                <a:cubicBezTo>
                  <a:pt x="86" y="382"/>
                  <a:pt x="0" y="296"/>
                  <a:pt x="0" y="191"/>
                </a:cubicBezTo>
                <a:cubicBezTo>
                  <a:pt x="0" y="85"/>
                  <a:pt x="86" y="0"/>
                  <a:pt x="191" y="0"/>
                </a:cubicBezTo>
                <a:close/>
                <a:moveTo>
                  <a:pt x="271" y="63"/>
                </a:moveTo>
                <a:lnTo>
                  <a:pt x="271" y="332"/>
                </a:lnTo>
                <a:lnTo>
                  <a:pt x="31" y="197"/>
                </a:lnTo>
                <a:lnTo>
                  <a:pt x="271" y="63"/>
                </a:lnTo>
                <a:close/>
                <a:moveTo>
                  <a:pt x="248" y="97"/>
                </a:moveTo>
                <a:lnTo>
                  <a:pt x="248" y="97"/>
                </a:lnTo>
                <a:lnTo>
                  <a:pt x="68" y="197"/>
                </a:lnTo>
                <a:lnTo>
                  <a:pt x="248" y="298"/>
                </a:lnTo>
                <a:lnTo>
                  <a:pt x="248" y="97"/>
                </a:lnTo>
                <a:close/>
              </a:path>
            </a:pathLst>
          </a:custGeom>
          <a:solidFill>
            <a:schemeClr val="bg2">
              <a:alpha val="100000"/>
            </a:schemeClr>
          </a:solidFill>
          <a:ln w="9525">
            <a:noFill/>
          </a:ln>
        </p:spPr>
        <p:txBody>
          <a:bodyPr/>
          <a:lstStyle/>
          <a:p>
            <a:endParaRPr lang="zh-CN" altLang="en-US" sz="1799"/>
          </a:p>
        </p:txBody>
      </p:sp>
      <p:sp>
        <p:nvSpPr>
          <p:cNvPr id="3081" name="Freeform 16">
            <a:hlinkClick r:id="" action="ppaction://hlinkshowjump?jump=lastslide"/>
          </p:cNvPr>
          <p:cNvSpPr>
            <a:spLocks noEditPoints="1"/>
          </p:cNvSpPr>
          <p:nvPr userDrawn="1"/>
        </p:nvSpPr>
        <p:spPr>
          <a:xfrm>
            <a:off x="11622385" y="6600825"/>
            <a:ext cx="193574" cy="209550"/>
          </a:xfrm>
          <a:custGeom>
            <a:avLst/>
            <a:gdLst/>
            <a:ahLst/>
            <a:cxnLst>
              <a:cxn ang="0">
                <a:pos x="29621193" y="33607650"/>
              </a:cxn>
              <a:cxn ang="0">
                <a:pos x="91057742" y="83380434"/>
              </a:cxn>
              <a:cxn ang="0">
                <a:pos x="29621193" y="132728342"/>
              </a:cxn>
              <a:cxn ang="0">
                <a:pos x="29621193" y="33607650"/>
              </a:cxn>
              <a:cxn ang="0">
                <a:pos x="35106599" y="121667784"/>
              </a:cxn>
              <a:cxn ang="0">
                <a:pos x="35106599" y="121667784"/>
              </a:cxn>
              <a:cxn ang="0">
                <a:pos x="82281093" y="83380434"/>
              </a:cxn>
              <a:cxn ang="0">
                <a:pos x="35106599" y="45093635"/>
              </a:cxn>
              <a:cxn ang="0">
                <a:pos x="35106599" y="121667784"/>
              </a:cxn>
              <a:cxn ang="0">
                <a:pos x="97274366" y="132728342"/>
              </a:cxn>
              <a:cxn ang="0">
                <a:pos x="97274366" y="132728342"/>
              </a:cxn>
              <a:cxn ang="0">
                <a:pos x="97274366" y="33607650"/>
              </a:cxn>
              <a:cxn ang="0">
                <a:pos x="105319798" y="33607650"/>
              </a:cxn>
              <a:cxn ang="0">
                <a:pos x="105319798" y="132728342"/>
              </a:cxn>
              <a:cxn ang="0">
                <a:pos x="97274366" y="132728342"/>
              </a:cxn>
              <a:cxn ang="0">
                <a:pos x="69847335" y="0"/>
              </a:cxn>
              <a:cxn ang="0">
                <a:pos x="0" y="81253849"/>
              </a:cxn>
              <a:cxn ang="0">
                <a:pos x="69847335" y="162507147"/>
              </a:cxn>
              <a:cxn ang="0">
                <a:pos x="139329317" y="81253849"/>
              </a:cxn>
              <a:cxn ang="0">
                <a:pos x="69847335" y="0"/>
              </a:cxn>
            </a:cxnLst>
            <a:rect l="0" t="0" r="0" b="0"/>
            <a:pathLst>
              <a:path w="381" h="382">
                <a:moveTo>
                  <a:pt x="81" y="79"/>
                </a:moveTo>
                <a:lnTo>
                  <a:pt x="249" y="196"/>
                </a:lnTo>
                <a:lnTo>
                  <a:pt x="81" y="312"/>
                </a:lnTo>
                <a:lnTo>
                  <a:pt x="81" y="79"/>
                </a:lnTo>
                <a:close/>
                <a:moveTo>
                  <a:pt x="96" y="286"/>
                </a:moveTo>
                <a:lnTo>
                  <a:pt x="96" y="286"/>
                </a:lnTo>
                <a:lnTo>
                  <a:pt x="225" y="196"/>
                </a:lnTo>
                <a:lnTo>
                  <a:pt x="96" y="106"/>
                </a:lnTo>
                <a:lnTo>
                  <a:pt x="96" y="286"/>
                </a:lnTo>
                <a:close/>
                <a:moveTo>
                  <a:pt x="266" y="312"/>
                </a:moveTo>
                <a:lnTo>
                  <a:pt x="266" y="312"/>
                </a:lnTo>
                <a:lnTo>
                  <a:pt x="266" y="79"/>
                </a:lnTo>
                <a:lnTo>
                  <a:pt x="288" y="79"/>
                </a:lnTo>
                <a:lnTo>
                  <a:pt x="288" y="312"/>
                </a:lnTo>
                <a:lnTo>
                  <a:pt x="266" y="312"/>
                </a:lnTo>
                <a:close/>
                <a:moveTo>
                  <a:pt x="191" y="0"/>
                </a:moveTo>
                <a:cubicBezTo>
                  <a:pt x="85" y="0"/>
                  <a:pt x="0" y="85"/>
                  <a:pt x="0" y="191"/>
                </a:cubicBezTo>
                <a:cubicBezTo>
                  <a:pt x="0" y="296"/>
                  <a:pt x="85" y="382"/>
                  <a:pt x="191" y="382"/>
                </a:cubicBezTo>
                <a:cubicBezTo>
                  <a:pt x="296" y="382"/>
                  <a:pt x="381" y="296"/>
                  <a:pt x="381" y="191"/>
                </a:cubicBezTo>
                <a:cubicBezTo>
                  <a:pt x="381" y="85"/>
                  <a:pt x="296" y="0"/>
                  <a:pt x="191" y="0"/>
                </a:cubicBezTo>
                <a:close/>
              </a:path>
            </a:pathLst>
          </a:custGeom>
          <a:solidFill>
            <a:schemeClr val="bg2">
              <a:alpha val="100000"/>
            </a:schemeClr>
          </a:solidFill>
          <a:ln w="9525">
            <a:noFill/>
          </a:ln>
        </p:spPr>
        <p:txBody>
          <a:bodyPr/>
          <a:lstStyle/>
          <a:p>
            <a:endParaRPr lang="zh-CN" altLang="en-US" sz="1799"/>
          </a:p>
        </p:txBody>
      </p:sp>
      <p:sp>
        <p:nvSpPr>
          <p:cNvPr id="3082" name="Freeform 17">
            <a:hlinkClick r:id="" action="ppaction://hlinkshowjump?jump=nextslide"/>
          </p:cNvPr>
          <p:cNvSpPr>
            <a:spLocks noEditPoints="1"/>
          </p:cNvSpPr>
          <p:nvPr userDrawn="1"/>
        </p:nvSpPr>
        <p:spPr>
          <a:xfrm>
            <a:off x="11335197" y="6600825"/>
            <a:ext cx="193574" cy="209550"/>
          </a:xfrm>
          <a:custGeom>
            <a:avLst/>
            <a:gdLst/>
            <a:ahLst/>
            <a:cxnLst>
              <a:cxn ang="0">
                <a:pos x="69847335" y="0"/>
              </a:cxn>
              <a:cxn ang="0">
                <a:pos x="0" y="81253849"/>
              </a:cxn>
              <a:cxn ang="0">
                <a:pos x="69847335" y="162507147"/>
              </a:cxn>
              <a:cxn ang="0">
                <a:pos x="139329317" y="81253849"/>
              </a:cxn>
              <a:cxn ang="0">
                <a:pos x="69847335" y="0"/>
              </a:cxn>
              <a:cxn ang="0">
                <a:pos x="40592006" y="26800815"/>
              </a:cxn>
              <a:cxn ang="0">
                <a:pos x="40592006" y="141236336"/>
              </a:cxn>
              <a:cxn ang="0">
                <a:pos x="128358504" y="83805862"/>
              </a:cxn>
              <a:cxn ang="0">
                <a:pos x="40592006" y="26800815"/>
              </a:cxn>
              <a:cxn ang="0">
                <a:pos x="49002792" y="41264790"/>
              </a:cxn>
              <a:cxn ang="0">
                <a:pos x="49002792" y="41264790"/>
              </a:cxn>
              <a:cxn ang="0">
                <a:pos x="114827666" y="83805862"/>
              </a:cxn>
              <a:cxn ang="0">
                <a:pos x="49002792" y="126772361"/>
              </a:cxn>
              <a:cxn ang="0">
                <a:pos x="49002792" y="41264790"/>
              </a:cxn>
            </a:cxnLst>
            <a:rect l="0" t="0" r="0" b="0"/>
            <a:pathLst>
              <a:path w="381" h="382">
                <a:moveTo>
                  <a:pt x="191" y="0"/>
                </a:moveTo>
                <a:cubicBezTo>
                  <a:pt x="85" y="0"/>
                  <a:pt x="0" y="85"/>
                  <a:pt x="0" y="191"/>
                </a:cubicBezTo>
                <a:cubicBezTo>
                  <a:pt x="0" y="296"/>
                  <a:pt x="85" y="382"/>
                  <a:pt x="191" y="382"/>
                </a:cubicBezTo>
                <a:cubicBezTo>
                  <a:pt x="296" y="382"/>
                  <a:pt x="381" y="296"/>
                  <a:pt x="381" y="191"/>
                </a:cubicBezTo>
                <a:cubicBezTo>
                  <a:pt x="381" y="85"/>
                  <a:pt x="296" y="0"/>
                  <a:pt x="191" y="0"/>
                </a:cubicBezTo>
                <a:close/>
                <a:moveTo>
                  <a:pt x="111" y="63"/>
                </a:moveTo>
                <a:lnTo>
                  <a:pt x="111" y="332"/>
                </a:lnTo>
                <a:lnTo>
                  <a:pt x="351" y="197"/>
                </a:lnTo>
                <a:lnTo>
                  <a:pt x="111" y="63"/>
                </a:lnTo>
                <a:close/>
                <a:moveTo>
                  <a:pt x="134" y="97"/>
                </a:moveTo>
                <a:lnTo>
                  <a:pt x="134" y="97"/>
                </a:lnTo>
                <a:lnTo>
                  <a:pt x="314" y="197"/>
                </a:lnTo>
                <a:lnTo>
                  <a:pt x="134" y="298"/>
                </a:lnTo>
                <a:lnTo>
                  <a:pt x="134" y="97"/>
                </a:lnTo>
                <a:close/>
              </a:path>
            </a:pathLst>
          </a:custGeom>
          <a:solidFill>
            <a:schemeClr val="bg2">
              <a:alpha val="100000"/>
            </a:schemeClr>
          </a:solidFill>
          <a:ln w="9525">
            <a:noFill/>
          </a:ln>
        </p:spPr>
        <p:txBody>
          <a:bodyPr/>
          <a:lstStyle/>
          <a:p>
            <a:endParaRPr lang="zh-CN" altLang="en-US" sz="1799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10806835" y="6577014"/>
            <a:ext cx="398256" cy="2762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ctr" eaLnBrk="1" hangingPunct="1"/>
            <a:fld id="{9A0DB2DC-4C9A-4742-B13C-FB6460FD3503}" type="slidenum">
              <a:rPr lang="zh-CN" altLang="en-US" sz="1199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199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65651" y="1626528"/>
            <a:ext cx="9284880" cy="635000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65651" y="2261528"/>
            <a:ext cx="9284880" cy="4277072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255174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237" y="4406903"/>
            <a:ext cx="10362327" cy="1362075"/>
          </a:xfrm>
        </p:spPr>
        <p:txBody>
          <a:bodyPr anchor="t"/>
          <a:lstStyle>
            <a:lvl1pPr algn="l">
              <a:defRPr sz="3998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237" y="2906713"/>
            <a:ext cx="10362327" cy="1500187"/>
          </a:xfrm>
        </p:spPr>
        <p:txBody>
          <a:bodyPr anchor="b"/>
          <a:lstStyle>
            <a:lvl1pPr marL="0" indent="0">
              <a:buNone/>
              <a:defRPr sz="1999"/>
            </a:lvl1pPr>
            <a:lvl2pPr marL="456971" indent="0">
              <a:buNone/>
              <a:defRPr sz="1799"/>
            </a:lvl2pPr>
            <a:lvl3pPr marL="913943" indent="0">
              <a:buNone/>
              <a:defRPr sz="1599"/>
            </a:lvl3pPr>
            <a:lvl4pPr marL="1370914" indent="0">
              <a:buNone/>
              <a:defRPr sz="1399"/>
            </a:lvl4pPr>
            <a:lvl5pPr marL="1827886" indent="0">
              <a:buNone/>
              <a:defRPr sz="1399"/>
            </a:lvl5pPr>
            <a:lvl6pPr marL="2284857" indent="0">
              <a:buNone/>
              <a:defRPr sz="1399"/>
            </a:lvl6pPr>
            <a:lvl7pPr marL="2741828" indent="0">
              <a:buNone/>
              <a:defRPr sz="1399"/>
            </a:lvl7pPr>
            <a:lvl8pPr marL="3198800" indent="0">
              <a:buNone/>
              <a:defRPr sz="1399"/>
            </a:lvl8pPr>
            <a:lvl9pPr marL="3655771" indent="0">
              <a:buNone/>
              <a:defRPr sz="139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687455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363" y="1600203"/>
            <a:ext cx="5409675" cy="4525963"/>
          </a:xfrm>
        </p:spPr>
        <p:txBody>
          <a:bodyPr/>
          <a:lstStyle>
            <a:lvl1pPr>
              <a:defRPr sz="2799"/>
            </a:lvl1pPr>
            <a:lvl2pPr>
              <a:defRPr sz="2399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378" y="1600203"/>
            <a:ext cx="5411262" cy="4525963"/>
          </a:xfrm>
        </p:spPr>
        <p:txBody>
          <a:bodyPr/>
          <a:lstStyle>
            <a:lvl1pPr>
              <a:defRPr sz="2799"/>
            </a:lvl1pPr>
            <a:lvl2pPr>
              <a:defRPr sz="2399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49942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363" y="274638"/>
            <a:ext cx="10973276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363" y="1535113"/>
            <a:ext cx="5387458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6971" indent="0">
              <a:buNone/>
              <a:defRPr sz="1999" b="1"/>
            </a:lvl2pPr>
            <a:lvl3pPr marL="913943" indent="0">
              <a:buNone/>
              <a:defRPr sz="1799" b="1"/>
            </a:lvl3pPr>
            <a:lvl4pPr marL="1370914" indent="0">
              <a:buNone/>
              <a:defRPr sz="1599" b="1"/>
            </a:lvl4pPr>
            <a:lvl5pPr marL="1827886" indent="0">
              <a:buNone/>
              <a:defRPr sz="1599" b="1"/>
            </a:lvl5pPr>
            <a:lvl6pPr marL="2284857" indent="0">
              <a:buNone/>
              <a:defRPr sz="1599" b="1"/>
            </a:lvl6pPr>
            <a:lvl7pPr marL="2741828" indent="0">
              <a:buNone/>
              <a:defRPr sz="1599" b="1"/>
            </a:lvl7pPr>
            <a:lvl8pPr marL="3198800" indent="0">
              <a:buNone/>
              <a:defRPr sz="1599" b="1"/>
            </a:lvl8pPr>
            <a:lvl9pPr marL="3655771" indent="0">
              <a:buNone/>
              <a:defRPr sz="159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363" y="2174875"/>
            <a:ext cx="5387458" cy="395128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595" y="1535113"/>
            <a:ext cx="5389044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6971" indent="0">
              <a:buNone/>
              <a:defRPr sz="1999" b="1"/>
            </a:lvl2pPr>
            <a:lvl3pPr marL="913943" indent="0">
              <a:buNone/>
              <a:defRPr sz="1799" b="1"/>
            </a:lvl3pPr>
            <a:lvl4pPr marL="1370914" indent="0">
              <a:buNone/>
              <a:defRPr sz="1599" b="1"/>
            </a:lvl4pPr>
            <a:lvl5pPr marL="1827886" indent="0">
              <a:buNone/>
              <a:defRPr sz="1599" b="1"/>
            </a:lvl5pPr>
            <a:lvl6pPr marL="2284857" indent="0">
              <a:buNone/>
              <a:defRPr sz="1599" b="1"/>
            </a:lvl6pPr>
            <a:lvl7pPr marL="2741828" indent="0">
              <a:buNone/>
              <a:defRPr sz="1599" b="1"/>
            </a:lvl7pPr>
            <a:lvl8pPr marL="3198800" indent="0">
              <a:buNone/>
              <a:defRPr sz="1599" b="1"/>
            </a:lvl8pPr>
            <a:lvl9pPr marL="3655771" indent="0">
              <a:buNone/>
              <a:defRPr sz="159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595" y="2174875"/>
            <a:ext cx="5389044" cy="395128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8320894" y="6545426"/>
            <a:ext cx="77473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www.1ppt.com/hangye/ </a:t>
            </a:r>
          </a:p>
          <a:p>
            <a:pPr rtl="0"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www.1ppt.com/sucai/</a:t>
            </a:r>
          </a:p>
          <a:p>
            <a:pPr rtl="0"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www.1ppt.com/tubiao/      </a:t>
            </a:r>
          </a:p>
          <a:p>
            <a:pPr rtl="0"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www.1ppt.com/powerpoint/      </a:t>
            </a:r>
          </a:p>
          <a:p>
            <a:pPr rtl="0"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www.1ppt.com/excel/  </a:t>
            </a:r>
          </a:p>
          <a:p>
            <a:pPr rtl="0"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www.1ppt.com/kejian/ </a:t>
            </a:r>
          </a:p>
          <a:p>
            <a:pPr rtl="0"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www.1ppt.com/shiti/  </a:t>
            </a:r>
          </a:p>
          <a:p>
            <a:pPr rtl="0"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www.1ppt.com/jiaoan/  </a:t>
            </a:r>
            <a:r>
              <a:rPr lang="en-US" altLang="zh-CN" sz="100" dirty="0" smtClean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      </a:t>
            </a:r>
            <a:endParaRPr lang="en-US" altLang="zh-CN" sz="100" dirty="0">
              <a:solidFill>
                <a:prstClr val="white"/>
              </a:solidFill>
              <a:latin typeface="Calibri"/>
              <a:ea typeface="宋体"/>
              <a:cs typeface="+mn-cs"/>
            </a:endParaRPr>
          </a:p>
          <a:p>
            <a:pPr rtl="0"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 smtClean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字体下载：</a:t>
            </a:r>
            <a:r>
              <a:rPr lang="en-US" altLang="zh-CN" sz="100" dirty="0" smtClean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/>
              <a:ea typeface="宋体"/>
              <a:cs typeface="+mn-cs"/>
            </a:endParaRPr>
          </a:p>
          <a:p>
            <a:pPr rtl="0"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04700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1006913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78239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362" y="273050"/>
            <a:ext cx="4011633" cy="1162050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989" y="273053"/>
            <a:ext cx="6815651" cy="5853113"/>
          </a:xfrm>
        </p:spPr>
        <p:txBody>
          <a:bodyPr/>
          <a:lstStyle>
            <a:lvl1pPr>
              <a:defRPr sz="3198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362" y="1435103"/>
            <a:ext cx="4011633" cy="4691063"/>
          </a:xfrm>
        </p:spPr>
        <p:txBody>
          <a:bodyPr/>
          <a:lstStyle>
            <a:lvl1pPr marL="0" indent="0">
              <a:buNone/>
              <a:defRPr sz="1399"/>
            </a:lvl1pPr>
            <a:lvl2pPr marL="456971" indent="0">
              <a:buNone/>
              <a:defRPr sz="1199"/>
            </a:lvl2pPr>
            <a:lvl3pPr marL="913943" indent="0">
              <a:buNone/>
              <a:defRPr sz="999"/>
            </a:lvl3pPr>
            <a:lvl4pPr marL="1370914" indent="0">
              <a:buNone/>
              <a:defRPr sz="900"/>
            </a:lvl4pPr>
            <a:lvl5pPr marL="1827886" indent="0">
              <a:buNone/>
              <a:defRPr sz="900"/>
            </a:lvl5pPr>
            <a:lvl6pPr marL="2284857" indent="0">
              <a:buNone/>
              <a:defRPr sz="900"/>
            </a:lvl6pPr>
            <a:lvl7pPr marL="2741828" indent="0">
              <a:buNone/>
              <a:defRPr sz="900"/>
            </a:lvl7pPr>
            <a:lvl8pPr marL="3198800" indent="0">
              <a:buNone/>
              <a:defRPr sz="900"/>
            </a:lvl8pPr>
            <a:lvl9pPr marL="3655771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148819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843" y="4800600"/>
            <a:ext cx="7315518" cy="566738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843" y="612775"/>
            <a:ext cx="7315518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198"/>
            </a:lvl1pPr>
            <a:lvl2pPr marL="456971" indent="0">
              <a:buNone/>
              <a:defRPr sz="2799"/>
            </a:lvl2pPr>
            <a:lvl3pPr marL="913943" indent="0">
              <a:buNone/>
              <a:defRPr sz="2399"/>
            </a:lvl3pPr>
            <a:lvl4pPr marL="1370914" indent="0">
              <a:buNone/>
              <a:defRPr sz="1999"/>
            </a:lvl4pPr>
            <a:lvl5pPr marL="1827886" indent="0">
              <a:buNone/>
              <a:defRPr sz="1999"/>
            </a:lvl5pPr>
            <a:lvl6pPr marL="2284857" indent="0">
              <a:buNone/>
              <a:defRPr sz="1999"/>
            </a:lvl6pPr>
            <a:lvl7pPr marL="2741828" indent="0">
              <a:buNone/>
              <a:defRPr sz="1999"/>
            </a:lvl7pPr>
            <a:lvl8pPr marL="3198800" indent="0">
              <a:buNone/>
              <a:defRPr sz="1999"/>
            </a:lvl8pPr>
            <a:lvl9pPr marL="3655771" indent="0">
              <a:buNone/>
              <a:defRPr sz="1999"/>
            </a:lvl9pPr>
          </a:lstStyle>
          <a:p>
            <a:pPr marL="0" marR="0" lvl="0" indent="0" algn="l" defTabSz="913943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198" b="0" i="0" u="none" strike="noStrike" kern="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843" y="5367338"/>
            <a:ext cx="7315518" cy="804862"/>
          </a:xfrm>
        </p:spPr>
        <p:txBody>
          <a:bodyPr/>
          <a:lstStyle>
            <a:lvl1pPr marL="0" indent="0">
              <a:buNone/>
              <a:defRPr sz="1399"/>
            </a:lvl1pPr>
            <a:lvl2pPr marL="456971" indent="0">
              <a:buNone/>
              <a:defRPr sz="1199"/>
            </a:lvl2pPr>
            <a:lvl3pPr marL="913943" indent="0">
              <a:buNone/>
              <a:defRPr sz="999"/>
            </a:lvl3pPr>
            <a:lvl4pPr marL="1370914" indent="0">
              <a:buNone/>
              <a:defRPr sz="900"/>
            </a:lvl4pPr>
            <a:lvl5pPr marL="1827886" indent="0">
              <a:buNone/>
              <a:defRPr sz="900"/>
            </a:lvl5pPr>
            <a:lvl6pPr marL="2284857" indent="0">
              <a:buNone/>
              <a:defRPr sz="900"/>
            </a:lvl6pPr>
            <a:lvl7pPr marL="2741828" indent="0">
              <a:buNone/>
              <a:defRPr sz="900"/>
            </a:lvl7pPr>
            <a:lvl8pPr marL="3198800" indent="0">
              <a:buNone/>
              <a:defRPr sz="900"/>
            </a:lvl8pPr>
            <a:lvl9pPr marL="3655771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367428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379683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509" y="908050"/>
            <a:ext cx="2742129" cy="52181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363" y="908050"/>
            <a:ext cx="8078806" cy="52181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682119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PPECLOGO-eff2-1-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0590" y="3446464"/>
            <a:ext cx="282428" cy="2365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" name="Picture 17" descr="PPECLOGO-eff2-1-3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36028" y="2909889"/>
            <a:ext cx="360174" cy="301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" name="Picture 16" descr="PPECLOGO-eff2-1-4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15678" y="3325814"/>
            <a:ext cx="702896" cy="585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" name="Picture 15" descr="PPECLOGO-eff2-1-3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2551" y="2786064"/>
            <a:ext cx="436336" cy="365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" name="Picture 14" descr="PPECLOGO-eff2-1-2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053156" y="2795588"/>
            <a:ext cx="1697741" cy="1428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" name="Picture 13" descr="PPECLOGO-eff-0-1"/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51104" y="2365376"/>
            <a:ext cx="522015" cy="3921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" name="Picture 12" descr="PPECLOGO-eff-0-1"/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39715" y="3624263"/>
            <a:ext cx="522016" cy="393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Picture 11" descr="PPECLOGO-eff-5-4"/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1803" y="2725738"/>
            <a:ext cx="1117018" cy="850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Picture 10" descr="PPECLOGO-eff-5-2"/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50263" y="3446463"/>
            <a:ext cx="1834195" cy="1435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Picture 9" descr="PPECLOGO-eff-5-4"/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0615" y="3206750"/>
            <a:ext cx="1477193" cy="1123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Picture 8" descr="PPECLOGO-eff-0-2"/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75690" y="2574925"/>
            <a:ext cx="982150" cy="750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Picture 6" descr="PPECLOGO-eff-0-1"/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73273" y="2903538"/>
            <a:ext cx="401428" cy="3032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Picture 5" descr="PPECLOGO-eff-0-1"/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4900" y="3770314"/>
            <a:ext cx="525189" cy="396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Picture 4" descr="PPECLOGO-eff-0-3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39272" y="1447800"/>
            <a:ext cx="3013093" cy="23764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Picture 3" descr="PPECLOGO-eff-0-2"/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26824" y="2757489"/>
            <a:ext cx="1096391" cy="839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Picture 2" descr="PPECLOGO-eff-0-1"/>
          <p:cNvPicPr>
            <a:picLocks noChangeAspect="1"/>
          </p:cNvPicPr>
          <p:nvPr userDrawn="1"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5979" y="2886075"/>
            <a:ext cx="1059898" cy="80010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357211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rAng="0" ptsTypes="">
                                      <p:cBhvr>
                                        <p:cTn id="3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31632 3.33333E-6 " pathEditMode="relative" rAng="0" ptsTypes="AA">
                                      <p:cBhvr>
                                        <p:cTn id="41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00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4 -1.85185E-6 L -0.46684 -1.85185E-6 " pathEditMode="relative" rAng="0" ptsTypes="AA">
                                      <p:cBhvr>
                                        <p:cTn id="4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600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11111E-6 L -0.19531 1.11111E-6 " pathEditMode="relative" rAng="0" ptsTypes="AA">
                                      <p:cBhvr>
                                        <p:cTn id="4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00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-0.43594 2.59259E-6 " pathEditMode="relative" rAng="0" ptsTypes="AA">
                                      <p:cBhvr>
                                        <p:cTn id="4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00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85185E-6 L -0.33577 -1.85185E-6 " pathEditMode="relative" rAng="0" ptsTypes="AA">
                                      <p:cBhvr>
                                        <p:cTn id="4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800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600" y="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600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0.43906 2.59259E-6 " pathEditMode="relative" rAng="0" ptsTypes="AA">
                                      <p:cBhvr>
                                        <p:cTn id="55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00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96296E-6 L 0.62813 2.96296E-6 " pathEditMode="relative" rAng="0" ptsTypes="AA">
                                      <p:cBhvr>
                                        <p:cTn id="5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00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96296E-6 L 0.42465 -2.96296E-6 " pathEditMode="relative" rAng="0" ptsTypes="AA">
                                      <p:cBhvr>
                                        <p:cTn id="5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00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xit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7A926-B670-4E96-AC3D-FAD7239C7E20}" type="datetime1">
              <a:rPr lang="zh-CN" altLang="en-US" smtClean="0"/>
              <a:t>2020/11/12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1CD8BB-5593-45B4-989A-D8D5518AAF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746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840937" y="590550"/>
            <a:ext cx="10510126" cy="635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840937" y="1600200"/>
            <a:ext cx="10510126" cy="42767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1892667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2399">
          <a:solidFill>
            <a:schemeClr val="accent3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399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399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399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399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6971" algn="l" rtl="0" fontAlgn="base">
        <a:spcBef>
          <a:spcPct val="0"/>
        </a:spcBef>
        <a:spcAft>
          <a:spcPct val="0"/>
        </a:spcAft>
        <a:defRPr sz="2399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3943" algn="l" rtl="0" fontAlgn="base">
        <a:spcBef>
          <a:spcPct val="0"/>
        </a:spcBef>
        <a:spcAft>
          <a:spcPct val="0"/>
        </a:spcAft>
        <a:defRPr sz="2399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0914" algn="l" rtl="0" fontAlgn="base">
        <a:spcBef>
          <a:spcPct val="0"/>
        </a:spcBef>
        <a:spcAft>
          <a:spcPct val="0"/>
        </a:spcAft>
        <a:defRPr sz="2399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7886" algn="l" rtl="0" fontAlgn="base">
        <a:spcBef>
          <a:spcPct val="0"/>
        </a:spcBef>
        <a:spcAft>
          <a:spcPct val="0"/>
        </a:spcAft>
        <a:defRPr sz="2399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729" indent="-342729" algn="l" rtl="0" fontAlgn="base">
        <a:spcBef>
          <a:spcPct val="20000"/>
        </a:spcBef>
        <a:spcAft>
          <a:spcPct val="0"/>
        </a:spcAft>
        <a:buChar char="•"/>
        <a:defRPr sz="1999">
          <a:solidFill>
            <a:schemeClr val="accent3"/>
          </a:solidFill>
          <a:latin typeface="+mn-lt"/>
          <a:ea typeface="+mn-ea"/>
          <a:cs typeface="+mn-cs"/>
        </a:defRPr>
      </a:lvl1pPr>
      <a:lvl2pPr marL="742579" indent="-285607" algn="l" rtl="0" eaLnBrk="0" fontAlgn="base" hangingPunct="0">
        <a:spcBef>
          <a:spcPct val="20000"/>
        </a:spcBef>
        <a:spcAft>
          <a:spcPct val="0"/>
        </a:spcAft>
        <a:buChar char="–"/>
        <a:defRPr sz="1999">
          <a:solidFill>
            <a:schemeClr val="accent3"/>
          </a:solidFill>
          <a:latin typeface="+mn-lt"/>
          <a:ea typeface="仿宋_GB2312" pitchFamily="49" charset="-122"/>
        </a:defRPr>
      </a:lvl2pPr>
      <a:lvl3pPr marL="1142429" indent="-228486" algn="l" rtl="0" eaLnBrk="0" fontAlgn="base" hangingPunct="0">
        <a:spcBef>
          <a:spcPct val="20000"/>
        </a:spcBef>
        <a:spcAft>
          <a:spcPct val="0"/>
        </a:spcAft>
        <a:buChar char="•"/>
        <a:defRPr sz="2399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599400" indent="-228486" algn="l" rtl="0" eaLnBrk="0" fontAlgn="base" hangingPunct="0">
        <a:spcBef>
          <a:spcPct val="20000"/>
        </a:spcBef>
        <a:spcAft>
          <a:spcPct val="0"/>
        </a:spcAft>
        <a:buChar char="–"/>
        <a:defRPr sz="1999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6371" indent="-228486" algn="l" rtl="0" eaLnBrk="0" fontAlgn="base" hangingPunct="0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3343" indent="-228486" algn="l" rtl="0" eaLnBrk="0" fontAlgn="base" hangingPunct="0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0314" indent="-228486" algn="l" rtl="0" eaLnBrk="0" fontAlgn="base" hangingPunct="0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7286" indent="-228486" algn="l" rtl="0" eaLnBrk="0" fontAlgn="base" hangingPunct="0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4257" indent="-228486" algn="l" rtl="0" eaLnBrk="0" fontAlgn="base" hangingPunct="0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6855251" cy="6858000"/>
          </a:xfrm>
          <a:custGeom>
            <a:avLst/>
            <a:gdLst>
              <a:gd name="connsiteX0" fmla="*/ 0 w 6855251"/>
              <a:gd name="connsiteY0" fmla="*/ 0 h 6858000"/>
              <a:gd name="connsiteX1" fmla="*/ 3657313 w 6855251"/>
              <a:gd name="connsiteY1" fmla="*/ 0 h 6858000"/>
              <a:gd name="connsiteX2" fmla="*/ 6855251 w 6855251"/>
              <a:gd name="connsiteY2" fmla="*/ 6858000 h 6858000"/>
              <a:gd name="connsiteX3" fmla="*/ 0 w 685525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5251" h="6858000">
                <a:moveTo>
                  <a:pt x="0" y="0"/>
                </a:moveTo>
                <a:lnTo>
                  <a:pt x="3657313" y="0"/>
                </a:lnTo>
                <a:lnTo>
                  <a:pt x="685525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六边形 8"/>
          <p:cNvSpPr/>
          <p:nvPr/>
        </p:nvSpPr>
        <p:spPr>
          <a:xfrm>
            <a:off x="10609036" y="4785390"/>
            <a:ext cx="979111" cy="844061"/>
          </a:xfrm>
          <a:prstGeom prst="hexagon">
            <a:avLst/>
          </a:prstGeom>
          <a:solidFill>
            <a:srgbClr val="0E64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" name="组合 34"/>
          <p:cNvGrpSpPr/>
          <p:nvPr/>
        </p:nvGrpSpPr>
        <p:grpSpPr>
          <a:xfrm>
            <a:off x="7268559" y="4797083"/>
            <a:ext cx="979111" cy="844061"/>
            <a:chOff x="8207893" y="4797083"/>
            <a:chExt cx="979111" cy="844061"/>
          </a:xfrm>
        </p:grpSpPr>
        <p:sp>
          <p:nvSpPr>
            <p:cNvPr id="11" name="六边形 10"/>
            <p:cNvSpPr/>
            <p:nvPr/>
          </p:nvSpPr>
          <p:spPr>
            <a:xfrm>
              <a:off x="8207893" y="4797083"/>
              <a:ext cx="979111" cy="844061"/>
            </a:xfrm>
            <a:prstGeom prst="hexagon">
              <a:avLst/>
            </a:prstGeom>
            <a:solidFill>
              <a:srgbClr val="2DB2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" name="组合 21"/>
            <p:cNvGrpSpPr>
              <a:grpSpLocks noChangeAspect="1"/>
            </p:cNvGrpSpPr>
            <p:nvPr/>
          </p:nvGrpSpPr>
          <p:grpSpPr>
            <a:xfrm>
              <a:off x="8557979" y="5356069"/>
              <a:ext cx="212940" cy="58403"/>
              <a:chOff x="3586685" y="1317583"/>
              <a:chExt cx="257321" cy="70576"/>
            </a:xfrm>
            <a:solidFill>
              <a:srgbClr val="FEFEFE"/>
            </a:solidFill>
            <a:effectLst/>
          </p:grpSpPr>
          <p:sp>
            <p:nvSpPr>
              <p:cNvPr id="25" name="Oval 7"/>
              <p:cNvSpPr>
                <a:spLocks noChangeArrowheads="1"/>
              </p:cNvSpPr>
              <p:nvPr/>
            </p:nvSpPr>
            <p:spPr bwMode="auto">
              <a:xfrm>
                <a:off x="3586685" y="1317583"/>
                <a:ext cx="71201" cy="7057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6" name="Oval 8"/>
              <p:cNvSpPr>
                <a:spLocks noChangeArrowheads="1"/>
              </p:cNvSpPr>
              <p:nvPr/>
            </p:nvSpPr>
            <p:spPr bwMode="auto">
              <a:xfrm>
                <a:off x="3772805" y="1317583"/>
                <a:ext cx="71201" cy="7057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12" name="六边形 11"/>
          <p:cNvSpPr/>
          <p:nvPr/>
        </p:nvSpPr>
        <p:spPr>
          <a:xfrm>
            <a:off x="8382052" y="4797083"/>
            <a:ext cx="979111" cy="844061"/>
          </a:xfrm>
          <a:prstGeom prst="hexagon">
            <a:avLst/>
          </a:prstGeom>
          <a:solidFill>
            <a:srgbClr val="F87A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六边形 12"/>
          <p:cNvSpPr/>
          <p:nvPr/>
        </p:nvSpPr>
        <p:spPr>
          <a:xfrm>
            <a:off x="9495544" y="4797083"/>
            <a:ext cx="979111" cy="844061"/>
          </a:xfrm>
          <a:prstGeom prst="hexagon">
            <a:avLst/>
          </a:prstGeom>
          <a:solidFill>
            <a:srgbClr val="74A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6212693" y="2268835"/>
            <a:ext cx="5551520" cy="7078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2020</a:t>
            </a: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年工作</a:t>
            </a:r>
            <a:r>
              <a:rPr lang="zh-CN" altLang="en-US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總結及展望</a:t>
            </a:r>
          </a:p>
        </p:txBody>
      </p:sp>
      <p:sp>
        <p:nvSpPr>
          <p:cNvPr id="32" name="矩形 31"/>
          <p:cNvSpPr/>
          <p:nvPr/>
        </p:nvSpPr>
        <p:spPr>
          <a:xfrm>
            <a:off x="6958112" y="3275921"/>
            <a:ext cx="48061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工作總結 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績效考核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未來展望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同仁報告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6114264" y="3080515"/>
            <a:ext cx="5551520" cy="1809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reeform 10"/>
          <p:cNvSpPr>
            <a:spLocks noEditPoints="1"/>
          </p:cNvSpPr>
          <p:nvPr/>
        </p:nvSpPr>
        <p:spPr>
          <a:xfrm>
            <a:off x="8520447" y="4861089"/>
            <a:ext cx="669890" cy="708439"/>
          </a:xfrm>
          <a:custGeom>
            <a:avLst/>
            <a:gdLst/>
            <a:ahLst/>
            <a:cxnLst>
              <a:cxn ang="0">
                <a:pos x="133112" y="513932"/>
              </a:cxn>
              <a:cxn ang="0">
                <a:pos x="618646" y="234100"/>
              </a:cxn>
              <a:cxn ang="0">
                <a:pos x="540087" y="658747"/>
              </a:cxn>
              <a:cxn ang="0">
                <a:pos x="211671" y="90374"/>
              </a:cxn>
              <a:cxn ang="0">
                <a:pos x="540087" y="658747"/>
              </a:cxn>
              <a:cxn ang="0">
                <a:pos x="175665" y="489977"/>
              </a:cxn>
              <a:cxn ang="0">
                <a:pos x="576093" y="259144"/>
              </a:cxn>
              <a:cxn ang="0">
                <a:pos x="501899" y="591239"/>
              </a:cxn>
              <a:cxn ang="0">
                <a:pos x="250950" y="157882"/>
              </a:cxn>
              <a:cxn ang="0">
                <a:pos x="501899" y="591239"/>
              </a:cxn>
              <a:cxn ang="0">
                <a:pos x="376425" y="409403"/>
              </a:cxn>
              <a:cxn ang="0">
                <a:pos x="376425" y="338629"/>
              </a:cxn>
              <a:cxn ang="0">
                <a:pos x="391700" y="172037"/>
              </a:cxn>
              <a:cxn ang="0">
                <a:pos x="375333" y="187280"/>
              </a:cxn>
              <a:cxn ang="0">
                <a:pos x="360058" y="146993"/>
              </a:cxn>
              <a:cxn ang="0">
                <a:pos x="376425" y="131749"/>
              </a:cxn>
              <a:cxn ang="0">
                <a:pos x="391700" y="172037"/>
              </a:cxn>
              <a:cxn ang="0">
                <a:pos x="376425" y="617372"/>
              </a:cxn>
              <a:cxn ang="0">
                <a:pos x="360058" y="602128"/>
              </a:cxn>
              <a:cxn ang="0">
                <a:pos x="375333" y="561841"/>
              </a:cxn>
              <a:cxn ang="0">
                <a:pos x="391700" y="577084"/>
              </a:cxn>
              <a:cxn ang="0">
                <a:pos x="173483" y="354961"/>
              </a:cxn>
              <a:cxn ang="0">
                <a:pos x="188758" y="372383"/>
              </a:cxn>
              <a:cxn ang="0">
                <a:pos x="148388" y="387627"/>
              </a:cxn>
              <a:cxn ang="0">
                <a:pos x="133112" y="370205"/>
              </a:cxn>
              <a:cxn ang="0">
                <a:pos x="173483" y="354961"/>
              </a:cxn>
              <a:cxn ang="0">
                <a:pos x="618646" y="370205"/>
              </a:cxn>
              <a:cxn ang="0">
                <a:pos x="603370" y="387627"/>
              </a:cxn>
              <a:cxn ang="0">
                <a:pos x="563000" y="372383"/>
              </a:cxn>
              <a:cxn ang="0">
                <a:pos x="578275" y="354961"/>
              </a:cxn>
              <a:cxn ang="0">
                <a:pos x="396064" y="374561"/>
              </a:cxn>
              <a:cxn ang="0">
                <a:pos x="356785" y="374561"/>
              </a:cxn>
              <a:cxn ang="0">
                <a:pos x="376425" y="218857"/>
              </a:cxn>
              <a:cxn ang="0">
                <a:pos x="396064" y="374561"/>
              </a:cxn>
              <a:cxn ang="0">
                <a:pos x="285864" y="467112"/>
              </a:cxn>
              <a:cxn ang="0">
                <a:pos x="358967" y="365850"/>
              </a:cxn>
              <a:cxn ang="0">
                <a:pos x="387335" y="393071"/>
              </a:cxn>
            </a:cxnLst>
            <a:rect l="0" t="0" r="0" b="0"/>
            <a:pathLst>
              <a:path w="689" h="688">
                <a:moveTo>
                  <a:pt x="216" y="121"/>
                </a:moveTo>
                <a:cubicBezTo>
                  <a:pt x="94" y="192"/>
                  <a:pt x="51" y="350"/>
                  <a:pt x="122" y="472"/>
                </a:cubicBezTo>
                <a:cubicBezTo>
                  <a:pt x="193" y="595"/>
                  <a:pt x="350" y="637"/>
                  <a:pt x="473" y="566"/>
                </a:cubicBezTo>
                <a:cubicBezTo>
                  <a:pt x="596" y="495"/>
                  <a:pt x="638" y="338"/>
                  <a:pt x="567" y="215"/>
                </a:cubicBezTo>
                <a:cubicBezTo>
                  <a:pt x="496" y="93"/>
                  <a:pt x="339" y="51"/>
                  <a:pt x="216" y="121"/>
                </a:cubicBezTo>
                <a:close/>
                <a:moveTo>
                  <a:pt x="495" y="605"/>
                </a:moveTo>
                <a:cubicBezTo>
                  <a:pt x="351" y="688"/>
                  <a:pt x="167" y="638"/>
                  <a:pt x="83" y="495"/>
                </a:cubicBezTo>
                <a:cubicBezTo>
                  <a:pt x="0" y="351"/>
                  <a:pt x="50" y="166"/>
                  <a:pt x="194" y="83"/>
                </a:cubicBezTo>
                <a:cubicBezTo>
                  <a:pt x="338" y="0"/>
                  <a:pt x="523" y="49"/>
                  <a:pt x="606" y="193"/>
                </a:cubicBezTo>
                <a:cubicBezTo>
                  <a:pt x="689" y="337"/>
                  <a:pt x="639" y="522"/>
                  <a:pt x="495" y="605"/>
                </a:cubicBezTo>
                <a:close/>
                <a:moveTo>
                  <a:pt x="238" y="160"/>
                </a:moveTo>
                <a:cubicBezTo>
                  <a:pt x="137" y="219"/>
                  <a:pt x="102" y="349"/>
                  <a:pt x="161" y="450"/>
                </a:cubicBezTo>
                <a:cubicBezTo>
                  <a:pt x="219" y="551"/>
                  <a:pt x="349" y="586"/>
                  <a:pt x="451" y="528"/>
                </a:cubicBezTo>
                <a:cubicBezTo>
                  <a:pt x="552" y="469"/>
                  <a:pt x="587" y="339"/>
                  <a:pt x="528" y="238"/>
                </a:cubicBezTo>
                <a:cubicBezTo>
                  <a:pt x="470" y="136"/>
                  <a:pt x="340" y="102"/>
                  <a:pt x="238" y="160"/>
                </a:cubicBezTo>
                <a:close/>
                <a:moveTo>
                  <a:pt x="460" y="543"/>
                </a:moveTo>
                <a:cubicBezTo>
                  <a:pt x="350" y="607"/>
                  <a:pt x="209" y="569"/>
                  <a:pt x="145" y="459"/>
                </a:cubicBezTo>
                <a:cubicBezTo>
                  <a:pt x="82" y="349"/>
                  <a:pt x="120" y="208"/>
                  <a:pt x="230" y="145"/>
                </a:cubicBezTo>
                <a:cubicBezTo>
                  <a:pt x="339" y="81"/>
                  <a:pt x="480" y="119"/>
                  <a:pt x="544" y="229"/>
                </a:cubicBezTo>
                <a:cubicBezTo>
                  <a:pt x="607" y="339"/>
                  <a:pt x="570" y="480"/>
                  <a:pt x="460" y="543"/>
                </a:cubicBezTo>
                <a:close/>
                <a:moveTo>
                  <a:pt x="377" y="344"/>
                </a:moveTo>
                <a:cubicBezTo>
                  <a:pt x="377" y="362"/>
                  <a:pt x="362" y="376"/>
                  <a:pt x="345" y="376"/>
                </a:cubicBezTo>
                <a:cubicBezTo>
                  <a:pt x="327" y="376"/>
                  <a:pt x="312" y="362"/>
                  <a:pt x="312" y="344"/>
                </a:cubicBezTo>
                <a:cubicBezTo>
                  <a:pt x="312" y="326"/>
                  <a:pt x="327" y="311"/>
                  <a:pt x="345" y="311"/>
                </a:cubicBezTo>
                <a:cubicBezTo>
                  <a:pt x="362" y="311"/>
                  <a:pt x="377" y="326"/>
                  <a:pt x="377" y="344"/>
                </a:cubicBezTo>
                <a:close/>
                <a:moveTo>
                  <a:pt x="359" y="158"/>
                </a:moveTo>
                <a:cubicBezTo>
                  <a:pt x="359" y="166"/>
                  <a:pt x="353" y="172"/>
                  <a:pt x="345" y="172"/>
                </a:cubicBezTo>
                <a:lnTo>
                  <a:pt x="344" y="172"/>
                </a:lnTo>
                <a:cubicBezTo>
                  <a:pt x="336" y="172"/>
                  <a:pt x="330" y="166"/>
                  <a:pt x="330" y="158"/>
                </a:cubicBezTo>
                <a:lnTo>
                  <a:pt x="330" y="135"/>
                </a:lnTo>
                <a:cubicBezTo>
                  <a:pt x="330" y="127"/>
                  <a:pt x="336" y="121"/>
                  <a:pt x="344" y="121"/>
                </a:cubicBezTo>
                <a:lnTo>
                  <a:pt x="345" y="121"/>
                </a:lnTo>
                <a:cubicBezTo>
                  <a:pt x="353" y="121"/>
                  <a:pt x="359" y="127"/>
                  <a:pt x="359" y="135"/>
                </a:cubicBezTo>
                <a:lnTo>
                  <a:pt x="359" y="158"/>
                </a:lnTo>
                <a:close/>
                <a:moveTo>
                  <a:pt x="359" y="553"/>
                </a:moveTo>
                <a:cubicBezTo>
                  <a:pt x="359" y="560"/>
                  <a:pt x="353" y="567"/>
                  <a:pt x="345" y="567"/>
                </a:cubicBezTo>
                <a:lnTo>
                  <a:pt x="344" y="567"/>
                </a:lnTo>
                <a:cubicBezTo>
                  <a:pt x="336" y="567"/>
                  <a:pt x="330" y="560"/>
                  <a:pt x="330" y="553"/>
                </a:cubicBezTo>
                <a:lnTo>
                  <a:pt x="330" y="530"/>
                </a:lnTo>
                <a:cubicBezTo>
                  <a:pt x="330" y="522"/>
                  <a:pt x="336" y="516"/>
                  <a:pt x="344" y="516"/>
                </a:cubicBezTo>
                <a:lnTo>
                  <a:pt x="345" y="516"/>
                </a:lnTo>
                <a:cubicBezTo>
                  <a:pt x="353" y="516"/>
                  <a:pt x="359" y="522"/>
                  <a:pt x="359" y="530"/>
                </a:cubicBezTo>
                <a:lnTo>
                  <a:pt x="359" y="553"/>
                </a:lnTo>
                <a:close/>
                <a:moveTo>
                  <a:pt x="159" y="326"/>
                </a:moveTo>
                <a:cubicBezTo>
                  <a:pt x="166" y="326"/>
                  <a:pt x="173" y="333"/>
                  <a:pt x="173" y="340"/>
                </a:cubicBezTo>
                <a:lnTo>
                  <a:pt x="173" y="342"/>
                </a:lnTo>
                <a:cubicBezTo>
                  <a:pt x="173" y="350"/>
                  <a:pt x="166" y="356"/>
                  <a:pt x="159" y="356"/>
                </a:cubicBezTo>
                <a:lnTo>
                  <a:pt x="136" y="356"/>
                </a:lnTo>
                <a:cubicBezTo>
                  <a:pt x="128" y="356"/>
                  <a:pt x="122" y="350"/>
                  <a:pt x="122" y="342"/>
                </a:cubicBezTo>
                <a:lnTo>
                  <a:pt x="122" y="340"/>
                </a:lnTo>
                <a:cubicBezTo>
                  <a:pt x="122" y="333"/>
                  <a:pt x="128" y="326"/>
                  <a:pt x="136" y="326"/>
                </a:cubicBezTo>
                <a:lnTo>
                  <a:pt x="159" y="326"/>
                </a:lnTo>
                <a:close/>
                <a:moveTo>
                  <a:pt x="553" y="326"/>
                </a:moveTo>
                <a:cubicBezTo>
                  <a:pt x="561" y="326"/>
                  <a:pt x="567" y="333"/>
                  <a:pt x="567" y="340"/>
                </a:cubicBezTo>
                <a:lnTo>
                  <a:pt x="567" y="342"/>
                </a:lnTo>
                <a:cubicBezTo>
                  <a:pt x="567" y="350"/>
                  <a:pt x="561" y="356"/>
                  <a:pt x="553" y="356"/>
                </a:cubicBezTo>
                <a:lnTo>
                  <a:pt x="530" y="356"/>
                </a:lnTo>
                <a:cubicBezTo>
                  <a:pt x="523" y="356"/>
                  <a:pt x="516" y="350"/>
                  <a:pt x="516" y="342"/>
                </a:cubicBezTo>
                <a:lnTo>
                  <a:pt x="516" y="340"/>
                </a:lnTo>
                <a:cubicBezTo>
                  <a:pt x="516" y="333"/>
                  <a:pt x="523" y="326"/>
                  <a:pt x="530" y="326"/>
                </a:cubicBezTo>
                <a:lnTo>
                  <a:pt x="553" y="326"/>
                </a:lnTo>
                <a:close/>
                <a:moveTo>
                  <a:pt x="363" y="344"/>
                </a:moveTo>
                <a:cubicBezTo>
                  <a:pt x="363" y="354"/>
                  <a:pt x="355" y="362"/>
                  <a:pt x="345" y="362"/>
                </a:cubicBezTo>
                <a:cubicBezTo>
                  <a:pt x="335" y="362"/>
                  <a:pt x="327" y="354"/>
                  <a:pt x="327" y="344"/>
                </a:cubicBezTo>
                <a:lnTo>
                  <a:pt x="327" y="219"/>
                </a:lnTo>
                <a:cubicBezTo>
                  <a:pt x="327" y="209"/>
                  <a:pt x="335" y="201"/>
                  <a:pt x="345" y="201"/>
                </a:cubicBezTo>
                <a:cubicBezTo>
                  <a:pt x="355" y="201"/>
                  <a:pt x="363" y="209"/>
                  <a:pt x="363" y="219"/>
                </a:cubicBezTo>
                <a:lnTo>
                  <a:pt x="363" y="344"/>
                </a:lnTo>
                <a:close/>
                <a:moveTo>
                  <a:pt x="289" y="427"/>
                </a:moveTo>
                <a:cubicBezTo>
                  <a:pt x="281" y="435"/>
                  <a:pt x="269" y="436"/>
                  <a:pt x="262" y="429"/>
                </a:cubicBezTo>
                <a:cubicBezTo>
                  <a:pt x="255" y="422"/>
                  <a:pt x="255" y="409"/>
                  <a:pt x="263" y="402"/>
                </a:cubicBezTo>
                <a:lnTo>
                  <a:pt x="329" y="336"/>
                </a:lnTo>
                <a:cubicBezTo>
                  <a:pt x="337" y="328"/>
                  <a:pt x="349" y="327"/>
                  <a:pt x="356" y="334"/>
                </a:cubicBezTo>
                <a:cubicBezTo>
                  <a:pt x="363" y="341"/>
                  <a:pt x="362" y="354"/>
                  <a:pt x="355" y="361"/>
                </a:cubicBezTo>
                <a:lnTo>
                  <a:pt x="289" y="427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6"/>
          <p:cNvSpPr>
            <a:spLocks noEditPoints="1"/>
          </p:cNvSpPr>
          <p:nvPr/>
        </p:nvSpPr>
        <p:spPr>
          <a:xfrm>
            <a:off x="10830178" y="4962699"/>
            <a:ext cx="469651" cy="497284"/>
          </a:xfrm>
          <a:custGeom>
            <a:avLst/>
            <a:gdLst/>
            <a:ahLst/>
            <a:cxnLst>
              <a:cxn ang="0">
                <a:pos x="604197" y="354970"/>
              </a:cxn>
              <a:cxn ang="0">
                <a:pos x="604197" y="77309"/>
              </a:cxn>
              <a:cxn ang="0">
                <a:pos x="325001" y="77309"/>
              </a:cxn>
              <a:cxn ang="0">
                <a:pos x="289011" y="305971"/>
              </a:cxn>
              <a:cxn ang="0">
                <a:pos x="283558" y="309237"/>
              </a:cxn>
              <a:cxn ang="0">
                <a:pos x="9815" y="582542"/>
              </a:cxn>
              <a:cxn ang="0">
                <a:pos x="15269" y="626097"/>
              </a:cxn>
              <a:cxn ang="0">
                <a:pos x="53440" y="664207"/>
              </a:cxn>
              <a:cxn ang="0">
                <a:pos x="97064" y="669651"/>
              </a:cxn>
              <a:cxn ang="0">
                <a:pos x="370807" y="396346"/>
              </a:cxn>
              <a:cxn ang="0">
                <a:pos x="374079" y="390902"/>
              </a:cxn>
              <a:cxn ang="0">
                <a:pos x="604197" y="354970"/>
              </a:cxn>
              <a:cxn ang="0">
                <a:pos x="104698" y="616297"/>
              </a:cxn>
              <a:cxn ang="0">
                <a:pos x="104698" y="616297"/>
              </a:cxn>
              <a:cxn ang="0">
                <a:pos x="83977" y="614119"/>
              </a:cxn>
              <a:cxn ang="0">
                <a:pos x="65437" y="595609"/>
              </a:cxn>
              <a:cxn ang="0">
                <a:pos x="63255" y="574920"/>
              </a:cxn>
              <a:cxn ang="0">
                <a:pos x="195219" y="443168"/>
              </a:cxn>
              <a:cxn ang="0">
                <a:pos x="215941" y="446434"/>
              </a:cxn>
              <a:cxn ang="0">
                <a:pos x="233390" y="464945"/>
              </a:cxn>
              <a:cxn ang="0">
                <a:pos x="236662" y="485633"/>
              </a:cxn>
              <a:cxn ang="0">
                <a:pos x="104698" y="616297"/>
              </a:cxn>
              <a:cxn ang="0">
                <a:pos x="350085" y="329926"/>
              </a:cxn>
              <a:cxn ang="0">
                <a:pos x="350085" y="329926"/>
              </a:cxn>
              <a:cxn ang="0">
                <a:pos x="350085" y="102353"/>
              </a:cxn>
              <a:cxn ang="0">
                <a:pos x="578023" y="102353"/>
              </a:cxn>
              <a:cxn ang="0">
                <a:pos x="578023" y="329926"/>
              </a:cxn>
              <a:cxn ang="0">
                <a:pos x="350085" y="329926"/>
              </a:cxn>
            </a:cxnLst>
            <a:rect l="0" t="0" r="0" b="0"/>
            <a:pathLst>
              <a:path w="624" h="625">
                <a:moveTo>
                  <a:pt x="554" y="326"/>
                </a:moveTo>
                <a:cubicBezTo>
                  <a:pt x="624" y="256"/>
                  <a:pt x="624" y="141"/>
                  <a:pt x="554" y="71"/>
                </a:cubicBezTo>
                <a:cubicBezTo>
                  <a:pt x="483" y="0"/>
                  <a:pt x="368" y="0"/>
                  <a:pt x="298" y="71"/>
                </a:cubicBezTo>
                <a:cubicBezTo>
                  <a:pt x="241" y="127"/>
                  <a:pt x="230" y="213"/>
                  <a:pt x="265" y="281"/>
                </a:cubicBezTo>
                <a:cubicBezTo>
                  <a:pt x="263" y="282"/>
                  <a:pt x="262" y="283"/>
                  <a:pt x="260" y="284"/>
                </a:cubicBezTo>
                <a:lnTo>
                  <a:pt x="9" y="535"/>
                </a:lnTo>
                <a:cubicBezTo>
                  <a:pt x="0" y="545"/>
                  <a:pt x="2" y="562"/>
                  <a:pt x="14" y="575"/>
                </a:cubicBezTo>
                <a:lnTo>
                  <a:pt x="49" y="610"/>
                </a:lnTo>
                <a:cubicBezTo>
                  <a:pt x="62" y="622"/>
                  <a:pt x="79" y="625"/>
                  <a:pt x="89" y="615"/>
                </a:cubicBezTo>
                <a:lnTo>
                  <a:pt x="340" y="364"/>
                </a:lnTo>
                <a:cubicBezTo>
                  <a:pt x="341" y="363"/>
                  <a:pt x="342" y="361"/>
                  <a:pt x="343" y="359"/>
                </a:cubicBezTo>
                <a:cubicBezTo>
                  <a:pt x="411" y="394"/>
                  <a:pt x="497" y="383"/>
                  <a:pt x="554" y="326"/>
                </a:cubicBezTo>
                <a:close/>
                <a:moveTo>
                  <a:pt x="96" y="566"/>
                </a:moveTo>
                <a:lnTo>
                  <a:pt x="96" y="566"/>
                </a:lnTo>
                <a:cubicBezTo>
                  <a:pt x="92" y="571"/>
                  <a:pt x="83" y="570"/>
                  <a:pt x="77" y="564"/>
                </a:cubicBezTo>
                <a:lnTo>
                  <a:pt x="60" y="547"/>
                </a:lnTo>
                <a:cubicBezTo>
                  <a:pt x="54" y="541"/>
                  <a:pt x="53" y="532"/>
                  <a:pt x="58" y="528"/>
                </a:cubicBezTo>
                <a:lnTo>
                  <a:pt x="179" y="407"/>
                </a:lnTo>
                <a:cubicBezTo>
                  <a:pt x="183" y="403"/>
                  <a:pt x="192" y="404"/>
                  <a:pt x="198" y="410"/>
                </a:cubicBezTo>
                <a:lnTo>
                  <a:pt x="214" y="427"/>
                </a:lnTo>
                <a:cubicBezTo>
                  <a:pt x="220" y="433"/>
                  <a:pt x="221" y="441"/>
                  <a:pt x="217" y="446"/>
                </a:cubicBezTo>
                <a:lnTo>
                  <a:pt x="96" y="566"/>
                </a:lnTo>
                <a:close/>
                <a:moveTo>
                  <a:pt x="321" y="303"/>
                </a:moveTo>
                <a:lnTo>
                  <a:pt x="321" y="303"/>
                </a:lnTo>
                <a:cubicBezTo>
                  <a:pt x="264" y="245"/>
                  <a:pt x="264" y="152"/>
                  <a:pt x="321" y="94"/>
                </a:cubicBezTo>
                <a:cubicBezTo>
                  <a:pt x="379" y="36"/>
                  <a:pt x="472" y="36"/>
                  <a:pt x="530" y="94"/>
                </a:cubicBezTo>
                <a:cubicBezTo>
                  <a:pt x="588" y="152"/>
                  <a:pt x="588" y="245"/>
                  <a:pt x="530" y="303"/>
                </a:cubicBezTo>
                <a:cubicBezTo>
                  <a:pt x="472" y="360"/>
                  <a:pt x="379" y="360"/>
                  <a:pt x="321" y="303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4"/>
          <p:cNvSpPr>
            <a:spLocks noEditPoints="1"/>
          </p:cNvSpPr>
          <p:nvPr/>
        </p:nvSpPr>
        <p:spPr>
          <a:xfrm>
            <a:off x="9790806" y="4938233"/>
            <a:ext cx="423554" cy="538376"/>
          </a:xfrm>
          <a:custGeom>
            <a:avLst/>
            <a:gdLst/>
            <a:ahLst/>
            <a:cxnLst>
              <a:cxn ang="0">
                <a:pos x="89378" y="180638"/>
              </a:cxn>
              <a:cxn ang="0">
                <a:pos x="89378" y="202401"/>
              </a:cxn>
              <a:cxn ang="0">
                <a:pos x="360783" y="210019"/>
              </a:cxn>
              <a:cxn ang="0">
                <a:pos x="360783" y="188255"/>
              </a:cxn>
              <a:cxn ang="0">
                <a:pos x="421822" y="605028"/>
              </a:cxn>
              <a:cxn ang="0">
                <a:pos x="422912" y="613733"/>
              </a:cxn>
              <a:cxn ang="0">
                <a:pos x="455611" y="646379"/>
              </a:cxn>
              <a:cxn ang="0">
                <a:pos x="516650" y="632233"/>
              </a:cxn>
              <a:cxn ang="0">
                <a:pos x="516650" y="577824"/>
              </a:cxn>
              <a:cxn ang="0">
                <a:pos x="483951" y="545178"/>
              </a:cxn>
              <a:cxn ang="0">
                <a:pos x="455611" y="564765"/>
              </a:cxn>
              <a:cxn ang="0">
                <a:pos x="418552" y="601763"/>
              </a:cxn>
              <a:cxn ang="0">
                <a:pos x="237615" y="385216"/>
              </a:cxn>
              <a:cxn ang="0">
                <a:pos x="249605" y="365628"/>
              </a:cxn>
              <a:cxn ang="0">
                <a:pos x="225626" y="348218"/>
              </a:cxn>
              <a:cxn ang="0">
                <a:pos x="225626" y="355835"/>
              </a:cxn>
              <a:cxn ang="0">
                <a:pos x="268135" y="459212"/>
              </a:cxn>
              <a:cxn ang="0">
                <a:pos x="323724" y="396097"/>
              </a:cxn>
              <a:cxn ang="0">
                <a:pos x="322634" y="388480"/>
              </a:cxn>
              <a:cxn ang="0">
                <a:pos x="244155" y="393921"/>
              </a:cxn>
              <a:cxn ang="0">
                <a:pos x="244155" y="400450"/>
              </a:cxn>
              <a:cxn ang="0">
                <a:pos x="268135" y="459212"/>
              </a:cxn>
              <a:cxn ang="0">
                <a:pos x="467601" y="536473"/>
              </a:cxn>
              <a:cxn ang="0">
                <a:pos x="467601" y="529944"/>
              </a:cxn>
              <a:cxn ang="0">
                <a:pos x="429452" y="490769"/>
              </a:cxn>
              <a:cxn ang="0">
                <a:pos x="279035" y="462476"/>
              </a:cxn>
              <a:cxn ang="0">
                <a:pos x="279035" y="470094"/>
              </a:cxn>
              <a:cxn ang="0">
                <a:pos x="385853" y="576735"/>
              </a:cxn>
              <a:cxn ang="0">
                <a:pos x="430542" y="574559"/>
              </a:cxn>
              <a:cxn ang="0">
                <a:pos x="21800" y="163227"/>
              </a:cxn>
              <a:cxn ang="0">
                <a:pos x="97008" y="165403"/>
              </a:cxn>
              <a:cxn ang="0">
                <a:pos x="153687" y="108818"/>
              </a:cxn>
              <a:cxn ang="0">
                <a:pos x="153687" y="101201"/>
              </a:cxn>
              <a:cxn ang="0">
                <a:pos x="417462" y="30469"/>
              </a:cxn>
              <a:cxn ang="0">
                <a:pos x="429452" y="459212"/>
              </a:cxn>
              <a:cxn ang="0">
                <a:pos x="451251" y="488593"/>
              </a:cxn>
              <a:cxn ang="0">
                <a:pos x="451251" y="42439"/>
              </a:cxn>
              <a:cxn ang="0">
                <a:pos x="417462" y="0"/>
              </a:cxn>
              <a:cxn ang="0">
                <a:pos x="131888" y="2176"/>
              </a:cxn>
              <a:cxn ang="0">
                <a:pos x="0" y="133846"/>
              </a:cxn>
              <a:cxn ang="0">
                <a:pos x="0" y="535384"/>
              </a:cxn>
              <a:cxn ang="0">
                <a:pos x="33789" y="576735"/>
              </a:cxn>
              <a:cxn ang="0">
                <a:pos x="347703" y="570206"/>
              </a:cxn>
              <a:cxn ang="0">
                <a:pos x="332444" y="547354"/>
              </a:cxn>
              <a:cxn ang="0">
                <a:pos x="21800" y="535384"/>
              </a:cxn>
              <a:cxn ang="0">
                <a:pos x="21800" y="163227"/>
              </a:cxn>
              <a:cxn ang="0">
                <a:pos x="170037" y="350394"/>
              </a:cxn>
              <a:cxn ang="0">
                <a:pos x="170037" y="327542"/>
              </a:cxn>
              <a:cxn ang="0">
                <a:pos x="89378" y="319925"/>
              </a:cxn>
              <a:cxn ang="0">
                <a:pos x="89378" y="342777"/>
              </a:cxn>
              <a:cxn ang="0">
                <a:pos x="89378" y="295985"/>
              </a:cxn>
              <a:cxn ang="0">
                <a:pos x="360783" y="303602"/>
              </a:cxn>
              <a:cxn ang="0">
                <a:pos x="360783" y="280750"/>
              </a:cxn>
              <a:cxn ang="0">
                <a:pos x="89378" y="274221"/>
              </a:cxn>
              <a:cxn ang="0">
                <a:pos x="89378" y="295985"/>
              </a:cxn>
              <a:cxn ang="0">
                <a:pos x="89378" y="256810"/>
              </a:cxn>
              <a:cxn ang="0">
                <a:pos x="360783" y="249193"/>
              </a:cxn>
              <a:cxn ang="0">
                <a:pos x="360783" y="227430"/>
              </a:cxn>
              <a:cxn ang="0">
                <a:pos x="89378" y="235047"/>
              </a:cxn>
            </a:cxnLst>
            <a:rect l="0" t="0" r="0" b="0"/>
            <a:pathLst>
              <a:path w="484" h="606">
                <a:moveTo>
                  <a:pt x="331" y="166"/>
                </a:moveTo>
                <a:lnTo>
                  <a:pt x="82" y="166"/>
                </a:lnTo>
                <a:lnTo>
                  <a:pt x="82" y="173"/>
                </a:lnTo>
                <a:lnTo>
                  <a:pt x="82" y="186"/>
                </a:lnTo>
                <a:lnTo>
                  <a:pt x="82" y="193"/>
                </a:lnTo>
                <a:lnTo>
                  <a:pt x="331" y="193"/>
                </a:lnTo>
                <a:lnTo>
                  <a:pt x="331" y="186"/>
                </a:lnTo>
                <a:lnTo>
                  <a:pt x="331" y="173"/>
                </a:lnTo>
                <a:lnTo>
                  <a:pt x="331" y="166"/>
                </a:lnTo>
                <a:close/>
                <a:moveTo>
                  <a:pt x="387" y="556"/>
                </a:moveTo>
                <a:lnTo>
                  <a:pt x="384" y="560"/>
                </a:lnTo>
                <a:lnTo>
                  <a:pt x="388" y="564"/>
                </a:lnTo>
                <a:lnTo>
                  <a:pt x="408" y="583"/>
                </a:lnTo>
                <a:lnTo>
                  <a:pt x="418" y="594"/>
                </a:lnTo>
                <a:cubicBezTo>
                  <a:pt x="430" y="606"/>
                  <a:pt x="450" y="606"/>
                  <a:pt x="462" y="594"/>
                </a:cubicBezTo>
                <a:lnTo>
                  <a:pt x="474" y="581"/>
                </a:lnTo>
                <a:cubicBezTo>
                  <a:pt x="481" y="575"/>
                  <a:pt x="484" y="565"/>
                  <a:pt x="483" y="556"/>
                </a:cubicBezTo>
                <a:cubicBezTo>
                  <a:pt x="484" y="548"/>
                  <a:pt x="481" y="538"/>
                  <a:pt x="474" y="531"/>
                </a:cubicBezTo>
                <a:lnTo>
                  <a:pt x="462" y="519"/>
                </a:lnTo>
                <a:lnTo>
                  <a:pt x="444" y="501"/>
                </a:lnTo>
                <a:lnTo>
                  <a:pt x="440" y="497"/>
                </a:lnTo>
                <a:lnTo>
                  <a:pt x="418" y="519"/>
                </a:lnTo>
                <a:lnTo>
                  <a:pt x="412" y="525"/>
                </a:lnTo>
                <a:lnTo>
                  <a:pt x="384" y="553"/>
                </a:lnTo>
                <a:lnTo>
                  <a:pt x="387" y="556"/>
                </a:lnTo>
                <a:close/>
                <a:moveTo>
                  <a:pt x="218" y="354"/>
                </a:moveTo>
                <a:lnTo>
                  <a:pt x="234" y="338"/>
                </a:lnTo>
                <a:lnTo>
                  <a:pt x="229" y="336"/>
                </a:lnTo>
                <a:lnTo>
                  <a:pt x="234" y="331"/>
                </a:lnTo>
                <a:lnTo>
                  <a:pt x="207" y="320"/>
                </a:lnTo>
                <a:lnTo>
                  <a:pt x="211" y="328"/>
                </a:lnTo>
                <a:lnTo>
                  <a:pt x="207" y="327"/>
                </a:lnTo>
                <a:lnTo>
                  <a:pt x="218" y="354"/>
                </a:lnTo>
                <a:close/>
                <a:moveTo>
                  <a:pt x="246" y="422"/>
                </a:moveTo>
                <a:lnTo>
                  <a:pt x="302" y="366"/>
                </a:lnTo>
                <a:lnTo>
                  <a:pt x="297" y="364"/>
                </a:lnTo>
                <a:lnTo>
                  <a:pt x="302" y="359"/>
                </a:lnTo>
                <a:lnTo>
                  <a:pt x="296" y="357"/>
                </a:lnTo>
                <a:lnTo>
                  <a:pt x="249" y="337"/>
                </a:lnTo>
                <a:lnTo>
                  <a:pt x="224" y="362"/>
                </a:lnTo>
                <a:lnTo>
                  <a:pt x="226" y="367"/>
                </a:lnTo>
                <a:lnTo>
                  <a:pt x="224" y="368"/>
                </a:lnTo>
                <a:lnTo>
                  <a:pt x="243" y="416"/>
                </a:lnTo>
                <a:lnTo>
                  <a:pt x="246" y="422"/>
                </a:lnTo>
                <a:close/>
                <a:moveTo>
                  <a:pt x="412" y="511"/>
                </a:moveTo>
                <a:lnTo>
                  <a:pt x="429" y="493"/>
                </a:lnTo>
                <a:lnTo>
                  <a:pt x="426" y="490"/>
                </a:lnTo>
                <a:lnTo>
                  <a:pt x="429" y="487"/>
                </a:lnTo>
                <a:lnTo>
                  <a:pt x="414" y="472"/>
                </a:lnTo>
                <a:lnTo>
                  <a:pt x="394" y="451"/>
                </a:lnTo>
                <a:lnTo>
                  <a:pt x="312" y="369"/>
                </a:lnTo>
                <a:lnTo>
                  <a:pt x="256" y="425"/>
                </a:lnTo>
                <a:lnTo>
                  <a:pt x="260" y="429"/>
                </a:lnTo>
                <a:lnTo>
                  <a:pt x="256" y="432"/>
                </a:lnTo>
                <a:lnTo>
                  <a:pt x="334" y="510"/>
                </a:lnTo>
                <a:lnTo>
                  <a:pt x="354" y="530"/>
                </a:lnTo>
                <a:lnTo>
                  <a:pt x="374" y="549"/>
                </a:lnTo>
                <a:lnTo>
                  <a:pt x="395" y="528"/>
                </a:lnTo>
                <a:lnTo>
                  <a:pt x="412" y="511"/>
                </a:lnTo>
                <a:close/>
                <a:moveTo>
                  <a:pt x="20" y="150"/>
                </a:moveTo>
                <a:lnTo>
                  <a:pt x="89" y="152"/>
                </a:lnTo>
                <a:lnTo>
                  <a:pt x="89" y="152"/>
                </a:lnTo>
                <a:lnTo>
                  <a:pt x="89" y="152"/>
                </a:lnTo>
                <a:cubicBezTo>
                  <a:pt x="118" y="152"/>
                  <a:pt x="141" y="129"/>
                  <a:pt x="141" y="100"/>
                </a:cubicBezTo>
                <a:lnTo>
                  <a:pt x="141" y="94"/>
                </a:lnTo>
                <a:lnTo>
                  <a:pt x="141" y="93"/>
                </a:lnTo>
                <a:lnTo>
                  <a:pt x="141" y="28"/>
                </a:lnTo>
                <a:lnTo>
                  <a:pt x="383" y="28"/>
                </a:lnTo>
                <a:cubicBezTo>
                  <a:pt x="389" y="28"/>
                  <a:pt x="394" y="32"/>
                  <a:pt x="394" y="38"/>
                </a:cubicBezTo>
                <a:lnTo>
                  <a:pt x="394" y="422"/>
                </a:lnTo>
                <a:lnTo>
                  <a:pt x="394" y="429"/>
                </a:lnTo>
                <a:lnTo>
                  <a:pt x="414" y="449"/>
                </a:lnTo>
                <a:lnTo>
                  <a:pt x="414" y="443"/>
                </a:lnTo>
                <a:lnTo>
                  <a:pt x="414" y="39"/>
                </a:lnTo>
                <a:lnTo>
                  <a:pt x="414" y="32"/>
                </a:lnTo>
                <a:cubicBezTo>
                  <a:pt x="414" y="15"/>
                  <a:pt x="400" y="0"/>
                  <a:pt x="383" y="0"/>
                </a:cubicBezTo>
                <a:lnTo>
                  <a:pt x="123" y="0"/>
                </a:lnTo>
                <a:lnTo>
                  <a:pt x="121" y="2"/>
                </a:lnTo>
                <a:lnTo>
                  <a:pt x="1" y="122"/>
                </a:lnTo>
                <a:lnTo>
                  <a:pt x="0" y="123"/>
                </a:lnTo>
                <a:lnTo>
                  <a:pt x="0" y="130"/>
                </a:lnTo>
                <a:lnTo>
                  <a:pt x="0" y="492"/>
                </a:lnTo>
                <a:lnTo>
                  <a:pt x="0" y="499"/>
                </a:lnTo>
                <a:cubicBezTo>
                  <a:pt x="0" y="516"/>
                  <a:pt x="14" y="530"/>
                  <a:pt x="31" y="530"/>
                </a:cubicBezTo>
                <a:lnTo>
                  <a:pt x="326" y="530"/>
                </a:lnTo>
                <a:lnTo>
                  <a:pt x="319" y="524"/>
                </a:lnTo>
                <a:lnTo>
                  <a:pt x="326" y="524"/>
                </a:lnTo>
                <a:lnTo>
                  <a:pt x="305" y="503"/>
                </a:lnTo>
                <a:lnTo>
                  <a:pt x="31" y="503"/>
                </a:lnTo>
                <a:cubicBezTo>
                  <a:pt x="25" y="503"/>
                  <a:pt x="21" y="498"/>
                  <a:pt x="20" y="492"/>
                </a:cubicBezTo>
                <a:lnTo>
                  <a:pt x="20" y="492"/>
                </a:lnTo>
                <a:lnTo>
                  <a:pt x="20" y="150"/>
                </a:lnTo>
                <a:close/>
                <a:moveTo>
                  <a:pt x="82" y="322"/>
                </a:moveTo>
                <a:lnTo>
                  <a:pt x="156" y="322"/>
                </a:lnTo>
                <a:lnTo>
                  <a:pt x="156" y="315"/>
                </a:lnTo>
                <a:lnTo>
                  <a:pt x="156" y="301"/>
                </a:lnTo>
                <a:lnTo>
                  <a:pt x="156" y="294"/>
                </a:lnTo>
                <a:lnTo>
                  <a:pt x="82" y="294"/>
                </a:lnTo>
                <a:lnTo>
                  <a:pt x="82" y="301"/>
                </a:lnTo>
                <a:lnTo>
                  <a:pt x="82" y="315"/>
                </a:lnTo>
                <a:lnTo>
                  <a:pt x="82" y="322"/>
                </a:lnTo>
                <a:close/>
                <a:moveTo>
                  <a:pt x="82" y="272"/>
                </a:moveTo>
                <a:lnTo>
                  <a:pt x="82" y="279"/>
                </a:lnTo>
                <a:lnTo>
                  <a:pt x="331" y="279"/>
                </a:lnTo>
                <a:lnTo>
                  <a:pt x="331" y="272"/>
                </a:lnTo>
                <a:lnTo>
                  <a:pt x="331" y="258"/>
                </a:lnTo>
                <a:lnTo>
                  <a:pt x="331" y="252"/>
                </a:lnTo>
                <a:lnTo>
                  <a:pt x="82" y="252"/>
                </a:lnTo>
                <a:lnTo>
                  <a:pt x="82" y="258"/>
                </a:lnTo>
                <a:lnTo>
                  <a:pt x="82" y="272"/>
                </a:lnTo>
                <a:close/>
                <a:moveTo>
                  <a:pt x="82" y="229"/>
                </a:moveTo>
                <a:lnTo>
                  <a:pt x="82" y="236"/>
                </a:lnTo>
                <a:lnTo>
                  <a:pt x="331" y="236"/>
                </a:lnTo>
                <a:lnTo>
                  <a:pt x="331" y="229"/>
                </a:lnTo>
                <a:lnTo>
                  <a:pt x="331" y="216"/>
                </a:lnTo>
                <a:lnTo>
                  <a:pt x="331" y="209"/>
                </a:lnTo>
                <a:lnTo>
                  <a:pt x="82" y="209"/>
                </a:lnTo>
                <a:lnTo>
                  <a:pt x="82" y="216"/>
                </a:lnTo>
                <a:lnTo>
                  <a:pt x="82" y="229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Freeform 19"/>
          <p:cNvSpPr>
            <a:spLocks noEditPoints="1"/>
          </p:cNvSpPr>
          <p:nvPr/>
        </p:nvSpPr>
        <p:spPr>
          <a:xfrm>
            <a:off x="7481455" y="4938233"/>
            <a:ext cx="540327" cy="521750"/>
          </a:xfrm>
          <a:custGeom>
            <a:avLst/>
            <a:gdLst/>
            <a:ahLst/>
            <a:cxnLst>
              <a:cxn ang="0">
                <a:pos x="569755" y="64522"/>
              </a:cxn>
              <a:cxn ang="0">
                <a:pos x="567572" y="203408"/>
              </a:cxn>
              <a:cxn ang="0">
                <a:pos x="328537" y="203408"/>
              </a:cxn>
              <a:cxn ang="0">
                <a:pos x="326354" y="141074"/>
              </a:cxn>
              <a:cxn ang="0">
                <a:pos x="326354" y="130138"/>
              </a:cxn>
              <a:cxn ang="0">
                <a:pos x="328537" y="59054"/>
              </a:cxn>
              <a:cxn ang="0">
                <a:pos x="332903" y="29527"/>
              </a:cxn>
              <a:cxn ang="0">
                <a:pos x="297975" y="64522"/>
              </a:cxn>
              <a:cxn ang="0">
                <a:pos x="287060" y="123576"/>
              </a:cxn>
              <a:cxn ang="0">
                <a:pos x="121155" y="102798"/>
              </a:cxn>
              <a:cxn ang="0">
                <a:pos x="122246" y="226374"/>
              </a:cxn>
              <a:cxn ang="0">
                <a:pos x="127704" y="226374"/>
              </a:cxn>
              <a:cxn ang="0">
                <a:pos x="161540" y="370728"/>
              </a:cxn>
              <a:cxn ang="0">
                <a:pos x="169180" y="370728"/>
              </a:cxn>
              <a:cxn ang="0">
                <a:pos x="201925" y="243871"/>
              </a:cxn>
              <a:cxn ang="0">
                <a:pos x="201925" y="138886"/>
              </a:cxn>
              <a:cxn ang="0">
                <a:pos x="287060" y="148729"/>
              </a:cxn>
              <a:cxn ang="0">
                <a:pos x="307799" y="223093"/>
              </a:cxn>
              <a:cxn ang="0">
                <a:pos x="332903" y="234029"/>
              </a:cxn>
              <a:cxn ang="0">
                <a:pos x="588310" y="223093"/>
              </a:cxn>
              <a:cxn ang="0">
                <a:pos x="588310" y="39369"/>
              </a:cxn>
              <a:cxn ang="0">
                <a:pos x="567572" y="241684"/>
              </a:cxn>
              <a:cxn ang="0">
                <a:pos x="570846" y="372915"/>
              </a:cxn>
              <a:cxn ang="0">
                <a:pos x="400575" y="272305"/>
              </a:cxn>
              <a:cxn ang="0">
                <a:pos x="364556" y="272305"/>
              </a:cxn>
              <a:cxn ang="0">
                <a:pos x="567572" y="241684"/>
              </a:cxn>
              <a:cxn ang="0">
                <a:pos x="172455" y="478994"/>
              </a:cxn>
              <a:cxn ang="0">
                <a:pos x="123338" y="407910"/>
              </a:cxn>
              <a:cxn ang="0">
                <a:pos x="394026" y="478994"/>
              </a:cxn>
              <a:cxn ang="0">
                <a:pos x="344909" y="407910"/>
              </a:cxn>
              <a:cxn ang="0">
                <a:pos x="618872" y="478994"/>
              </a:cxn>
              <a:cxn ang="0">
                <a:pos x="569755" y="407910"/>
              </a:cxn>
              <a:cxn ang="0">
                <a:pos x="218297" y="532580"/>
              </a:cxn>
              <a:cxn ang="0">
                <a:pos x="241218" y="576324"/>
              </a:cxn>
              <a:cxn ang="0">
                <a:pos x="289243" y="489930"/>
              </a:cxn>
              <a:cxn ang="0">
                <a:pos x="439868" y="576324"/>
              </a:cxn>
              <a:cxn ang="0">
                <a:pos x="472613" y="576324"/>
              </a:cxn>
              <a:cxn ang="0">
                <a:pos x="622146" y="489930"/>
              </a:cxn>
              <a:cxn ang="0">
                <a:pos x="670171" y="576324"/>
              </a:cxn>
              <a:cxn ang="0">
                <a:pos x="696367" y="600383"/>
              </a:cxn>
              <a:cxn ang="0">
                <a:pos x="663622" y="600383"/>
              </a:cxn>
              <a:cxn ang="0">
                <a:pos x="472613" y="600383"/>
              </a:cxn>
              <a:cxn ang="0">
                <a:pos x="439868" y="600383"/>
              </a:cxn>
              <a:cxn ang="0">
                <a:pos x="247767" y="600383"/>
              </a:cxn>
              <a:cxn ang="0">
                <a:pos x="218297" y="600383"/>
              </a:cxn>
              <a:cxn ang="0">
                <a:pos x="26196" y="600383"/>
              </a:cxn>
              <a:cxn ang="0">
                <a:pos x="26196" y="576324"/>
              </a:cxn>
              <a:cxn ang="0">
                <a:pos x="165906" y="0"/>
              </a:cxn>
              <a:cxn ang="0">
                <a:pos x="117880" y="48118"/>
              </a:cxn>
            </a:cxnLst>
            <a:rect l="0" t="0" r="0" b="0"/>
            <a:pathLst>
              <a:path w="638" h="603">
                <a:moveTo>
                  <a:pt x="516" y="53"/>
                </a:moveTo>
                <a:cubicBezTo>
                  <a:pt x="517" y="53"/>
                  <a:pt x="519" y="53"/>
                  <a:pt x="520" y="54"/>
                </a:cubicBezTo>
                <a:cubicBezTo>
                  <a:pt x="522" y="56"/>
                  <a:pt x="522" y="57"/>
                  <a:pt x="522" y="59"/>
                </a:cubicBezTo>
                <a:lnTo>
                  <a:pt x="522" y="181"/>
                </a:lnTo>
                <a:cubicBezTo>
                  <a:pt x="522" y="183"/>
                  <a:pt x="522" y="185"/>
                  <a:pt x="520" y="186"/>
                </a:cubicBezTo>
                <a:lnTo>
                  <a:pt x="520" y="186"/>
                </a:lnTo>
                <a:cubicBezTo>
                  <a:pt x="519" y="187"/>
                  <a:pt x="517" y="188"/>
                  <a:pt x="516" y="188"/>
                </a:cubicBezTo>
                <a:lnTo>
                  <a:pt x="305" y="188"/>
                </a:lnTo>
                <a:cubicBezTo>
                  <a:pt x="303" y="188"/>
                  <a:pt x="302" y="187"/>
                  <a:pt x="301" y="186"/>
                </a:cubicBezTo>
                <a:lnTo>
                  <a:pt x="300" y="186"/>
                </a:lnTo>
                <a:cubicBezTo>
                  <a:pt x="299" y="185"/>
                  <a:pt x="299" y="183"/>
                  <a:pt x="299" y="181"/>
                </a:cubicBezTo>
                <a:lnTo>
                  <a:pt x="299" y="129"/>
                </a:lnTo>
                <a:lnTo>
                  <a:pt x="403" y="107"/>
                </a:lnTo>
                <a:lnTo>
                  <a:pt x="403" y="105"/>
                </a:lnTo>
                <a:lnTo>
                  <a:pt x="299" y="119"/>
                </a:lnTo>
                <a:lnTo>
                  <a:pt x="299" y="59"/>
                </a:lnTo>
                <a:cubicBezTo>
                  <a:pt x="299" y="57"/>
                  <a:pt x="299" y="56"/>
                  <a:pt x="300" y="54"/>
                </a:cubicBezTo>
                <a:lnTo>
                  <a:pt x="301" y="54"/>
                </a:lnTo>
                <a:cubicBezTo>
                  <a:pt x="302" y="53"/>
                  <a:pt x="303" y="53"/>
                  <a:pt x="305" y="53"/>
                </a:cubicBezTo>
                <a:lnTo>
                  <a:pt x="516" y="53"/>
                </a:lnTo>
                <a:close/>
                <a:moveTo>
                  <a:pt x="305" y="27"/>
                </a:moveTo>
                <a:cubicBezTo>
                  <a:pt x="296" y="27"/>
                  <a:pt x="288" y="30"/>
                  <a:pt x="282" y="36"/>
                </a:cubicBezTo>
                <a:lnTo>
                  <a:pt x="282" y="36"/>
                </a:lnTo>
                <a:cubicBezTo>
                  <a:pt x="276" y="42"/>
                  <a:pt x="273" y="50"/>
                  <a:pt x="273" y="59"/>
                </a:cubicBezTo>
                <a:lnTo>
                  <a:pt x="273" y="122"/>
                </a:lnTo>
                <a:lnTo>
                  <a:pt x="263" y="124"/>
                </a:lnTo>
                <a:lnTo>
                  <a:pt x="263" y="113"/>
                </a:lnTo>
                <a:lnTo>
                  <a:pt x="217" y="113"/>
                </a:lnTo>
                <a:lnTo>
                  <a:pt x="185" y="94"/>
                </a:lnTo>
                <a:lnTo>
                  <a:pt x="111" y="94"/>
                </a:lnTo>
                <a:cubicBezTo>
                  <a:pt x="96" y="94"/>
                  <a:pt x="84" y="106"/>
                  <a:pt x="84" y="121"/>
                </a:cubicBezTo>
                <a:lnTo>
                  <a:pt x="84" y="207"/>
                </a:lnTo>
                <a:lnTo>
                  <a:pt x="112" y="207"/>
                </a:lnTo>
                <a:lnTo>
                  <a:pt x="112" y="144"/>
                </a:lnTo>
                <a:lnTo>
                  <a:pt x="117" y="144"/>
                </a:lnTo>
                <a:lnTo>
                  <a:pt x="117" y="207"/>
                </a:lnTo>
                <a:lnTo>
                  <a:pt x="117" y="223"/>
                </a:lnTo>
                <a:lnTo>
                  <a:pt x="117" y="339"/>
                </a:lnTo>
                <a:lnTo>
                  <a:pt x="148" y="339"/>
                </a:lnTo>
                <a:lnTo>
                  <a:pt x="148" y="243"/>
                </a:lnTo>
                <a:lnTo>
                  <a:pt x="155" y="243"/>
                </a:lnTo>
                <a:lnTo>
                  <a:pt x="155" y="339"/>
                </a:lnTo>
                <a:lnTo>
                  <a:pt x="185" y="339"/>
                </a:lnTo>
                <a:lnTo>
                  <a:pt x="185" y="322"/>
                </a:lnTo>
                <a:lnTo>
                  <a:pt x="185" y="223"/>
                </a:lnTo>
                <a:lnTo>
                  <a:pt x="185" y="207"/>
                </a:lnTo>
                <a:lnTo>
                  <a:pt x="185" y="144"/>
                </a:lnTo>
                <a:lnTo>
                  <a:pt x="185" y="127"/>
                </a:lnTo>
                <a:lnTo>
                  <a:pt x="217" y="144"/>
                </a:lnTo>
                <a:lnTo>
                  <a:pt x="263" y="144"/>
                </a:lnTo>
                <a:lnTo>
                  <a:pt x="263" y="136"/>
                </a:lnTo>
                <a:lnTo>
                  <a:pt x="273" y="134"/>
                </a:lnTo>
                <a:lnTo>
                  <a:pt x="273" y="181"/>
                </a:lnTo>
                <a:cubicBezTo>
                  <a:pt x="273" y="190"/>
                  <a:pt x="276" y="198"/>
                  <a:pt x="282" y="204"/>
                </a:cubicBezTo>
                <a:lnTo>
                  <a:pt x="282" y="204"/>
                </a:lnTo>
                <a:lnTo>
                  <a:pt x="282" y="204"/>
                </a:lnTo>
                <a:cubicBezTo>
                  <a:pt x="288" y="210"/>
                  <a:pt x="296" y="214"/>
                  <a:pt x="305" y="214"/>
                </a:cubicBezTo>
                <a:lnTo>
                  <a:pt x="516" y="214"/>
                </a:lnTo>
                <a:cubicBezTo>
                  <a:pt x="525" y="214"/>
                  <a:pt x="533" y="210"/>
                  <a:pt x="539" y="204"/>
                </a:cubicBezTo>
                <a:lnTo>
                  <a:pt x="539" y="204"/>
                </a:lnTo>
                <a:cubicBezTo>
                  <a:pt x="545" y="198"/>
                  <a:pt x="548" y="190"/>
                  <a:pt x="548" y="181"/>
                </a:cubicBezTo>
                <a:lnTo>
                  <a:pt x="548" y="59"/>
                </a:lnTo>
                <a:cubicBezTo>
                  <a:pt x="548" y="50"/>
                  <a:pt x="545" y="42"/>
                  <a:pt x="539" y="36"/>
                </a:cubicBezTo>
                <a:cubicBezTo>
                  <a:pt x="533" y="30"/>
                  <a:pt x="525" y="27"/>
                  <a:pt x="516" y="27"/>
                </a:cubicBezTo>
                <a:lnTo>
                  <a:pt x="305" y="27"/>
                </a:lnTo>
                <a:close/>
                <a:moveTo>
                  <a:pt x="520" y="221"/>
                </a:moveTo>
                <a:lnTo>
                  <a:pt x="520" y="249"/>
                </a:lnTo>
                <a:lnTo>
                  <a:pt x="497" y="249"/>
                </a:lnTo>
                <a:lnTo>
                  <a:pt x="523" y="341"/>
                </a:lnTo>
                <a:lnTo>
                  <a:pt x="490" y="341"/>
                </a:lnTo>
                <a:lnTo>
                  <a:pt x="464" y="249"/>
                </a:lnTo>
                <a:lnTo>
                  <a:pt x="367" y="249"/>
                </a:lnTo>
                <a:lnTo>
                  <a:pt x="341" y="341"/>
                </a:lnTo>
                <a:lnTo>
                  <a:pt x="308" y="341"/>
                </a:lnTo>
                <a:lnTo>
                  <a:pt x="334" y="249"/>
                </a:lnTo>
                <a:lnTo>
                  <a:pt x="306" y="249"/>
                </a:lnTo>
                <a:lnTo>
                  <a:pt x="306" y="221"/>
                </a:lnTo>
                <a:lnTo>
                  <a:pt x="520" y="221"/>
                </a:lnTo>
                <a:close/>
                <a:moveTo>
                  <a:pt x="113" y="373"/>
                </a:moveTo>
                <a:cubicBezTo>
                  <a:pt x="139" y="373"/>
                  <a:pt x="161" y="394"/>
                  <a:pt x="161" y="421"/>
                </a:cubicBezTo>
                <a:cubicBezTo>
                  <a:pt x="161" y="427"/>
                  <a:pt x="160" y="433"/>
                  <a:pt x="158" y="438"/>
                </a:cubicBezTo>
                <a:lnTo>
                  <a:pt x="68" y="438"/>
                </a:lnTo>
                <a:cubicBezTo>
                  <a:pt x="66" y="433"/>
                  <a:pt x="65" y="427"/>
                  <a:pt x="65" y="421"/>
                </a:cubicBezTo>
                <a:cubicBezTo>
                  <a:pt x="65" y="394"/>
                  <a:pt x="86" y="373"/>
                  <a:pt x="113" y="373"/>
                </a:cubicBezTo>
                <a:close/>
                <a:moveTo>
                  <a:pt x="316" y="373"/>
                </a:moveTo>
                <a:cubicBezTo>
                  <a:pt x="342" y="373"/>
                  <a:pt x="364" y="394"/>
                  <a:pt x="364" y="421"/>
                </a:cubicBezTo>
                <a:cubicBezTo>
                  <a:pt x="364" y="427"/>
                  <a:pt x="363" y="433"/>
                  <a:pt x="361" y="438"/>
                </a:cubicBezTo>
                <a:lnTo>
                  <a:pt x="271" y="438"/>
                </a:lnTo>
                <a:cubicBezTo>
                  <a:pt x="269" y="433"/>
                  <a:pt x="268" y="427"/>
                  <a:pt x="268" y="421"/>
                </a:cubicBezTo>
                <a:cubicBezTo>
                  <a:pt x="268" y="394"/>
                  <a:pt x="289" y="373"/>
                  <a:pt x="316" y="373"/>
                </a:cubicBezTo>
                <a:close/>
                <a:moveTo>
                  <a:pt x="522" y="373"/>
                </a:moveTo>
                <a:cubicBezTo>
                  <a:pt x="548" y="373"/>
                  <a:pt x="570" y="394"/>
                  <a:pt x="570" y="421"/>
                </a:cubicBezTo>
                <a:cubicBezTo>
                  <a:pt x="570" y="427"/>
                  <a:pt x="569" y="433"/>
                  <a:pt x="567" y="438"/>
                </a:cubicBezTo>
                <a:lnTo>
                  <a:pt x="477" y="438"/>
                </a:lnTo>
                <a:cubicBezTo>
                  <a:pt x="475" y="433"/>
                  <a:pt x="474" y="427"/>
                  <a:pt x="474" y="421"/>
                </a:cubicBezTo>
                <a:cubicBezTo>
                  <a:pt x="474" y="394"/>
                  <a:pt x="495" y="373"/>
                  <a:pt x="522" y="373"/>
                </a:cubicBezTo>
                <a:close/>
                <a:moveTo>
                  <a:pt x="62" y="448"/>
                </a:moveTo>
                <a:lnTo>
                  <a:pt x="161" y="448"/>
                </a:lnTo>
                <a:cubicBezTo>
                  <a:pt x="182" y="448"/>
                  <a:pt x="200" y="466"/>
                  <a:pt x="200" y="487"/>
                </a:cubicBezTo>
                <a:lnTo>
                  <a:pt x="200" y="527"/>
                </a:lnTo>
                <a:lnTo>
                  <a:pt x="203" y="527"/>
                </a:lnTo>
                <a:lnTo>
                  <a:pt x="221" y="527"/>
                </a:lnTo>
                <a:lnTo>
                  <a:pt x="227" y="527"/>
                </a:lnTo>
                <a:lnTo>
                  <a:pt x="227" y="487"/>
                </a:lnTo>
                <a:cubicBezTo>
                  <a:pt x="227" y="466"/>
                  <a:pt x="244" y="448"/>
                  <a:pt x="265" y="448"/>
                </a:cubicBezTo>
                <a:lnTo>
                  <a:pt x="364" y="448"/>
                </a:lnTo>
                <a:cubicBezTo>
                  <a:pt x="385" y="448"/>
                  <a:pt x="403" y="466"/>
                  <a:pt x="403" y="487"/>
                </a:cubicBezTo>
                <a:lnTo>
                  <a:pt x="403" y="527"/>
                </a:lnTo>
                <a:lnTo>
                  <a:pt x="409" y="527"/>
                </a:lnTo>
                <a:lnTo>
                  <a:pt x="424" y="527"/>
                </a:lnTo>
                <a:lnTo>
                  <a:pt x="433" y="527"/>
                </a:lnTo>
                <a:lnTo>
                  <a:pt x="433" y="487"/>
                </a:lnTo>
                <a:cubicBezTo>
                  <a:pt x="433" y="466"/>
                  <a:pt x="450" y="448"/>
                  <a:pt x="471" y="448"/>
                </a:cubicBezTo>
                <a:lnTo>
                  <a:pt x="570" y="448"/>
                </a:lnTo>
                <a:cubicBezTo>
                  <a:pt x="591" y="448"/>
                  <a:pt x="608" y="466"/>
                  <a:pt x="608" y="487"/>
                </a:cubicBezTo>
                <a:lnTo>
                  <a:pt x="608" y="527"/>
                </a:lnTo>
                <a:lnTo>
                  <a:pt x="614" y="527"/>
                </a:lnTo>
                <a:lnTo>
                  <a:pt x="630" y="527"/>
                </a:lnTo>
                <a:lnTo>
                  <a:pt x="638" y="527"/>
                </a:lnTo>
                <a:lnTo>
                  <a:pt x="638" y="549"/>
                </a:lnTo>
                <a:lnTo>
                  <a:pt x="630" y="549"/>
                </a:lnTo>
                <a:lnTo>
                  <a:pt x="614" y="549"/>
                </a:lnTo>
                <a:lnTo>
                  <a:pt x="608" y="549"/>
                </a:lnTo>
                <a:lnTo>
                  <a:pt x="608" y="603"/>
                </a:lnTo>
                <a:lnTo>
                  <a:pt x="433" y="603"/>
                </a:lnTo>
                <a:lnTo>
                  <a:pt x="433" y="549"/>
                </a:lnTo>
                <a:lnTo>
                  <a:pt x="424" y="549"/>
                </a:lnTo>
                <a:lnTo>
                  <a:pt x="409" y="549"/>
                </a:lnTo>
                <a:lnTo>
                  <a:pt x="403" y="549"/>
                </a:lnTo>
                <a:lnTo>
                  <a:pt x="403" y="603"/>
                </a:lnTo>
                <a:lnTo>
                  <a:pt x="227" y="603"/>
                </a:lnTo>
                <a:lnTo>
                  <a:pt x="227" y="549"/>
                </a:lnTo>
                <a:lnTo>
                  <a:pt x="221" y="549"/>
                </a:lnTo>
                <a:lnTo>
                  <a:pt x="203" y="549"/>
                </a:lnTo>
                <a:lnTo>
                  <a:pt x="200" y="549"/>
                </a:lnTo>
                <a:lnTo>
                  <a:pt x="200" y="603"/>
                </a:lnTo>
                <a:lnTo>
                  <a:pt x="24" y="603"/>
                </a:lnTo>
                <a:lnTo>
                  <a:pt x="24" y="549"/>
                </a:lnTo>
                <a:lnTo>
                  <a:pt x="0" y="549"/>
                </a:lnTo>
                <a:lnTo>
                  <a:pt x="0" y="527"/>
                </a:lnTo>
                <a:lnTo>
                  <a:pt x="24" y="527"/>
                </a:lnTo>
                <a:lnTo>
                  <a:pt x="24" y="487"/>
                </a:lnTo>
                <a:cubicBezTo>
                  <a:pt x="24" y="466"/>
                  <a:pt x="41" y="448"/>
                  <a:pt x="62" y="448"/>
                </a:cubicBezTo>
                <a:close/>
                <a:moveTo>
                  <a:pt x="152" y="0"/>
                </a:moveTo>
                <a:cubicBezTo>
                  <a:pt x="176" y="0"/>
                  <a:pt x="196" y="20"/>
                  <a:pt x="196" y="44"/>
                </a:cubicBezTo>
                <a:cubicBezTo>
                  <a:pt x="196" y="69"/>
                  <a:pt x="176" y="88"/>
                  <a:pt x="152" y="88"/>
                </a:cubicBezTo>
                <a:cubicBezTo>
                  <a:pt x="127" y="88"/>
                  <a:pt x="108" y="69"/>
                  <a:pt x="108" y="44"/>
                </a:cubicBezTo>
                <a:cubicBezTo>
                  <a:pt x="108" y="20"/>
                  <a:pt x="127" y="0"/>
                  <a:pt x="152" y="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文本框 30"/>
          <p:cNvSpPr txBox="1"/>
          <p:nvPr/>
        </p:nvSpPr>
        <p:spPr>
          <a:xfrm>
            <a:off x="8552529" y="149250"/>
            <a:ext cx="3113256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生經管系統開發課</a:t>
            </a:r>
          </a:p>
        </p:txBody>
      </p:sp>
    </p:spTree>
    <p:extLst>
      <p:ext uri="{BB962C8B-B14F-4D97-AF65-F5344CB8AC3E}">
        <p14:creationId xmlns:p14="http://schemas.microsoft.com/office/powerpoint/2010/main" val="217843513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  <p:bldP spid="31" grpId="0"/>
      <p:bldP spid="32" grpId="0"/>
      <p:bldP spid="38" grpId="0" animBg="1"/>
      <p:bldP spid="39" grpId="0" animBg="1"/>
      <p:bldP spid="40" grpId="0" animBg="1"/>
      <p:bldP spid="41" grpId="0" animBg="1"/>
      <p:bldP spid="4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6873974" y="4451558"/>
            <a:ext cx="639320" cy="646331"/>
            <a:chOff x="6175941" y="1242431"/>
            <a:chExt cx="639320" cy="646331"/>
          </a:xfrm>
        </p:grpSpPr>
        <p:sp>
          <p:nvSpPr>
            <p:cNvPr id="15" name="圆角矩形 14"/>
            <p:cNvSpPr/>
            <p:nvPr/>
          </p:nvSpPr>
          <p:spPr>
            <a:xfrm>
              <a:off x="6175941" y="1249442"/>
              <a:ext cx="639320" cy="639320"/>
            </a:xfrm>
            <a:prstGeom prst="roundRect">
              <a:avLst/>
            </a:prstGeom>
            <a:solidFill>
              <a:srgbClr val="0E647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179944" y="1242431"/>
              <a:ext cx="516687" cy="64633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 smtClean="0"/>
                <a:t> </a:t>
              </a:r>
              <a:r>
                <a:rPr lang="en-US" altLang="zh-CN" sz="3600" dirty="0" smtClean="0">
                  <a:solidFill>
                    <a:schemeClr val="bg1"/>
                  </a:solidFill>
                  <a:latin typeface="Impact" panose="020B0806030902050204" pitchFamily="34" charset="0"/>
                </a:rPr>
                <a:t>4</a:t>
              </a:r>
              <a:endParaRPr lang="en-US" altLang="zh-CN" sz="2800" dirty="0" smtClean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712661" y="1614279"/>
            <a:ext cx="699280" cy="654310"/>
            <a:chOff x="6115981" y="2180826"/>
            <a:chExt cx="699280" cy="654310"/>
          </a:xfrm>
        </p:grpSpPr>
        <p:sp>
          <p:nvSpPr>
            <p:cNvPr id="18" name="圆角矩形 17"/>
            <p:cNvSpPr/>
            <p:nvPr/>
          </p:nvSpPr>
          <p:spPr>
            <a:xfrm>
              <a:off x="6175941" y="2195816"/>
              <a:ext cx="639320" cy="639320"/>
            </a:xfrm>
            <a:prstGeom prst="roundRect">
              <a:avLst/>
            </a:prstGeom>
            <a:solidFill>
              <a:srgbClr val="2DB2A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115981" y="2180826"/>
              <a:ext cx="546945" cy="646331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 smtClean="0"/>
                <a:t>  </a:t>
              </a:r>
              <a:r>
                <a:rPr lang="en-US" altLang="zh-CN" sz="3600" dirty="0">
                  <a:solidFill>
                    <a:schemeClr val="bg1"/>
                  </a:solidFill>
                  <a:latin typeface="Impact" panose="020B0806030902050204" pitchFamily="34" charset="0"/>
                </a:rPr>
                <a:t>1</a:t>
              </a:r>
              <a:endParaRPr lang="en-US" altLang="zh-CN" sz="2800" dirty="0" smtClean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742641" y="2558250"/>
            <a:ext cx="699280" cy="654310"/>
            <a:chOff x="6115981" y="3147492"/>
            <a:chExt cx="699280" cy="654310"/>
          </a:xfrm>
        </p:grpSpPr>
        <p:sp>
          <p:nvSpPr>
            <p:cNvPr id="21" name="圆角矩形 20"/>
            <p:cNvSpPr/>
            <p:nvPr/>
          </p:nvSpPr>
          <p:spPr>
            <a:xfrm>
              <a:off x="6175941" y="3162482"/>
              <a:ext cx="639320" cy="639320"/>
            </a:xfrm>
            <a:prstGeom prst="roundRect">
              <a:avLst/>
            </a:prstGeom>
            <a:solidFill>
              <a:srgbClr val="F87A0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115981" y="3147492"/>
              <a:ext cx="603050" cy="646331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 smtClean="0"/>
                <a:t>  </a:t>
              </a:r>
              <a:r>
                <a:rPr lang="en-US" altLang="zh-CN" sz="3600" dirty="0">
                  <a:solidFill>
                    <a:schemeClr val="bg1"/>
                  </a:solidFill>
                  <a:latin typeface="Impact" panose="020B0806030902050204" pitchFamily="34" charset="0"/>
                </a:rPr>
                <a:t>2</a:t>
              </a:r>
              <a:endParaRPr lang="en-US" altLang="zh-CN" sz="2800" dirty="0" smtClean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6769462" y="3511402"/>
            <a:ext cx="699280" cy="654310"/>
            <a:chOff x="6115981" y="4126955"/>
            <a:chExt cx="699280" cy="654310"/>
          </a:xfrm>
        </p:grpSpPr>
        <p:sp>
          <p:nvSpPr>
            <p:cNvPr id="24" name="圆角矩形 23"/>
            <p:cNvSpPr/>
            <p:nvPr/>
          </p:nvSpPr>
          <p:spPr>
            <a:xfrm>
              <a:off x="6175941" y="4141945"/>
              <a:ext cx="639320" cy="639320"/>
            </a:xfrm>
            <a:prstGeom prst="roundRect">
              <a:avLst/>
            </a:prstGeom>
            <a:solidFill>
              <a:srgbClr val="74AF4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6115981" y="4126955"/>
              <a:ext cx="615874" cy="646331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 smtClean="0"/>
                <a:t>  </a:t>
              </a:r>
              <a:r>
                <a:rPr lang="en-US" altLang="zh-CN" sz="3600" dirty="0">
                  <a:solidFill>
                    <a:schemeClr val="bg1"/>
                  </a:solidFill>
                  <a:latin typeface="Impact" panose="020B0806030902050204" pitchFamily="34" charset="0"/>
                </a:rPr>
                <a:t>3</a:t>
              </a:r>
              <a:endParaRPr lang="en-US" altLang="zh-CN" sz="2800" dirty="0" smtClean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7663163" y="1611663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年度</a:t>
            </a:r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工作總結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663163" y="3567624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未來規劃展望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663163" y="2598383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年度績效考核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663163" y="4509124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各位同仁報告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0" y="0"/>
            <a:ext cx="3235569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1691074" y="494066"/>
            <a:ext cx="479490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 smtClean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rtika" panose="02020503030404060203" pitchFamily="18" charset="0"/>
                <a:ea typeface="方正姚体" panose="02010601030101010101" pitchFamily="2" charset="-122"/>
                <a:cs typeface="Kartika" panose="02020503030404060203" pitchFamily="18" charset="0"/>
              </a:rPr>
              <a:t>CON</a:t>
            </a:r>
            <a:r>
              <a:rPr lang="en-US" altLang="zh-CN" sz="6000" b="1" dirty="0" smtClean="0">
                <a:solidFill>
                  <a:srgbClr val="1A1B2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artika" panose="02020503030404060203" pitchFamily="18" charset="0"/>
                <a:ea typeface="方正姚体" panose="02010601030101010101" pitchFamily="2" charset="-122"/>
                <a:cs typeface="Kartika" panose="02020503030404060203" pitchFamily="18" charset="0"/>
              </a:rPr>
              <a:t>CENTS</a:t>
            </a:r>
            <a:endParaRPr lang="zh-CN" altLang="en-US" sz="6000" b="1" dirty="0">
              <a:solidFill>
                <a:srgbClr val="1A1B25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artika" panose="02020503030404060203" pitchFamily="18" charset="0"/>
              <a:ea typeface="方正姚体" panose="02010601030101010101" pitchFamily="2" charset="-122"/>
              <a:cs typeface="Kartika" panose="02020503030404060203" pitchFamily="18" charset="0"/>
            </a:endParaRPr>
          </a:p>
        </p:txBody>
      </p:sp>
      <p:sp>
        <p:nvSpPr>
          <p:cNvPr id="39" name="文本框 20"/>
          <p:cNvSpPr>
            <a:spLocks noChangeArrowheads="1"/>
          </p:cNvSpPr>
          <p:nvPr/>
        </p:nvSpPr>
        <p:spPr bwMode="auto">
          <a:xfrm>
            <a:off x="635784" y="3019458"/>
            <a:ext cx="19639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48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目 </a:t>
            </a:r>
            <a:r>
              <a:rPr lang="zh-CN" altLang="en-US" sz="4800" b="1" dirty="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录</a:t>
            </a:r>
            <a:endParaRPr lang="en-US" sz="4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6" name="矩形 21"/>
          <p:cNvSpPr>
            <a:spLocks noChangeArrowheads="1"/>
          </p:cNvSpPr>
          <p:nvPr/>
        </p:nvSpPr>
        <p:spPr bwMode="auto">
          <a:xfrm>
            <a:off x="2405902" y="4182335"/>
            <a:ext cx="651272" cy="79375"/>
          </a:xfrm>
          <a:prstGeom prst="rect">
            <a:avLst/>
          </a:prstGeom>
          <a:solidFill>
            <a:srgbClr val="0E647C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SimSun" panose="02010600030101010101" pitchFamily="2" charset="-122"/>
              <a:sym typeface="SimSun" panose="02010600030101010101" pitchFamily="2" charset="-122"/>
            </a:endParaRPr>
          </a:p>
        </p:txBody>
      </p:sp>
      <p:sp>
        <p:nvSpPr>
          <p:cNvPr id="40" name="矩形 25"/>
          <p:cNvSpPr>
            <a:spLocks noChangeArrowheads="1"/>
          </p:cNvSpPr>
          <p:nvPr/>
        </p:nvSpPr>
        <p:spPr bwMode="auto">
          <a:xfrm>
            <a:off x="458304" y="4182336"/>
            <a:ext cx="651272" cy="79375"/>
          </a:xfrm>
          <a:prstGeom prst="rect">
            <a:avLst/>
          </a:prstGeom>
          <a:solidFill>
            <a:srgbClr val="2DB2A4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SimSun" panose="02010600030101010101" pitchFamily="2" charset="-122"/>
              <a:sym typeface="SimSun" panose="02010600030101010101" pitchFamily="2" charset="-122"/>
            </a:endParaRPr>
          </a:p>
        </p:txBody>
      </p:sp>
      <p:sp>
        <p:nvSpPr>
          <p:cNvPr id="41" name="矩形 26"/>
          <p:cNvSpPr>
            <a:spLocks noChangeArrowheads="1"/>
          </p:cNvSpPr>
          <p:nvPr/>
        </p:nvSpPr>
        <p:spPr bwMode="auto">
          <a:xfrm>
            <a:off x="1109576" y="4182336"/>
            <a:ext cx="651272" cy="79375"/>
          </a:xfrm>
          <a:prstGeom prst="rect">
            <a:avLst/>
          </a:prstGeom>
          <a:solidFill>
            <a:srgbClr val="F87A08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SimSun" panose="02010600030101010101" pitchFamily="2" charset="-122"/>
              <a:sym typeface="SimSun" panose="02010600030101010101" pitchFamily="2" charset="-122"/>
            </a:endParaRPr>
          </a:p>
        </p:txBody>
      </p:sp>
      <p:sp>
        <p:nvSpPr>
          <p:cNvPr id="42" name="矩形 27"/>
          <p:cNvSpPr>
            <a:spLocks noChangeArrowheads="1"/>
          </p:cNvSpPr>
          <p:nvPr/>
        </p:nvSpPr>
        <p:spPr bwMode="auto">
          <a:xfrm>
            <a:off x="1755430" y="4182336"/>
            <a:ext cx="651272" cy="79375"/>
          </a:xfrm>
          <a:prstGeom prst="rect">
            <a:avLst/>
          </a:prstGeom>
          <a:solidFill>
            <a:srgbClr val="74AF47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SimSun" panose="02010600030101010101" pitchFamily="2" charset="-122"/>
              <a:sym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3693237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  <p:bldP spid="37" grpId="0" animBg="1"/>
      <p:bldP spid="38" grpId="0"/>
      <p:bldP spid="39" grpId="0"/>
      <p:bldP spid="36" grpId="0" animBg="1"/>
      <p:bldP spid="40" grpId="0" animBg="1"/>
      <p:bldP spid="41" grpId="0" animBg="1"/>
      <p:bldP spid="4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9"/>
          <p:cNvSpPr>
            <a:spLocks/>
          </p:cNvSpPr>
          <p:nvPr/>
        </p:nvSpPr>
        <p:spPr bwMode="auto">
          <a:xfrm>
            <a:off x="4812240" y="1995471"/>
            <a:ext cx="2576347" cy="2888159"/>
          </a:xfrm>
          <a:custGeom>
            <a:avLst/>
            <a:gdLst>
              <a:gd name="T0" fmla="*/ 772 w 772"/>
              <a:gd name="T1" fmla="*/ 596 h 865"/>
              <a:gd name="T2" fmla="*/ 721 w 772"/>
              <a:gd name="T3" fmla="*/ 685 h 865"/>
              <a:gd name="T4" fmla="*/ 437 w 772"/>
              <a:gd name="T5" fmla="*/ 849 h 865"/>
              <a:gd name="T6" fmla="*/ 335 w 772"/>
              <a:gd name="T7" fmla="*/ 849 h 865"/>
              <a:gd name="T8" fmla="*/ 51 w 772"/>
              <a:gd name="T9" fmla="*/ 685 h 865"/>
              <a:gd name="T10" fmla="*/ 0 w 772"/>
              <a:gd name="T11" fmla="*/ 596 h 865"/>
              <a:gd name="T12" fmla="*/ 0 w 772"/>
              <a:gd name="T13" fmla="*/ 268 h 865"/>
              <a:gd name="T14" fmla="*/ 51 w 772"/>
              <a:gd name="T15" fmla="*/ 180 h 865"/>
              <a:gd name="T16" fmla="*/ 335 w 772"/>
              <a:gd name="T17" fmla="*/ 16 h 865"/>
              <a:gd name="T18" fmla="*/ 437 w 772"/>
              <a:gd name="T19" fmla="*/ 16 h 865"/>
              <a:gd name="T20" fmla="*/ 721 w 772"/>
              <a:gd name="T21" fmla="*/ 180 h 865"/>
              <a:gd name="T22" fmla="*/ 772 w 772"/>
              <a:gd name="T23" fmla="*/ 268 h 865"/>
              <a:gd name="T24" fmla="*/ 772 w 772"/>
              <a:gd name="T25" fmla="*/ 596 h 8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72" h="865">
                <a:moveTo>
                  <a:pt x="772" y="596"/>
                </a:moveTo>
                <a:cubicBezTo>
                  <a:pt x="772" y="629"/>
                  <a:pt x="749" y="668"/>
                  <a:pt x="721" y="685"/>
                </a:cubicBezTo>
                <a:cubicBezTo>
                  <a:pt x="437" y="849"/>
                  <a:pt x="437" y="849"/>
                  <a:pt x="437" y="849"/>
                </a:cubicBezTo>
                <a:cubicBezTo>
                  <a:pt x="409" y="865"/>
                  <a:pt x="363" y="865"/>
                  <a:pt x="335" y="849"/>
                </a:cubicBezTo>
                <a:cubicBezTo>
                  <a:pt x="51" y="685"/>
                  <a:pt x="51" y="685"/>
                  <a:pt x="51" y="685"/>
                </a:cubicBezTo>
                <a:cubicBezTo>
                  <a:pt x="23" y="668"/>
                  <a:pt x="0" y="629"/>
                  <a:pt x="0" y="596"/>
                </a:cubicBezTo>
                <a:cubicBezTo>
                  <a:pt x="0" y="268"/>
                  <a:pt x="0" y="268"/>
                  <a:pt x="0" y="268"/>
                </a:cubicBezTo>
                <a:cubicBezTo>
                  <a:pt x="0" y="236"/>
                  <a:pt x="23" y="196"/>
                  <a:pt x="51" y="180"/>
                </a:cubicBezTo>
                <a:cubicBezTo>
                  <a:pt x="335" y="16"/>
                  <a:pt x="335" y="16"/>
                  <a:pt x="335" y="16"/>
                </a:cubicBezTo>
                <a:cubicBezTo>
                  <a:pt x="363" y="0"/>
                  <a:pt x="409" y="0"/>
                  <a:pt x="437" y="16"/>
                </a:cubicBezTo>
                <a:cubicBezTo>
                  <a:pt x="721" y="180"/>
                  <a:pt x="721" y="180"/>
                  <a:pt x="721" y="180"/>
                </a:cubicBezTo>
                <a:cubicBezTo>
                  <a:pt x="749" y="196"/>
                  <a:pt x="772" y="236"/>
                  <a:pt x="772" y="268"/>
                </a:cubicBezTo>
                <a:lnTo>
                  <a:pt x="772" y="596"/>
                </a:lnTo>
                <a:close/>
              </a:path>
            </a:pathLst>
          </a:custGeom>
          <a:noFill/>
          <a:ln>
            <a:solidFill>
              <a:srgbClr val="2DB2A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>
            <a:spLocks/>
          </p:cNvSpPr>
          <p:nvPr/>
        </p:nvSpPr>
        <p:spPr bwMode="auto">
          <a:xfrm>
            <a:off x="2280649" y="0"/>
            <a:ext cx="7639528" cy="6858000"/>
          </a:xfrm>
          <a:custGeom>
            <a:avLst/>
            <a:gdLst>
              <a:gd name="connsiteX0" fmla="*/ 2131006 w 7639528"/>
              <a:gd name="connsiteY0" fmla="*/ 0 h 6858000"/>
              <a:gd name="connsiteX1" fmla="*/ 5508522 w 7639528"/>
              <a:gd name="connsiteY1" fmla="*/ 0 h 6858000"/>
              <a:gd name="connsiteX2" fmla="*/ 5627413 w 7639528"/>
              <a:gd name="connsiteY2" fmla="*/ 68690 h 6858000"/>
              <a:gd name="connsiteX3" fmla="*/ 7134844 w 7639528"/>
              <a:gd name="connsiteY3" fmla="*/ 939616 h 6858000"/>
              <a:gd name="connsiteX4" fmla="*/ 7639528 w 7639528"/>
              <a:gd name="connsiteY4" fmla="*/ 1810880 h 6858000"/>
              <a:gd name="connsiteX5" fmla="*/ 7639528 w 7639528"/>
              <a:gd name="connsiteY5" fmla="*/ 5058319 h 6858000"/>
              <a:gd name="connsiteX6" fmla="*/ 7134844 w 7639528"/>
              <a:gd name="connsiteY6" fmla="*/ 5939484 h 6858000"/>
              <a:gd name="connsiteX7" fmla="*/ 5664549 w 7639528"/>
              <a:gd name="connsiteY7" fmla="*/ 6788953 h 6858000"/>
              <a:gd name="connsiteX8" fmla="*/ 5545041 w 7639528"/>
              <a:gd name="connsiteY8" fmla="*/ 6858000 h 6858000"/>
              <a:gd name="connsiteX9" fmla="*/ 2094488 w 7639528"/>
              <a:gd name="connsiteY9" fmla="*/ 6858000 h 6858000"/>
              <a:gd name="connsiteX10" fmla="*/ 2012116 w 7639528"/>
              <a:gd name="connsiteY10" fmla="*/ 6810409 h 6858000"/>
              <a:gd name="connsiteX11" fmla="*/ 504684 w 7639528"/>
              <a:gd name="connsiteY11" fmla="*/ 5939484 h 6858000"/>
              <a:gd name="connsiteX12" fmla="*/ 0 w 7639528"/>
              <a:gd name="connsiteY12" fmla="*/ 5058319 h 6858000"/>
              <a:gd name="connsiteX13" fmla="*/ 0 w 7639528"/>
              <a:gd name="connsiteY13" fmla="*/ 1810880 h 6858000"/>
              <a:gd name="connsiteX14" fmla="*/ 504684 w 7639528"/>
              <a:gd name="connsiteY14" fmla="*/ 939616 h 6858000"/>
              <a:gd name="connsiteX15" fmla="*/ 2129444 w 7639528"/>
              <a:gd name="connsiteY15" fmla="*/ 90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639528" h="6858000">
                <a:moveTo>
                  <a:pt x="2131006" y="0"/>
                </a:moveTo>
                <a:lnTo>
                  <a:pt x="5508522" y="0"/>
                </a:lnTo>
                <a:lnTo>
                  <a:pt x="5627413" y="68690"/>
                </a:lnTo>
                <a:cubicBezTo>
                  <a:pt x="7134844" y="939616"/>
                  <a:pt x="7134844" y="939616"/>
                  <a:pt x="7134844" y="939616"/>
                </a:cubicBezTo>
                <a:cubicBezTo>
                  <a:pt x="7411925" y="1098027"/>
                  <a:pt x="7639528" y="1494057"/>
                  <a:pt x="7639528" y="1810880"/>
                </a:cubicBezTo>
                <a:lnTo>
                  <a:pt x="7639528" y="5058319"/>
                </a:lnTo>
                <a:cubicBezTo>
                  <a:pt x="7639528" y="5385043"/>
                  <a:pt x="7411925" y="5771172"/>
                  <a:pt x="7134844" y="5939484"/>
                </a:cubicBezTo>
                <a:cubicBezTo>
                  <a:pt x="6520070" y="6294672"/>
                  <a:pt x="6039778" y="6572163"/>
                  <a:pt x="5664549" y="6788953"/>
                </a:cubicBezTo>
                <a:lnTo>
                  <a:pt x="5545041" y="6858000"/>
                </a:lnTo>
                <a:lnTo>
                  <a:pt x="2094488" y="6858000"/>
                </a:lnTo>
                <a:lnTo>
                  <a:pt x="2012116" y="6810409"/>
                </a:lnTo>
                <a:cubicBezTo>
                  <a:pt x="504684" y="5939484"/>
                  <a:pt x="504684" y="5939484"/>
                  <a:pt x="504684" y="5939484"/>
                </a:cubicBezTo>
                <a:cubicBezTo>
                  <a:pt x="227603" y="5771172"/>
                  <a:pt x="0" y="5385043"/>
                  <a:pt x="0" y="5058319"/>
                </a:cubicBezTo>
                <a:cubicBezTo>
                  <a:pt x="0" y="1810880"/>
                  <a:pt x="0" y="1810880"/>
                  <a:pt x="0" y="1810880"/>
                </a:cubicBezTo>
                <a:cubicBezTo>
                  <a:pt x="0" y="1494057"/>
                  <a:pt x="227603" y="1098027"/>
                  <a:pt x="504684" y="939616"/>
                </a:cubicBezTo>
                <a:cubicBezTo>
                  <a:pt x="1207283" y="533686"/>
                  <a:pt x="1734232" y="229238"/>
                  <a:pt x="2129444" y="903"/>
                </a:cubicBezTo>
                <a:close/>
              </a:path>
            </a:pathLst>
          </a:custGeom>
          <a:noFill/>
          <a:ln>
            <a:solidFill>
              <a:srgbClr val="2DB2A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5002386" y="2208630"/>
            <a:ext cx="2196057" cy="2461843"/>
            <a:chOff x="5002386" y="2208630"/>
            <a:chExt cx="2196057" cy="2461843"/>
          </a:xfrm>
        </p:grpSpPr>
        <p:sp>
          <p:nvSpPr>
            <p:cNvPr id="10" name="Freeform 19"/>
            <p:cNvSpPr>
              <a:spLocks/>
            </p:cNvSpPr>
            <p:nvPr/>
          </p:nvSpPr>
          <p:spPr bwMode="auto">
            <a:xfrm>
              <a:off x="5002386" y="2208630"/>
              <a:ext cx="2196057" cy="2461843"/>
            </a:xfrm>
            <a:custGeom>
              <a:avLst/>
              <a:gdLst>
                <a:gd name="T0" fmla="*/ 772 w 772"/>
                <a:gd name="T1" fmla="*/ 596 h 865"/>
                <a:gd name="T2" fmla="*/ 721 w 772"/>
                <a:gd name="T3" fmla="*/ 685 h 865"/>
                <a:gd name="T4" fmla="*/ 437 w 772"/>
                <a:gd name="T5" fmla="*/ 849 h 865"/>
                <a:gd name="T6" fmla="*/ 335 w 772"/>
                <a:gd name="T7" fmla="*/ 849 h 865"/>
                <a:gd name="T8" fmla="*/ 51 w 772"/>
                <a:gd name="T9" fmla="*/ 685 h 865"/>
                <a:gd name="T10" fmla="*/ 0 w 772"/>
                <a:gd name="T11" fmla="*/ 596 h 865"/>
                <a:gd name="T12" fmla="*/ 0 w 772"/>
                <a:gd name="T13" fmla="*/ 268 h 865"/>
                <a:gd name="T14" fmla="*/ 51 w 772"/>
                <a:gd name="T15" fmla="*/ 180 h 865"/>
                <a:gd name="T16" fmla="*/ 335 w 772"/>
                <a:gd name="T17" fmla="*/ 16 h 865"/>
                <a:gd name="T18" fmla="*/ 437 w 772"/>
                <a:gd name="T19" fmla="*/ 16 h 865"/>
                <a:gd name="T20" fmla="*/ 721 w 772"/>
                <a:gd name="T21" fmla="*/ 180 h 865"/>
                <a:gd name="T22" fmla="*/ 772 w 772"/>
                <a:gd name="T23" fmla="*/ 268 h 865"/>
                <a:gd name="T24" fmla="*/ 772 w 772"/>
                <a:gd name="T25" fmla="*/ 596 h 8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2" h="865">
                  <a:moveTo>
                    <a:pt x="772" y="596"/>
                  </a:moveTo>
                  <a:cubicBezTo>
                    <a:pt x="772" y="629"/>
                    <a:pt x="749" y="668"/>
                    <a:pt x="721" y="685"/>
                  </a:cubicBezTo>
                  <a:cubicBezTo>
                    <a:pt x="437" y="849"/>
                    <a:pt x="437" y="849"/>
                    <a:pt x="437" y="849"/>
                  </a:cubicBezTo>
                  <a:cubicBezTo>
                    <a:pt x="409" y="865"/>
                    <a:pt x="363" y="865"/>
                    <a:pt x="335" y="849"/>
                  </a:cubicBezTo>
                  <a:cubicBezTo>
                    <a:pt x="51" y="685"/>
                    <a:pt x="51" y="685"/>
                    <a:pt x="51" y="685"/>
                  </a:cubicBezTo>
                  <a:cubicBezTo>
                    <a:pt x="23" y="668"/>
                    <a:pt x="0" y="629"/>
                    <a:pt x="0" y="596"/>
                  </a:cubicBezTo>
                  <a:cubicBezTo>
                    <a:pt x="0" y="268"/>
                    <a:pt x="0" y="268"/>
                    <a:pt x="0" y="268"/>
                  </a:cubicBezTo>
                  <a:cubicBezTo>
                    <a:pt x="0" y="236"/>
                    <a:pt x="23" y="196"/>
                    <a:pt x="51" y="180"/>
                  </a:cubicBezTo>
                  <a:cubicBezTo>
                    <a:pt x="335" y="16"/>
                    <a:pt x="335" y="16"/>
                    <a:pt x="335" y="16"/>
                  </a:cubicBezTo>
                  <a:cubicBezTo>
                    <a:pt x="363" y="0"/>
                    <a:pt x="409" y="0"/>
                    <a:pt x="437" y="16"/>
                  </a:cubicBezTo>
                  <a:cubicBezTo>
                    <a:pt x="721" y="180"/>
                    <a:pt x="721" y="180"/>
                    <a:pt x="721" y="180"/>
                  </a:cubicBezTo>
                  <a:cubicBezTo>
                    <a:pt x="749" y="196"/>
                    <a:pt x="772" y="236"/>
                    <a:pt x="772" y="268"/>
                  </a:cubicBezTo>
                  <a:lnTo>
                    <a:pt x="772" y="596"/>
                  </a:lnTo>
                  <a:close/>
                </a:path>
              </a:pathLst>
            </a:custGeom>
            <a:solidFill>
              <a:srgbClr val="2DB2A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 flipH="1">
              <a:off x="5366821" y="2654720"/>
              <a:ext cx="1314784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600" dirty="0" smtClean="0">
                  <a:solidFill>
                    <a:schemeClr val="bg1"/>
                  </a:solidFill>
                  <a:latin typeface="Impact" panose="020B0806030902050204" pitchFamily="34" charset="0"/>
                </a:rPr>
                <a:t>01</a:t>
              </a:r>
              <a:endParaRPr lang="zh-CN" altLang="en-US" sz="96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4609896" y="5096789"/>
            <a:ext cx="31951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 作 總 結</a:t>
            </a:r>
            <a:endParaRPr lang="zh-CN" altLang="en-US" sz="48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CD8BB-5593-45B4-989A-D8D5518AAFB0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4171079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2" grpId="0" animBg="1"/>
      <p:bldP spid="1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330324"/>
            <a:ext cx="10515600" cy="4994275"/>
          </a:xfrm>
        </p:spPr>
        <p:txBody>
          <a:bodyPr>
            <a:noAutofit/>
          </a:bodyPr>
          <a:lstStyle/>
          <a:p>
            <a:pPr>
              <a:buClr>
                <a:srgbClr val="27998E"/>
              </a:buClr>
              <a:buFont typeface="Wingdings" panose="05000000000000000000" pitchFamily="2" charset="2"/>
              <a:buChar char="Ø"/>
            </a:pPr>
            <a:r>
              <a:rPr lang="en-US" altLang="zh-CN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Workflow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平台</a:t>
            </a:r>
            <a:endParaRPr lang="en-US" altLang="zh-CN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Clr>
                <a:srgbClr val="27998E"/>
              </a:buClr>
              <a:buNone/>
            </a:pPr>
            <a:r>
              <a:rPr lang="en-US" altLang="zh-CN" sz="2000" dirty="0" smtClean="0"/>
              <a:t>    </a:t>
            </a:r>
            <a:r>
              <a:rPr lang="en-US" altLang="zh-CN" sz="1600" dirty="0" smtClean="0"/>
              <a:t>Web</a:t>
            </a:r>
            <a:r>
              <a:rPr lang="zh-CN" altLang="en-US" sz="1600" dirty="0" smtClean="0"/>
              <a:t>站點遷移、整合到</a:t>
            </a:r>
            <a:r>
              <a:rPr lang="en-US" altLang="zh-CN" sz="1600" dirty="0" smtClean="0"/>
              <a:t>TDC</a:t>
            </a:r>
            <a:r>
              <a:rPr lang="zh-CN" altLang="en-US" sz="1600" dirty="0" smtClean="0"/>
              <a:t>入口、掃碼簽核、手機數位簽核接口、</a:t>
            </a:r>
            <a:r>
              <a:rPr lang="en-US" altLang="zh-CN" sz="1600" dirty="0" smtClean="0"/>
              <a:t>Workflow</a:t>
            </a:r>
            <a:r>
              <a:rPr lang="zh-CN" altLang="en-US" sz="1600" dirty="0" smtClean="0"/>
              <a:t>數據歸檔、排程優化</a:t>
            </a:r>
            <a:endParaRPr lang="en-US" altLang="zh-CN" sz="1600" dirty="0" smtClean="0"/>
          </a:p>
          <a:p>
            <a:pPr>
              <a:buClr>
                <a:srgbClr val="27998E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員寶平台</a:t>
            </a:r>
            <a:endParaRPr lang="en-US" altLang="zh-CN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Clr>
                <a:srgbClr val="27998E"/>
              </a:buClr>
              <a:buNone/>
            </a:pPr>
            <a:r>
              <a:rPr lang="en-US" altLang="zh-CN" sz="2000" dirty="0" smtClean="0"/>
              <a:t>    </a:t>
            </a:r>
            <a:r>
              <a:rPr lang="zh-CN" altLang="en-US" sz="1600" dirty="0"/>
              <a:t>印度問卷、印度定位打卡、</a:t>
            </a:r>
            <a:r>
              <a:rPr lang="en-US" altLang="zh-CN" sz="1600" dirty="0"/>
              <a:t>PDF</a:t>
            </a:r>
            <a:r>
              <a:rPr lang="zh-CN" altLang="en-US" sz="1600" dirty="0"/>
              <a:t>查看、手機簽核</a:t>
            </a:r>
            <a:endParaRPr lang="en-US" altLang="zh-CN" sz="1600" dirty="0"/>
          </a:p>
          <a:p>
            <a:pPr>
              <a:buClr>
                <a:srgbClr val="27998E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企業微信平台</a:t>
            </a:r>
            <a:endParaRPr lang="en-US" altLang="zh-CN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Clr>
                <a:srgbClr val="27998E"/>
              </a:buClr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</a:t>
            </a:r>
            <a:r>
              <a:rPr lang="zh-CN" altLang="en-US" sz="1600" dirty="0"/>
              <a:t>企業微</a:t>
            </a:r>
            <a:r>
              <a:rPr lang="zh-CN" altLang="en-US" sz="1600" dirty="0" smtClean="0"/>
              <a:t>信</a:t>
            </a:r>
            <a:r>
              <a:rPr lang="zh-CN" altLang="en-US" sz="1600" dirty="0"/>
              <a:t>年</a:t>
            </a:r>
            <a:r>
              <a:rPr lang="zh-CN" altLang="en-US" sz="1600" dirty="0" smtClean="0"/>
              <a:t>審、</a:t>
            </a:r>
            <a:r>
              <a:rPr lang="zh-CN" altLang="en-US" sz="1600" dirty="0"/>
              <a:t>打卡提醒</a:t>
            </a:r>
            <a:endParaRPr lang="en-US" altLang="zh-CN" sz="1600" dirty="0"/>
          </a:p>
          <a:p>
            <a:pPr>
              <a:buClr>
                <a:srgbClr val="27998E"/>
              </a:buClr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</a:t>
            </a:r>
            <a:r>
              <a:rPr lang="en-US" altLang="zh-CN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經管</a:t>
            </a:r>
            <a:r>
              <a:rPr lang="zh-CN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系統開發維護</a:t>
            </a:r>
            <a:endParaRPr lang="en-US" altLang="zh-CN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Clr>
                <a:srgbClr val="27998E"/>
              </a:buClr>
              <a:buNone/>
            </a:pPr>
            <a:r>
              <a:rPr lang="en-US" altLang="zh-CN" sz="2400" dirty="0"/>
              <a:t>    </a:t>
            </a:r>
            <a:r>
              <a:rPr lang="zh-CN" altLang="en-US" sz="1600" dirty="0" smtClean="0"/>
              <a:t>物料異動、</a:t>
            </a:r>
            <a:r>
              <a:rPr lang="en-US" altLang="zh-CN" sz="1600" dirty="0" smtClean="0"/>
              <a:t>SRM</a:t>
            </a:r>
            <a:r>
              <a:rPr lang="zh-CN" altLang="en-US" sz="1600" dirty="0" smtClean="0"/>
              <a:t>、</a:t>
            </a:r>
            <a:r>
              <a:rPr lang="en-US" altLang="zh-CN" sz="1600" dirty="0" smtClean="0"/>
              <a:t>eGR</a:t>
            </a:r>
            <a:r>
              <a:rPr lang="zh-CN" altLang="en-US" sz="1600" dirty="0" smtClean="0"/>
              <a:t>、會計行政表單</a:t>
            </a:r>
            <a:r>
              <a:rPr lang="en-US" altLang="zh-CN" sz="1600" dirty="0" smtClean="0"/>
              <a:t>…</a:t>
            </a:r>
            <a:endParaRPr lang="en-US" altLang="zh-CN" sz="1600" dirty="0"/>
          </a:p>
          <a:p>
            <a:pPr>
              <a:buClr>
                <a:srgbClr val="27998E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人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資週報系統開發維護</a:t>
            </a:r>
            <a:endParaRPr lang="en-US" altLang="zh-CN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Clr>
                <a:srgbClr val="27998E"/>
              </a:buClr>
              <a:buNone/>
            </a:pPr>
            <a:r>
              <a:rPr lang="en-US" altLang="zh-CN" sz="2400" dirty="0" smtClean="0"/>
              <a:t>    </a:t>
            </a:r>
            <a:r>
              <a:rPr lang="zh-CN" altLang="en-US" sz="1600" dirty="0" smtClean="0"/>
              <a:t>上崗證、富士康招聘網、招募系統、工務系統、河內人事考勤系統</a:t>
            </a:r>
            <a:r>
              <a:rPr lang="en-US" altLang="zh-CN" sz="1600" dirty="0" smtClean="0"/>
              <a:t>…</a:t>
            </a:r>
            <a:endParaRPr lang="en-US" altLang="zh-CN" sz="1600" dirty="0"/>
          </a:p>
          <a:p>
            <a:pPr>
              <a:buClr>
                <a:srgbClr val="27998E"/>
              </a:buClr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其他</a:t>
            </a:r>
            <a:endParaRPr lang="en-US" altLang="zh-CN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Clr>
                <a:srgbClr val="27998E"/>
              </a:buClr>
              <a:buNone/>
            </a:pPr>
            <a:r>
              <a:rPr lang="en-US" altLang="zh-CN" sz="2400" dirty="0"/>
              <a:t>    </a:t>
            </a:r>
            <a:r>
              <a:rPr lang="zh-CN" altLang="en-US" sz="1600" dirty="0" smtClean="0"/>
              <a:t>服務器管理、行政事務</a:t>
            </a:r>
            <a:r>
              <a:rPr lang="en-US" altLang="zh-CN" sz="1600" dirty="0" smtClean="0"/>
              <a:t>…</a:t>
            </a:r>
            <a:endParaRPr lang="en-US" altLang="zh-CN" sz="1600" dirty="0"/>
          </a:p>
          <a:p>
            <a:pPr>
              <a:buClr>
                <a:srgbClr val="27998E"/>
              </a:buClr>
              <a:buFont typeface="Wingdings" panose="05000000000000000000" pitchFamily="2" charset="2"/>
              <a:buChar char="Ø"/>
            </a:pPr>
            <a:endParaRPr lang="en-US" altLang="zh-CN" sz="2000" dirty="0"/>
          </a:p>
        </p:txBody>
      </p:sp>
      <p:pic>
        <p:nvPicPr>
          <p:cNvPr id="4" name="图片 2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867" b="59210"/>
          <a:stretch>
            <a:fillRect/>
          </a:stretch>
        </p:blipFill>
        <p:spPr>
          <a:xfrm>
            <a:off x="0" y="0"/>
            <a:ext cx="12192000" cy="998261"/>
          </a:xfrm>
          <a:custGeom>
            <a:avLst/>
            <a:gdLst>
              <a:gd name="connsiteX0" fmla="*/ 0 w 12192000"/>
              <a:gd name="connsiteY0" fmla="*/ 0 h 998261"/>
              <a:gd name="connsiteX1" fmla="*/ 12192000 w 12192000"/>
              <a:gd name="connsiteY1" fmla="*/ 0 h 998261"/>
              <a:gd name="connsiteX2" fmla="*/ 12192000 w 12192000"/>
              <a:gd name="connsiteY2" fmla="*/ 998261 h 998261"/>
              <a:gd name="connsiteX3" fmla="*/ 0 w 12192000"/>
              <a:gd name="connsiteY3" fmla="*/ 998261 h 998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998261">
                <a:moveTo>
                  <a:pt x="0" y="0"/>
                </a:moveTo>
                <a:lnTo>
                  <a:pt x="12192000" y="0"/>
                </a:lnTo>
                <a:lnTo>
                  <a:pt x="12192000" y="998261"/>
                </a:lnTo>
                <a:lnTo>
                  <a:pt x="0" y="998261"/>
                </a:lnTo>
                <a:close/>
              </a:path>
            </a:pathLst>
          </a:custGeom>
        </p:spPr>
      </p:pic>
      <p:sp>
        <p:nvSpPr>
          <p:cNvPr id="5" name="文本框 90"/>
          <p:cNvSpPr txBox="1"/>
          <p:nvPr/>
        </p:nvSpPr>
        <p:spPr>
          <a:xfrm>
            <a:off x="1951937" y="239467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6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 smtClean="0"/>
              <a:t>主要職責及績效</a:t>
            </a:r>
            <a:endParaRPr lang="zh-CN" altLang="en-US" dirty="0"/>
          </a:p>
        </p:txBody>
      </p:sp>
      <p:sp>
        <p:nvSpPr>
          <p:cNvPr id="6" name="Freeform 19"/>
          <p:cNvSpPr>
            <a:spLocks/>
          </p:cNvSpPr>
          <p:nvPr/>
        </p:nvSpPr>
        <p:spPr bwMode="auto">
          <a:xfrm>
            <a:off x="1057017" y="176702"/>
            <a:ext cx="693978" cy="757881"/>
          </a:xfrm>
          <a:custGeom>
            <a:avLst/>
            <a:gdLst>
              <a:gd name="T0" fmla="*/ 772 w 772"/>
              <a:gd name="T1" fmla="*/ 596 h 865"/>
              <a:gd name="T2" fmla="*/ 721 w 772"/>
              <a:gd name="T3" fmla="*/ 685 h 865"/>
              <a:gd name="T4" fmla="*/ 437 w 772"/>
              <a:gd name="T5" fmla="*/ 849 h 865"/>
              <a:gd name="T6" fmla="*/ 335 w 772"/>
              <a:gd name="T7" fmla="*/ 849 h 865"/>
              <a:gd name="T8" fmla="*/ 51 w 772"/>
              <a:gd name="T9" fmla="*/ 685 h 865"/>
              <a:gd name="T10" fmla="*/ 0 w 772"/>
              <a:gd name="T11" fmla="*/ 596 h 865"/>
              <a:gd name="T12" fmla="*/ 0 w 772"/>
              <a:gd name="T13" fmla="*/ 268 h 865"/>
              <a:gd name="T14" fmla="*/ 51 w 772"/>
              <a:gd name="T15" fmla="*/ 180 h 865"/>
              <a:gd name="T16" fmla="*/ 335 w 772"/>
              <a:gd name="T17" fmla="*/ 16 h 865"/>
              <a:gd name="T18" fmla="*/ 437 w 772"/>
              <a:gd name="T19" fmla="*/ 16 h 865"/>
              <a:gd name="T20" fmla="*/ 721 w 772"/>
              <a:gd name="T21" fmla="*/ 180 h 865"/>
              <a:gd name="T22" fmla="*/ 772 w 772"/>
              <a:gd name="T23" fmla="*/ 268 h 865"/>
              <a:gd name="T24" fmla="*/ 772 w 772"/>
              <a:gd name="T25" fmla="*/ 596 h 8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72" h="865">
                <a:moveTo>
                  <a:pt x="772" y="596"/>
                </a:moveTo>
                <a:cubicBezTo>
                  <a:pt x="772" y="629"/>
                  <a:pt x="749" y="668"/>
                  <a:pt x="721" y="685"/>
                </a:cubicBezTo>
                <a:cubicBezTo>
                  <a:pt x="437" y="849"/>
                  <a:pt x="437" y="849"/>
                  <a:pt x="437" y="849"/>
                </a:cubicBezTo>
                <a:cubicBezTo>
                  <a:pt x="409" y="865"/>
                  <a:pt x="363" y="865"/>
                  <a:pt x="335" y="849"/>
                </a:cubicBezTo>
                <a:cubicBezTo>
                  <a:pt x="51" y="685"/>
                  <a:pt x="51" y="685"/>
                  <a:pt x="51" y="685"/>
                </a:cubicBezTo>
                <a:cubicBezTo>
                  <a:pt x="23" y="668"/>
                  <a:pt x="0" y="629"/>
                  <a:pt x="0" y="596"/>
                </a:cubicBezTo>
                <a:cubicBezTo>
                  <a:pt x="0" y="268"/>
                  <a:pt x="0" y="268"/>
                  <a:pt x="0" y="268"/>
                </a:cubicBezTo>
                <a:cubicBezTo>
                  <a:pt x="0" y="236"/>
                  <a:pt x="23" y="196"/>
                  <a:pt x="51" y="180"/>
                </a:cubicBezTo>
                <a:cubicBezTo>
                  <a:pt x="335" y="16"/>
                  <a:pt x="335" y="16"/>
                  <a:pt x="335" y="16"/>
                </a:cubicBezTo>
                <a:cubicBezTo>
                  <a:pt x="363" y="0"/>
                  <a:pt x="409" y="0"/>
                  <a:pt x="437" y="16"/>
                </a:cubicBezTo>
                <a:cubicBezTo>
                  <a:pt x="721" y="180"/>
                  <a:pt x="721" y="180"/>
                  <a:pt x="721" y="180"/>
                </a:cubicBezTo>
                <a:cubicBezTo>
                  <a:pt x="749" y="196"/>
                  <a:pt x="772" y="236"/>
                  <a:pt x="772" y="268"/>
                </a:cubicBezTo>
                <a:lnTo>
                  <a:pt x="772" y="596"/>
                </a:lnTo>
                <a:close/>
              </a:path>
            </a:pathLst>
          </a:custGeom>
          <a:solidFill>
            <a:srgbClr val="2DB2A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17"/>
          <p:cNvSpPr>
            <a:spLocks noChangeArrowheads="1"/>
          </p:cNvSpPr>
          <p:nvPr/>
        </p:nvSpPr>
        <p:spPr bwMode="auto">
          <a:xfrm>
            <a:off x="1123320" y="263254"/>
            <a:ext cx="56137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Impact" panose="020B0806030902050204" pitchFamily="34" charset="0"/>
                <a:ea typeface="FZYaoTi" panose="02010601030101010101" pitchFamily="2" charset="-122"/>
                <a:sym typeface="Impact" panose="020B0806030902050204" pitchFamily="34" charset="0"/>
              </a:rPr>
              <a:t>01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  <a:ea typeface="FZYaoTi" panose="02010601030101010101" pitchFamily="2" charset="-122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51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2DB2A4"/>
              </a:buClr>
              <a:buFont typeface="Wingdings" panose="05000000000000000000" pitchFamily="2" charset="2"/>
              <a:buChar char="l"/>
            </a:pPr>
            <a:r>
              <a:rPr lang="en-US" altLang="zh-TW" dirty="0" smtClean="0"/>
              <a:t>1.PCR 63</a:t>
            </a:r>
            <a:r>
              <a:rPr lang="zh-TW" altLang="en-US" dirty="0" smtClean="0"/>
              <a:t>筆</a:t>
            </a:r>
            <a:endParaRPr lang="en-US" altLang="zh-TW" dirty="0" smtClean="0"/>
          </a:p>
          <a:p>
            <a:pPr>
              <a:buClr>
                <a:srgbClr val="2DB2A4"/>
              </a:buClr>
              <a:buFont typeface="Wingdings" panose="05000000000000000000" pitchFamily="2" charset="2"/>
              <a:buChar char="l"/>
            </a:pPr>
            <a:r>
              <a:rPr lang="en-US" altLang="zh-TW" dirty="0" smtClean="0"/>
              <a:t>106</a:t>
            </a:r>
            <a:r>
              <a:rPr lang="zh-TW" altLang="en-US" dirty="0"/>
              <a:t>工</a:t>
            </a:r>
            <a:r>
              <a:rPr lang="zh-TW" altLang="en-US" dirty="0" smtClean="0"/>
              <a:t>單</a:t>
            </a:r>
            <a:r>
              <a:rPr lang="en-US" altLang="zh-TW" dirty="0" smtClean="0"/>
              <a:t>512</a:t>
            </a:r>
            <a:r>
              <a:rPr lang="zh-TW" altLang="en-US" dirty="0" smtClean="0"/>
              <a:t>筆</a:t>
            </a:r>
            <a:endParaRPr lang="en-US" altLang="zh-TW" dirty="0" smtClean="0"/>
          </a:p>
          <a:p>
            <a:pPr>
              <a:buClr>
                <a:srgbClr val="2DB2A4"/>
              </a:buClr>
              <a:buFont typeface="Wingdings" panose="05000000000000000000" pitchFamily="2" charset="2"/>
              <a:buChar char="l"/>
            </a:pPr>
            <a:r>
              <a:rPr lang="zh-TW" altLang="en-US" dirty="0" smtClean="0"/>
              <a:t>客戶</a:t>
            </a:r>
            <a:r>
              <a:rPr lang="zh-TW" altLang="en-US" dirty="0"/>
              <a:t>滿意度</a:t>
            </a:r>
            <a:r>
              <a:rPr lang="en-US" altLang="zh-TW" dirty="0"/>
              <a:t>99%</a:t>
            </a:r>
            <a:r>
              <a:rPr lang="zh-TW" altLang="en-US" dirty="0" smtClean="0"/>
              <a:t>以上</a:t>
            </a:r>
            <a:endParaRPr lang="en-US" altLang="zh-TW" dirty="0" smtClean="0"/>
          </a:p>
          <a:p>
            <a:pPr>
              <a:buClr>
                <a:srgbClr val="2DB2A4"/>
              </a:buClr>
              <a:buFont typeface="Wingdings" panose="05000000000000000000" pitchFamily="2" charset="2"/>
              <a:buChar char="l"/>
            </a:pPr>
            <a:r>
              <a:rPr lang="zh-CN" altLang="en-US" dirty="0" smtClean="0"/>
              <a:t>維護系統</a:t>
            </a:r>
            <a:r>
              <a:rPr lang="en-US" altLang="zh-CN" dirty="0" smtClean="0"/>
              <a:t>60</a:t>
            </a:r>
            <a:r>
              <a:rPr lang="zh-CN" altLang="en-US" dirty="0" smtClean="0"/>
              <a:t>個</a:t>
            </a:r>
            <a:endParaRPr lang="zh-TW" altLang="en-US" dirty="0"/>
          </a:p>
        </p:txBody>
      </p:sp>
      <p:pic>
        <p:nvPicPr>
          <p:cNvPr id="7" name="图片 2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867" b="59210"/>
          <a:stretch>
            <a:fillRect/>
          </a:stretch>
        </p:blipFill>
        <p:spPr>
          <a:xfrm>
            <a:off x="0" y="0"/>
            <a:ext cx="12192000" cy="998261"/>
          </a:xfrm>
          <a:custGeom>
            <a:avLst/>
            <a:gdLst>
              <a:gd name="connsiteX0" fmla="*/ 0 w 12192000"/>
              <a:gd name="connsiteY0" fmla="*/ 0 h 998261"/>
              <a:gd name="connsiteX1" fmla="*/ 12192000 w 12192000"/>
              <a:gd name="connsiteY1" fmla="*/ 0 h 998261"/>
              <a:gd name="connsiteX2" fmla="*/ 12192000 w 12192000"/>
              <a:gd name="connsiteY2" fmla="*/ 998261 h 998261"/>
              <a:gd name="connsiteX3" fmla="*/ 0 w 12192000"/>
              <a:gd name="connsiteY3" fmla="*/ 998261 h 998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998261">
                <a:moveTo>
                  <a:pt x="0" y="0"/>
                </a:moveTo>
                <a:lnTo>
                  <a:pt x="12192000" y="0"/>
                </a:lnTo>
                <a:lnTo>
                  <a:pt x="12192000" y="998261"/>
                </a:lnTo>
                <a:lnTo>
                  <a:pt x="0" y="998261"/>
                </a:lnTo>
                <a:close/>
              </a:path>
            </a:pathLst>
          </a:custGeom>
        </p:spPr>
      </p:pic>
      <p:sp>
        <p:nvSpPr>
          <p:cNvPr id="8" name="文本框 90"/>
          <p:cNvSpPr txBox="1"/>
          <p:nvPr/>
        </p:nvSpPr>
        <p:spPr>
          <a:xfrm>
            <a:off x="1951937" y="239467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6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 smtClean="0"/>
              <a:t>系統運維</a:t>
            </a:r>
            <a:endParaRPr lang="zh-CN" altLang="en-US" dirty="0"/>
          </a:p>
        </p:txBody>
      </p:sp>
      <p:sp>
        <p:nvSpPr>
          <p:cNvPr id="9" name="Freeform 19"/>
          <p:cNvSpPr>
            <a:spLocks/>
          </p:cNvSpPr>
          <p:nvPr/>
        </p:nvSpPr>
        <p:spPr bwMode="auto">
          <a:xfrm>
            <a:off x="1057017" y="176702"/>
            <a:ext cx="693978" cy="757881"/>
          </a:xfrm>
          <a:custGeom>
            <a:avLst/>
            <a:gdLst>
              <a:gd name="T0" fmla="*/ 772 w 772"/>
              <a:gd name="T1" fmla="*/ 596 h 865"/>
              <a:gd name="T2" fmla="*/ 721 w 772"/>
              <a:gd name="T3" fmla="*/ 685 h 865"/>
              <a:gd name="T4" fmla="*/ 437 w 772"/>
              <a:gd name="T5" fmla="*/ 849 h 865"/>
              <a:gd name="T6" fmla="*/ 335 w 772"/>
              <a:gd name="T7" fmla="*/ 849 h 865"/>
              <a:gd name="T8" fmla="*/ 51 w 772"/>
              <a:gd name="T9" fmla="*/ 685 h 865"/>
              <a:gd name="T10" fmla="*/ 0 w 772"/>
              <a:gd name="T11" fmla="*/ 596 h 865"/>
              <a:gd name="T12" fmla="*/ 0 w 772"/>
              <a:gd name="T13" fmla="*/ 268 h 865"/>
              <a:gd name="T14" fmla="*/ 51 w 772"/>
              <a:gd name="T15" fmla="*/ 180 h 865"/>
              <a:gd name="T16" fmla="*/ 335 w 772"/>
              <a:gd name="T17" fmla="*/ 16 h 865"/>
              <a:gd name="T18" fmla="*/ 437 w 772"/>
              <a:gd name="T19" fmla="*/ 16 h 865"/>
              <a:gd name="T20" fmla="*/ 721 w 772"/>
              <a:gd name="T21" fmla="*/ 180 h 865"/>
              <a:gd name="T22" fmla="*/ 772 w 772"/>
              <a:gd name="T23" fmla="*/ 268 h 865"/>
              <a:gd name="T24" fmla="*/ 772 w 772"/>
              <a:gd name="T25" fmla="*/ 596 h 8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72" h="865">
                <a:moveTo>
                  <a:pt x="772" y="596"/>
                </a:moveTo>
                <a:cubicBezTo>
                  <a:pt x="772" y="629"/>
                  <a:pt x="749" y="668"/>
                  <a:pt x="721" y="685"/>
                </a:cubicBezTo>
                <a:cubicBezTo>
                  <a:pt x="437" y="849"/>
                  <a:pt x="437" y="849"/>
                  <a:pt x="437" y="849"/>
                </a:cubicBezTo>
                <a:cubicBezTo>
                  <a:pt x="409" y="865"/>
                  <a:pt x="363" y="865"/>
                  <a:pt x="335" y="849"/>
                </a:cubicBezTo>
                <a:cubicBezTo>
                  <a:pt x="51" y="685"/>
                  <a:pt x="51" y="685"/>
                  <a:pt x="51" y="685"/>
                </a:cubicBezTo>
                <a:cubicBezTo>
                  <a:pt x="23" y="668"/>
                  <a:pt x="0" y="629"/>
                  <a:pt x="0" y="596"/>
                </a:cubicBezTo>
                <a:cubicBezTo>
                  <a:pt x="0" y="268"/>
                  <a:pt x="0" y="268"/>
                  <a:pt x="0" y="268"/>
                </a:cubicBezTo>
                <a:cubicBezTo>
                  <a:pt x="0" y="236"/>
                  <a:pt x="23" y="196"/>
                  <a:pt x="51" y="180"/>
                </a:cubicBezTo>
                <a:cubicBezTo>
                  <a:pt x="335" y="16"/>
                  <a:pt x="335" y="16"/>
                  <a:pt x="335" y="16"/>
                </a:cubicBezTo>
                <a:cubicBezTo>
                  <a:pt x="363" y="0"/>
                  <a:pt x="409" y="0"/>
                  <a:pt x="437" y="16"/>
                </a:cubicBezTo>
                <a:cubicBezTo>
                  <a:pt x="721" y="180"/>
                  <a:pt x="721" y="180"/>
                  <a:pt x="721" y="180"/>
                </a:cubicBezTo>
                <a:cubicBezTo>
                  <a:pt x="749" y="196"/>
                  <a:pt x="772" y="236"/>
                  <a:pt x="772" y="268"/>
                </a:cubicBezTo>
                <a:lnTo>
                  <a:pt x="772" y="596"/>
                </a:lnTo>
                <a:close/>
              </a:path>
            </a:pathLst>
          </a:custGeom>
          <a:solidFill>
            <a:srgbClr val="2DB2A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17"/>
          <p:cNvSpPr>
            <a:spLocks noChangeArrowheads="1"/>
          </p:cNvSpPr>
          <p:nvPr/>
        </p:nvSpPr>
        <p:spPr bwMode="auto">
          <a:xfrm>
            <a:off x="1123320" y="263254"/>
            <a:ext cx="56137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Impact" panose="020B0806030902050204" pitchFamily="34" charset="0"/>
                <a:ea typeface="FZYaoTi" panose="02010601030101010101" pitchFamily="2" charset="-122"/>
                <a:sym typeface="Impact" panose="020B0806030902050204" pitchFamily="34" charset="0"/>
              </a:rPr>
              <a:t>01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  <a:ea typeface="FZYaoTi" panose="02010601030101010101" pitchFamily="2" charset="-122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133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2DB2A4"/>
              </a:buClr>
              <a:buFont typeface="Wingdings" panose="05000000000000000000" pitchFamily="2" charset="2"/>
              <a:buChar char="u"/>
            </a:pPr>
            <a:r>
              <a:rPr lang="zh-CN" altLang="en-US" dirty="0" smtClean="0"/>
              <a:t>申請</a:t>
            </a:r>
            <a:r>
              <a:rPr lang="en-US" altLang="zh-CN" dirty="0" smtClean="0"/>
              <a:t>SSL</a:t>
            </a:r>
            <a:r>
              <a:rPr lang="zh-CN" altLang="en-US" dirty="0" smtClean="0"/>
              <a:t>證書，節約實際成本，滿足安全要求</a:t>
            </a:r>
            <a:endParaRPr lang="en-US" altLang="zh-CN" dirty="0" smtClean="0"/>
          </a:p>
          <a:p>
            <a:pPr>
              <a:buClr>
                <a:srgbClr val="2DB2A4"/>
              </a:buClr>
              <a:buFont typeface="Wingdings" panose="05000000000000000000" pitchFamily="2" charset="2"/>
              <a:buChar char="u"/>
            </a:pPr>
            <a:r>
              <a:rPr lang="zh-CN" altLang="en-US" dirty="0"/>
              <a:t>提案改善</a:t>
            </a:r>
            <a:r>
              <a:rPr lang="en-US" altLang="zh-CN" dirty="0"/>
              <a:t>6</a:t>
            </a:r>
            <a:r>
              <a:rPr lang="zh-CN" altLang="en-US" dirty="0" smtClean="0"/>
              <a:t>件</a:t>
            </a:r>
            <a:endParaRPr lang="en-US" altLang="zh-CN" dirty="0"/>
          </a:p>
        </p:txBody>
      </p:sp>
      <p:pic>
        <p:nvPicPr>
          <p:cNvPr id="5" name="图片 2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867" b="59210"/>
          <a:stretch>
            <a:fillRect/>
          </a:stretch>
        </p:blipFill>
        <p:spPr>
          <a:xfrm>
            <a:off x="0" y="0"/>
            <a:ext cx="12192000" cy="998261"/>
          </a:xfrm>
          <a:custGeom>
            <a:avLst/>
            <a:gdLst>
              <a:gd name="connsiteX0" fmla="*/ 0 w 12192000"/>
              <a:gd name="connsiteY0" fmla="*/ 0 h 998261"/>
              <a:gd name="connsiteX1" fmla="*/ 12192000 w 12192000"/>
              <a:gd name="connsiteY1" fmla="*/ 0 h 998261"/>
              <a:gd name="connsiteX2" fmla="*/ 12192000 w 12192000"/>
              <a:gd name="connsiteY2" fmla="*/ 998261 h 998261"/>
              <a:gd name="connsiteX3" fmla="*/ 0 w 12192000"/>
              <a:gd name="connsiteY3" fmla="*/ 998261 h 998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998261">
                <a:moveTo>
                  <a:pt x="0" y="0"/>
                </a:moveTo>
                <a:lnTo>
                  <a:pt x="12192000" y="0"/>
                </a:lnTo>
                <a:lnTo>
                  <a:pt x="12192000" y="998261"/>
                </a:lnTo>
                <a:lnTo>
                  <a:pt x="0" y="998261"/>
                </a:lnTo>
                <a:close/>
              </a:path>
            </a:pathLst>
          </a:custGeom>
        </p:spPr>
      </p:pic>
      <p:sp>
        <p:nvSpPr>
          <p:cNvPr id="6" name="文本框 90"/>
          <p:cNvSpPr txBox="1"/>
          <p:nvPr/>
        </p:nvSpPr>
        <p:spPr>
          <a:xfrm>
            <a:off x="1951937" y="239467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6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其他（成本管</a:t>
            </a:r>
            <a:r>
              <a:rPr lang="zh-CN" altLang="en-US" dirty="0" smtClean="0"/>
              <a:t>控等）</a:t>
            </a:r>
            <a:endParaRPr lang="zh-CN" altLang="en-US" dirty="0"/>
          </a:p>
        </p:txBody>
      </p:sp>
      <p:sp>
        <p:nvSpPr>
          <p:cNvPr id="7" name="Freeform 19"/>
          <p:cNvSpPr>
            <a:spLocks/>
          </p:cNvSpPr>
          <p:nvPr/>
        </p:nvSpPr>
        <p:spPr bwMode="auto">
          <a:xfrm>
            <a:off x="1057017" y="176702"/>
            <a:ext cx="693978" cy="757881"/>
          </a:xfrm>
          <a:custGeom>
            <a:avLst/>
            <a:gdLst>
              <a:gd name="T0" fmla="*/ 772 w 772"/>
              <a:gd name="T1" fmla="*/ 596 h 865"/>
              <a:gd name="T2" fmla="*/ 721 w 772"/>
              <a:gd name="T3" fmla="*/ 685 h 865"/>
              <a:gd name="T4" fmla="*/ 437 w 772"/>
              <a:gd name="T5" fmla="*/ 849 h 865"/>
              <a:gd name="T6" fmla="*/ 335 w 772"/>
              <a:gd name="T7" fmla="*/ 849 h 865"/>
              <a:gd name="T8" fmla="*/ 51 w 772"/>
              <a:gd name="T9" fmla="*/ 685 h 865"/>
              <a:gd name="T10" fmla="*/ 0 w 772"/>
              <a:gd name="T11" fmla="*/ 596 h 865"/>
              <a:gd name="T12" fmla="*/ 0 w 772"/>
              <a:gd name="T13" fmla="*/ 268 h 865"/>
              <a:gd name="T14" fmla="*/ 51 w 772"/>
              <a:gd name="T15" fmla="*/ 180 h 865"/>
              <a:gd name="T16" fmla="*/ 335 w 772"/>
              <a:gd name="T17" fmla="*/ 16 h 865"/>
              <a:gd name="T18" fmla="*/ 437 w 772"/>
              <a:gd name="T19" fmla="*/ 16 h 865"/>
              <a:gd name="T20" fmla="*/ 721 w 772"/>
              <a:gd name="T21" fmla="*/ 180 h 865"/>
              <a:gd name="T22" fmla="*/ 772 w 772"/>
              <a:gd name="T23" fmla="*/ 268 h 865"/>
              <a:gd name="T24" fmla="*/ 772 w 772"/>
              <a:gd name="T25" fmla="*/ 596 h 8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72" h="865">
                <a:moveTo>
                  <a:pt x="772" y="596"/>
                </a:moveTo>
                <a:cubicBezTo>
                  <a:pt x="772" y="629"/>
                  <a:pt x="749" y="668"/>
                  <a:pt x="721" y="685"/>
                </a:cubicBezTo>
                <a:cubicBezTo>
                  <a:pt x="437" y="849"/>
                  <a:pt x="437" y="849"/>
                  <a:pt x="437" y="849"/>
                </a:cubicBezTo>
                <a:cubicBezTo>
                  <a:pt x="409" y="865"/>
                  <a:pt x="363" y="865"/>
                  <a:pt x="335" y="849"/>
                </a:cubicBezTo>
                <a:cubicBezTo>
                  <a:pt x="51" y="685"/>
                  <a:pt x="51" y="685"/>
                  <a:pt x="51" y="685"/>
                </a:cubicBezTo>
                <a:cubicBezTo>
                  <a:pt x="23" y="668"/>
                  <a:pt x="0" y="629"/>
                  <a:pt x="0" y="596"/>
                </a:cubicBezTo>
                <a:cubicBezTo>
                  <a:pt x="0" y="268"/>
                  <a:pt x="0" y="268"/>
                  <a:pt x="0" y="268"/>
                </a:cubicBezTo>
                <a:cubicBezTo>
                  <a:pt x="0" y="236"/>
                  <a:pt x="23" y="196"/>
                  <a:pt x="51" y="180"/>
                </a:cubicBezTo>
                <a:cubicBezTo>
                  <a:pt x="335" y="16"/>
                  <a:pt x="335" y="16"/>
                  <a:pt x="335" y="16"/>
                </a:cubicBezTo>
                <a:cubicBezTo>
                  <a:pt x="363" y="0"/>
                  <a:pt x="409" y="0"/>
                  <a:pt x="437" y="16"/>
                </a:cubicBezTo>
                <a:cubicBezTo>
                  <a:pt x="721" y="180"/>
                  <a:pt x="721" y="180"/>
                  <a:pt x="721" y="180"/>
                </a:cubicBezTo>
                <a:cubicBezTo>
                  <a:pt x="749" y="196"/>
                  <a:pt x="772" y="236"/>
                  <a:pt x="772" y="268"/>
                </a:cubicBezTo>
                <a:lnTo>
                  <a:pt x="772" y="596"/>
                </a:lnTo>
                <a:close/>
              </a:path>
            </a:pathLst>
          </a:custGeom>
          <a:solidFill>
            <a:srgbClr val="2DB2A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17"/>
          <p:cNvSpPr>
            <a:spLocks noChangeArrowheads="1"/>
          </p:cNvSpPr>
          <p:nvPr/>
        </p:nvSpPr>
        <p:spPr bwMode="auto">
          <a:xfrm>
            <a:off x="1123320" y="263254"/>
            <a:ext cx="56137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Impact" panose="020B0806030902050204" pitchFamily="34" charset="0"/>
                <a:ea typeface="FZYaoTi" panose="02010601030101010101" pitchFamily="2" charset="-122"/>
                <a:sym typeface="Impact" panose="020B0806030902050204" pitchFamily="34" charset="0"/>
              </a:rPr>
              <a:t>01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  <a:ea typeface="FZYaoTi" panose="02010601030101010101" pitchFamily="2" charset="-122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595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663700"/>
            <a:ext cx="10515600" cy="4351338"/>
          </a:xfrm>
        </p:spPr>
        <p:txBody>
          <a:bodyPr>
            <a:normAutofit/>
          </a:bodyPr>
          <a:lstStyle/>
          <a:p>
            <a:pPr>
              <a:buClr>
                <a:srgbClr val="2DB2A4"/>
              </a:buClr>
              <a:buFont typeface="Wingdings" panose="05000000000000000000" pitchFamily="2" charset="2"/>
              <a:buChar char="ü"/>
            </a:pPr>
            <a:r>
              <a:rPr lang="zh-CN" altLang="en-US" sz="2400" dirty="0"/>
              <a:t>技術平台老</a:t>
            </a:r>
            <a:r>
              <a:rPr lang="zh-CN" altLang="en-US" sz="2400" dirty="0" smtClean="0"/>
              <a:t>舊</a:t>
            </a:r>
            <a:endParaRPr lang="en-US" altLang="zh-CN" sz="2400" dirty="0" smtClean="0"/>
          </a:p>
          <a:p>
            <a:pPr>
              <a:buClr>
                <a:srgbClr val="2DB2A4"/>
              </a:buClr>
              <a:buFont typeface="Wingdings" panose="05000000000000000000" pitchFamily="2" charset="2"/>
              <a:buChar char="ü"/>
            </a:pPr>
            <a:r>
              <a:rPr lang="zh-CN" altLang="en-US" sz="2400" dirty="0" smtClean="0"/>
              <a:t>缺乏敢闖敢拼的勁頭（太安逸）</a:t>
            </a:r>
            <a:endParaRPr lang="en-US" altLang="zh-CN" sz="2400" dirty="0" smtClean="0"/>
          </a:p>
          <a:p>
            <a:pPr>
              <a:buClr>
                <a:srgbClr val="2DB2A4"/>
              </a:buClr>
              <a:buFont typeface="Wingdings" panose="05000000000000000000" pitchFamily="2" charset="2"/>
              <a:buChar char="ü"/>
            </a:pPr>
            <a:r>
              <a:rPr lang="zh-CN" altLang="en-US" sz="2400" dirty="0" smtClean="0"/>
              <a:t>來自</a:t>
            </a:r>
            <a:r>
              <a:rPr lang="zh-CN" altLang="en-US" sz="2400" dirty="0"/>
              <a:t>主管的挑戰（副理返回龍華，人員資</a:t>
            </a:r>
            <a:r>
              <a:rPr lang="zh-CN" altLang="en-US" sz="2400" dirty="0" smtClean="0"/>
              <a:t>位偏高）</a:t>
            </a:r>
            <a:endParaRPr lang="en-US" altLang="zh-CN" sz="2400" dirty="0" smtClean="0"/>
          </a:p>
          <a:p>
            <a:pPr>
              <a:buClr>
                <a:srgbClr val="2DB2A4"/>
              </a:buClr>
              <a:buFont typeface="Wingdings" panose="05000000000000000000" pitchFamily="2" charset="2"/>
              <a:buChar char="ü"/>
            </a:pPr>
            <a:r>
              <a:rPr lang="zh-CN" altLang="en-US" sz="2400" dirty="0" smtClean="0"/>
              <a:t>國際化</a:t>
            </a:r>
            <a:r>
              <a:rPr lang="zh-CN" altLang="en-US" sz="2400" dirty="0"/>
              <a:t>的</a:t>
            </a:r>
            <a:r>
              <a:rPr lang="zh-CN" altLang="en-US" sz="2400" dirty="0" smtClean="0"/>
              <a:t>挑戰，語言溝通</a:t>
            </a:r>
            <a:endParaRPr lang="en-US" altLang="zh-CN" sz="2400" dirty="0" smtClean="0"/>
          </a:p>
          <a:p>
            <a:pPr>
              <a:buClr>
                <a:srgbClr val="2DB2A4"/>
              </a:buClr>
              <a:buFont typeface="Wingdings" panose="05000000000000000000" pitchFamily="2" charset="2"/>
              <a:buChar char="ü"/>
            </a:pPr>
            <a:r>
              <a:rPr lang="zh-CN" altLang="en-US" sz="2400" dirty="0" smtClean="0"/>
              <a:t>組織</a:t>
            </a:r>
            <a:r>
              <a:rPr lang="zh-CN" altLang="en-US" sz="2400" dirty="0"/>
              <a:t>的調整與</a:t>
            </a:r>
            <a:r>
              <a:rPr lang="zh-CN" altLang="en-US" sz="2400" dirty="0" smtClean="0"/>
              <a:t>定位？</a:t>
            </a:r>
            <a:endParaRPr lang="en-US" altLang="zh-CN" sz="2400" dirty="0" smtClean="0"/>
          </a:p>
          <a:p>
            <a:pPr>
              <a:buClr>
                <a:srgbClr val="2DB2A4"/>
              </a:buClr>
              <a:buFont typeface="Wingdings" panose="05000000000000000000" pitchFamily="2" charset="2"/>
              <a:buChar char="ü"/>
            </a:pPr>
            <a:r>
              <a:rPr lang="zh-CN" altLang="en-US" sz="2400" dirty="0" smtClean="0"/>
              <a:t>系統維護佔比較大，不出</a:t>
            </a:r>
            <a:r>
              <a:rPr lang="zh-CN" altLang="en-US" sz="2400" dirty="0"/>
              <a:t>績效</a:t>
            </a:r>
            <a:endParaRPr lang="en-US" altLang="zh-CN" sz="2400" dirty="0" smtClean="0"/>
          </a:p>
          <a:p>
            <a:pPr>
              <a:buClr>
                <a:srgbClr val="2DB2A4"/>
              </a:buClr>
              <a:buFont typeface="Wingdings" panose="05000000000000000000" pitchFamily="2" charset="2"/>
              <a:buChar char="ü"/>
            </a:pPr>
            <a:r>
              <a:rPr lang="zh-CN" altLang="en-US" sz="2400" dirty="0" smtClean="0"/>
              <a:t>加強培訓和分享</a:t>
            </a:r>
            <a:endParaRPr lang="en-US" altLang="zh-CN" sz="2400" dirty="0" smtClean="0"/>
          </a:p>
          <a:p>
            <a:pPr>
              <a:buClr>
                <a:srgbClr val="2DB2A4"/>
              </a:buClr>
              <a:buFont typeface="Wingdings" panose="05000000000000000000" pitchFamily="2" charset="2"/>
              <a:buChar char="ü"/>
            </a:pPr>
            <a:r>
              <a:rPr lang="zh-CN" altLang="en-US" sz="2400" dirty="0" smtClean="0"/>
              <a:t>管理</a:t>
            </a:r>
            <a:r>
              <a:rPr lang="zh-CN" altLang="en-US" sz="2400" dirty="0"/>
              <a:t>能力和溝通</a:t>
            </a:r>
            <a:r>
              <a:rPr lang="zh-CN" altLang="en-US" sz="2400" dirty="0" smtClean="0"/>
              <a:t>技巧</a:t>
            </a:r>
            <a:endParaRPr lang="en-US" altLang="zh-CN" sz="2400" dirty="0"/>
          </a:p>
        </p:txBody>
      </p:sp>
      <p:pic>
        <p:nvPicPr>
          <p:cNvPr id="4" name="图片 2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867" b="59210"/>
          <a:stretch>
            <a:fillRect/>
          </a:stretch>
        </p:blipFill>
        <p:spPr>
          <a:xfrm>
            <a:off x="0" y="0"/>
            <a:ext cx="12192000" cy="998261"/>
          </a:xfrm>
          <a:custGeom>
            <a:avLst/>
            <a:gdLst>
              <a:gd name="connsiteX0" fmla="*/ 0 w 12192000"/>
              <a:gd name="connsiteY0" fmla="*/ 0 h 998261"/>
              <a:gd name="connsiteX1" fmla="*/ 12192000 w 12192000"/>
              <a:gd name="connsiteY1" fmla="*/ 0 h 998261"/>
              <a:gd name="connsiteX2" fmla="*/ 12192000 w 12192000"/>
              <a:gd name="connsiteY2" fmla="*/ 998261 h 998261"/>
              <a:gd name="connsiteX3" fmla="*/ 0 w 12192000"/>
              <a:gd name="connsiteY3" fmla="*/ 998261 h 998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998261">
                <a:moveTo>
                  <a:pt x="0" y="0"/>
                </a:moveTo>
                <a:lnTo>
                  <a:pt x="12192000" y="0"/>
                </a:lnTo>
                <a:lnTo>
                  <a:pt x="12192000" y="998261"/>
                </a:lnTo>
                <a:lnTo>
                  <a:pt x="0" y="998261"/>
                </a:lnTo>
                <a:close/>
              </a:path>
            </a:pathLst>
          </a:custGeom>
        </p:spPr>
      </p:pic>
      <p:sp>
        <p:nvSpPr>
          <p:cNvPr id="5" name="文本框 90"/>
          <p:cNvSpPr txBox="1"/>
          <p:nvPr/>
        </p:nvSpPr>
        <p:spPr>
          <a:xfrm>
            <a:off x="1951937" y="239467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6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 smtClean="0"/>
              <a:t>問題</a:t>
            </a:r>
            <a:r>
              <a:rPr lang="zh-CN" altLang="en-US" dirty="0"/>
              <a:t>及</a:t>
            </a:r>
            <a:r>
              <a:rPr lang="zh-CN" altLang="en-US" dirty="0" smtClean="0"/>
              <a:t>挑戰</a:t>
            </a:r>
            <a:endParaRPr lang="zh-CN" altLang="en-US" dirty="0"/>
          </a:p>
        </p:txBody>
      </p:sp>
      <p:sp>
        <p:nvSpPr>
          <p:cNvPr id="6" name="Freeform 19"/>
          <p:cNvSpPr>
            <a:spLocks/>
          </p:cNvSpPr>
          <p:nvPr/>
        </p:nvSpPr>
        <p:spPr bwMode="auto">
          <a:xfrm>
            <a:off x="1057017" y="176702"/>
            <a:ext cx="693978" cy="757881"/>
          </a:xfrm>
          <a:custGeom>
            <a:avLst/>
            <a:gdLst>
              <a:gd name="T0" fmla="*/ 772 w 772"/>
              <a:gd name="T1" fmla="*/ 596 h 865"/>
              <a:gd name="T2" fmla="*/ 721 w 772"/>
              <a:gd name="T3" fmla="*/ 685 h 865"/>
              <a:gd name="T4" fmla="*/ 437 w 772"/>
              <a:gd name="T5" fmla="*/ 849 h 865"/>
              <a:gd name="T6" fmla="*/ 335 w 772"/>
              <a:gd name="T7" fmla="*/ 849 h 865"/>
              <a:gd name="T8" fmla="*/ 51 w 772"/>
              <a:gd name="T9" fmla="*/ 685 h 865"/>
              <a:gd name="T10" fmla="*/ 0 w 772"/>
              <a:gd name="T11" fmla="*/ 596 h 865"/>
              <a:gd name="T12" fmla="*/ 0 w 772"/>
              <a:gd name="T13" fmla="*/ 268 h 865"/>
              <a:gd name="T14" fmla="*/ 51 w 772"/>
              <a:gd name="T15" fmla="*/ 180 h 865"/>
              <a:gd name="T16" fmla="*/ 335 w 772"/>
              <a:gd name="T17" fmla="*/ 16 h 865"/>
              <a:gd name="T18" fmla="*/ 437 w 772"/>
              <a:gd name="T19" fmla="*/ 16 h 865"/>
              <a:gd name="T20" fmla="*/ 721 w 772"/>
              <a:gd name="T21" fmla="*/ 180 h 865"/>
              <a:gd name="T22" fmla="*/ 772 w 772"/>
              <a:gd name="T23" fmla="*/ 268 h 865"/>
              <a:gd name="T24" fmla="*/ 772 w 772"/>
              <a:gd name="T25" fmla="*/ 596 h 8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72" h="865">
                <a:moveTo>
                  <a:pt x="772" y="596"/>
                </a:moveTo>
                <a:cubicBezTo>
                  <a:pt x="772" y="629"/>
                  <a:pt x="749" y="668"/>
                  <a:pt x="721" y="685"/>
                </a:cubicBezTo>
                <a:cubicBezTo>
                  <a:pt x="437" y="849"/>
                  <a:pt x="437" y="849"/>
                  <a:pt x="437" y="849"/>
                </a:cubicBezTo>
                <a:cubicBezTo>
                  <a:pt x="409" y="865"/>
                  <a:pt x="363" y="865"/>
                  <a:pt x="335" y="849"/>
                </a:cubicBezTo>
                <a:cubicBezTo>
                  <a:pt x="51" y="685"/>
                  <a:pt x="51" y="685"/>
                  <a:pt x="51" y="685"/>
                </a:cubicBezTo>
                <a:cubicBezTo>
                  <a:pt x="23" y="668"/>
                  <a:pt x="0" y="629"/>
                  <a:pt x="0" y="596"/>
                </a:cubicBezTo>
                <a:cubicBezTo>
                  <a:pt x="0" y="268"/>
                  <a:pt x="0" y="268"/>
                  <a:pt x="0" y="268"/>
                </a:cubicBezTo>
                <a:cubicBezTo>
                  <a:pt x="0" y="236"/>
                  <a:pt x="23" y="196"/>
                  <a:pt x="51" y="180"/>
                </a:cubicBezTo>
                <a:cubicBezTo>
                  <a:pt x="335" y="16"/>
                  <a:pt x="335" y="16"/>
                  <a:pt x="335" y="16"/>
                </a:cubicBezTo>
                <a:cubicBezTo>
                  <a:pt x="363" y="0"/>
                  <a:pt x="409" y="0"/>
                  <a:pt x="437" y="16"/>
                </a:cubicBezTo>
                <a:cubicBezTo>
                  <a:pt x="721" y="180"/>
                  <a:pt x="721" y="180"/>
                  <a:pt x="721" y="180"/>
                </a:cubicBezTo>
                <a:cubicBezTo>
                  <a:pt x="749" y="196"/>
                  <a:pt x="772" y="236"/>
                  <a:pt x="772" y="268"/>
                </a:cubicBezTo>
                <a:lnTo>
                  <a:pt x="772" y="596"/>
                </a:lnTo>
                <a:close/>
              </a:path>
            </a:pathLst>
          </a:custGeom>
          <a:solidFill>
            <a:srgbClr val="2DB2A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17"/>
          <p:cNvSpPr>
            <a:spLocks noChangeArrowheads="1"/>
          </p:cNvSpPr>
          <p:nvPr/>
        </p:nvSpPr>
        <p:spPr bwMode="auto">
          <a:xfrm>
            <a:off x="1123320" y="263254"/>
            <a:ext cx="56137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Impact" panose="020B0806030902050204" pitchFamily="34" charset="0"/>
                <a:ea typeface="FZYaoTi" panose="02010601030101010101" pitchFamily="2" charset="-122"/>
                <a:sym typeface="Impact" panose="020B0806030902050204" pitchFamily="34" charset="0"/>
              </a:rPr>
              <a:t>01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  <a:ea typeface="FZYaoTi" panose="02010601030101010101" pitchFamily="2" charset="-122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094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9"/>
          <p:cNvSpPr>
            <a:spLocks/>
          </p:cNvSpPr>
          <p:nvPr/>
        </p:nvSpPr>
        <p:spPr bwMode="auto">
          <a:xfrm>
            <a:off x="4812240" y="1995471"/>
            <a:ext cx="2576347" cy="2888159"/>
          </a:xfrm>
          <a:custGeom>
            <a:avLst/>
            <a:gdLst>
              <a:gd name="T0" fmla="*/ 772 w 772"/>
              <a:gd name="T1" fmla="*/ 596 h 865"/>
              <a:gd name="T2" fmla="*/ 721 w 772"/>
              <a:gd name="T3" fmla="*/ 685 h 865"/>
              <a:gd name="T4" fmla="*/ 437 w 772"/>
              <a:gd name="T5" fmla="*/ 849 h 865"/>
              <a:gd name="T6" fmla="*/ 335 w 772"/>
              <a:gd name="T7" fmla="*/ 849 h 865"/>
              <a:gd name="T8" fmla="*/ 51 w 772"/>
              <a:gd name="T9" fmla="*/ 685 h 865"/>
              <a:gd name="T10" fmla="*/ 0 w 772"/>
              <a:gd name="T11" fmla="*/ 596 h 865"/>
              <a:gd name="T12" fmla="*/ 0 w 772"/>
              <a:gd name="T13" fmla="*/ 268 h 865"/>
              <a:gd name="T14" fmla="*/ 51 w 772"/>
              <a:gd name="T15" fmla="*/ 180 h 865"/>
              <a:gd name="T16" fmla="*/ 335 w 772"/>
              <a:gd name="T17" fmla="*/ 16 h 865"/>
              <a:gd name="T18" fmla="*/ 437 w 772"/>
              <a:gd name="T19" fmla="*/ 16 h 865"/>
              <a:gd name="T20" fmla="*/ 721 w 772"/>
              <a:gd name="T21" fmla="*/ 180 h 865"/>
              <a:gd name="T22" fmla="*/ 772 w 772"/>
              <a:gd name="T23" fmla="*/ 268 h 865"/>
              <a:gd name="T24" fmla="*/ 772 w 772"/>
              <a:gd name="T25" fmla="*/ 596 h 8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72" h="865">
                <a:moveTo>
                  <a:pt x="772" y="596"/>
                </a:moveTo>
                <a:cubicBezTo>
                  <a:pt x="772" y="629"/>
                  <a:pt x="749" y="668"/>
                  <a:pt x="721" y="685"/>
                </a:cubicBezTo>
                <a:cubicBezTo>
                  <a:pt x="437" y="849"/>
                  <a:pt x="437" y="849"/>
                  <a:pt x="437" y="849"/>
                </a:cubicBezTo>
                <a:cubicBezTo>
                  <a:pt x="409" y="865"/>
                  <a:pt x="363" y="865"/>
                  <a:pt x="335" y="849"/>
                </a:cubicBezTo>
                <a:cubicBezTo>
                  <a:pt x="51" y="685"/>
                  <a:pt x="51" y="685"/>
                  <a:pt x="51" y="685"/>
                </a:cubicBezTo>
                <a:cubicBezTo>
                  <a:pt x="23" y="668"/>
                  <a:pt x="0" y="629"/>
                  <a:pt x="0" y="596"/>
                </a:cubicBezTo>
                <a:cubicBezTo>
                  <a:pt x="0" y="268"/>
                  <a:pt x="0" y="268"/>
                  <a:pt x="0" y="268"/>
                </a:cubicBezTo>
                <a:cubicBezTo>
                  <a:pt x="0" y="236"/>
                  <a:pt x="23" y="196"/>
                  <a:pt x="51" y="180"/>
                </a:cubicBezTo>
                <a:cubicBezTo>
                  <a:pt x="335" y="16"/>
                  <a:pt x="335" y="16"/>
                  <a:pt x="335" y="16"/>
                </a:cubicBezTo>
                <a:cubicBezTo>
                  <a:pt x="363" y="0"/>
                  <a:pt x="409" y="0"/>
                  <a:pt x="437" y="16"/>
                </a:cubicBezTo>
                <a:cubicBezTo>
                  <a:pt x="721" y="180"/>
                  <a:pt x="721" y="180"/>
                  <a:pt x="721" y="180"/>
                </a:cubicBezTo>
                <a:cubicBezTo>
                  <a:pt x="749" y="196"/>
                  <a:pt x="772" y="236"/>
                  <a:pt x="772" y="268"/>
                </a:cubicBezTo>
                <a:lnTo>
                  <a:pt x="772" y="596"/>
                </a:lnTo>
                <a:close/>
              </a:path>
            </a:pathLst>
          </a:custGeom>
          <a:noFill/>
          <a:ln>
            <a:solidFill>
              <a:srgbClr val="F87A08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>
            <a:spLocks/>
          </p:cNvSpPr>
          <p:nvPr/>
        </p:nvSpPr>
        <p:spPr bwMode="auto">
          <a:xfrm>
            <a:off x="2280649" y="0"/>
            <a:ext cx="7639528" cy="6858000"/>
          </a:xfrm>
          <a:custGeom>
            <a:avLst/>
            <a:gdLst>
              <a:gd name="connsiteX0" fmla="*/ 2131006 w 7639528"/>
              <a:gd name="connsiteY0" fmla="*/ 0 h 6858000"/>
              <a:gd name="connsiteX1" fmla="*/ 5508522 w 7639528"/>
              <a:gd name="connsiteY1" fmla="*/ 0 h 6858000"/>
              <a:gd name="connsiteX2" fmla="*/ 5627413 w 7639528"/>
              <a:gd name="connsiteY2" fmla="*/ 68690 h 6858000"/>
              <a:gd name="connsiteX3" fmla="*/ 7134844 w 7639528"/>
              <a:gd name="connsiteY3" fmla="*/ 939616 h 6858000"/>
              <a:gd name="connsiteX4" fmla="*/ 7639528 w 7639528"/>
              <a:gd name="connsiteY4" fmla="*/ 1810880 h 6858000"/>
              <a:gd name="connsiteX5" fmla="*/ 7639528 w 7639528"/>
              <a:gd name="connsiteY5" fmla="*/ 5058319 h 6858000"/>
              <a:gd name="connsiteX6" fmla="*/ 7134844 w 7639528"/>
              <a:gd name="connsiteY6" fmla="*/ 5939484 h 6858000"/>
              <a:gd name="connsiteX7" fmla="*/ 5664549 w 7639528"/>
              <a:gd name="connsiteY7" fmla="*/ 6788953 h 6858000"/>
              <a:gd name="connsiteX8" fmla="*/ 5545041 w 7639528"/>
              <a:gd name="connsiteY8" fmla="*/ 6858000 h 6858000"/>
              <a:gd name="connsiteX9" fmla="*/ 2094488 w 7639528"/>
              <a:gd name="connsiteY9" fmla="*/ 6858000 h 6858000"/>
              <a:gd name="connsiteX10" fmla="*/ 2012116 w 7639528"/>
              <a:gd name="connsiteY10" fmla="*/ 6810409 h 6858000"/>
              <a:gd name="connsiteX11" fmla="*/ 504684 w 7639528"/>
              <a:gd name="connsiteY11" fmla="*/ 5939484 h 6858000"/>
              <a:gd name="connsiteX12" fmla="*/ 0 w 7639528"/>
              <a:gd name="connsiteY12" fmla="*/ 5058319 h 6858000"/>
              <a:gd name="connsiteX13" fmla="*/ 0 w 7639528"/>
              <a:gd name="connsiteY13" fmla="*/ 1810880 h 6858000"/>
              <a:gd name="connsiteX14" fmla="*/ 504684 w 7639528"/>
              <a:gd name="connsiteY14" fmla="*/ 939616 h 6858000"/>
              <a:gd name="connsiteX15" fmla="*/ 2129444 w 7639528"/>
              <a:gd name="connsiteY15" fmla="*/ 90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639528" h="6858000">
                <a:moveTo>
                  <a:pt x="2131006" y="0"/>
                </a:moveTo>
                <a:lnTo>
                  <a:pt x="5508522" y="0"/>
                </a:lnTo>
                <a:lnTo>
                  <a:pt x="5627413" y="68690"/>
                </a:lnTo>
                <a:cubicBezTo>
                  <a:pt x="7134844" y="939616"/>
                  <a:pt x="7134844" y="939616"/>
                  <a:pt x="7134844" y="939616"/>
                </a:cubicBezTo>
                <a:cubicBezTo>
                  <a:pt x="7411925" y="1098027"/>
                  <a:pt x="7639528" y="1494057"/>
                  <a:pt x="7639528" y="1810880"/>
                </a:cubicBezTo>
                <a:lnTo>
                  <a:pt x="7639528" y="5058319"/>
                </a:lnTo>
                <a:cubicBezTo>
                  <a:pt x="7639528" y="5385043"/>
                  <a:pt x="7411925" y="5771172"/>
                  <a:pt x="7134844" y="5939484"/>
                </a:cubicBezTo>
                <a:cubicBezTo>
                  <a:pt x="6520070" y="6294672"/>
                  <a:pt x="6039778" y="6572163"/>
                  <a:pt x="5664549" y="6788953"/>
                </a:cubicBezTo>
                <a:lnTo>
                  <a:pt x="5545041" y="6858000"/>
                </a:lnTo>
                <a:lnTo>
                  <a:pt x="2094488" y="6858000"/>
                </a:lnTo>
                <a:lnTo>
                  <a:pt x="2012116" y="6810409"/>
                </a:lnTo>
                <a:cubicBezTo>
                  <a:pt x="504684" y="5939484"/>
                  <a:pt x="504684" y="5939484"/>
                  <a:pt x="504684" y="5939484"/>
                </a:cubicBezTo>
                <a:cubicBezTo>
                  <a:pt x="227603" y="5771172"/>
                  <a:pt x="0" y="5385043"/>
                  <a:pt x="0" y="5058319"/>
                </a:cubicBezTo>
                <a:cubicBezTo>
                  <a:pt x="0" y="1810880"/>
                  <a:pt x="0" y="1810880"/>
                  <a:pt x="0" y="1810880"/>
                </a:cubicBezTo>
                <a:cubicBezTo>
                  <a:pt x="0" y="1494057"/>
                  <a:pt x="227603" y="1098027"/>
                  <a:pt x="504684" y="939616"/>
                </a:cubicBezTo>
                <a:cubicBezTo>
                  <a:pt x="1207283" y="533686"/>
                  <a:pt x="1734232" y="229238"/>
                  <a:pt x="2129444" y="903"/>
                </a:cubicBezTo>
                <a:close/>
              </a:path>
            </a:pathLst>
          </a:custGeom>
          <a:noFill/>
          <a:ln>
            <a:solidFill>
              <a:srgbClr val="F87A08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5002386" y="2208630"/>
            <a:ext cx="2196057" cy="2461843"/>
            <a:chOff x="5002386" y="2208630"/>
            <a:chExt cx="2196057" cy="2461843"/>
          </a:xfrm>
        </p:grpSpPr>
        <p:sp>
          <p:nvSpPr>
            <p:cNvPr id="10" name="Freeform 19"/>
            <p:cNvSpPr>
              <a:spLocks/>
            </p:cNvSpPr>
            <p:nvPr/>
          </p:nvSpPr>
          <p:spPr bwMode="auto">
            <a:xfrm>
              <a:off x="5002386" y="2208630"/>
              <a:ext cx="2196057" cy="2461843"/>
            </a:xfrm>
            <a:custGeom>
              <a:avLst/>
              <a:gdLst>
                <a:gd name="T0" fmla="*/ 772 w 772"/>
                <a:gd name="T1" fmla="*/ 596 h 865"/>
                <a:gd name="T2" fmla="*/ 721 w 772"/>
                <a:gd name="T3" fmla="*/ 685 h 865"/>
                <a:gd name="T4" fmla="*/ 437 w 772"/>
                <a:gd name="T5" fmla="*/ 849 h 865"/>
                <a:gd name="T6" fmla="*/ 335 w 772"/>
                <a:gd name="T7" fmla="*/ 849 h 865"/>
                <a:gd name="T8" fmla="*/ 51 w 772"/>
                <a:gd name="T9" fmla="*/ 685 h 865"/>
                <a:gd name="T10" fmla="*/ 0 w 772"/>
                <a:gd name="T11" fmla="*/ 596 h 865"/>
                <a:gd name="T12" fmla="*/ 0 w 772"/>
                <a:gd name="T13" fmla="*/ 268 h 865"/>
                <a:gd name="T14" fmla="*/ 51 w 772"/>
                <a:gd name="T15" fmla="*/ 180 h 865"/>
                <a:gd name="T16" fmla="*/ 335 w 772"/>
                <a:gd name="T17" fmla="*/ 16 h 865"/>
                <a:gd name="T18" fmla="*/ 437 w 772"/>
                <a:gd name="T19" fmla="*/ 16 h 865"/>
                <a:gd name="T20" fmla="*/ 721 w 772"/>
                <a:gd name="T21" fmla="*/ 180 h 865"/>
                <a:gd name="T22" fmla="*/ 772 w 772"/>
                <a:gd name="T23" fmla="*/ 268 h 865"/>
                <a:gd name="T24" fmla="*/ 772 w 772"/>
                <a:gd name="T25" fmla="*/ 596 h 8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2" h="865">
                  <a:moveTo>
                    <a:pt x="772" y="596"/>
                  </a:moveTo>
                  <a:cubicBezTo>
                    <a:pt x="772" y="629"/>
                    <a:pt x="749" y="668"/>
                    <a:pt x="721" y="685"/>
                  </a:cubicBezTo>
                  <a:cubicBezTo>
                    <a:pt x="437" y="849"/>
                    <a:pt x="437" y="849"/>
                    <a:pt x="437" y="849"/>
                  </a:cubicBezTo>
                  <a:cubicBezTo>
                    <a:pt x="409" y="865"/>
                    <a:pt x="363" y="865"/>
                    <a:pt x="335" y="849"/>
                  </a:cubicBezTo>
                  <a:cubicBezTo>
                    <a:pt x="51" y="685"/>
                    <a:pt x="51" y="685"/>
                    <a:pt x="51" y="685"/>
                  </a:cubicBezTo>
                  <a:cubicBezTo>
                    <a:pt x="23" y="668"/>
                    <a:pt x="0" y="629"/>
                    <a:pt x="0" y="596"/>
                  </a:cubicBezTo>
                  <a:cubicBezTo>
                    <a:pt x="0" y="268"/>
                    <a:pt x="0" y="268"/>
                    <a:pt x="0" y="268"/>
                  </a:cubicBezTo>
                  <a:cubicBezTo>
                    <a:pt x="0" y="236"/>
                    <a:pt x="23" y="196"/>
                    <a:pt x="51" y="180"/>
                  </a:cubicBezTo>
                  <a:cubicBezTo>
                    <a:pt x="335" y="16"/>
                    <a:pt x="335" y="16"/>
                    <a:pt x="335" y="16"/>
                  </a:cubicBezTo>
                  <a:cubicBezTo>
                    <a:pt x="363" y="0"/>
                    <a:pt x="409" y="0"/>
                    <a:pt x="437" y="16"/>
                  </a:cubicBezTo>
                  <a:cubicBezTo>
                    <a:pt x="721" y="180"/>
                    <a:pt x="721" y="180"/>
                    <a:pt x="721" y="180"/>
                  </a:cubicBezTo>
                  <a:cubicBezTo>
                    <a:pt x="749" y="196"/>
                    <a:pt x="772" y="236"/>
                    <a:pt x="772" y="268"/>
                  </a:cubicBezTo>
                  <a:lnTo>
                    <a:pt x="772" y="596"/>
                  </a:lnTo>
                  <a:close/>
                </a:path>
              </a:pathLst>
            </a:custGeom>
            <a:solidFill>
              <a:srgbClr val="F87A0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 flipH="1">
              <a:off x="5366821" y="2654720"/>
              <a:ext cx="1463862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600" dirty="0" smtClean="0">
                  <a:solidFill>
                    <a:schemeClr val="bg1"/>
                  </a:solidFill>
                  <a:latin typeface="Impact" panose="020B0806030902050204" pitchFamily="34" charset="0"/>
                </a:rPr>
                <a:t>02</a:t>
              </a:r>
              <a:endParaRPr lang="zh-CN" altLang="en-US" sz="96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4683051" y="5195534"/>
            <a:ext cx="31951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績 效 考 核</a:t>
            </a:r>
            <a:endParaRPr lang="zh-CN" altLang="en-US" sz="48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5910495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2" grpId="0" animBg="1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橢圓 4"/>
          <p:cNvSpPr/>
          <p:nvPr/>
        </p:nvSpPr>
        <p:spPr bwMode="auto">
          <a:xfrm>
            <a:off x="4655840" y="1247800"/>
            <a:ext cx="2592288" cy="158417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工作成績日常表現</a:t>
            </a:r>
            <a:endParaRPr lang="zh-TW" altLang="en-US" sz="32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2567608" y="3028192"/>
            <a:ext cx="2592288" cy="2941693"/>
            <a:chOff x="1043608" y="3409191"/>
            <a:chExt cx="2592288" cy="2941693"/>
          </a:xfrm>
        </p:grpSpPr>
        <p:sp>
          <p:nvSpPr>
            <p:cNvPr id="6" name="橢圓 5"/>
            <p:cNvSpPr/>
            <p:nvPr/>
          </p:nvSpPr>
          <p:spPr bwMode="auto">
            <a:xfrm>
              <a:off x="1043608" y="4221088"/>
              <a:ext cx="2592288" cy="15841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自我比較</a:t>
              </a:r>
              <a:endParaRPr lang="zh-TW" altLang="en-US" sz="32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9" name="向下箭號 8"/>
            <p:cNvSpPr/>
            <p:nvPr/>
          </p:nvSpPr>
          <p:spPr bwMode="auto">
            <a:xfrm rot="2122696">
              <a:off x="3142335" y="3409191"/>
              <a:ext cx="360040" cy="576064"/>
            </a:xfrm>
            <a:prstGeom prst="downArrow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1593041" y="5889219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chemeClr val="accent6">
                      <a:lumMod val="50000"/>
                    </a:schemeClr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學習成長</a:t>
              </a:r>
              <a:endParaRPr lang="zh-TW" altLang="en-US" sz="2400" dirty="0">
                <a:solidFill>
                  <a:schemeClr val="accent6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3" name="群組 12"/>
          <p:cNvGrpSpPr/>
          <p:nvPr/>
        </p:nvGrpSpPr>
        <p:grpSpPr>
          <a:xfrm>
            <a:off x="6888088" y="3027612"/>
            <a:ext cx="2592288" cy="2942272"/>
            <a:chOff x="5364088" y="3408612"/>
            <a:chExt cx="2592288" cy="2942272"/>
          </a:xfrm>
        </p:grpSpPr>
        <p:sp>
          <p:nvSpPr>
            <p:cNvPr id="7" name="橢圓 6"/>
            <p:cNvSpPr/>
            <p:nvPr/>
          </p:nvSpPr>
          <p:spPr bwMode="auto">
            <a:xfrm>
              <a:off x="5364088" y="4221088"/>
              <a:ext cx="2592288" cy="15841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同級別</a:t>
              </a:r>
              <a:endParaRPr lang="en-US" altLang="zh-CN" sz="32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比較</a:t>
              </a:r>
              <a:endParaRPr lang="zh-TW" altLang="en-US" sz="32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8" name="向下箭號 7"/>
            <p:cNvSpPr/>
            <p:nvPr/>
          </p:nvSpPr>
          <p:spPr bwMode="auto">
            <a:xfrm rot="19653826">
              <a:off x="5490492" y="3408612"/>
              <a:ext cx="360040" cy="576064"/>
            </a:xfrm>
            <a:prstGeom prst="downArrow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5940152" y="5889219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標楷體" panose="03000509000000000000" pitchFamily="65" charset="-120"/>
                  <a:ea typeface="標楷體" panose="03000509000000000000" pitchFamily="65" charset="-120"/>
                </a:rPr>
                <a:t>公平競爭</a:t>
              </a:r>
              <a:endParaRPr lang="zh-TW" altLang="en-US" sz="24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12" name="文字方塊 11"/>
          <p:cNvSpPr txBox="1"/>
          <p:nvPr/>
        </p:nvSpPr>
        <p:spPr>
          <a:xfrm>
            <a:off x="7476346" y="180905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accent6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績效為主</a:t>
            </a:r>
            <a:endParaRPr lang="zh-TW" altLang="en-US" sz="2400" dirty="0">
              <a:solidFill>
                <a:schemeClr val="accent6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4" name="图片 20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867" b="59210"/>
          <a:stretch>
            <a:fillRect/>
          </a:stretch>
        </p:blipFill>
        <p:spPr>
          <a:xfrm>
            <a:off x="0" y="0"/>
            <a:ext cx="12192000" cy="998261"/>
          </a:xfrm>
          <a:custGeom>
            <a:avLst/>
            <a:gdLst>
              <a:gd name="connsiteX0" fmla="*/ 0 w 12192000"/>
              <a:gd name="connsiteY0" fmla="*/ 0 h 998261"/>
              <a:gd name="connsiteX1" fmla="*/ 12192000 w 12192000"/>
              <a:gd name="connsiteY1" fmla="*/ 0 h 998261"/>
              <a:gd name="connsiteX2" fmla="*/ 12192000 w 12192000"/>
              <a:gd name="connsiteY2" fmla="*/ 998261 h 998261"/>
              <a:gd name="connsiteX3" fmla="*/ 0 w 12192000"/>
              <a:gd name="connsiteY3" fmla="*/ 998261 h 998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998261">
                <a:moveTo>
                  <a:pt x="0" y="0"/>
                </a:moveTo>
                <a:lnTo>
                  <a:pt x="12192000" y="0"/>
                </a:lnTo>
                <a:lnTo>
                  <a:pt x="12192000" y="998261"/>
                </a:lnTo>
                <a:lnTo>
                  <a:pt x="0" y="998261"/>
                </a:lnTo>
                <a:close/>
              </a:path>
            </a:pathLst>
          </a:custGeom>
        </p:spPr>
      </p:pic>
      <p:sp>
        <p:nvSpPr>
          <p:cNvPr id="15" name="Freeform 19"/>
          <p:cNvSpPr>
            <a:spLocks/>
          </p:cNvSpPr>
          <p:nvPr/>
        </p:nvSpPr>
        <p:spPr bwMode="auto">
          <a:xfrm>
            <a:off x="1074715" y="110145"/>
            <a:ext cx="693978" cy="777969"/>
          </a:xfrm>
          <a:custGeom>
            <a:avLst/>
            <a:gdLst>
              <a:gd name="T0" fmla="*/ 772 w 772"/>
              <a:gd name="T1" fmla="*/ 596 h 865"/>
              <a:gd name="T2" fmla="*/ 721 w 772"/>
              <a:gd name="T3" fmla="*/ 685 h 865"/>
              <a:gd name="T4" fmla="*/ 437 w 772"/>
              <a:gd name="T5" fmla="*/ 849 h 865"/>
              <a:gd name="T6" fmla="*/ 335 w 772"/>
              <a:gd name="T7" fmla="*/ 849 h 865"/>
              <a:gd name="T8" fmla="*/ 51 w 772"/>
              <a:gd name="T9" fmla="*/ 685 h 865"/>
              <a:gd name="T10" fmla="*/ 0 w 772"/>
              <a:gd name="T11" fmla="*/ 596 h 865"/>
              <a:gd name="T12" fmla="*/ 0 w 772"/>
              <a:gd name="T13" fmla="*/ 268 h 865"/>
              <a:gd name="T14" fmla="*/ 51 w 772"/>
              <a:gd name="T15" fmla="*/ 180 h 865"/>
              <a:gd name="T16" fmla="*/ 335 w 772"/>
              <a:gd name="T17" fmla="*/ 16 h 865"/>
              <a:gd name="T18" fmla="*/ 437 w 772"/>
              <a:gd name="T19" fmla="*/ 16 h 865"/>
              <a:gd name="T20" fmla="*/ 721 w 772"/>
              <a:gd name="T21" fmla="*/ 180 h 865"/>
              <a:gd name="T22" fmla="*/ 772 w 772"/>
              <a:gd name="T23" fmla="*/ 268 h 865"/>
              <a:gd name="T24" fmla="*/ 772 w 772"/>
              <a:gd name="T25" fmla="*/ 596 h 8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72" h="865">
                <a:moveTo>
                  <a:pt x="772" y="596"/>
                </a:moveTo>
                <a:cubicBezTo>
                  <a:pt x="772" y="629"/>
                  <a:pt x="749" y="668"/>
                  <a:pt x="721" y="685"/>
                </a:cubicBezTo>
                <a:cubicBezTo>
                  <a:pt x="437" y="849"/>
                  <a:pt x="437" y="849"/>
                  <a:pt x="437" y="849"/>
                </a:cubicBezTo>
                <a:cubicBezTo>
                  <a:pt x="409" y="865"/>
                  <a:pt x="363" y="865"/>
                  <a:pt x="335" y="849"/>
                </a:cubicBezTo>
                <a:cubicBezTo>
                  <a:pt x="51" y="685"/>
                  <a:pt x="51" y="685"/>
                  <a:pt x="51" y="685"/>
                </a:cubicBezTo>
                <a:cubicBezTo>
                  <a:pt x="23" y="668"/>
                  <a:pt x="0" y="629"/>
                  <a:pt x="0" y="596"/>
                </a:cubicBezTo>
                <a:cubicBezTo>
                  <a:pt x="0" y="268"/>
                  <a:pt x="0" y="268"/>
                  <a:pt x="0" y="268"/>
                </a:cubicBezTo>
                <a:cubicBezTo>
                  <a:pt x="0" y="236"/>
                  <a:pt x="23" y="196"/>
                  <a:pt x="51" y="180"/>
                </a:cubicBezTo>
                <a:cubicBezTo>
                  <a:pt x="335" y="16"/>
                  <a:pt x="335" y="16"/>
                  <a:pt x="335" y="16"/>
                </a:cubicBezTo>
                <a:cubicBezTo>
                  <a:pt x="363" y="0"/>
                  <a:pt x="409" y="0"/>
                  <a:pt x="437" y="16"/>
                </a:cubicBezTo>
                <a:cubicBezTo>
                  <a:pt x="721" y="180"/>
                  <a:pt x="721" y="180"/>
                  <a:pt x="721" y="180"/>
                </a:cubicBezTo>
                <a:cubicBezTo>
                  <a:pt x="749" y="196"/>
                  <a:pt x="772" y="236"/>
                  <a:pt x="772" y="268"/>
                </a:cubicBezTo>
                <a:lnTo>
                  <a:pt x="772" y="596"/>
                </a:lnTo>
                <a:close/>
              </a:path>
            </a:pathLst>
          </a:custGeom>
          <a:solidFill>
            <a:srgbClr val="F87A0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7"/>
          <p:cNvSpPr>
            <a:spLocks noChangeArrowheads="1"/>
          </p:cNvSpPr>
          <p:nvPr/>
        </p:nvSpPr>
        <p:spPr bwMode="auto">
          <a:xfrm>
            <a:off x="1127163" y="206741"/>
            <a:ext cx="62228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Impact" panose="020B0806030902050204" pitchFamily="34" charset="0"/>
                <a:ea typeface="FZYaoTi" panose="02010601030101010101" pitchFamily="2" charset="-122"/>
                <a:sym typeface="Impact" panose="020B0806030902050204" pitchFamily="34" charset="0"/>
              </a:rPr>
              <a:t>02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  <a:ea typeface="FZYaoTi" panose="02010601030101010101" pitchFamily="2" charset="-122"/>
              <a:sym typeface="Impact" panose="020B0806030902050204" pitchFamily="34" charset="0"/>
            </a:endParaRPr>
          </a:p>
        </p:txBody>
      </p:sp>
      <p:sp>
        <p:nvSpPr>
          <p:cNvPr id="17" name="文本框 90"/>
          <p:cNvSpPr txBox="1"/>
          <p:nvPr/>
        </p:nvSpPr>
        <p:spPr>
          <a:xfrm>
            <a:off x="2052468" y="141030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6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 smtClean="0"/>
              <a:t>考核原則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2091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圓角矩形 4"/>
          <p:cNvSpPr/>
          <p:nvPr/>
        </p:nvSpPr>
        <p:spPr bwMode="auto">
          <a:xfrm>
            <a:off x="1991544" y="1549488"/>
            <a:ext cx="1224136" cy="7200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速度</a:t>
            </a:r>
            <a:endParaRPr lang="zh-TW" altLang="en-US" sz="28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圓角矩形 5"/>
          <p:cNvSpPr/>
          <p:nvPr/>
        </p:nvSpPr>
        <p:spPr bwMode="auto">
          <a:xfrm>
            <a:off x="1991544" y="2629608"/>
            <a:ext cx="1224136" cy="7200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品質</a:t>
            </a:r>
            <a:endParaRPr lang="zh-TW" altLang="en-US" sz="28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圓角矩形 6"/>
          <p:cNvSpPr/>
          <p:nvPr/>
        </p:nvSpPr>
        <p:spPr bwMode="auto">
          <a:xfrm>
            <a:off x="1991544" y="3709728"/>
            <a:ext cx="1224136" cy="7200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技能</a:t>
            </a:r>
            <a:endParaRPr lang="zh-TW" altLang="en-US" sz="28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圓角矩形 7"/>
          <p:cNvSpPr/>
          <p:nvPr/>
        </p:nvSpPr>
        <p:spPr bwMode="auto">
          <a:xfrm>
            <a:off x="1991544" y="4795242"/>
            <a:ext cx="1224136" cy="7200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服務</a:t>
            </a:r>
            <a:endParaRPr lang="zh-TW" altLang="en-US" sz="28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圓角矩形 8"/>
          <p:cNvSpPr/>
          <p:nvPr/>
        </p:nvSpPr>
        <p:spPr bwMode="auto">
          <a:xfrm>
            <a:off x="8832304" y="1565915"/>
            <a:ext cx="1224136" cy="7200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誠信</a:t>
            </a:r>
            <a:endParaRPr lang="zh-TW" altLang="en-US" sz="28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圓角矩形 9"/>
          <p:cNvSpPr/>
          <p:nvPr/>
        </p:nvSpPr>
        <p:spPr bwMode="auto">
          <a:xfrm>
            <a:off x="8832304" y="2646035"/>
            <a:ext cx="1224136" cy="7200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責任</a:t>
            </a:r>
            <a:endParaRPr lang="zh-TW" altLang="en-US" sz="28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圓角矩形 10"/>
          <p:cNvSpPr/>
          <p:nvPr/>
        </p:nvSpPr>
        <p:spPr bwMode="auto">
          <a:xfrm>
            <a:off x="8832304" y="3726155"/>
            <a:ext cx="1224136" cy="7200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合作</a:t>
            </a:r>
            <a:endParaRPr lang="zh-TW" altLang="en-US" sz="28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圓角矩形 11"/>
          <p:cNvSpPr/>
          <p:nvPr/>
        </p:nvSpPr>
        <p:spPr bwMode="auto">
          <a:xfrm>
            <a:off x="8832304" y="4811669"/>
            <a:ext cx="1224136" cy="72008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創新</a:t>
            </a:r>
            <a:endParaRPr lang="zh-TW" altLang="en-US" sz="28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笑臉 12"/>
          <p:cNvSpPr/>
          <p:nvPr/>
        </p:nvSpPr>
        <p:spPr bwMode="auto">
          <a:xfrm>
            <a:off x="5303912" y="2740109"/>
            <a:ext cx="1512168" cy="1584176"/>
          </a:xfrm>
          <a:prstGeom prst="smileyFac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4" name="直線單箭頭接點 13"/>
          <p:cNvCxnSpPr/>
          <p:nvPr/>
        </p:nvCxnSpPr>
        <p:spPr bwMode="auto">
          <a:xfrm flipV="1">
            <a:off x="6960096" y="1970380"/>
            <a:ext cx="1656184" cy="80864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 bwMode="auto">
          <a:xfrm flipV="1">
            <a:off x="7104112" y="2995043"/>
            <a:ext cx="1512168" cy="263221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 bwMode="auto">
          <a:xfrm>
            <a:off x="7104112" y="3766351"/>
            <a:ext cx="1512168" cy="247836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 bwMode="auto">
          <a:xfrm>
            <a:off x="6960096" y="4291187"/>
            <a:ext cx="1656184" cy="880523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 bwMode="auto">
          <a:xfrm flipH="1" flipV="1">
            <a:off x="3431704" y="1842914"/>
            <a:ext cx="1656184" cy="864096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 bwMode="auto">
          <a:xfrm flipH="1" flipV="1">
            <a:off x="3431705" y="2923035"/>
            <a:ext cx="1549335" cy="236643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 bwMode="auto">
          <a:xfrm flipH="1">
            <a:off x="3431704" y="3694798"/>
            <a:ext cx="1584176" cy="374971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 bwMode="auto">
          <a:xfrm flipH="1">
            <a:off x="3431704" y="4200868"/>
            <a:ext cx="1656184" cy="95441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3575720" y="4612318"/>
            <a:ext cx="23391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服務滿意度、</a:t>
            </a:r>
            <a:endParaRPr lang="en-US" altLang="zh-CN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客訴、用戶評價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528100" y="3532198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開發技術</a:t>
            </a:r>
            <a:endParaRPr lang="en-US" altLang="zh-CN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解決問題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3503712" y="2635003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工作品質</a:t>
            </a:r>
            <a:endParaRPr lang="en-US" altLang="zh-CN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返工率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3503713" y="1554883"/>
            <a:ext cx="29546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相應問題、處理問題</a:t>
            </a:r>
            <a:endParaRPr lang="en-US" altLang="zh-CN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程序開發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056492" y="1554883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紀律規章</a:t>
            </a:r>
            <a:endParaRPr lang="en-US" altLang="zh-CN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安全保密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032105" y="2596094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工作態度</a:t>
            </a:r>
            <a:endParaRPr lang="en-US" altLang="zh-CN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做好該做的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032105" y="3604206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團隊領導</a:t>
            </a:r>
            <a:endParaRPr lang="en-US" altLang="zh-CN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培訓與教導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032104" y="4612318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改善創新</a:t>
            </a:r>
            <a:endParaRPr lang="en-US" altLang="zh-CN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自我學習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1895726" y="578754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accent5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壓力來源</a:t>
            </a:r>
            <a:endParaRPr lang="zh-TW" altLang="en-US" sz="2400" dirty="0">
              <a:solidFill>
                <a:schemeClr val="accent5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8876436" y="5730129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65983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價值觀</a:t>
            </a:r>
            <a:endParaRPr lang="zh-TW" altLang="en-US" sz="2400" dirty="0">
              <a:solidFill>
                <a:srgbClr val="65983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1" name="图片 2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867" b="59210"/>
          <a:stretch>
            <a:fillRect/>
          </a:stretch>
        </p:blipFill>
        <p:spPr>
          <a:xfrm>
            <a:off x="0" y="0"/>
            <a:ext cx="12192000" cy="998261"/>
          </a:xfrm>
          <a:custGeom>
            <a:avLst/>
            <a:gdLst>
              <a:gd name="connsiteX0" fmla="*/ 0 w 12192000"/>
              <a:gd name="connsiteY0" fmla="*/ 0 h 998261"/>
              <a:gd name="connsiteX1" fmla="*/ 12192000 w 12192000"/>
              <a:gd name="connsiteY1" fmla="*/ 0 h 998261"/>
              <a:gd name="connsiteX2" fmla="*/ 12192000 w 12192000"/>
              <a:gd name="connsiteY2" fmla="*/ 998261 h 998261"/>
              <a:gd name="connsiteX3" fmla="*/ 0 w 12192000"/>
              <a:gd name="connsiteY3" fmla="*/ 998261 h 998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998261">
                <a:moveTo>
                  <a:pt x="0" y="0"/>
                </a:moveTo>
                <a:lnTo>
                  <a:pt x="12192000" y="0"/>
                </a:lnTo>
                <a:lnTo>
                  <a:pt x="12192000" y="998261"/>
                </a:lnTo>
                <a:lnTo>
                  <a:pt x="0" y="998261"/>
                </a:lnTo>
                <a:close/>
              </a:path>
            </a:pathLst>
          </a:custGeom>
        </p:spPr>
      </p:pic>
      <p:sp>
        <p:nvSpPr>
          <p:cNvPr id="32" name="Freeform 19"/>
          <p:cNvSpPr>
            <a:spLocks/>
          </p:cNvSpPr>
          <p:nvPr/>
        </p:nvSpPr>
        <p:spPr bwMode="auto">
          <a:xfrm>
            <a:off x="1074715" y="110145"/>
            <a:ext cx="693978" cy="777969"/>
          </a:xfrm>
          <a:custGeom>
            <a:avLst/>
            <a:gdLst>
              <a:gd name="T0" fmla="*/ 772 w 772"/>
              <a:gd name="T1" fmla="*/ 596 h 865"/>
              <a:gd name="T2" fmla="*/ 721 w 772"/>
              <a:gd name="T3" fmla="*/ 685 h 865"/>
              <a:gd name="T4" fmla="*/ 437 w 772"/>
              <a:gd name="T5" fmla="*/ 849 h 865"/>
              <a:gd name="T6" fmla="*/ 335 w 772"/>
              <a:gd name="T7" fmla="*/ 849 h 865"/>
              <a:gd name="T8" fmla="*/ 51 w 772"/>
              <a:gd name="T9" fmla="*/ 685 h 865"/>
              <a:gd name="T10" fmla="*/ 0 w 772"/>
              <a:gd name="T11" fmla="*/ 596 h 865"/>
              <a:gd name="T12" fmla="*/ 0 w 772"/>
              <a:gd name="T13" fmla="*/ 268 h 865"/>
              <a:gd name="T14" fmla="*/ 51 w 772"/>
              <a:gd name="T15" fmla="*/ 180 h 865"/>
              <a:gd name="T16" fmla="*/ 335 w 772"/>
              <a:gd name="T17" fmla="*/ 16 h 865"/>
              <a:gd name="T18" fmla="*/ 437 w 772"/>
              <a:gd name="T19" fmla="*/ 16 h 865"/>
              <a:gd name="T20" fmla="*/ 721 w 772"/>
              <a:gd name="T21" fmla="*/ 180 h 865"/>
              <a:gd name="T22" fmla="*/ 772 w 772"/>
              <a:gd name="T23" fmla="*/ 268 h 865"/>
              <a:gd name="T24" fmla="*/ 772 w 772"/>
              <a:gd name="T25" fmla="*/ 596 h 8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72" h="865">
                <a:moveTo>
                  <a:pt x="772" y="596"/>
                </a:moveTo>
                <a:cubicBezTo>
                  <a:pt x="772" y="629"/>
                  <a:pt x="749" y="668"/>
                  <a:pt x="721" y="685"/>
                </a:cubicBezTo>
                <a:cubicBezTo>
                  <a:pt x="437" y="849"/>
                  <a:pt x="437" y="849"/>
                  <a:pt x="437" y="849"/>
                </a:cubicBezTo>
                <a:cubicBezTo>
                  <a:pt x="409" y="865"/>
                  <a:pt x="363" y="865"/>
                  <a:pt x="335" y="849"/>
                </a:cubicBezTo>
                <a:cubicBezTo>
                  <a:pt x="51" y="685"/>
                  <a:pt x="51" y="685"/>
                  <a:pt x="51" y="685"/>
                </a:cubicBezTo>
                <a:cubicBezTo>
                  <a:pt x="23" y="668"/>
                  <a:pt x="0" y="629"/>
                  <a:pt x="0" y="596"/>
                </a:cubicBezTo>
                <a:cubicBezTo>
                  <a:pt x="0" y="268"/>
                  <a:pt x="0" y="268"/>
                  <a:pt x="0" y="268"/>
                </a:cubicBezTo>
                <a:cubicBezTo>
                  <a:pt x="0" y="236"/>
                  <a:pt x="23" y="196"/>
                  <a:pt x="51" y="180"/>
                </a:cubicBezTo>
                <a:cubicBezTo>
                  <a:pt x="335" y="16"/>
                  <a:pt x="335" y="16"/>
                  <a:pt x="335" y="16"/>
                </a:cubicBezTo>
                <a:cubicBezTo>
                  <a:pt x="363" y="0"/>
                  <a:pt x="409" y="0"/>
                  <a:pt x="437" y="16"/>
                </a:cubicBezTo>
                <a:cubicBezTo>
                  <a:pt x="721" y="180"/>
                  <a:pt x="721" y="180"/>
                  <a:pt x="721" y="180"/>
                </a:cubicBezTo>
                <a:cubicBezTo>
                  <a:pt x="749" y="196"/>
                  <a:pt x="772" y="236"/>
                  <a:pt x="772" y="268"/>
                </a:cubicBezTo>
                <a:lnTo>
                  <a:pt x="772" y="596"/>
                </a:lnTo>
                <a:close/>
              </a:path>
            </a:pathLst>
          </a:custGeom>
          <a:solidFill>
            <a:srgbClr val="F87A0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17"/>
          <p:cNvSpPr>
            <a:spLocks noChangeArrowheads="1"/>
          </p:cNvSpPr>
          <p:nvPr/>
        </p:nvSpPr>
        <p:spPr bwMode="auto">
          <a:xfrm>
            <a:off x="1127163" y="206741"/>
            <a:ext cx="62228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Impact" panose="020B0806030902050204" pitchFamily="34" charset="0"/>
                <a:ea typeface="FZYaoTi" panose="02010601030101010101" pitchFamily="2" charset="-122"/>
                <a:sym typeface="Impact" panose="020B0806030902050204" pitchFamily="34" charset="0"/>
              </a:rPr>
              <a:t>02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  <a:ea typeface="FZYaoTi" panose="02010601030101010101" pitchFamily="2" charset="-122"/>
              <a:sym typeface="Impact" panose="020B0806030902050204" pitchFamily="34" charset="0"/>
            </a:endParaRPr>
          </a:p>
        </p:txBody>
      </p:sp>
      <p:sp>
        <p:nvSpPr>
          <p:cNvPr id="34" name="文本框 90"/>
          <p:cNvSpPr txBox="1"/>
          <p:nvPr/>
        </p:nvSpPr>
        <p:spPr>
          <a:xfrm>
            <a:off x="2052468" y="141030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6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 smtClean="0"/>
              <a:t>主管依據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4579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867" b="59210"/>
          <a:stretch>
            <a:fillRect/>
          </a:stretch>
        </p:blipFill>
        <p:spPr>
          <a:xfrm>
            <a:off x="0" y="0"/>
            <a:ext cx="12192000" cy="998261"/>
          </a:xfrm>
          <a:custGeom>
            <a:avLst/>
            <a:gdLst>
              <a:gd name="connsiteX0" fmla="*/ 0 w 12192000"/>
              <a:gd name="connsiteY0" fmla="*/ 0 h 998261"/>
              <a:gd name="connsiteX1" fmla="*/ 12192000 w 12192000"/>
              <a:gd name="connsiteY1" fmla="*/ 0 h 998261"/>
              <a:gd name="connsiteX2" fmla="*/ 12192000 w 12192000"/>
              <a:gd name="connsiteY2" fmla="*/ 998261 h 998261"/>
              <a:gd name="connsiteX3" fmla="*/ 0 w 12192000"/>
              <a:gd name="connsiteY3" fmla="*/ 998261 h 998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998261">
                <a:moveTo>
                  <a:pt x="0" y="0"/>
                </a:moveTo>
                <a:lnTo>
                  <a:pt x="12192000" y="0"/>
                </a:lnTo>
                <a:lnTo>
                  <a:pt x="12192000" y="998261"/>
                </a:lnTo>
                <a:lnTo>
                  <a:pt x="0" y="998261"/>
                </a:lnTo>
                <a:close/>
              </a:path>
            </a:pathLst>
          </a:custGeom>
        </p:spPr>
      </p:pic>
      <p:sp>
        <p:nvSpPr>
          <p:cNvPr id="28" name="Freeform 19"/>
          <p:cNvSpPr>
            <a:spLocks/>
          </p:cNvSpPr>
          <p:nvPr/>
        </p:nvSpPr>
        <p:spPr bwMode="auto">
          <a:xfrm>
            <a:off x="1074715" y="110145"/>
            <a:ext cx="693978" cy="777969"/>
          </a:xfrm>
          <a:custGeom>
            <a:avLst/>
            <a:gdLst>
              <a:gd name="T0" fmla="*/ 772 w 772"/>
              <a:gd name="T1" fmla="*/ 596 h 865"/>
              <a:gd name="T2" fmla="*/ 721 w 772"/>
              <a:gd name="T3" fmla="*/ 685 h 865"/>
              <a:gd name="T4" fmla="*/ 437 w 772"/>
              <a:gd name="T5" fmla="*/ 849 h 865"/>
              <a:gd name="T6" fmla="*/ 335 w 772"/>
              <a:gd name="T7" fmla="*/ 849 h 865"/>
              <a:gd name="T8" fmla="*/ 51 w 772"/>
              <a:gd name="T9" fmla="*/ 685 h 865"/>
              <a:gd name="T10" fmla="*/ 0 w 772"/>
              <a:gd name="T11" fmla="*/ 596 h 865"/>
              <a:gd name="T12" fmla="*/ 0 w 772"/>
              <a:gd name="T13" fmla="*/ 268 h 865"/>
              <a:gd name="T14" fmla="*/ 51 w 772"/>
              <a:gd name="T15" fmla="*/ 180 h 865"/>
              <a:gd name="T16" fmla="*/ 335 w 772"/>
              <a:gd name="T17" fmla="*/ 16 h 865"/>
              <a:gd name="T18" fmla="*/ 437 w 772"/>
              <a:gd name="T19" fmla="*/ 16 h 865"/>
              <a:gd name="T20" fmla="*/ 721 w 772"/>
              <a:gd name="T21" fmla="*/ 180 h 865"/>
              <a:gd name="T22" fmla="*/ 772 w 772"/>
              <a:gd name="T23" fmla="*/ 268 h 865"/>
              <a:gd name="T24" fmla="*/ 772 w 772"/>
              <a:gd name="T25" fmla="*/ 596 h 8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72" h="865">
                <a:moveTo>
                  <a:pt x="772" y="596"/>
                </a:moveTo>
                <a:cubicBezTo>
                  <a:pt x="772" y="629"/>
                  <a:pt x="749" y="668"/>
                  <a:pt x="721" y="685"/>
                </a:cubicBezTo>
                <a:cubicBezTo>
                  <a:pt x="437" y="849"/>
                  <a:pt x="437" y="849"/>
                  <a:pt x="437" y="849"/>
                </a:cubicBezTo>
                <a:cubicBezTo>
                  <a:pt x="409" y="865"/>
                  <a:pt x="363" y="865"/>
                  <a:pt x="335" y="849"/>
                </a:cubicBezTo>
                <a:cubicBezTo>
                  <a:pt x="51" y="685"/>
                  <a:pt x="51" y="685"/>
                  <a:pt x="51" y="685"/>
                </a:cubicBezTo>
                <a:cubicBezTo>
                  <a:pt x="23" y="668"/>
                  <a:pt x="0" y="629"/>
                  <a:pt x="0" y="596"/>
                </a:cubicBezTo>
                <a:cubicBezTo>
                  <a:pt x="0" y="268"/>
                  <a:pt x="0" y="268"/>
                  <a:pt x="0" y="268"/>
                </a:cubicBezTo>
                <a:cubicBezTo>
                  <a:pt x="0" y="236"/>
                  <a:pt x="23" y="196"/>
                  <a:pt x="51" y="180"/>
                </a:cubicBezTo>
                <a:cubicBezTo>
                  <a:pt x="335" y="16"/>
                  <a:pt x="335" y="16"/>
                  <a:pt x="335" y="16"/>
                </a:cubicBezTo>
                <a:cubicBezTo>
                  <a:pt x="363" y="0"/>
                  <a:pt x="409" y="0"/>
                  <a:pt x="437" y="16"/>
                </a:cubicBezTo>
                <a:cubicBezTo>
                  <a:pt x="721" y="180"/>
                  <a:pt x="721" y="180"/>
                  <a:pt x="721" y="180"/>
                </a:cubicBezTo>
                <a:cubicBezTo>
                  <a:pt x="749" y="196"/>
                  <a:pt x="772" y="236"/>
                  <a:pt x="772" y="268"/>
                </a:cubicBezTo>
                <a:lnTo>
                  <a:pt x="772" y="596"/>
                </a:lnTo>
                <a:close/>
              </a:path>
            </a:pathLst>
          </a:custGeom>
          <a:solidFill>
            <a:srgbClr val="F87A0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17"/>
          <p:cNvSpPr>
            <a:spLocks noChangeArrowheads="1"/>
          </p:cNvSpPr>
          <p:nvPr/>
        </p:nvSpPr>
        <p:spPr bwMode="auto">
          <a:xfrm>
            <a:off x="1127163" y="206741"/>
            <a:ext cx="62228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Impact" panose="020B0806030902050204" pitchFamily="34" charset="0"/>
                <a:ea typeface="FZYaoTi" panose="02010601030101010101" pitchFamily="2" charset="-122"/>
                <a:sym typeface="Impact" panose="020B0806030902050204" pitchFamily="34" charset="0"/>
              </a:rPr>
              <a:t>02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  <a:ea typeface="FZYaoTi" panose="02010601030101010101" pitchFamily="2" charset="-122"/>
              <a:sym typeface="Impact" panose="020B0806030902050204" pitchFamily="34" charset="0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2052468" y="141030"/>
            <a:ext cx="40382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6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smtClean="0"/>
              <a:t>2020</a:t>
            </a:r>
            <a:r>
              <a:rPr lang="zh-CN" altLang="en-US" dirty="0" smtClean="0"/>
              <a:t>年度績效時程</a:t>
            </a:r>
            <a:endParaRPr lang="zh-CN" altLang="en-US" dirty="0"/>
          </a:p>
        </p:txBody>
      </p:sp>
      <p:sp>
        <p:nvSpPr>
          <p:cNvPr id="34" name="五邊形 33"/>
          <p:cNvSpPr/>
          <p:nvPr/>
        </p:nvSpPr>
        <p:spPr>
          <a:xfrm>
            <a:off x="1285456" y="3611289"/>
            <a:ext cx="1368150" cy="545930"/>
          </a:xfrm>
          <a:prstGeom prst="homePlate">
            <a:avLst/>
          </a:prstGeom>
          <a:solidFill>
            <a:srgbClr val="F87A08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人員盤點</a:t>
            </a:r>
            <a:endParaRPr lang="zh-TW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＞形箭號 34"/>
          <p:cNvSpPr/>
          <p:nvPr/>
        </p:nvSpPr>
        <p:spPr>
          <a:xfrm>
            <a:off x="2615654" y="3611289"/>
            <a:ext cx="1478113" cy="545930"/>
          </a:xfrm>
          <a:prstGeom prst="chevron">
            <a:avLst/>
          </a:prstGeom>
          <a:solidFill>
            <a:srgbClr val="F87A08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績效考核</a:t>
            </a:r>
            <a:endParaRPr lang="en-US" altLang="zh-TW" sz="1400" dirty="0" smtClean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說明會</a:t>
            </a:r>
            <a:endParaRPr lang="zh-TW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＞形箭號 35"/>
          <p:cNvSpPr/>
          <p:nvPr/>
        </p:nvSpPr>
        <p:spPr>
          <a:xfrm>
            <a:off x="4021758" y="3620818"/>
            <a:ext cx="1512279" cy="545930"/>
          </a:xfrm>
          <a:prstGeom prst="chevron">
            <a:avLst/>
          </a:prstGeom>
          <a:solidFill>
            <a:srgbClr val="F87A08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員工自評</a:t>
            </a:r>
            <a:endParaRPr lang="zh-TW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＞形箭號 36"/>
          <p:cNvSpPr/>
          <p:nvPr/>
        </p:nvSpPr>
        <p:spPr>
          <a:xfrm>
            <a:off x="5454398" y="3620786"/>
            <a:ext cx="1856328" cy="506579"/>
          </a:xfrm>
          <a:prstGeom prst="chevron">
            <a:avLst/>
          </a:prstGeom>
          <a:solidFill>
            <a:srgbClr val="F87A08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各級主管評核</a:t>
            </a:r>
            <a:endParaRPr lang="en-US" altLang="zh-TW" sz="1400" dirty="0" smtClean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＆績效溝通</a:t>
            </a:r>
            <a:endParaRPr lang="zh-TW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＞形箭號 37"/>
          <p:cNvSpPr/>
          <p:nvPr/>
        </p:nvSpPr>
        <p:spPr>
          <a:xfrm>
            <a:off x="7254256" y="3644946"/>
            <a:ext cx="1640874" cy="472922"/>
          </a:xfrm>
          <a:prstGeom prst="chevron">
            <a:avLst/>
          </a:prstGeom>
          <a:solidFill>
            <a:srgbClr val="F87A08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kern="1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BU</a:t>
            </a:r>
            <a:r>
              <a:rPr lang="zh-TW" altLang="en-US" sz="1400" kern="1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主管檢討審核</a:t>
            </a:r>
            <a:endParaRPr lang="zh-TW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285457" y="3187863"/>
            <a:ext cx="2474506" cy="307777"/>
          </a:xfrm>
          <a:prstGeom prst="rect">
            <a:avLst/>
          </a:prstGeom>
          <a:ln>
            <a:solidFill>
              <a:srgbClr val="F87A08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400" b="1" kern="100" dirty="0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11/9-11/14</a:t>
            </a:r>
            <a:endParaRPr lang="zh-TW" altLang="en-US" sz="1400" b="1" kern="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038916" y="3196482"/>
            <a:ext cx="1360824" cy="307777"/>
          </a:xfrm>
          <a:prstGeom prst="rect">
            <a:avLst/>
          </a:prstGeom>
          <a:ln>
            <a:solidFill>
              <a:srgbClr val="F87A08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400" b="1" kern="100" dirty="0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11/16-11/19</a:t>
            </a:r>
            <a:endParaRPr lang="zh-TW" altLang="en-US" sz="1400" b="1" kern="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678694" y="3187863"/>
            <a:ext cx="1319051" cy="307777"/>
          </a:xfrm>
          <a:prstGeom prst="rect">
            <a:avLst/>
          </a:prstGeom>
          <a:ln>
            <a:solidFill>
              <a:srgbClr val="F87A08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400" b="1" kern="100" dirty="0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11/20-11/30</a:t>
            </a:r>
            <a:endParaRPr lang="zh-TW" altLang="en-US" sz="1400" b="1" kern="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7310726" y="3190393"/>
            <a:ext cx="1294446" cy="307777"/>
          </a:xfrm>
          <a:prstGeom prst="rect">
            <a:avLst/>
          </a:prstGeom>
          <a:ln>
            <a:solidFill>
              <a:srgbClr val="F87A08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400" b="1" kern="100" dirty="0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12/1-12/4</a:t>
            </a:r>
            <a:endParaRPr lang="zh-TW" altLang="en-US" sz="1400" b="1" kern="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</a:endParaRPr>
          </a:p>
        </p:txBody>
      </p:sp>
      <p:sp>
        <p:nvSpPr>
          <p:cNvPr id="44" name="＞形箭號 43"/>
          <p:cNvSpPr/>
          <p:nvPr/>
        </p:nvSpPr>
        <p:spPr>
          <a:xfrm>
            <a:off x="8895130" y="3628136"/>
            <a:ext cx="1923177" cy="479119"/>
          </a:xfrm>
          <a:prstGeom prst="chevron">
            <a:avLst/>
          </a:prstGeom>
          <a:solidFill>
            <a:srgbClr val="F87A08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事業群主管核准</a:t>
            </a:r>
            <a:endParaRPr lang="zh-TW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9104562" y="3198701"/>
            <a:ext cx="1231105" cy="307777"/>
          </a:xfrm>
          <a:prstGeom prst="rect">
            <a:avLst/>
          </a:prstGeom>
          <a:ln>
            <a:solidFill>
              <a:srgbClr val="F87A08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1400" b="1" kern="100" dirty="0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</a:rPr>
              <a:t>12/5</a:t>
            </a:r>
            <a:endParaRPr lang="zh-TW" altLang="en-US" sz="1400" b="1" kern="1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CD8BB-5593-45B4-989A-D8D5518AAFB0}" type="slidenum">
              <a:rPr lang="zh-CN" altLang="en-US" smtClean="0"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5610629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/>
      <p:bldP spid="91" grpId="0"/>
      <p:bldP spid="34" grpId="0" animBg="1"/>
      <p:bldP spid="35" grpId="0" animBg="1"/>
      <p:bldP spid="36" grpId="0" animBg="1"/>
      <p:bldP spid="37" grpId="0" animBg="1"/>
      <p:bldP spid="38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六边形 86"/>
          <p:cNvSpPr/>
          <p:nvPr/>
        </p:nvSpPr>
        <p:spPr>
          <a:xfrm>
            <a:off x="1057017" y="-1043354"/>
            <a:ext cx="962793" cy="829994"/>
          </a:xfrm>
          <a:prstGeom prst="hexagon">
            <a:avLst/>
          </a:prstGeom>
          <a:solidFill>
            <a:srgbClr val="0E64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六边形 87"/>
          <p:cNvSpPr/>
          <p:nvPr/>
        </p:nvSpPr>
        <p:spPr>
          <a:xfrm>
            <a:off x="2151952" y="-1043354"/>
            <a:ext cx="962793" cy="829994"/>
          </a:xfrm>
          <a:prstGeom prst="hexagon">
            <a:avLst/>
          </a:prstGeom>
          <a:solidFill>
            <a:srgbClr val="2DB2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六边形 88"/>
          <p:cNvSpPr/>
          <p:nvPr/>
        </p:nvSpPr>
        <p:spPr>
          <a:xfrm>
            <a:off x="3246887" y="-1043354"/>
            <a:ext cx="962793" cy="829994"/>
          </a:xfrm>
          <a:prstGeom prst="hexagon">
            <a:avLst/>
          </a:prstGeom>
          <a:solidFill>
            <a:srgbClr val="F87A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六边形 89"/>
          <p:cNvSpPr/>
          <p:nvPr/>
        </p:nvSpPr>
        <p:spPr>
          <a:xfrm>
            <a:off x="4341822" y="-1043354"/>
            <a:ext cx="962793" cy="829994"/>
          </a:xfrm>
          <a:prstGeom prst="hexagon">
            <a:avLst/>
          </a:prstGeom>
          <a:solidFill>
            <a:srgbClr val="74A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989052"/>
              </p:ext>
            </p:extLst>
          </p:nvPr>
        </p:nvGraphicFramePr>
        <p:xfrm>
          <a:off x="1438306" y="1365860"/>
          <a:ext cx="9253983" cy="4211808"/>
        </p:xfrm>
        <a:graphic>
          <a:graphicData uri="http://schemas.openxmlformats.org/drawingml/2006/table">
            <a:tbl>
              <a:tblPr/>
              <a:tblGrid>
                <a:gridCol w="1595312">
                  <a:extLst>
                    <a:ext uri="{9D8B030D-6E8A-4147-A177-3AD203B41FA5}">
                      <a16:colId xmlns:a16="http://schemas.microsoft.com/office/drawing/2014/main" val="2475182231"/>
                    </a:ext>
                  </a:extLst>
                </a:gridCol>
                <a:gridCol w="1405574">
                  <a:extLst>
                    <a:ext uri="{9D8B030D-6E8A-4147-A177-3AD203B41FA5}">
                      <a16:colId xmlns:a16="http://schemas.microsoft.com/office/drawing/2014/main" val="1316184821"/>
                    </a:ext>
                  </a:extLst>
                </a:gridCol>
                <a:gridCol w="1519199">
                  <a:extLst>
                    <a:ext uri="{9D8B030D-6E8A-4147-A177-3AD203B41FA5}">
                      <a16:colId xmlns:a16="http://schemas.microsoft.com/office/drawing/2014/main" val="1437940618"/>
                    </a:ext>
                  </a:extLst>
                </a:gridCol>
                <a:gridCol w="1519199">
                  <a:extLst>
                    <a:ext uri="{9D8B030D-6E8A-4147-A177-3AD203B41FA5}">
                      <a16:colId xmlns:a16="http://schemas.microsoft.com/office/drawing/2014/main" val="149574157"/>
                    </a:ext>
                  </a:extLst>
                </a:gridCol>
                <a:gridCol w="1605474">
                  <a:extLst>
                    <a:ext uri="{9D8B030D-6E8A-4147-A177-3AD203B41FA5}">
                      <a16:colId xmlns:a16="http://schemas.microsoft.com/office/drawing/2014/main" val="1704839112"/>
                    </a:ext>
                  </a:extLst>
                </a:gridCol>
                <a:gridCol w="1609225">
                  <a:extLst>
                    <a:ext uri="{9D8B030D-6E8A-4147-A177-3AD203B41FA5}">
                      <a16:colId xmlns:a16="http://schemas.microsoft.com/office/drawing/2014/main" val="4093343145"/>
                    </a:ext>
                  </a:extLst>
                </a:gridCol>
              </a:tblGrid>
              <a:tr h="440619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對象及比例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B2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優（A+）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B2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甲（A）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B2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乙（B）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B2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丙（C）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B2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丁（D）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B2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592306"/>
                  </a:ext>
                </a:extLst>
              </a:tr>
              <a:tr h="44061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X≥90分</a:t>
                      </a:r>
                      <a:endParaRPr 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B2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80≤X＜90分</a:t>
                      </a:r>
                      <a:endParaRPr 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B2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70≤X＜80分</a:t>
                      </a:r>
                      <a:endParaRPr 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B2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60≤X＜70分</a:t>
                      </a:r>
                      <a:endParaRPr 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B2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X＜60分</a:t>
                      </a:r>
                      <a:endParaRPr 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B2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052218"/>
                  </a:ext>
                </a:extLst>
              </a:tr>
              <a:tr h="44061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表現卓越</a:t>
                      </a:r>
                      <a:endParaRPr lang="zh-TW" sz="1400" b="0" i="0" u="none" strike="noStrike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B2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表現突出</a:t>
                      </a:r>
                      <a:endParaRPr 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B2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符合要求</a:t>
                      </a:r>
                      <a:endParaRPr 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B2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表現欠佳</a:t>
                      </a:r>
                      <a:endParaRPr 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B2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不合格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B2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2610958"/>
                  </a:ext>
                </a:extLst>
              </a:tr>
              <a:tr h="401742"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員</a:t>
                      </a:r>
                      <a:r>
                        <a:rPr lang="zh-C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級</a:t>
                      </a:r>
                      <a:r>
                        <a:rPr lang="zh-CN" altLang="en-US" sz="1400" b="0" i="0" u="none" strike="noStrike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en-US" altLang="zh-CN" sz="1400" b="0" i="0" u="none" strike="noStrike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400" b="0" i="0" u="none" strike="noStrike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lang="zh-TW" sz="1400" b="0" i="0" u="none" strike="noStrike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10%</a:t>
                      </a:r>
                      <a:endParaRPr 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40%</a:t>
                      </a:r>
                      <a:endParaRPr 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40%</a:t>
                      </a:r>
                      <a:endParaRPr 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7%</a:t>
                      </a:r>
                      <a:endParaRPr 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3%</a:t>
                      </a:r>
                      <a:endParaRPr 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2591740"/>
                  </a:ext>
                </a:extLst>
              </a:tr>
              <a:tr h="40174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師1 - 師</a:t>
                      </a:r>
                      <a:r>
                        <a:rPr lang="zh-TW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r>
                        <a:rPr lang="zh-CN" altLang="en-US" sz="1400" b="0" i="0" u="none" strike="noStrike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en-US" altLang="zh-CN" sz="1400" b="0" i="0" u="none" strike="noStrike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r>
                        <a:rPr lang="zh-CN" altLang="en-US" sz="1400" b="0" i="0" u="none" strike="noStrike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15%</a:t>
                      </a:r>
                      <a:endParaRPr 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40%</a:t>
                      </a:r>
                      <a:endParaRPr 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37%</a:t>
                      </a:r>
                      <a:endParaRPr 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8%</a:t>
                      </a:r>
                      <a:endParaRPr 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437793"/>
                  </a:ext>
                </a:extLst>
              </a:tr>
              <a:tr h="401742">
                <a:tc>
                  <a:txBody>
                    <a:bodyPr/>
                    <a:lstStyle/>
                    <a:p>
                      <a:pPr algn="ctr" fontAlgn="ctr"/>
                      <a:r>
                        <a:rPr 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師4 - 師</a:t>
                      </a:r>
                      <a:r>
                        <a:rPr lang="zh-TW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r>
                        <a:rPr lang="zh-CN" altLang="en-US" sz="1400" b="0" i="0" u="none" strike="noStrike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en-US" altLang="zh-CN" sz="1400" b="0" i="0" u="none" strike="noStrike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r>
                        <a:rPr lang="zh-CN" altLang="en-US" sz="1400" b="0" i="0" u="none" strike="noStrike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20%</a:t>
                      </a:r>
                      <a:endParaRPr lang="zh-TW" sz="1400" b="0" i="0" u="none" strike="noStrike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45%</a:t>
                      </a:r>
                      <a:endParaRPr lang="zh-TW" sz="1400" b="0" i="0" u="none" strike="noStrike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30%</a:t>
                      </a:r>
                      <a:endParaRPr lang="zh-TW" sz="1400" b="0" i="0" u="none" strike="noStrike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5%</a:t>
                      </a:r>
                      <a:endParaRPr 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024412"/>
                  </a:ext>
                </a:extLst>
              </a:tr>
              <a:tr h="401742"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師6及</a:t>
                      </a:r>
                      <a:r>
                        <a:rPr lang="zh-CN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以上</a:t>
                      </a:r>
                      <a:r>
                        <a:rPr lang="zh-CN" altLang="en-US" sz="1400" b="0" i="0" u="none" strike="noStrike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en-US" altLang="zh-CN" sz="1400" b="0" i="0" u="none" strike="noStrike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400" b="0" i="0" u="none" strike="noStrike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20%</a:t>
                      </a:r>
                      <a:endParaRPr 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50%</a:t>
                      </a:r>
                      <a:endParaRPr 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27%</a:t>
                      </a:r>
                      <a:endParaRPr 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3%</a:t>
                      </a:r>
                      <a:endParaRPr 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064297"/>
                  </a:ext>
                </a:extLst>
              </a:tr>
              <a:tr h="427661">
                <a:tc gridSpan="6">
                  <a:txBody>
                    <a:bodyPr/>
                    <a:lstStyle/>
                    <a:p>
                      <a:pPr algn="l" fontAlgn="ctr"/>
                      <a:r>
                        <a:rPr 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注：① 依BU/SBU進行總體比例管控（殘疾工、三期女工可不納入績效管控</a:t>
                      </a:r>
                      <a:r>
                        <a:rPr lang="zh-TW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比例</a:t>
                      </a:r>
                      <a:r>
                        <a:rPr lang="zh-CN" alt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，即</a:t>
                      </a:r>
                      <a:r>
                        <a:rPr lang="zh-TW" altLang="en-US" sz="14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單列單管控</a:t>
                      </a:r>
                      <a:r>
                        <a:rPr lang="zh-TW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886099"/>
                  </a:ext>
                </a:extLst>
              </a:tr>
              <a:tr h="427661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  ②  A+</a:t>
                      </a:r>
                      <a:r>
                        <a:rPr lang="zh-CN" alt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與</a:t>
                      </a:r>
                      <a:r>
                        <a:rPr lang="en-US" altLang="zh-TW" sz="14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A</a:t>
                      </a:r>
                      <a:r>
                        <a:rPr lang="zh-TW" altLang="zh-TW" sz="14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比例之和不可超標準</a:t>
                      </a:r>
                      <a:r>
                        <a:rPr lang="zh-CN" altLang="en-US" sz="14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，</a:t>
                      </a:r>
                      <a:r>
                        <a:rPr lang="en-US" altLang="zh-TW" sz="14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A+</a:t>
                      </a:r>
                      <a:r>
                        <a:rPr lang="zh-TW" altLang="zh-TW" sz="14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可從缺</a:t>
                      </a:r>
                      <a:r>
                        <a:rPr lang="zh-CN" altLang="en-US" sz="14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，</a:t>
                      </a:r>
                      <a:r>
                        <a:rPr lang="zh-TW" altLang="zh-TW" sz="14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比例轉至</a:t>
                      </a:r>
                      <a:r>
                        <a:rPr lang="en-US" altLang="zh-TW" sz="14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A</a:t>
                      </a:r>
                      <a:r>
                        <a:rPr lang="zh-TW" altLang="zh-TW" sz="14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等</a:t>
                      </a:r>
                      <a:r>
                        <a:rPr lang="zh-CN" altLang="en-US" sz="14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，</a:t>
                      </a:r>
                      <a:r>
                        <a:rPr lang="zh-TW" altLang="zh-TW" sz="14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但</a:t>
                      </a:r>
                      <a:r>
                        <a:rPr lang="en-US" altLang="zh-TW" sz="14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A+</a:t>
                      </a:r>
                      <a:r>
                        <a:rPr lang="zh-TW" altLang="zh-TW" sz="14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比例不可超標準</a:t>
                      </a:r>
                      <a:endParaRPr lang="en-US" altLang="zh-TW" sz="14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228600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274654"/>
                  </a:ext>
                </a:extLst>
              </a:tr>
              <a:tr h="427661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  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③</a:t>
                      </a:r>
                      <a:r>
                        <a:rPr lang="en-US" altLang="zh-TW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考核週期內記小過者考績不得評為A+，記大過者考績不得評為A或以上（功過相抵后）</a:t>
                      </a:r>
                      <a:endParaRPr lang="zh-TW" altLang="zh-TW" sz="1400" b="0" i="0" u="none" strike="noStrike" dirty="0" smtClean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228600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137091"/>
                  </a:ext>
                </a:extLst>
              </a:tr>
            </a:tbl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CD8BB-5593-45B4-989A-D8D5518AAFB0}" type="slidenum">
              <a:rPr lang="zh-CN" altLang="en-US" smtClean="0"/>
              <a:t>12</a:t>
            </a:fld>
            <a:endParaRPr lang="zh-CN" altLang="en-US" dirty="0"/>
          </a:p>
        </p:txBody>
      </p:sp>
      <p:pic>
        <p:nvPicPr>
          <p:cNvPr id="13" name="图片 20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867" b="59210"/>
          <a:stretch>
            <a:fillRect/>
          </a:stretch>
        </p:blipFill>
        <p:spPr>
          <a:xfrm>
            <a:off x="0" y="0"/>
            <a:ext cx="12192000" cy="998261"/>
          </a:xfrm>
          <a:custGeom>
            <a:avLst/>
            <a:gdLst>
              <a:gd name="connsiteX0" fmla="*/ 0 w 12192000"/>
              <a:gd name="connsiteY0" fmla="*/ 0 h 998261"/>
              <a:gd name="connsiteX1" fmla="*/ 12192000 w 12192000"/>
              <a:gd name="connsiteY1" fmla="*/ 0 h 998261"/>
              <a:gd name="connsiteX2" fmla="*/ 12192000 w 12192000"/>
              <a:gd name="connsiteY2" fmla="*/ 998261 h 998261"/>
              <a:gd name="connsiteX3" fmla="*/ 0 w 12192000"/>
              <a:gd name="connsiteY3" fmla="*/ 998261 h 998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998261">
                <a:moveTo>
                  <a:pt x="0" y="0"/>
                </a:moveTo>
                <a:lnTo>
                  <a:pt x="12192000" y="0"/>
                </a:lnTo>
                <a:lnTo>
                  <a:pt x="12192000" y="998261"/>
                </a:lnTo>
                <a:lnTo>
                  <a:pt x="0" y="998261"/>
                </a:lnTo>
                <a:close/>
              </a:path>
            </a:pathLst>
          </a:custGeom>
        </p:spPr>
      </p:pic>
      <p:sp>
        <p:nvSpPr>
          <p:cNvPr id="14" name="Freeform 19"/>
          <p:cNvSpPr>
            <a:spLocks/>
          </p:cNvSpPr>
          <p:nvPr/>
        </p:nvSpPr>
        <p:spPr bwMode="auto">
          <a:xfrm>
            <a:off x="1074715" y="110145"/>
            <a:ext cx="693978" cy="777969"/>
          </a:xfrm>
          <a:custGeom>
            <a:avLst/>
            <a:gdLst>
              <a:gd name="T0" fmla="*/ 772 w 772"/>
              <a:gd name="T1" fmla="*/ 596 h 865"/>
              <a:gd name="T2" fmla="*/ 721 w 772"/>
              <a:gd name="T3" fmla="*/ 685 h 865"/>
              <a:gd name="T4" fmla="*/ 437 w 772"/>
              <a:gd name="T5" fmla="*/ 849 h 865"/>
              <a:gd name="T6" fmla="*/ 335 w 772"/>
              <a:gd name="T7" fmla="*/ 849 h 865"/>
              <a:gd name="T8" fmla="*/ 51 w 772"/>
              <a:gd name="T9" fmla="*/ 685 h 865"/>
              <a:gd name="T10" fmla="*/ 0 w 772"/>
              <a:gd name="T11" fmla="*/ 596 h 865"/>
              <a:gd name="T12" fmla="*/ 0 w 772"/>
              <a:gd name="T13" fmla="*/ 268 h 865"/>
              <a:gd name="T14" fmla="*/ 51 w 772"/>
              <a:gd name="T15" fmla="*/ 180 h 865"/>
              <a:gd name="T16" fmla="*/ 335 w 772"/>
              <a:gd name="T17" fmla="*/ 16 h 865"/>
              <a:gd name="T18" fmla="*/ 437 w 772"/>
              <a:gd name="T19" fmla="*/ 16 h 865"/>
              <a:gd name="T20" fmla="*/ 721 w 772"/>
              <a:gd name="T21" fmla="*/ 180 h 865"/>
              <a:gd name="T22" fmla="*/ 772 w 772"/>
              <a:gd name="T23" fmla="*/ 268 h 865"/>
              <a:gd name="T24" fmla="*/ 772 w 772"/>
              <a:gd name="T25" fmla="*/ 596 h 8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72" h="865">
                <a:moveTo>
                  <a:pt x="772" y="596"/>
                </a:moveTo>
                <a:cubicBezTo>
                  <a:pt x="772" y="629"/>
                  <a:pt x="749" y="668"/>
                  <a:pt x="721" y="685"/>
                </a:cubicBezTo>
                <a:cubicBezTo>
                  <a:pt x="437" y="849"/>
                  <a:pt x="437" y="849"/>
                  <a:pt x="437" y="849"/>
                </a:cubicBezTo>
                <a:cubicBezTo>
                  <a:pt x="409" y="865"/>
                  <a:pt x="363" y="865"/>
                  <a:pt x="335" y="849"/>
                </a:cubicBezTo>
                <a:cubicBezTo>
                  <a:pt x="51" y="685"/>
                  <a:pt x="51" y="685"/>
                  <a:pt x="51" y="685"/>
                </a:cubicBezTo>
                <a:cubicBezTo>
                  <a:pt x="23" y="668"/>
                  <a:pt x="0" y="629"/>
                  <a:pt x="0" y="596"/>
                </a:cubicBezTo>
                <a:cubicBezTo>
                  <a:pt x="0" y="268"/>
                  <a:pt x="0" y="268"/>
                  <a:pt x="0" y="268"/>
                </a:cubicBezTo>
                <a:cubicBezTo>
                  <a:pt x="0" y="236"/>
                  <a:pt x="23" y="196"/>
                  <a:pt x="51" y="180"/>
                </a:cubicBezTo>
                <a:cubicBezTo>
                  <a:pt x="335" y="16"/>
                  <a:pt x="335" y="16"/>
                  <a:pt x="335" y="16"/>
                </a:cubicBezTo>
                <a:cubicBezTo>
                  <a:pt x="363" y="0"/>
                  <a:pt x="409" y="0"/>
                  <a:pt x="437" y="16"/>
                </a:cubicBezTo>
                <a:cubicBezTo>
                  <a:pt x="721" y="180"/>
                  <a:pt x="721" y="180"/>
                  <a:pt x="721" y="180"/>
                </a:cubicBezTo>
                <a:cubicBezTo>
                  <a:pt x="749" y="196"/>
                  <a:pt x="772" y="236"/>
                  <a:pt x="772" y="268"/>
                </a:cubicBezTo>
                <a:lnTo>
                  <a:pt x="772" y="596"/>
                </a:lnTo>
                <a:close/>
              </a:path>
            </a:pathLst>
          </a:custGeom>
          <a:solidFill>
            <a:srgbClr val="F87A0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7"/>
          <p:cNvSpPr>
            <a:spLocks noChangeArrowheads="1"/>
          </p:cNvSpPr>
          <p:nvPr/>
        </p:nvSpPr>
        <p:spPr bwMode="auto">
          <a:xfrm>
            <a:off x="1127163" y="206741"/>
            <a:ext cx="62228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Impact" panose="020B0806030902050204" pitchFamily="34" charset="0"/>
                <a:ea typeface="FZYaoTi" panose="02010601030101010101" pitchFamily="2" charset="-122"/>
                <a:sym typeface="Impact" panose="020B0806030902050204" pitchFamily="34" charset="0"/>
              </a:rPr>
              <a:t>02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  <a:ea typeface="FZYaoTi" panose="02010601030101010101" pitchFamily="2" charset="-122"/>
              <a:sym typeface="Impact" panose="020B0806030902050204" pitchFamily="34" charset="0"/>
            </a:endParaRPr>
          </a:p>
        </p:txBody>
      </p:sp>
      <p:sp>
        <p:nvSpPr>
          <p:cNvPr id="16" name="文本框 90"/>
          <p:cNvSpPr txBox="1"/>
          <p:nvPr/>
        </p:nvSpPr>
        <p:spPr>
          <a:xfrm>
            <a:off x="2052468" y="141030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6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 smtClean="0"/>
              <a:t>考核比例設定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5682916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0" animBg="1"/>
      <p:bldP spid="89" grpId="0" animBg="1"/>
      <p:bldP spid="90" grpId="0" animBg="1"/>
      <p:bldP spid="4" grpId="0"/>
      <p:bldP spid="14" grpId="0" animBg="1"/>
      <p:bldP spid="15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六边形 86"/>
          <p:cNvSpPr/>
          <p:nvPr/>
        </p:nvSpPr>
        <p:spPr>
          <a:xfrm>
            <a:off x="1057017" y="-1043354"/>
            <a:ext cx="962793" cy="829994"/>
          </a:xfrm>
          <a:prstGeom prst="hexagon">
            <a:avLst/>
          </a:prstGeom>
          <a:solidFill>
            <a:srgbClr val="0E64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六边形 87"/>
          <p:cNvSpPr/>
          <p:nvPr/>
        </p:nvSpPr>
        <p:spPr>
          <a:xfrm>
            <a:off x="2151952" y="-1043354"/>
            <a:ext cx="962793" cy="829994"/>
          </a:xfrm>
          <a:prstGeom prst="hexagon">
            <a:avLst/>
          </a:prstGeom>
          <a:solidFill>
            <a:srgbClr val="2DB2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六边形 88"/>
          <p:cNvSpPr/>
          <p:nvPr/>
        </p:nvSpPr>
        <p:spPr>
          <a:xfrm>
            <a:off x="3246887" y="-1043354"/>
            <a:ext cx="962793" cy="829994"/>
          </a:xfrm>
          <a:prstGeom prst="hexagon">
            <a:avLst/>
          </a:prstGeom>
          <a:solidFill>
            <a:srgbClr val="F87A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六边形 89"/>
          <p:cNvSpPr/>
          <p:nvPr/>
        </p:nvSpPr>
        <p:spPr>
          <a:xfrm>
            <a:off x="4341822" y="-1043354"/>
            <a:ext cx="962793" cy="829994"/>
          </a:xfrm>
          <a:prstGeom prst="hexagon">
            <a:avLst/>
          </a:prstGeom>
          <a:solidFill>
            <a:srgbClr val="74A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612641"/>
              </p:ext>
            </p:extLst>
          </p:nvPr>
        </p:nvGraphicFramePr>
        <p:xfrm>
          <a:off x="1538413" y="1995054"/>
          <a:ext cx="8969433" cy="3582785"/>
        </p:xfrm>
        <a:graphic>
          <a:graphicData uri="http://schemas.openxmlformats.org/drawingml/2006/table">
            <a:tbl>
              <a:tblPr/>
              <a:tblGrid>
                <a:gridCol w="214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1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5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6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79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32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38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58079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考核對象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B2A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考核維度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B2A4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ctr" fontAlgn="ctr">
                        <a:buAutoNum type="alphaUcPeriod"/>
                      </a:pPr>
                      <a:r>
                        <a:rPr lang="zh-TW" altLang="en-US" sz="1400" b="0" i="0" u="none" strike="noStrike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工作成果</a:t>
                      </a:r>
                      <a:endParaRPr lang="en-US" altLang="zh-TW" sz="1400" b="0" i="0" u="none" strike="noStrike" dirty="0" smtClean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228600" marR="0" indent="-2286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u="none" strike="noStrike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(</a:t>
                      </a:r>
                      <a:r>
                        <a:rPr lang="zh-TW" altLang="en-US" sz="1400" b="0" i="0" u="none" strike="noStrike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自評</a:t>
                      </a:r>
                      <a:r>
                        <a:rPr lang="en-US" altLang="zh-TW" sz="1400" b="0" i="0" u="none" strike="noStrike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</a:t>
                      </a:r>
                      <a:r>
                        <a:rPr lang="zh-TW" altLang="en-US" sz="1400" b="0" i="0" u="none" strike="noStrike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主管評</a:t>
                      </a:r>
                      <a:r>
                        <a:rPr lang="en-US" altLang="zh-TW" sz="1400" b="0" i="0" u="none" strike="noStrike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B2A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B. 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核心價值觀</a:t>
                      </a:r>
                      <a:b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</a:b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(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自評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主管評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B2A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C. 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核心職能</a:t>
                      </a:r>
                      <a:b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</a:b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(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主管評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B2A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D. 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管理職能</a:t>
                      </a:r>
                      <a:b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</a:b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(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主管評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B2A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總分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B2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451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zh-TW" sz="1400" b="0" i="0" u="none" strike="noStrike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 I </a:t>
                      </a:r>
                      <a:r>
                        <a:rPr lang="zh-TW" altLang="en-US" sz="1400" b="0" i="0" u="none" strike="noStrike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類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：無管理職</a:t>
                      </a:r>
                      <a:r>
                        <a:rPr lang="en-US" altLang="zh-TW" sz="1400" b="0" i="0" u="none" strike="noStrike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</a:t>
                      </a:r>
                      <a:r>
                        <a:rPr lang="zh-CN" altLang="en-US" sz="1400" b="0" i="0" u="none" strike="noStrike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線組級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績效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80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 smtClean="0">
                          <a:solidFill>
                            <a:srgbClr val="0000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</a:t>
                      </a:r>
                      <a:r>
                        <a:rPr lang="zh-TW" altLang="en-US" sz="1400" b="0" i="0" u="none" strike="noStrike" dirty="0" smtClean="0">
                          <a:solidFill>
                            <a:srgbClr val="0000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</a:t>
                      </a:r>
                      <a:endParaRPr lang="zh-TW" altLang="en-US" sz="1400" b="0" i="0" u="none" strike="noStrike" dirty="0">
                        <a:solidFill>
                          <a:srgbClr val="0000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45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潛能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80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451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 II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類</a:t>
                      </a:r>
                      <a:r>
                        <a:rPr lang="zh-TW" altLang="en-US" sz="1400" b="0" i="0" u="none" strike="noStrike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：</a:t>
                      </a:r>
                      <a:r>
                        <a:rPr lang="zh-CN" altLang="en-US" sz="1400" b="0" i="0" u="none" strike="noStrike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師</a:t>
                      </a:r>
                      <a:r>
                        <a:rPr lang="en-US" altLang="zh-CN" sz="1400" b="0" i="0" u="none" strike="noStrike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r>
                        <a:rPr lang="zh-CN" altLang="en-US" sz="1400" b="0" i="0" u="none" strike="noStrike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及以上</a:t>
                      </a:r>
                      <a:endParaRPr lang="en-US" altLang="zh-CN" sz="1400" b="0" i="0" u="none" strike="noStrike" dirty="0" smtClean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l" fontAlgn="ctr"/>
                      <a:r>
                        <a:rPr lang="en-US" altLang="zh-TW" sz="1400" b="0" i="0" u="none" strike="noStrike" baseline="0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          </a:t>
                      </a:r>
                      <a:r>
                        <a:rPr lang="zh-CN" altLang="en-US" sz="1400" b="0" i="0" u="none" strike="noStrike" baseline="0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副課</a:t>
                      </a:r>
                      <a:r>
                        <a:rPr lang="en-US" altLang="zh-CN" sz="1400" b="0" i="0" u="none" strike="noStrike" baseline="0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</a:t>
                      </a:r>
                      <a:r>
                        <a:rPr lang="zh-CN" altLang="en-US" sz="1400" b="0" i="0" u="none" strike="noStrike" baseline="0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資深專理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績效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80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 smtClean="0">
                          <a:solidFill>
                            <a:srgbClr val="0000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</a:t>
                      </a:r>
                      <a:r>
                        <a:rPr lang="zh-TW" altLang="en-US" sz="1400" b="0" i="0" u="none" strike="noStrike" dirty="0" smtClean="0">
                          <a:solidFill>
                            <a:srgbClr val="0000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</a:t>
                      </a:r>
                      <a:endParaRPr lang="zh-TW" altLang="en-US" sz="1400" b="0" i="0" u="none" strike="noStrike" dirty="0">
                        <a:solidFill>
                          <a:srgbClr val="0000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45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潛能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A1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40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A1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40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A1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451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 III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類</a:t>
                      </a:r>
                      <a:r>
                        <a:rPr lang="zh-TW" altLang="en-US" sz="1400" b="0" i="0" u="none" strike="noStrike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：</a:t>
                      </a:r>
                      <a:r>
                        <a:rPr lang="zh-CN" altLang="en-US" sz="1400" b="0" i="0" u="none" strike="noStrike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副</a:t>
                      </a:r>
                      <a:r>
                        <a:rPr lang="zh-TW" altLang="en-US" sz="1400" b="0" i="0" u="none" strike="noStrike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理</a:t>
                      </a:r>
                      <a:r>
                        <a:rPr lang="zh-CN" altLang="en-US" sz="1400" b="0" i="0" u="none" strike="noStrike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及以上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績效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80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 smtClean="0">
                          <a:solidFill>
                            <a:srgbClr val="0000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</a:t>
                      </a:r>
                      <a:r>
                        <a:rPr lang="zh-TW" altLang="en-US" sz="1400" b="0" i="0" u="none" strike="noStrike" dirty="0" smtClean="0">
                          <a:solidFill>
                            <a:srgbClr val="0000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</a:t>
                      </a:r>
                      <a:endParaRPr lang="zh-TW" altLang="en-US" sz="1400" b="0" i="0" u="none" strike="noStrike" dirty="0">
                        <a:solidFill>
                          <a:srgbClr val="0000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745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潛能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30</a:t>
                      </a:r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CD8BB-5593-45B4-989A-D8D5518AAFB0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3609025" y="5830094"/>
            <a:ext cx="525658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績效得分＝</a:t>
            </a:r>
            <a:r>
              <a:rPr lang="en-US" altLang="zh-TW" sz="1400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KPI</a:t>
            </a:r>
            <a:r>
              <a:rPr lang="zh-CN" altLang="en-US" sz="1400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1400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FIH</a:t>
            </a:r>
            <a:r>
              <a:rPr lang="zh-TW" altLang="en-US" sz="1400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核心價值觀 </a:t>
            </a:r>
            <a:endParaRPr lang="en-US" altLang="zh-TW" sz="1400" dirty="0" smtClean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TW" altLang="en-US" sz="1400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潛能得分＝</a:t>
            </a:r>
            <a:r>
              <a:rPr lang="en-US" altLang="zh-TW" sz="1400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FIH</a:t>
            </a:r>
            <a:r>
              <a:rPr lang="zh-TW" altLang="en-US" sz="1400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核心價值觀 </a:t>
            </a:r>
            <a:r>
              <a:rPr lang="en-US" altLang="zh-TW" sz="1400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TW" altLang="en-US" sz="1400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核心職能 </a:t>
            </a:r>
            <a:r>
              <a:rPr lang="en-US" altLang="zh-TW" sz="1400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TW" altLang="en-US" sz="1400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管理職能</a:t>
            </a:r>
            <a:endParaRPr lang="en-US" altLang="zh-TW" sz="1400" dirty="0" smtClean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6" name="图片 20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867" b="59210"/>
          <a:stretch>
            <a:fillRect/>
          </a:stretch>
        </p:blipFill>
        <p:spPr>
          <a:xfrm>
            <a:off x="0" y="0"/>
            <a:ext cx="12192000" cy="998261"/>
          </a:xfrm>
          <a:custGeom>
            <a:avLst/>
            <a:gdLst>
              <a:gd name="connsiteX0" fmla="*/ 0 w 12192000"/>
              <a:gd name="connsiteY0" fmla="*/ 0 h 998261"/>
              <a:gd name="connsiteX1" fmla="*/ 12192000 w 12192000"/>
              <a:gd name="connsiteY1" fmla="*/ 0 h 998261"/>
              <a:gd name="connsiteX2" fmla="*/ 12192000 w 12192000"/>
              <a:gd name="connsiteY2" fmla="*/ 998261 h 998261"/>
              <a:gd name="connsiteX3" fmla="*/ 0 w 12192000"/>
              <a:gd name="connsiteY3" fmla="*/ 998261 h 998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998261">
                <a:moveTo>
                  <a:pt x="0" y="0"/>
                </a:moveTo>
                <a:lnTo>
                  <a:pt x="12192000" y="0"/>
                </a:lnTo>
                <a:lnTo>
                  <a:pt x="12192000" y="998261"/>
                </a:lnTo>
                <a:lnTo>
                  <a:pt x="0" y="998261"/>
                </a:lnTo>
                <a:close/>
              </a:path>
            </a:pathLst>
          </a:custGeom>
        </p:spPr>
      </p:pic>
      <p:sp>
        <p:nvSpPr>
          <p:cNvPr id="17" name="Freeform 19"/>
          <p:cNvSpPr>
            <a:spLocks/>
          </p:cNvSpPr>
          <p:nvPr/>
        </p:nvSpPr>
        <p:spPr bwMode="auto">
          <a:xfrm>
            <a:off x="1074715" y="110145"/>
            <a:ext cx="693978" cy="777969"/>
          </a:xfrm>
          <a:custGeom>
            <a:avLst/>
            <a:gdLst>
              <a:gd name="T0" fmla="*/ 772 w 772"/>
              <a:gd name="T1" fmla="*/ 596 h 865"/>
              <a:gd name="T2" fmla="*/ 721 w 772"/>
              <a:gd name="T3" fmla="*/ 685 h 865"/>
              <a:gd name="T4" fmla="*/ 437 w 772"/>
              <a:gd name="T5" fmla="*/ 849 h 865"/>
              <a:gd name="T6" fmla="*/ 335 w 772"/>
              <a:gd name="T7" fmla="*/ 849 h 865"/>
              <a:gd name="T8" fmla="*/ 51 w 772"/>
              <a:gd name="T9" fmla="*/ 685 h 865"/>
              <a:gd name="T10" fmla="*/ 0 w 772"/>
              <a:gd name="T11" fmla="*/ 596 h 865"/>
              <a:gd name="T12" fmla="*/ 0 w 772"/>
              <a:gd name="T13" fmla="*/ 268 h 865"/>
              <a:gd name="T14" fmla="*/ 51 w 772"/>
              <a:gd name="T15" fmla="*/ 180 h 865"/>
              <a:gd name="T16" fmla="*/ 335 w 772"/>
              <a:gd name="T17" fmla="*/ 16 h 865"/>
              <a:gd name="T18" fmla="*/ 437 w 772"/>
              <a:gd name="T19" fmla="*/ 16 h 865"/>
              <a:gd name="T20" fmla="*/ 721 w 772"/>
              <a:gd name="T21" fmla="*/ 180 h 865"/>
              <a:gd name="T22" fmla="*/ 772 w 772"/>
              <a:gd name="T23" fmla="*/ 268 h 865"/>
              <a:gd name="T24" fmla="*/ 772 w 772"/>
              <a:gd name="T25" fmla="*/ 596 h 8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72" h="865">
                <a:moveTo>
                  <a:pt x="772" y="596"/>
                </a:moveTo>
                <a:cubicBezTo>
                  <a:pt x="772" y="629"/>
                  <a:pt x="749" y="668"/>
                  <a:pt x="721" y="685"/>
                </a:cubicBezTo>
                <a:cubicBezTo>
                  <a:pt x="437" y="849"/>
                  <a:pt x="437" y="849"/>
                  <a:pt x="437" y="849"/>
                </a:cubicBezTo>
                <a:cubicBezTo>
                  <a:pt x="409" y="865"/>
                  <a:pt x="363" y="865"/>
                  <a:pt x="335" y="849"/>
                </a:cubicBezTo>
                <a:cubicBezTo>
                  <a:pt x="51" y="685"/>
                  <a:pt x="51" y="685"/>
                  <a:pt x="51" y="685"/>
                </a:cubicBezTo>
                <a:cubicBezTo>
                  <a:pt x="23" y="668"/>
                  <a:pt x="0" y="629"/>
                  <a:pt x="0" y="596"/>
                </a:cubicBezTo>
                <a:cubicBezTo>
                  <a:pt x="0" y="268"/>
                  <a:pt x="0" y="268"/>
                  <a:pt x="0" y="268"/>
                </a:cubicBezTo>
                <a:cubicBezTo>
                  <a:pt x="0" y="236"/>
                  <a:pt x="23" y="196"/>
                  <a:pt x="51" y="180"/>
                </a:cubicBezTo>
                <a:cubicBezTo>
                  <a:pt x="335" y="16"/>
                  <a:pt x="335" y="16"/>
                  <a:pt x="335" y="16"/>
                </a:cubicBezTo>
                <a:cubicBezTo>
                  <a:pt x="363" y="0"/>
                  <a:pt x="409" y="0"/>
                  <a:pt x="437" y="16"/>
                </a:cubicBezTo>
                <a:cubicBezTo>
                  <a:pt x="721" y="180"/>
                  <a:pt x="721" y="180"/>
                  <a:pt x="721" y="180"/>
                </a:cubicBezTo>
                <a:cubicBezTo>
                  <a:pt x="749" y="196"/>
                  <a:pt x="772" y="236"/>
                  <a:pt x="772" y="268"/>
                </a:cubicBezTo>
                <a:lnTo>
                  <a:pt x="772" y="596"/>
                </a:lnTo>
                <a:close/>
              </a:path>
            </a:pathLst>
          </a:custGeom>
          <a:solidFill>
            <a:srgbClr val="F87A0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>
            <a:spLocks noChangeArrowheads="1"/>
          </p:cNvSpPr>
          <p:nvPr/>
        </p:nvSpPr>
        <p:spPr bwMode="auto">
          <a:xfrm>
            <a:off x="1127163" y="206741"/>
            <a:ext cx="62228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Impact" panose="020B0806030902050204" pitchFamily="34" charset="0"/>
                <a:ea typeface="FZYaoTi" panose="02010601030101010101" pitchFamily="2" charset="-122"/>
                <a:sym typeface="Impact" panose="020B0806030902050204" pitchFamily="34" charset="0"/>
              </a:rPr>
              <a:t>02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  <a:ea typeface="FZYaoTi" panose="02010601030101010101" pitchFamily="2" charset="-122"/>
              <a:sym typeface="Impact" panose="020B0806030902050204" pitchFamily="34" charset="0"/>
            </a:endParaRPr>
          </a:p>
        </p:txBody>
      </p:sp>
      <p:sp>
        <p:nvSpPr>
          <p:cNvPr id="19" name="文本框 90"/>
          <p:cNvSpPr txBox="1"/>
          <p:nvPr/>
        </p:nvSpPr>
        <p:spPr>
          <a:xfrm>
            <a:off x="2052468" y="141030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6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 smtClean="0"/>
              <a:t>績效與潛能評核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8912539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六边形 86"/>
          <p:cNvSpPr/>
          <p:nvPr/>
        </p:nvSpPr>
        <p:spPr>
          <a:xfrm>
            <a:off x="1057017" y="-1043354"/>
            <a:ext cx="962793" cy="829994"/>
          </a:xfrm>
          <a:prstGeom prst="hexagon">
            <a:avLst/>
          </a:prstGeom>
          <a:solidFill>
            <a:srgbClr val="0E64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六边形 87"/>
          <p:cNvSpPr/>
          <p:nvPr/>
        </p:nvSpPr>
        <p:spPr>
          <a:xfrm>
            <a:off x="2151952" y="-1043354"/>
            <a:ext cx="962793" cy="829994"/>
          </a:xfrm>
          <a:prstGeom prst="hexagon">
            <a:avLst/>
          </a:prstGeom>
          <a:solidFill>
            <a:srgbClr val="2DB2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六边形 88"/>
          <p:cNvSpPr/>
          <p:nvPr/>
        </p:nvSpPr>
        <p:spPr>
          <a:xfrm>
            <a:off x="3246887" y="-1043354"/>
            <a:ext cx="962793" cy="829994"/>
          </a:xfrm>
          <a:prstGeom prst="hexagon">
            <a:avLst/>
          </a:prstGeom>
          <a:solidFill>
            <a:srgbClr val="F87A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六边形 89"/>
          <p:cNvSpPr/>
          <p:nvPr/>
        </p:nvSpPr>
        <p:spPr>
          <a:xfrm>
            <a:off x="4341822" y="-1043354"/>
            <a:ext cx="962793" cy="829994"/>
          </a:xfrm>
          <a:prstGeom prst="hexagon">
            <a:avLst/>
          </a:prstGeom>
          <a:solidFill>
            <a:srgbClr val="74A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90"/>
          <p:cNvSpPr txBox="1"/>
          <p:nvPr/>
        </p:nvSpPr>
        <p:spPr>
          <a:xfrm>
            <a:off x="1928370" y="175962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6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 smtClean="0"/>
              <a:t>作業說明</a:t>
            </a:r>
            <a:endParaRPr lang="zh-CN" altLang="en-US" dirty="0"/>
          </a:p>
        </p:txBody>
      </p:sp>
      <p:grpSp>
        <p:nvGrpSpPr>
          <p:cNvPr id="11" name="组合 2"/>
          <p:cNvGrpSpPr/>
          <p:nvPr/>
        </p:nvGrpSpPr>
        <p:grpSpPr>
          <a:xfrm>
            <a:off x="1460610" y="1255300"/>
            <a:ext cx="7200800" cy="4895741"/>
            <a:chOff x="792932" y="914464"/>
            <a:chExt cx="10027468" cy="6176354"/>
          </a:xfrm>
        </p:grpSpPr>
        <p:grpSp>
          <p:nvGrpSpPr>
            <p:cNvPr id="12" name="组合 3">
              <a:extLst>
                <a:ext uri="{FF2B5EF4-FFF2-40B4-BE49-F238E27FC236}">
                  <a16:creationId xmlns:a16="http://schemas.microsoft.com/office/drawing/2014/main" id="{071B3719-2CA3-48F9-8667-F5EC35CCC4DA}"/>
                </a:ext>
              </a:extLst>
            </p:cNvPr>
            <p:cNvGrpSpPr/>
            <p:nvPr/>
          </p:nvGrpSpPr>
          <p:grpSpPr>
            <a:xfrm>
              <a:off x="1650243" y="1234075"/>
              <a:ext cx="8624778" cy="4849101"/>
              <a:chOff x="1216904" y="776986"/>
              <a:chExt cx="5552196" cy="4096690"/>
            </a:xfrm>
          </p:grpSpPr>
          <p:grpSp>
            <p:nvGrpSpPr>
              <p:cNvPr id="18" name="组合 8">
                <a:extLst>
                  <a:ext uri="{FF2B5EF4-FFF2-40B4-BE49-F238E27FC236}">
                    <a16:creationId xmlns:a16="http://schemas.microsoft.com/office/drawing/2014/main" id="{B8410839-146A-4E0E-A5C5-424A2F306BA9}"/>
                  </a:ext>
                </a:extLst>
              </p:cNvPr>
              <p:cNvGrpSpPr/>
              <p:nvPr/>
            </p:nvGrpSpPr>
            <p:grpSpPr>
              <a:xfrm>
                <a:off x="1243677" y="776986"/>
                <a:ext cx="1785272" cy="1289939"/>
                <a:chOff x="1243677" y="776986"/>
                <a:chExt cx="1785272" cy="1289939"/>
              </a:xfrm>
            </p:grpSpPr>
            <p:sp>
              <p:nvSpPr>
                <p:cNvPr id="63" name="矩形 62">
                  <a:extLst>
                    <a:ext uri="{FF2B5EF4-FFF2-40B4-BE49-F238E27FC236}">
                      <a16:creationId xmlns:a16="http://schemas.microsoft.com/office/drawing/2014/main" id="{F31246DC-C3D5-4A51-A05A-6B1EFEE38E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79524" y="784225"/>
                  <a:ext cx="1749425" cy="12827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gradFill>
                      <a:gsLst>
                        <a:gs pos="0">
                          <a:srgbClr val="4F81BD">
                            <a:lumMod val="5000"/>
                            <a:lumOff val="95000"/>
                          </a:srgbClr>
                        </a:gs>
                        <a:gs pos="100000">
                          <a:srgbClr val="4F81BD">
                            <a:lumMod val="30000"/>
                            <a:lumOff val="70000"/>
                          </a:srgbClr>
                        </a:gs>
                      </a:gsLst>
                      <a:lin ang="5400000" scaled="1"/>
                    </a:gra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直角三角形 63">
                  <a:extLst>
                    <a:ext uri="{FF2B5EF4-FFF2-40B4-BE49-F238E27FC236}">
                      <a16:creationId xmlns:a16="http://schemas.microsoft.com/office/drawing/2014/main" id="{CE6A9947-F4EE-4D27-8A86-CB3C9EDCCF72}"/>
                    </a:ext>
                  </a:extLst>
                </p:cNvPr>
                <p:cNvSpPr/>
                <p:nvPr/>
              </p:nvSpPr>
              <p:spPr>
                <a:xfrm>
                  <a:off x="1279524" y="1562925"/>
                  <a:ext cx="504000" cy="504000"/>
                </a:xfrm>
                <a:prstGeom prst="rtTriangle">
                  <a:avLst/>
                </a:prstGeom>
                <a:solidFill>
                  <a:srgbClr val="7030A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b="1" dirty="0">
                      <a:solidFill>
                        <a:prstClr val="white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6</a:t>
                  </a:r>
                  <a:endParaRPr lang="zh-CN" altLang="en-US" sz="2000" b="1" dirty="0">
                    <a:solidFill>
                      <a:prstClr val="white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</p:txBody>
            </p:sp>
            <p:sp>
              <p:nvSpPr>
                <p:cNvPr id="65" name="文本框 51">
                  <a:extLst>
                    <a:ext uri="{FF2B5EF4-FFF2-40B4-BE49-F238E27FC236}">
                      <a16:creationId xmlns:a16="http://schemas.microsoft.com/office/drawing/2014/main" id="{00173A28-EEE8-4841-9FCF-C4199E90316E}"/>
                    </a:ext>
                  </a:extLst>
                </p:cNvPr>
                <p:cNvSpPr txBox="1"/>
                <p:nvPr/>
              </p:nvSpPr>
              <p:spPr>
                <a:xfrm>
                  <a:off x="1243677" y="776986"/>
                  <a:ext cx="1314382" cy="98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分析</a:t>
                  </a:r>
                  <a:r>
                    <a:rPr lang="zh-CN" altLang="en-US" sz="900" dirty="0" smtClean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原因</a:t>
                  </a:r>
                  <a:r>
                    <a:rPr lang="en-US" altLang="zh-CN" sz="900" dirty="0" smtClean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,</a:t>
                  </a:r>
                  <a:r>
                    <a:rPr lang="zh-CN" altLang="en-US" sz="900" dirty="0" smtClean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明確</a:t>
                  </a: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改進要求</a:t>
                  </a:r>
                  <a:endParaRPr lang="en-US" altLang="zh-CN" sz="9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  <a:p>
                  <a:pPr>
                    <a:lnSpc>
                      <a:spcPct val="120000"/>
                    </a:lnSpc>
                  </a:pP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工作方法層面協助輔導</a:t>
                  </a:r>
                  <a:endParaRPr lang="en-US" altLang="zh-CN" sz="9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  <a:p>
                  <a:pPr>
                    <a:lnSpc>
                      <a:spcPct val="120000"/>
                    </a:lnSpc>
                  </a:pP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評估是否其他工作或環境更加合適</a:t>
                  </a:r>
                  <a:endParaRPr lang="en-US" altLang="zh-CN" sz="9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  <a:p>
                  <a:pPr>
                    <a:lnSpc>
                      <a:spcPct val="120000"/>
                    </a:lnSpc>
                  </a:pPr>
                  <a:endParaRPr lang="zh-CN" altLang="en-US" sz="9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文本框 52">
                  <a:extLst>
                    <a:ext uri="{FF2B5EF4-FFF2-40B4-BE49-F238E27FC236}">
                      <a16:creationId xmlns:a16="http://schemas.microsoft.com/office/drawing/2014/main" id="{4ABA385B-61D0-4515-8B17-5D13CF7EF96D}"/>
                    </a:ext>
                  </a:extLst>
                </p:cNvPr>
                <p:cNvSpPr txBox="1"/>
                <p:nvPr/>
              </p:nvSpPr>
              <p:spPr>
                <a:xfrm>
                  <a:off x="1783523" y="1506425"/>
                  <a:ext cx="1245426" cy="5389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200" b="1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待觀察者</a:t>
                  </a:r>
                  <a:endParaRPr lang="en-US" altLang="zh-CN" sz="1200" b="1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  <a:p>
                  <a:pPr algn="ctr"/>
                  <a:r>
                    <a:rPr lang="en-US" altLang="zh-CN" sz="12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Derailing Leader</a:t>
                  </a:r>
                  <a:endParaRPr lang="zh-CN" altLang="en-US" sz="12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9" name="组合 9">
                <a:extLst>
                  <a:ext uri="{FF2B5EF4-FFF2-40B4-BE49-F238E27FC236}">
                    <a16:creationId xmlns:a16="http://schemas.microsoft.com/office/drawing/2014/main" id="{5981F389-14B0-4076-AEA1-331F0D59505C}"/>
                  </a:ext>
                </a:extLst>
              </p:cNvPr>
              <p:cNvGrpSpPr/>
              <p:nvPr/>
            </p:nvGrpSpPr>
            <p:grpSpPr>
              <a:xfrm>
                <a:off x="3111961" y="784225"/>
                <a:ext cx="1787063" cy="1282700"/>
                <a:chOff x="1241886" y="784225"/>
                <a:chExt cx="1787063" cy="1282700"/>
              </a:xfrm>
            </p:grpSpPr>
            <p:sp>
              <p:nvSpPr>
                <p:cNvPr id="59" name="矩形 58">
                  <a:extLst>
                    <a:ext uri="{FF2B5EF4-FFF2-40B4-BE49-F238E27FC236}">
                      <a16:creationId xmlns:a16="http://schemas.microsoft.com/office/drawing/2014/main" id="{CF201DDE-5FB5-4133-8284-54786B12D24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79524" y="784225"/>
                  <a:ext cx="1749425" cy="128270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gradFill>
                      <a:gsLst>
                        <a:gs pos="0">
                          <a:srgbClr val="4F81BD">
                            <a:lumMod val="5000"/>
                            <a:lumOff val="95000"/>
                          </a:srgbClr>
                        </a:gs>
                        <a:gs pos="100000">
                          <a:srgbClr val="4F81BD">
                            <a:lumMod val="30000"/>
                            <a:lumOff val="70000"/>
                          </a:srgbClr>
                        </a:gs>
                      </a:gsLst>
                      <a:lin ang="5400000" scaled="1"/>
                    </a:gra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</p:txBody>
            </p:sp>
            <p:sp>
              <p:nvSpPr>
                <p:cNvPr id="60" name="直角三角形 59">
                  <a:extLst>
                    <a:ext uri="{FF2B5EF4-FFF2-40B4-BE49-F238E27FC236}">
                      <a16:creationId xmlns:a16="http://schemas.microsoft.com/office/drawing/2014/main" id="{A55865ED-3195-4A89-8458-22CA22209F48}"/>
                    </a:ext>
                  </a:extLst>
                </p:cNvPr>
                <p:cNvSpPr/>
                <p:nvPr/>
              </p:nvSpPr>
              <p:spPr>
                <a:xfrm>
                  <a:off x="1279524" y="1562925"/>
                  <a:ext cx="504000" cy="504000"/>
                </a:xfrm>
                <a:prstGeom prst="rtTriangl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b="1" dirty="0">
                      <a:solidFill>
                        <a:prstClr val="white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8</a:t>
                  </a:r>
                  <a:endParaRPr lang="zh-CN" altLang="en-US" sz="2000" b="1" dirty="0">
                    <a:solidFill>
                      <a:prstClr val="white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文本框 47">
                  <a:extLst>
                    <a:ext uri="{FF2B5EF4-FFF2-40B4-BE49-F238E27FC236}">
                      <a16:creationId xmlns:a16="http://schemas.microsoft.com/office/drawing/2014/main" id="{44798D62-9D97-4E53-BEF8-D194A92A1697}"/>
                    </a:ext>
                  </a:extLst>
                </p:cNvPr>
                <p:cNvSpPr txBox="1"/>
                <p:nvPr/>
              </p:nvSpPr>
              <p:spPr>
                <a:xfrm>
                  <a:off x="1241886" y="821158"/>
                  <a:ext cx="1026257" cy="6298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設置業績挑戰目標</a:t>
                  </a:r>
                  <a:endParaRPr lang="en-US" altLang="zh-CN" sz="9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  <a:p>
                  <a:pPr>
                    <a:lnSpc>
                      <a:spcPct val="120000"/>
                    </a:lnSpc>
                  </a:pP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挖掘正確的激勵點</a:t>
                  </a:r>
                  <a:endParaRPr lang="en-US" altLang="zh-CN" sz="9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  <a:p>
                  <a:pPr>
                    <a:lnSpc>
                      <a:spcPct val="120000"/>
                    </a:lnSpc>
                  </a:pP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考慮晉升加薪</a:t>
                  </a:r>
                </a:p>
              </p:txBody>
            </p:sp>
            <p:sp>
              <p:nvSpPr>
                <p:cNvPr id="62" name="文本框 48">
                  <a:extLst>
                    <a:ext uri="{FF2B5EF4-FFF2-40B4-BE49-F238E27FC236}">
                      <a16:creationId xmlns:a16="http://schemas.microsoft.com/office/drawing/2014/main" id="{F561769C-E0B3-4335-B7F8-3AF97E4EB4F3}"/>
                    </a:ext>
                  </a:extLst>
                </p:cNvPr>
                <p:cNvSpPr txBox="1"/>
                <p:nvPr/>
              </p:nvSpPr>
              <p:spPr>
                <a:xfrm>
                  <a:off x="1783523" y="1506424"/>
                  <a:ext cx="1245426" cy="5389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200" b="1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明日之星</a:t>
                  </a:r>
                  <a:endParaRPr lang="en-US" altLang="zh-CN" sz="1200" b="1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  <a:p>
                  <a:pPr algn="ctr"/>
                  <a:r>
                    <a:rPr lang="en-US" altLang="zh-CN" sz="12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Rising Leader</a:t>
                  </a:r>
                  <a:endParaRPr lang="zh-CN" altLang="en-US" sz="12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2" name="组合 10">
                <a:extLst>
                  <a:ext uri="{FF2B5EF4-FFF2-40B4-BE49-F238E27FC236}">
                    <a16:creationId xmlns:a16="http://schemas.microsoft.com/office/drawing/2014/main" id="{865CFB98-220E-49FA-9142-0C5FF40FF18D}"/>
                  </a:ext>
                </a:extLst>
              </p:cNvPr>
              <p:cNvGrpSpPr/>
              <p:nvPr/>
            </p:nvGrpSpPr>
            <p:grpSpPr>
              <a:xfrm>
                <a:off x="4990787" y="778362"/>
                <a:ext cx="1778312" cy="1282700"/>
                <a:chOff x="1250637" y="784225"/>
                <a:chExt cx="1778312" cy="1282700"/>
              </a:xfrm>
            </p:grpSpPr>
            <p:sp>
              <p:nvSpPr>
                <p:cNvPr id="55" name="矩形 54">
                  <a:extLst>
                    <a:ext uri="{FF2B5EF4-FFF2-40B4-BE49-F238E27FC236}">
                      <a16:creationId xmlns:a16="http://schemas.microsoft.com/office/drawing/2014/main" id="{F70FDE26-45A0-416D-A520-E79CBF1FCDF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79524" y="784225"/>
                  <a:ext cx="1749425" cy="128270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gradFill>
                      <a:gsLst>
                        <a:gs pos="0">
                          <a:srgbClr val="4F81BD">
                            <a:lumMod val="5000"/>
                            <a:lumOff val="95000"/>
                          </a:srgbClr>
                        </a:gs>
                        <a:gs pos="100000">
                          <a:srgbClr val="4F81BD">
                            <a:lumMod val="30000"/>
                            <a:lumOff val="70000"/>
                          </a:srgbClr>
                        </a:gs>
                      </a:gsLst>
                      <a:lin ang="5400000" scaled="1"/>
                    </a:gra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直角三角形 55">
                  <a:extLst>
                    <a:ext uri="{FF2B5EF4-FFF2-40B4-BE49-F238E27FC236}">
                      <a16:creationId xmlns:a16="http://schemas.microsoft.com/office/drawing/2014/main" id="{535E71F0-95E1-4029-816E-CAAD3C85A052}"/>
                    </a:ext>
                  </a:extLst>
                </p:cNvPr>
                <p:cNvSpPr/>
                <p:nvPr/>
              </p:nvSpPr>
              <p:spPr>
                <a:xfrm>
                  <a:off x="1279524" y="1562925"/>
                  <a:ext cx="504000" cy="504000"/>
                </a:xfrm>
                <a:prstGeom prst="rtTriangl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b="1" dirty="0">
                      <a:solidFill>
                        <a:prstClr val="white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9</a:t>
                  </a:r>
                  <a:endParaRPr lang="zh-CN" altLang="en-US" sz="2000" b="1" dirty="0">
                    <a:solidFill>
                      <a:prstClr val="white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</p:txBody>
            </p:sp>
            <p:sp>
              <p:nvSpPr>
                <p:cNvPr id="57" name="文本框 43">
                  <a:extLst>
                    <a:ext uri="{FF2B5EF4-FFF2-40B4-BE49-F238E27FC236}">
                      <a16:creationId xmlns:a16="http://schemas.microsoft.com/office/drawing/2014/main" id="{E4ACAE10-57DA-44AB-A863-AB1A7C9B1418}"/>
                    </a:ext>
                  </a:extLst>
                </p:cNvPr>
                <p:cNvSpPr txBox="1"/>
                <p:nvPr/>
              </p:nvSpPr>
              <p:spPr>
                <a:xfrm>
                  <a:off x="1250637" y="799921"/>
                  <a:ext cx="1166101" cy="8069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承擔更大的責任</a:t>
                  </a:r>
                  <a:endParaRPr lang="en-US" altLang="zh-CN" sz="9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  <a:p>
                  <a:pPr>
                    <a:lnSpc>
                      <a:spcPct val="120000"/>
                    </a:lnSpc>
                  </a:pP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發展成為主管代理人</a:t>
                  </a:r>
                  <a:endParaRPr lang="en-US" altLang="zh-CN" sz="9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  <a:p>
                  <a:pPr>
                    <a:lnSpc>
                      <a:spcPct val="120000"/>
                    </a:lnSpc>
                  </a:pP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晉升</a:t>
                  </a:r>
                  <a:r>
                    <a:rPr lang="zh-CN" altLang="en-US" sz="900" dirty="0" smtClean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加薪</a:t>
                  </a:r>
                  <a:r>
                    <a:rPr lang="en-US" altLang="zh-CN" sz="900" dirty="0" smtClean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,</a:t>
                  </a:r>
                  <a:r>
                    <a:rPr lang="zh-CN" altLang="en-US" sz="900" dirty="0" smtClean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激勵傾斜</a:t>
                  </a:r>
                  <a:r>
                    <a:rPr lang="en-US" altLang="zh-CN" sz="900" dirty="0" smtClean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,</a:t>
                  </a:r>
                  <a:r>
                    <a:rPr lang="zh-CN" altLang="en-US" sz="900" dirty="0" smtClean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重點</a:t>
                  </a: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保留</a:t>
                  </a:r>
                </a:p>
              </p:txBody>
            </p:sp>
            <p:sp>
              <p:nvSpPr>
                <p:cNvPr id="58" name="文本框 44">
                  <a:extLst>
                    <a:ext uri="{FF2B5EF4-FFF2-40B4-BE49-F238E27FC236}">
                      <a16:creationId xmlns:a16="http://schemas.microsoft.com/office/drawing/2014/main" id="{85087FDC-C18D-44F6-911D-52BA19F597A3}"/>
                    </a:ext>
                  </a:extLst>
                </p:cNvPr>
                <p:cNvSpPr txBox="1"/>
                <p:nvPr/>
              </p:nvSpPr>
              <p:spPr>
                <a:xfrm>
                  <a:off x="1783523" y="1506424"/>
                  <a:ext cx="1245426" cy="5389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200" b="1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超級明星</a:t>
                  </a:r>
                  <a:endParaRPr lang="en-US" altLang="zh-CN" sz="1200" b="1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  <a:p>
                  <a:pPr algn="ctr"/>
                  <a:r>
                    <a:rPr lang="en-US" altLang="zh-CN" sz="12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Derailing Leader</a:t>
                  </a:r>
                  <a:endParaRPr lang="zh-CN" altLang="en-US" sz="12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3" name="组合 11">
                <a:extLst>
                  <a:ext uri="{FF2B5EF4-FFF2-40B4-BE49-F238E27FC236}">
                    <a16:creationId xmlns:a16="http://schemas.microsoft.com/office/drawing/2014/main" id="{7CE366BA-E1DD-4BB1-9CD2-65E62FB2715F}"/>
                  </a:ext>
                </a:extLst>
              </p:cNvPr>
              <p:cNvGrpSpPr/>
              <p:nvPr/>
            </p:nvGrpSpPr>
            <p:grpSpPr>
              <a:xfrm>
                <a:off x="1216904" y="2157400"/>
                <a:ext cx="1812045" cy="1313689"/>
                <a:chOff x="1216904" y="753236"/>
                <a:chExt cx="1812045" cy="1313689"/>
              </a:xfrm>
            </p:grpSpPr>
            <p:sp>
              <p:nvSpPr>
                <p:cNvPr id="51" name="矩形 50">
                  <a:extLst>
                    <a:ext uri="{FF2B5EF4-FFF2-40B4-BE49-F238E27FC236}">
                      <a16:creationId xmlns:a16="http://schemas.microsoft.com/office/drawing/2014/main" id="{3F838F47-5D0C-4029-805C-CDDEB948E2E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79524" y="784225"/>
                  <a:ext cx="1749425" cy="128270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gradFill>
                      <a:gsLst>
                        <a:gs pos="0">
                          <a:srgbClr val="4F81BD">
                            <a:lumMod val="5000"/>
                            <a:lumOff val="95000"/>
                          </a:srgbClr>
                        </a:gs>
                        <a:gs pos="100000">
                          <a:srgbClr val="4F81BD">
                            <a:lumMod val="30000"/>
                            <a:lumOff val="70000"/>
                          </a:srgbClr>
                        </a:gs>
                      </a:gsLst>
                      <a:lin ang="5400000" scaled="1"/>
                    </a:gra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</p:txBody>
            </p:sp>
            <p:sp>
              <p:nvSpPr>
                <p:cNvPr id="52" name="直角三角形 51">
                  <a:extLst>
                    <a:ext uri="{FF2B5EF4-FFF2-40B4-BE49-F238E27FC236}">
                      <a16:creationId xmlns:a16="http://schemas.microsoft.com/office/drawing/2014/main" id="{16D694A2-4594-4F8E-8203-A74516B93911}"/>
                    </a:ext>
                  </a:extLst>
                </p:cNvPr>
                <p:cNvSpPr/>
                <p:nvPr/>
              </p:nvSpPr>
              <p:spPr>
                <a:xfrm>
                  <a:off x="1279524" y="1562925"/>
                  <a:ext cx="504000" cy="504000"/>
                </a:xfrm>
                <a:prstGeom prst="rtTriangle">
                  <a:avLst/>
                </a:prstGeom>
                <a:solidFill>
                  <a:srgbClr val="7030A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b="1" dirty="0">
                      <a:solidFill>
                        <a:prstClr val="white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3</a:t>
                  </a:r>
                  <a:endParaRPr lang="zh-CN" altLang="en-US" sz="2000" b="1" dirty="0">
                    <a:solidFill>
                      <a:prstClr val="white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</p:txBody>
            </p:sp>
            <p:sp>
              <p:nvSpPr>
                <p:cNvPr id="53" name="文本框 39">
                  <a:extLst>
                    <a:ext uri="{FF2B5EF4-FFF2-40B4-BE49-F238E27FC236}">
                      <a16:creationId xmlns:a16="http://schemas.microsoft.com/office/drawing/2014/main" id="{1465D56D-6D04-4FEF-87FE-F7820F657AFA}"/>
                    </a:ext>
                  </a:extLst>
                </p:cNvPr>
                <p:cNvSpPr txBox="1"/>
                <p:nvPr/>
              </p:nvSpPr>
              <p:spPr>
                <a:xfrm>
                  <a:off x="1216904" y="753236"/>
                  <a:ext cx="1228571" cy="98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分析</a:t>
                  </a:r>
                  <a:r>
                    <a:rPr lang="zh-CN" altLang="en-US" sz="900" dirty="0" smtClean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原因</a:t>
                  </a:r>
                  <a:r>
                    <a:rPr lang="en-US" altLang="zh-CN" sz="900" dirty="0" smtClean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,</a:t>
                  </a:r>
                  <a:r>
                    <a:rPr lang="zh-CN" altLang="en-US" sz="900" dirty="0" smtClean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給予</a:t>
                  </a: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鼓勵</a:t>
                  </a:r>
                  <a:endParaRPr lang="en-US" altLang="zh-CN" sz="9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  <a:p>
                  <a:pPr>
                    <a:lnSpc>
                      <a:spcPct val="120000"/>
                    </a:lnSpc>
                  </a:pP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績效</a:t>
                  </a:r>
                  <a:r>
                    <a:rPr lang="zh-CN" altLang="en-US" sz="900" dirty="0" smtClean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輔導</a:t>
                  </a:r>
                  <a:r>
                    <a:rPr lang="en-US" altLang="zh-CN" sz="900" dirty="0" smtClean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,</a:t>
                  </a:r>
                  <a:r>
                    <a:rPr lang="zh-CN" altLang="en-US" sz="900" dirty="0" smtClean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明確</a:t>
                  </a: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改進要求</a:t>
                  </a:r>
                  <a:endParaRPr lang="en-US" altLang="zh-CN" sz="9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  <a:p>
                  <a:pPr>
                    <a:lnSpc>
                      <a:spcPct val="120000"/>
                    </a:lnSpc>
                  </a:pP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無迅速改進</a:t>
                  </a:r>
                  <a:r>
                    <a:rPr lang="zh-CN" altLang="en-US" sz="900" dirty="0" smtClean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者</a:t>
                  </a:r>
                  <a:r>
                    <a:rPr lang="en-US" altLang="zh-CN" sz="900" dirty="0" smtClean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,</a:t>
                  </a:r>
                  <a:r>
                    <a:rPr lang="zh-CN" altLang="en-US" sz="900" dirty="0" smtClean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應</a:t>
                  </a: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剝離出組織或降級</a:t>
                  </a:r>
                  <a:endParaRPr lang="en-US" altLang="zh-CN" sz="9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  <a:p>
                  <a:pPr>
                    <a:lnSpc>
                      <a:spcPct val="120000"/>
                    </a:lnSpc>
                  </a:pPr>
                  <a:endParaRPr lang="zh-CN" altLang="en-US" sz="9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</p:txBody>
            </p:sp>
            <p:sp>
              <p:nvSpPr>
                <p:cNvPr id="54" name="文本框 40">
                  <a:extLst>
                    <a:ext uri="{FF2B5EF4-FFF2-40B4-BE49-F238E27FC236}">
                      <a16:creationId xmlns:a16="http://schemas.microsoft.com/office/drawing/2014/main" id="{E6C6DE2E-13B5-4A48-A2E8-30DFB7BE4C71}"/>
                    </a:ext>
                  </a:extLst>
                </p:cNvPr>
                <p:cNvSpPr txBox="1"/>
                <p:nvPr/>
              </p:nvSpPr>
              <p:spPr>
                <a:xfrm>
                  <a:off x="1783523" y="1506425"/>
                  <a:ext cx="1245426" cy="5389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200" b="1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績效不佳</a:t>
                  </a:r>
                  <a:endParaRPr lang="en-US" altLang="zh-CN" sz="1200" b="1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  <a:p>
                  <a:pPr algn="ctr"/>
                  <a:r>
                    <a:rPr lang="en-US" altLang="zh-CN" sz="12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On the Learning</a:t>
                  </a:r>
                  <a:endParaRPr lang="zh-CN" altLang="en-US" sz="12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6" name="组合 12">
                <a:extLst>
                  <a:ext uri="{FF2B5EF4-FFF2-40B4-BE49-F238E27FC236}">
                    <a16:creationId xmlns:a16="http://schemas.microsoft.com/office/drawing/2014/main" id="{5F8A0397-6964-41BB-B55F-B12A4191670F}"/>
                  </a:ext>
                </a:extLst>
              </p:cNvPr>
              <p:cNvGrpSpPr/>
              <p:nvPr/>
            </p:nvGrpSpPr>
            <p:grpSpPr>
              <a:xfrm>
                <a:off x="3129248" y="2188389"/>
                <a:ext cx="1827949" cy="1282700"/>
                <a:chOff x="1259173" y="784225"/>
                <a:chExt cx="1827949" cy="1282700"/>
              </a:xfrm>
            </p:grpSpPr>
            <p:sp>
              <p:nvSpPr>
                <p:cNvPr id="47" name="矩形 46">
                  <a:extLst>
                    <a:ext uri="{FF2B5EF4-FFF2-40B4-BE49-F238E27FC236}">
                      <a16:creationId xmlns:a16="http://schemas.microsoft.com/office/drawing/2014/main" id="{8024E824-2DEC-4951-AB19-AF09B28B3B2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79524" y="784225"/>
                  <a:ext cx="1749425" cy="1282700"/>
                </a:xfrm>
                <a:prstGeom prst="rect">
                  <a:avLst/>
                </a:prstGeom>
                <a:solidFill>
                  <a:srgbClr val="F2DC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gradFill>
                      <a:gsLst>
                        <a:gs pos="0">
                          <a:srgbClr val="4F81BD">
                            <a:lumMod val="5000"/>
                            <a:lumOff val="95000"/>
                          </a:srgbClr>
                        </a:gs>
                        <a:gs pos="100000">
                          <a:srgbClr val="4F81BD">
                            <a:lumMod val="30000"/>
                            <a:lumOff val="70000"/>
                          </a:srgbClr>
                        </a:gs>
                      </a:gsLst>
                      <a:lin ang="5400000" scaled="1"/>
                    </a:gra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</p:txBody>
            </p:sp>
            <p:sp>
              <p:nvSpPr>
                <p:cNvPr id="48" name="直角三角形 47">
                  <a:extLst>
                    <a:ext uri="{FF2B5EF4-FFF2-40B4-BE49-F238E27FC236}">
                      <a16:creationId xmlns:a16="http://schemas.microsoft.com/office/drawing/2014/main" id="{A8CC2E55-0819-4460-A5F7-9998B1B8EC14}"/>
                    </a:ext>
                  </a:extLst>
                </p:cNvPr>
                <p:cNvSpPr/>
                <p:nvPr/>
              </p:nvSpPr>
              <p:spPr>
                <a:xfrm>
                  <a:off x="1279524" y="1562925"/>
                  <a:ext cx="504000" cy="504000"/>
                </a:xfrm>
                <a:prstGeom prst="rtTriangle">
                  <a:avLst/>
                </a:prstGeom>
                <a:solidFill>
                  <a:srgbClr val="C0504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b="1" dirty="0">
                      <a:solidFill>
                        <a:prstClr val="white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5</a:t>
                  </a:r>
                  <a:endParaRPr lang="zh-CN" altLang="en-US" sz="2000" b="1" dirty="0">
                    <a:solidFill>
                      <a:prstClr val="white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</p:txBody>
            </p:sp>
            <p:sp>
              <p:nvSpPr>
                <p:cNvPr id="49" name="文本框 35">
                  <a:extLst>
                    <a:ext uri="{FF2B5EF4-FFF2-40B4-BE49-F238E27FC236}">
                      <a16:creationId xmlns:a16="http://schemas.microsoft.com/office/drawing/2014/main" id="{A5BAC2BA-90FE-44D1-9E7D-70E4B5CF0643}"/>
                    </a:ext>
                  </a:extLst>
                </p:cNvPr>
                <p:cNvSpPr txBox="1"/>
                <p:nvPr/>
              </p:nvSpPr>
              <p:spPr>
                <a:xfrm>
                  <a:off x="1259173" y="813954"/>
                  <a:ext cx="1645369" cy="6882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給予挑戰性的任務</a:t>
                  </a:r>
                  <a:endParaRPr lang="en-US" altLang="zh-CN" sz="9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  <a:p>
                  <a:pPr>
                    <a:lnSpc>
                      <a:spcPct val="120000"/>
                    </a:lnSpc>
                  </a:pP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給予關注與輔導</a:t>
                  </a:r>
                  <a:endParaRPr lang="en-US" altLang="zh-CN" sz="9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  <a:p>
                  <a:pPr>
                    <a:lnSpc>
                      <a:spcPct val="120000"/>
                    </a:lnSpc>
                  </a:pP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培養為業務骨幹</a:t>
                  </a:r>
                </a:p>
              </p:txBody>
            </p:sp>
            <p:sp>
              <p:nvSpPr>
                <p:cNvPr id="50" name="文本框 36">
                  <a:extLst>
                    <a:ext uri="{FF2B5EF4-FFF2-40B4-BE49-F238E27FC236}">
                      <a16:creationId xmlns:a16="http://schemas.microsoft.com/office/drawing/2014/main" id="{35B72430-274A-4EDD-B570-B89C35E71253}"/>
                    </a:ext>
                  </a:extLst>
                </p:cNvPr>
                <p:cNvSpPr txBox="1"/>
                <p:nvPr/>
              </p:nvSpPr>
              <p:spPr>
                <a:xfrm>
                  <a:off x="1648172" y="1509870"/>
                  <a:ext cx="1438950" cy="4920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200" b="1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表現尚可</a:t>
                  </a:r>
                  <a:endParaRPr lang="en-US" altLang="zh-CN" sz="1200" b="1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  <a:p>
                  <a:pPr algn="ctr"/>
                  <a:r>
                    <a:rPr lang="en-US" altLang="zh-CN" sz="12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Capable Performer</a:t>
                  </a:r>
                  <a:endParaRPr lang="zh-CN" altLang="en-US" sz="12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7" name="组合 13">
                <a:extLst>
                  <a:ext uri="{FF2B5EF4-FFF2-40B4-BE49-F238E27FC236}">
                    <a16:creationId xmlns:a16="http://schemas.microsoft.com/office/drawing/2014/main" id="{15F1C056-289B-4828-93BA-0B90BC1CBD61}"/>
                  </a:ext>
                </a:extLst>
              </p:cNvPr>
              <p:cNvGrpSpPr/>
              <p:nvPr/>
            </p:nvGrpSpPr>
            <p:grpSpPr>
              <a:xfrm>
                <a:off x="4957197" y="2190413"/>
                <a:ext cx="1811903" cy="1290699"/>
                <a:chOff x="1217047" y="776226"/>
                <a:chExt cx="1811903" cy="1290699"/>
              </a:xfrm>
            </p:grpSpPr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3E38A78D-9C3D-43B1-B384-97042168985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79524" y="784225"/>
                  <a:ext cx="1749425" cy="128270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gradFill>
                      <a:gsLst>
                        <a:gs pos="0">
                          <a:srgbClr val="4F81BD">
                            <a:lumMod val="5000"/>
                            <a:lumOff val="95000"/>
                          </a:srgbClr>
                        </a:gs>
                        <a:gs pos="100000">
                          <a:srgbClr val="4F81BD">
                            <a:lumMod val="30000"/>
                            <a:lumOff val="70000"/>
                          </a:srgbClr>
                        </a:gs>
                      </a:gsLst>
                      <a:lin ang="5400000" scaled="1"/>
                    </a:gra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直角三角形 43">
                  <a:extLst>
                    <a:ext uri="{FF2B5EF4-FFF2-40B4-BE49-F238E27FC236}">
                      <a16:creationId xmlns:a16="http://schemas.microsoft.com/office/drawing/2014/main" id="{385880A8-20F0-46AC-91AF-941F10880DBF}"/>
                    </a:ext>
                  </a:extLst>
                </p:cNvPr>
                <p:cNvSpPr/>
                <p:nvPr/>
              </p:nvSpPr>
              <p:spPr>
                <a:xfrm>
                  <a:off x="1279524" y="1562925"/>
                  <a:ext cx="504000" cy="504000"/>
                </a:xfrm>
                <a:prstGeom prst="rtTriangl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b="1" dirty="0">
                      <a:solidFill>
                        <a:prstClr val="white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7</a:t>
                  </a:r>
                  <a:endParaRPr lang="zh-CN" altLang="en-US" sz="2000" b="1" dirty="0">
                    <a:solidFill>
                      <a:prstClr val="white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文本框 31">
                  <a:extLst>
                    <a:ext uri="{FF2B5EF4-FFF2-40B4-BE49-F238E27FC236}">
                      <a16:creationId xmlns:a16="http://schemas.microsoft.com/office/drawing/2014/main" id="{DA8C0BFC-A204-4E0E-8605-BDA695792FE8}"/>
                    </a:ext>
                  </a:extLst>
                </p:cNvPr>
                <p:cNvSpPr txBox="1"/>
                <p:nvPr/>
              </p:nvSpPr>
              <p:spPr>
                <a:xfrm>
                  <a:off x="1217047" y="776226"/>
                  <a:ext cx="1307903" cy="6298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給予歷練</a:t>
                  </a:r>
                  <a:r>
                    <a:rPr lang="zh-CN" altLang="en-US" sz="900" dirty="0" smtClean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機會</a:t>
                  </a:r>
                  <a:r>
                    <a:rPr lang="en-US" altLang="zh-CN" sz="900" dirty="0" smtClean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,</a:t>
                  </a:r>
                  <a:r>
                    <a:rPr lang="zh-CN" altLang="en-US" sz="900" dirty="0" smtClean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擴大</a:t>
                  </a: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職責</a:t>
                  </a:r>
                  <a:endParaRPr lang="en-US" altLang="zh-CN" sz="9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  <a:p>
                  <a:pPr>
                    <a:lnSpc>
                      <a:spcPct val="120000"/>
                    </a:lnSpc>
                  </a:pP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安排</a:t>
                  </a:r>
                  <a:r>
                    <a:rPr lang="zh-CN" altLang="en-US" sz="900" dirty="0" smtClean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導師</a:t>
                  </a:r>
                  <a:r>
                    <a:rPr lang="en-US" altLang="zh-CN" sz="900" dirty="0" smtClean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,</a:t>
                  </a:r>
                  <a:r>
                    <a:rPr lang="zh-CN" altLang="en-US" sz="900" dirty="0" smtClean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挖掘</a:t>
                  </a: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潛能</a:t>
                  </a:r>
                  <a:endParaRPr lang="en-US" altLang="zh-CN" sz="9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  <a:p>
                  <a:pPr>
                    <a:lnSpc>
                      <a:spcPct val="120000"/>
                    </a:lnSpc>
                  </a:pP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重點</a:t>
                  </a:r>
                  <a:r>
                    <a:rPr lang="zh-CN" altLang="en-US" sz="900" dirty="0" smtClean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保留</a:t>
                  </a:r>
                  <a:r>
                    <a:rPr lang="en-US" altLang="zh-CN" sz="900" dirty="0" smtClean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,</a:t>
                  </a:r>
                  <a:r>
                    <a:rPr lang="zh-CN" altLang="en-US" sz="900" dirty="0" smtClean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合理</a:t>
                  </a: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激勵</a:t>
                  </a:r>
                </a:p>
              </p:txBody>
            </p:sp>
            <p:sp>
              <p:nvSpPr>
                <p:cNvPr id="46" name="文本框 32">
                  <a:extLst>
                    <a:ext uri="{FF2B5EF4-FFF2-40B4-BE49-F238E27FC236}">
                      <a16:creationId xmlns:a16="http://schemas.microsoft.com/office/drawing/2014/main" id="{5981773F-23CF-43E9-A612-D8904DBB72C7}"/>
                    </a:ext>
                  </a:extLst>
                </p:cNvPr>
                <p:cNvSpPr txBox="1"/>
                <p:nvPr/>
              </p:nvSpPr>
              <p:spPr>
                <a:xfrm>
                  <a:off x="1783525" y="1506425"/>
                  <a:ext cx="1245425" cy="5376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200" b="1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表現出色</a:t>
                  </a:r>
                  <a:endParaRPr lang="en-US" altLang="zh-CN" sz="1200" b="1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  <a:p>
                  <a:pPr algn="ctr"/>
                  <a:r>
                    <a:rPr lang="en-US" altLang="zh-CN" sz="12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High Performer</a:t>
                  </a:r>
                  <a:endParaRPr lang="zh-CN" altLang="en-US" sz="12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8" name="组合 14">
                <a:extLst>
                  <a:ext uri="{FF2B5EF4-FFF2-40B4-BE49-F238E27FC236}">
                    <a16:creationId xmlns:a16="http://schemas.microsoft.com/office/drawing/2014/main" id="{80125146-57B0-449A-BF18-AFE2ADD9DB74}"/>
                  </a:ext>
                </a:extLst>
              </p:cNvPr>
              <p:cNvGrpSpPr/>
              <p:nvPr/>
            </p:nvGrpSpPr>
            <p:grpSpPr>
              <a:xfrm>
                <a:off x="1279523" y="3586690"/>
                <a:ext cx="1766018" cy="1282700"/>
                <a:chOff x="1279524" y="784225"/>
                <a:chExt cx="1766018" cy="1282700"/>
              </a:xfrm>
            </p:grpSpPr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62A9AF1D-9A13-4F31-8FC7-D8640D90A4A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79524" y="784225"/>
                  <a:ext cx="1749425" cy="12827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 dirty="0">
                    <a:gradFill>
                      <a:gsLst>
                        <a:gs pos="0">
                          <a:srgbClr val="4F81BD">
                            <a:lumMod val="5000"/>
                            <a:lumOff val="95000"/>
                          </a:srgbClr>
                        </a:gs>
                        <a:gs pos="100000">
                          <a:srgbClr val="4F81BD">
                            <a:lumMod val="30000"/>
                            <a:lumOff val="70000"/>
                          </a:srgbClr>
                        </a:gs>
                      </a:gsLst>
                      <a:lin ang="5400000" scaled="1"/>
                    </a:gra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直角三角形 39">
                  <a:extLst>
                    <a:ext uri="{FF2B5EF4-FFF2-40B4-BE49-F238E27FC236}">
                      <a16:creationId xmlns:a16="http://schemas.microsoft.com/office/drawing/2014/main" id="{A1B68A0D-67E8-4938-B8B6-6256FE8245C1}"/>
                    </a:ext>
                  </a:extLst>
                </p:cNvPr>
                <p:cNvSpPr/>
                <p:nvPr/>
              </p:nvSpPr>
              <p:spPr>
                <a:xfrm>
                  <a:off x="1279524" y="1562925"/>
                  <a:ext cx="504000" cy="504000"/>
                </a:xfrm>
                <a:prstGeom prst="rtTriangl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b="1" dirty="0">
                      <a:solidFill>
                        <a:prstClr val="white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1</a:t>
                  </a:r>
                  <a:endParaRPr lang="zh-CN" altLang="en-US" sz="2000" b="1" dirty="0">
                    <a:solidFill>
                      <a:prstClr val="white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文本框 27">
                  <a:extLst>
                    <a:ext uri="{FF2B5EF4-FFF2-40B4-BE49-F238E27FC236}">
                      <a16:creationId xmlns:a16="http://schemas.microsoft.com/office/drawing/2014/main" id="{C0122A72-4231-42DF-BC46-C7673E874F65}"/>
                    </a:ext>
                  </a:extLst>
                </p:cNvPr>
                <p:cNvSpPr txBox="1"/>
                <p:nvPr/>
              </p:nvSpPr>
              <p:spPr>
                <a:xfrm>
                  <a:off x="1400173" y="817044"/>
                  <a:ext cx="1645369" cy="4366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900" b="1" dirty="0">
                      <a:solidFill>
                        <a:srgbClr val="FF0000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確認不勝任</a:t>
                  </a:r>
                  <a:endParaRPr lang="en-US" altLang="zh-CN" sz="900" b="1" dirty="0">
                    <a:solidFill>
                      <a:srgbClr val="FF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  <a:p>
                  <a:pPr>
                    <a:lnSpc>
                      <a:spcPct val="120000"/>
                    </a:lnSpc>
                  </a:pPr>
                  <a:r>
                    <a:rPr lang="zh-CN" altLang="en-US" sz="900" b="1" dirty="0">
                      <a:solidFill>
                        <a:srgbClr val="FF0000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直接淘汰</a:t>
                  </a:r>
                </a:p>
              </p:txBody>
            </p:sp>
            <p:sp>
              <p:nvSpPr>
                <p:cNvPr id="42" name="文本框 28">
                  <a:extLst>
                    <a:ext uri="{FF2B5EF4-FFF2-40B4-BE49-F238E27FC236}">
                      <a16:creationId xmlns:a16="http://schemas.microsoft.com/office/drawing/2014/main" id="{2A1AC2DF-B4A8-46F5-A14C-03A11E765F77}"/>
                    </a:ext>
                  </a:extLst>
                </p:cNvPr>
                <p:cNvSpPr txBox="1"/>
                <p:nvPr/>
              </p:nvSpPr>
              <p:spPr>
                <a:xfrm>
                  <a:off x="1783523" y="1506425"/>
                  <a:ext cx="1245426" cy="5376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200" b="1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未勝任者</a:t>
                  </a:r>
                  <a:endParaRPr lang="en-US" altLang="zh-CN" sz="1200" b="1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  <a:p>
                  <a:pPr algn="ctr"/>
                  <a:r>
                    <a:rPr lang="en-US" altLang="zh-CN" sz="12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Under Performer</a:t>
                  </a:r>
                  <a:endParaRPr lang="zh-CN" altLang="en-US" sz="12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9" name="组合 15">
                <a:extLst>
                  <a:ext uri="{FF2B5EF4-FFF2-40B4-BE49-F238E27FC236}">
                    <a16:creationId xmlns:a16="http://schemas.microsoft.com/office/drawing/2014/main" id="{66A2BE9E-1942-4FC2-8317-99FD16B4C7ED}"/>
                  </a:ext>
                </a:extLst>
              </p:cNvPr>
              <p:cNvGrpSpPr/>
              <p:nvPr/>
            </p:nvGrpSpPr>
            <p:grpSpPr>
              <a:xfrm>
                <a:off x="3132415" y="3583028"/>
                <a:ext cx="1886574" cy="1282700"/>
                <a:chOff x="1262340" y="784225"/>
                <a:chExt cx="1886574" cy="1282700"/>
              </a:xfrm>
            </p:grpSpPr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B6184D50-B3F2-424F-AC19-ED9C7368C63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79524" y="784225"/>
                  <a:ext cx="1749425" cy="128270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gradFill>
                      <a:gsLst>
                        <a:gs pos="0">
                          <a:srgbClr val="4F81BD">
                            <a:lumMod val="5000"/>
                            <a:lumOff val="95000"/>
                          </a:srgbClr>
                        </a:gs>
                        <a:gs pos="100000">
                          <a:srgbClr val="4F81BD">
                            <a:lumMod val="30000"/>
                            <a:lumOff val="70000"/>
                          </a:srgbClr>
                        </a:gs>
                      </a:gsLst>
                      <a:lin ang="5400000" scaled="1"/>
                    </a:gra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</p:txBody>
            </p:sp>
            <p:sp>
              <p:nvSpPr>
                <p:cNvPr id="36" name="直角三角形 35">
                  <a:extLst>
                    <a:ext uri="{FF2B5EF4-FFF2-40B4-BE49-F238E27FC236}">
                      <a16:creationId xmlns:a16="http://schemas.microsoft.com/office/drawing/2014/main" id="{2BCDA05B-F6CB-4051-8459-ABF94A91746A}"/>
                    </a:ext>
                  </a:extLst>
                </p:cNvPr>
                <p:cNvSpPr/>
                <p:nvPr/>
              </p:nvSpPr>
              <p:spPr>
                <a:xfrm>
                  <a:off x="1279524" y="1562925"/>
                  <a:ext cx="504000" cy="504000"/>
                </a:xfrm>
                <a:prstGeom prst="rtTriangl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b="1" dirty="0">
                      <a:solidFill>
                        <a:prstClr val="white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2</a:t>
                  </a:r>
                  <a:endParaRPr lang="zh-CN" altLang="en-US" sz="2000" b="1" dirty="0">
                    <a:solidFill>
                      <a:prstClr val="white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</p:txBody>
            </p:sp>
            <p:sp>
              <p:nvSpPr>
                <p:cNvPr id="37" name="文本框 23">
                  <a:extLst>
                    <a:ext uri="{FF2B5EF4-FFF2-40B4-BE49-F238E27FC236}">
                      <a16:creationId xmlns:a16="http://schemas.microsoft.com/office/drawing/2014/main" id="{A1E10ADF-A551-4349-AFC3-10B685FB0150}"/>
                    </a:ext>
                  </a:extLst>
                </p:cNvPr>
                <p:cNvSpPr txBox="1"/>
                <p:nvPr/>
              </p:nvSpPr>
              <p:spPr>
                <a:xfrm>
                  <a:off x="1262340" y="792098"/>
                  <a:ext cx="1645368" cy="6882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確保業績穩定</a:t>
                  </a:r>
                  <a:endParaRPr lang="en-US" altLang="zh-CN" sz="9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  <a:p>
                  <a:pPr>
                    <a:lnSpc>
                      <a:spcPct val="120000"/>
                    </a:lnSpc>
                  </a:pP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輔導與培訓</a:t>
                  </a:r>
                  <a:endParaRPr lang="en-US" altLang="zh-CN" sz="9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  <a:p>
                  <a:pPr>
                    <a:lnSpc>
                      <a:spcPct val="120000"/>
                    </a:lnSpc>
                  </a:pP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給予業績壓力</a:t>
                  </a:r>
                </a:p>
              </p:txBody>
            </p:sp>
            <p:sp>
              <p:nvSpPr>
                <p:cNvPr id="38" name="文本框 24">
                  <a:extLst>
                    <a:ext uri="{FF2B5EF4-FFF2-40B4-BE49-F238E27FC236}">
                      <a16:creationId xmlns:a16="http://schemas.microsoft.com/office/drawing/2014/main" id="{4EA065F1-35EC-4988-B2B3-32A084085236}"/>
                    </a:ext>
                  </a:extLst>
                </p:cNvPr>
                <p:cNvSpPr txBox="1"/>
                <p:nvPr/>
              </p:nvSpPr>
              <p:spPr>
                <a:xfrm>
                  <a:off x="1618879" y="1514279"/>
                  <a:ext cx="1530035" cy="4920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200" b="1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表現尚可</a:t>
                  </a:r>
                  <a:endParaRPr lang="en-US" altLang="zh-CN" sz="1200" b="1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  <a:p>
                  <a:pPr algn="ctr"/>
                  <a:r>
                    <a:rPr lang="en-US" altLang="zh-CN" sz="12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Capable Performer</a:t>
                  </a:r>
                  <a:endParaRPr lang="zh-CN" altLang="en-US" sz="12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0" name="组合 16">
                <a:extLst>
                  <a:ext uri="{FF2B5EF4-FFF2-40B4-BE49-F238E27FC236}">
                    <a16:creationId xmlns:a16="http://schemas.microsoft.com/office/drawing/2014/main" id="{F5AC3CA3-2672-4816-8D29-A8F4FA5E9246}"/>
                  </a:ext>
                </a:extLst>
              </p:cNvPr>
              <p:cNvGrpSpPr/>
              <p:nvPr/>
            </p:nvGrpSpPr>
            <p:grpSpPr>
              <a:xfrm>
                <a:off x="4978156" y="3590901"/>
                <a:ext cx="1790943" cy="1282775"/>
                <a:chOff x="1238006" y="784150"/>
                <a:chExt cx="1790943" cy="1282775"/>
              </a:xfrm>
            </p:grpSpPr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4548FBEA-9FFA-41E0-B068-DB9453D2F52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79524" y="784225"/>
                  <a:ext cx="1749425" cy="128270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gradFill>
                      <a:gsLst>
                        <a:gs pos="0">
                          <a:srgbClr val="4F81BD">
                            <a:lumMod val="5000"/>
                            <a:lumOff val="95000"/>
                          </a:srgbClr>
                        </a:gs>
                        <a:gs pos="100000">
                          <a:srgbClr val="4F81BD">
                            <a:lumMod val="30000"/>
                            <a:lumOff val="70000"/>
                          </a:srgbClr>
                        </a:gs>
                      </a:gsLst>
                      <a:lin ang="5400000" scaled="1"/>
                    </a:gra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直角三角形 31">
                  <a:extLst>
                    <a:ext uri="{FF2B5EF4-FFF2-40B4-BE49-F238E27FC236}">
                      <a16:creationId xmlns:a16="http://schemas.microsoft.com/office/drawing/2014/main" id="{84615C32-7375-48E6-8B46-07A85CF17AF8}"/>
                    </a:ext>
                  </a:extLst>
                </p:cNvPr>
                <p:cNvSpPr/>
                <p:nvPr/>
              </p:nvSpPr>
              <p:spPr>
                <a:xfrm>
                  <a:off x="1279524" y="1562925"/>
                  <a:ext cx="504000" cy="504000"/>
                </a:xfrm>
                <a:prstGeom prst="rtTriangl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b="1" dirty="0">
                      <a:solidFill>
                        <a:prstClr val="white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4</a:t>
                  </a:r>
                  <a:endParaRPr lang="zh-CN" altLang="en-US" sz="2000" b="1" dirty="0">
                    <a:solidFill>
                      <a:prstClr val="white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文本框 19">
                  <a:extLst>
                    <a:ext uri="{FF2B5EF4-FFF2-40B4-BE49-F238E27FC236}">
                      <a16:creationId xmlns:a16="http://schemas.microsoft.com/office/drawing/2014/main" id="{BB815FE1-B449-489A-9EBC-A49D6982E59D}"/>
                    </a:ext>
                  </a:extLst>
                </p:cNvPr>
                <p:cNvSpPr txBox="1"/>
                <p:nvPr/>
              </p:nvSpPr>
              <p:spPr>
                <a:xfrm>
                  <a:off x="1238006" y="784150"/>
                  <a:ext cx="1367410" cy="9841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保持在原地原</a:t>
                  </a:r>
                  <a:r>
                    <a:rPr lang="zh-CN" altLang="en-US" sz="900" dirty="0" smtClean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級</a:t>
                  </a:r>
                  <a:r>
                    <a:rPr lang="en-US" altLang="zh-CN" sz="900" dirty="0" smtClean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,</a:t>
                  </a:r>
                  <a:r>
                    <a:rPr lang="zh-CN" altLang="en-US" sz="900" dirty="0" smtClean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給予</a:t>
                  </a: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認可</a:t>
                  </a:r>
                  <a:endParaRPr lang="en-US" altLang="zh-CN" sz="9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  <a:p>
                  <a:pPr>
                    <a:lnSpc>
                      <a:spcPct val="120000"/>
                    </a:lnSpc>
                  </a:pPr>
                  <a:r>
                    <a:rPr lang="zh-CN" altLang="en-US" sz="9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用平移方法保持工作積極性，輔導與培訓</a:t>
                  </a:r>
                  <a:endParaRPr lang="en-US" altLang="zh-CN" sz="9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  <a:p>
                  <a:pPr>
                    <a:lnSpc>
                      <a:spcPct val="120000"/>
                    </a:lnSpc>
                  </a:pPr>
                  <a:endParaRPr lang="en-US" altLang="zh-CN" sz="9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  <a:p>
                  <a:pPr>
                    <a:lnSpc>
                      <a:spcPct val="120000"/>
                    </a:lnSpc>
                  </a:pPr>
                  <a:endParaRPr lang="zh-CN" altLang="en-US" sz="9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文本框 20">
                  <a:extLst>
                    <a:ext uri="{FF2B5EF4-FFF2-40B4-BE49-F238E27FC236}">
                      <a16:creationId xmlns:a16="http://schemas.microsoft.com/office/drawing/2014/main" id="{B07970CB-E9FA-415A-80DD-1F9E50DFDA3E}"/>
                    </a:ext>
                  </a:extLst>
                </p:cNvPr>
                <p:cNvSpPr txBox="1"/>
                <p:nvPr/>
              </p:nvSpPr>
              <p:spPr>
                <a:xfrm>
                  <a:off x="1783523" y="1506425"/>
                  <a:ext cx="1245426" cy="5376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200" b="1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穩定貢獻</a:t>
                  </a:r>
                  <a:endParaRPr lang="en-US" altLang="zh-CN" sz="1200" b="1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  <a:p>
                  <a:pPr algn="ctr"/>
                  <a:r>
                    <a:rPr lang="en-US" altLang="zh-CN" sz="1200" dirty="0">
                      <a:solidFill>
                        <a:prstClr val="black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ea"/>
                      <a:sym typeface="+mn-lt"/>
                    </a:rPr>
                    <a:t>Key Performer</a:t>
                  </a:r>
                  <a:endParaRPr lang="zh-CN" altLang="en-US" sz="1200" dirty="0">
                    <a:solidFill>
                      <a:prstClr val="black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13" name="箭头: 上 8">
              <a:extLst>
                <a:ext uri="{FF2B5EF4-FFF2-40B4-BE49-F238E27FC236}">
                  <a16:creationId xmlns:a16="http://schemas.microsoft.com/office/drawing/2014/main" id="{89E4D570-92E7-42B1-BB59-DA703C15AE00}"/>
                </a:ext>
              </a:extLst>
            </p:cNvPr>
            <p:cNvSpPr/>
            <p:nvPr/>
          </p:nvSpPr>
          <p:spPr>
            <a:xfrm>
              <a:off x="1370818" y="914464"/>
              <a:ext cx="350921" cy="5405672"/>
            </a:xfrm>
            <a:prstGeom prst="upArrow">
              <a:avLst>
                <a:gd name="adj1" fmla="val 50666"/>
                <a:gd name="adj2" fmla="val 75918"/>
              </a:avLst>
            </a:prstGeom>
            <a:gradFill>
              <a:gsLst>
                <a:gs pos="0">
                  <a:srgbClr val="92D050"/>
                </a:gs>
                <a:gs pos="100000">
                  <a:srgbClr val="C00000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  <p:sp>
          <p:nvSpPr>
            <p:cNvPr id="15" name="箭头: 上 50">
              <a:extLst>
                <a:ext uri="{FF2B5EF4-FFF2-40B4-BE49-F238E27FC236}">
                  <a16:creationId xmlns:a16="http://schemas.microsoft.com/office/drawing/2014/main" id="{6360AF73-1B4A-44A8-87A5-80D812D6B02B}"/>
                </a:ext>
              </a:extLst>
            </p:cNvPr>
            <p:cNvSpPr/>
            <p:nvPr/>
          </p:nvSpPr>
          <p:spPr>
            <a:xfrm rot="5400000">
              <a:off x="5960400" y="1617006"/>
              <a:ext cx="360000" cy="9360000"/>
            </a:xfrm>
            <a:prstGeom prst="upArrow">
              <a:avLst>
                <a:gd name="adj1" fmla="val 46445"/>
                <a:gd name="adj2" fmla="val 75918"/>
              </a:avLst>
            </a:prstGeom>
            <a:gradFill>
              <a:gsLst>
                <a:gs pos="0">
                  <a:srgbClr val="92D050"/>
                </a:gs>
                <a:gs pos="100000">
                  <a:srgbClr val="C00000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  <p:sp>
          <p:nvSpPr>
            <p:cNvPr id="16" name="文本框 6">
              <a:extLst>
                <a:ext uri="{FF2B5EF4-FFF2-40B4-BE49-F238E27FC236}">
                  <a16:creationId xmlns:a16="http://schemas.microsoft.com/office/drawing/2014/main" id="{1A1F2E4B-2541-4E13-BF93-583C02DD8D2B}"/>
                </a:ext>
              </a:extLst>
            </p:cNvPr>
            <p:cNvSpPr txBox="1"/>
            <p:nvPr/>
          </p:nvSpPr>
          <p:spPr>
            <a:xfrm>
              <a:off x="792932" y="1120314"/>
              <a:ext cx="712572" cy="13153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b="1">
                  <a:gradFill>
                    <a:gsLst>
                      <a:gs pos="100000">
                        <a:schemeClr val="tx1">
                          <a:lumMod val="50000"/>
                          <a:lumOff val="50000"/>
                        </a:schemeClr>
                      </a:gs>
                      <a:gs pos="0">
                        <a:srgbClr val="417E7F"/>
                      </a:gs>
                    </a:gsLst>
                    <a:lin ang="54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28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潛</a:t>
              </a:r>
              <a:endParaRPr lang="en-US" altLang="zh-CN" sz="28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  <a:p>
              <a:r>
                <a:rPr lang="zh-CN" altLang="en-US" sz="28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能</a:t>
              </a:r>
            </a:p>
          </p:txBody>
        </p:sp>
        <p:sp>
          <p:nvSpPr>
            <p:cNvPr id="17" name="文本框 7">
              <a:extLst>
                <a:ext uri="{FF2B5EF4-FFF2-40B4-BE49-F238E27FC236}">
                  <a16:creationId xmlns:a16="http://schemas.microsoft.com/office/drawing/2014/main" id="{8DCC1579-661E-44FC-BE89-B2CB91E2BE6C}"/>
                </a:ext>
              </a:extLst>
            </p:cNvPr>
            <p:cNvSpPr txBox="1"/>
            <p:nvPr/>
          </p:nvSpPr>
          <p:spPr>
            <a:xfrm>
              <a:off x="9324012" y="6369520"/>
              <a:ext cx="1183137" cy="721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績效</a:t>
              </a:r>
            </a:p>
          </p:txBody>
        </p:sp>
      </p:grpSp>
      <p:sp>
        <p:nvSpPr>
          <p:cNvPr id="67" name="矩形 66"/>
          <p:cNvSpPr/>
          <p:nvPr/>
        </p:nvSpPr>
        <p:spPr>
          <a:xfrm>
            <a:off x="2954994" y="5611261"/>
            <a:ext cx="5256584" cy="70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績效得分＝</a:t>
            </a:r>
            <a:r>
              <a:rPr lang="en-US" altLang="zh-TW" sz="1400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KPI+ FIH</a:t>
            </a:r>
            <a:r>
              <a:rPr lang="zh-TW" altLang="en-US" sz="1400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核心價值觀 </a:t>
            </a:r>
            <a:endParaRPr lang="en-US" altLang="zh-TW" sz="1400" dirty="0" smtClean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TW" altLang="en-US" sz="1400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潛能得分＝</a:t>
            </a:r>
            <a:r>
              <a:rPr lang="en-US" altLang="zh-TW" sz="1400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FIH</a:t>
            </a:r>
            <a:r>
              <a:rPr lang="zh-TW" altLang="en-US" sz="1400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核心價值觀 </a:t>
            </a:r>
            <a:r>
              <a:rPr lang="en-US" altLang="zh-TW" sz="1400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TW" altLang="en-US" sz="1400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核心職能 </a:t>
            </a:r>
            <a:r>
              <a:rPr lang="en-US" altLang="zh-TW" sz="1400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TW" altLang="en-US" sz="1400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管理職能</a:t>
            </a:r>
            <a:endParaRPr lang="en-US" altLang="zh-TW" sz="1400" dirty="0" smtClean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3437762" y="1536755"/>
            <a:ext cx="7018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9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績效＜70</a:t>
            </a:r>
          </a:p>
          <a:p>
            <a:pPr algn="ctr"/>
            <a:r>
              <a:rPr lang="zh-TW" altLang="en-US" sz="9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潛能 ≥90</a:t>
            </a:r>
          </a:p>
        </p:txBody>
      </p:sp>
      <p:sp>
        <p:nvSpPr>
          <p:cNvPr id="69" name="矩形 68"/>
          <p:cNvSpPr/>
          <p:nvPr/>
        </p:nvSpPr>
        <p:spPr>
          <a:xfrm>
            <a:off x="5350858" y="1529505"/>
            <a:ext cx="8458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900" b="1" dirty="0">
                <a:solidFill>
                  <a:srgbClr val="FF0000"/>
                </a:solidFill>
              </a:rPr>
              <a:t>70≤績效＜90</a:t>
            </a:r>
          </a:p>
          <a:p>
            <a:pPr algn="ctr"/>
            <a:r>
              <a:rPr lang="zh-TW" altLang="en-US" sz="900" b="1" dirty="0">
                <a:solidFill>
                  <a:srgbClr val="FF0000"/>
                </a:solidFill>
              </a:rPr>
              <a:t>潛能 ≥ 90</a:t>
            </a:r>
          </a:p>
        </p:txBody>
      </p:sp>
      <p:sp>
        <p:nvSpPr>
          <p:cNvPr id="70" name="矩形 69"/>
          <p:cNvSpPr/>
          <p:nvPr/>
        </p:nvSpPr>
        <p:spPr>
          <a:xfrm>
            <a:off x="7509754" y="1529505"/>
            <a:ext cx="7018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9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績效 ≥90</a:t>
            </a:r>
          </a:p>
          <a:p>
            <a:pPr algn="ctr"/>
            <a:r>
              <a:rPr lang="zh-TW" altLang="en-US" sz="9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潛能 ≥ 90</a:t>
            </a:r>
          </a:p>
        </p:txBody>
      </p:sp>
      <p:sp>
        <p:nvSpPr>
          <p:cNvPr id="71" name="矩形 70"/>
          <p:cNvSpPr/>
          <p:nvPr/>
        </p:nvSpPr>
        <p:spPr>
          <a:xfrm>
            <a:off x="3328799" y="2832878"/>
            <a:ext cx="8458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900" b="1" dirty="0">
                <a:solidFill>
                  <a:srgbClr val="FF0000"/>
                </a:solidFill>
              </a:rPr>
              <a:t>績效＜</a:t>
            </a:r>
            <a:r>
              <a:rPr lang="en-US" altLang="zh-TW" sz="900" b="1" dirty="0">
                <a:solidFill>
                  <a:srgbClr val="FF0000"/>
                </a:solidFill>
              </a:rPr>
              <a:t>70</a:t>
            </a:r>
          </a:p>
          <a:p>
            <a:pPr algn="ctr"/>
            <a:r>
              <a:rPr lang="en-US" altLang="zh-TW" sz="900" b="1" dirty="0">
                <a:solidFill>
                  <a:srgbClr val="FF0000"/>
                </a:solidFill>
              </a:rPr>
              <a:t>70≤</a:t>
            </a:r>
            <a:r>
              <a:rPr lang="zh-TW" altLang="en-US" sz="900" b="1" dirty="0">
                <a:solidFill>
                  <a:srgbClr val="FF0000"/>
                </a:solidFill>
              </a:rPr>
              <a:t>潛能＜</a:t>
            </a:r>
            <a:r>
              <a:rPr lang="en-US" altLang="zh-TW" sz="900" b="1" dirty="0">
                <a:solidFill>
                  <a:srgbClr val="FF0000"/>
                </a:solidFill>
              </a:rPr>
              <a:t>90</a:t>
            </a:r>
            <a:endParaRPr lang="zh-TW" altLang="en-US" sz="900" b="1" dirty="0">
              <a:solidFill>
                <a:srgbClr val="FF0000"/>
              </a:solidFill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5369121" y="2832878"/>
            <a:ext cx="8458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900" b="1" dirty="0">
                <a:solidFill>
                  <a:srgbClr val="FF0000"/>
                </a:solidFill>
              </a:rPr>
              <a:t>70≤</a:t>
            </a:r>
            <a:r>
              <a:rPr lang="zh-TW" altLang="en-US" sz="900" b="1" dirty="0">
                <a:solidFill>
                  <a:srgbClr val="FF0000"/>
                </a:solidFill>
              </a:rPr>
              <a:t>績效＜</a:t>
            </a:r>
            <a:r>
              <a:rPr lang="en-US" altLang="zh-TW" sz="900" b="1" dirty="0">
                <a:solidFill>
                  <a:srgbClr val="FF0000"/>
                </a:solidFill>
              </a:rPr>
              <a:t>90</a:t>
            </a:r>
          </a:p>
          <a:p>
            <a:pPr algn="ctr"/>
            <a:r>
              <a:rPr lang="en-US" altLang="zh-TW" sz="900" b="1" dirty="0">
                <a:solidFill>
                  <a:srgbClr val="FF0000"/>
                </a:solidFill>
              </a:rPr>
              <a:t>70≤</a:t>
            </a:r>
            <a:r>
              <a:rPr lang="zh-TW" altLang="en-US" sz="900" b="1" dirty="0">
                <a:solidFill>
                  <a:srgbClr val="FF0000"/>
                </a:solidFill>
              </a:rPr>
              <a:t>潛能＜</a:t>
            </a:r>
            <a:r>
              <a:rPr lang="en-US" altLang="zh-TW" sz="900" b="1" dirty="0">
                <a:solidFill>
                  <a:srgbClr val="FF0000"/>
                </a:solidFill>
              </a:rPr>
              <a:t>90</a:t>
            </a:r>
            <a:endParaRPr lang="zh-TW" altLang="en-US" sz="900" b="1" dirty="0">
              <a:solidFill>
                <a:srgbClr val="FF0000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7493622" y="2862826"/>
            <a:ext cx="8458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900" b="1" dirty="0">
                <a:solidFill>
                  <a:srgbClr val="FF0000"/>
                </a:solidFill>
              </a:rPr>
              <a:t>績效 ≥</a:t>
            </a:r>
            <a:r>
              <a:rPr lang="en-US" altLang="zh-TW" sz="900" b="1" dirty="0">
                <a:solidFill>
                  <a:srgbClr val="FF0000"/>
                </a:solidFill>
              </a:rPr>
              <a:t>90</a:t>
            </a:r>
          </a:p>
          <a:p>
            <a:pPr algn="ctr"/>
            <a:r>
              <a:rPr lang="en-US" altLang="zh-TW" sz="900" b="1" dirty="0">
                <a:solidFill>
                  <a:srgbClr val="FF0000"/>
                </a:solidFill>
              </a:rPr>
              <a:t>70≤</a:t>
            </a:r>
            <a:r>
              <a:rPr lang="zh-TW" altLang="en-US" sz="900" b="1" dirty="0">
                <a:solidFill>
                  <a:srgbClr val="FF0000"/>
                </a:solidFill>
              </a:rPr>
              <a:t>潛能＜</a:t>
            </a:r>
            <a:r>
              <a:rPr lang="en-US" altLang="zh-TW" sz="900" b="1" dirty="0">
                <a:solidFill>
                  <a:srgbClr val="FF0000"/>
                </a:solidFill>
              </a:rPr>
              <a:t>90</a:t>
            </a:r>
            <a:endParaRPr lang="zh-TW" altLang="en-US" sz="900" b="1" dirty="0">
              <a:solidFill>
                <a:srgbClr val="FF0000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3348668" y="4183804"/>
            <a:ext cx="8458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9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績效＜</a:t>
            </a:r>
            <a:r>
              <a:rPr lang="en-US" altLang="zh-TW" sz="9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70</a:t>
            </a:r>
          </a:p>
          <a:p>
            <a:pPr algn="ctr"/>
            <a:r>
              <a:rPr lang="zh-TW" altLang="en-US" sz="9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潛能＜</a:t>
            </a:r>
            <a:r>
              <a:rPr lang="en-US" altLang="zh-TW" sz="9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70</a:t>
            </a:r>
            <a:endParaRPr lang="zh-TW" altLang="en-US" sz="9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5312372" y="4179358"/>
            <a:ext cx="9397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9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70≤</a:t>
            </a:r>
            <a:r>
              <a:rPr lang="zh-TW" altLang="en-US" sz="9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績效＜</a:t>
            </a:r>
            <a:r>
              <a:rPr lang="en-US" altLang="zh-TW" sz="9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90</a:t>
            </a:r>
          </a:p>
          <a:p>
            <a:pPr algn="ctr"/>
            <a:r>
              <a:rPr lang="zh-TW" altLang="en-US" sz="9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潛能＜</a:t>
            </a:r>
            <a:r>
              <a:rPr lang="en-US" altLang="zh-TW" sz="9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70</a:t>
            </a:r>
            <a:endParaRPr lang="zh-TW" altLang="en-US" sz="9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7538485" y="4169156"/>
            <a:ext cx="8458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9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績效 ≥</a:t>
            </a:r>
            <a:r>
              <a:rPr lang="en-US" altLang="zh-TW" sz="9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90</a:t>
            </a:r>
          </a:p>
          <a:p>
            <a:pPr algn="ctr"/>
            <a:r>
              <a:rPr lang="zh-TW" altLang="en-US" sz="9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潛能＜</a:t>
            </a:r>
            <a:r>
              <a:rPr lang="en-US" altLang="zh-TW" sz="9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70</a:t>
            </a:r>
            <a:endParaRPr lang="zh-TW" altLang="en-US" sz="9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7" name="Rectangle 8"/>
          <p:cNvSpPr>
            <a:spLocks noChangeArrowheads="1"/>
          </p:cNvSpPr>
          <p:nvPr/>
        </p:nvSpPr>
        <p:spPr bwMode="auto">
          <a:xfrm>
            <a:off x="8871449" y="2942531"/>
            <a:ext cx="2789097" cy="5792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pPr marL="630238" indent="-538163">
              <a:spcBef>
                <a:spcPct val="20000"/>
              </a:spcBef>
            </a:pPr>
            <a:r>
              <a:rPr kumimoji="1" lang="zh-CN" altLang="en-US" sz="1600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高績效高潛能人才</a:t>
            </a:r>
            <a:r>
              <a:rPr kumimoji="1" lang="zh-TW" altLang="en-US" sz="1600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結果運用：</a:t>
            </a:r>
            <a:r>
              <a:rPr kumimoji="1" lang="en-US" altLang="zh-TW" sz="1600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1-3-3</a:t>
            </a:r>
            <a:r>
              <a:rPr kumimoji="1" lang="zh-TW" altLang="en-US" sz="1600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、獎金等</a:t>
            </a:r>
            <a:endParaRPr kumimoji="1" lang="zh-TW" altLang="en-US" sz="16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五角星形 1"/>
          <p:cNvSpPr/>
          <p:nvPr/>
        </p:nvSpPr>
        <p:spPr>
          <a:xfrm>
            <a:off x="8635500" y="2911813"/>
            <a:ext cx="332509" cy="346535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pic>
        <p:nvPicPr>
          <p:cNvPr id="78" name="图片 20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867" b="59210"/>
          <a:stretch>
            <a:fillRect/>
          </a:stretch>
        </p:blipFill>
        <p:spPr>
          <a:xfrm>
            <a:off x="0" y="0"/>
            <a:ext cx="12192000" cy="998261"/>
          </a:xfrm>
          <a:custGeom>
            <a:avLst/>
            <a:gdLst>
              <a:gd name="connsiteX0" fmla="*/ 0 w 12192000"/>
              <a:gd name="connsiteY0" fmla="*/ 0 h 998261"/>
              <a:gd name="connsiteX1" fmla="*/ 12192000 w 12192000"/>
              <a:gd name="connsiteY1" fmla="*/ 0 h 998261"/>
              <a:gd name="connsiteX2" fmla="*/ 12192000 w 12192000"/>
              <a:gd name="connsiteY2" fmla="*/ 998261 h 998261"/>
              <a:gd name="connsiteX3" fmla="*/ 0 w 12192000"/>
              <a:gd name="connsiteY3" fmla="*/ 998261 h 998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998261">
                <a:moveTo>
                  <a:pt x="0" y="0"/>
                </a:moveTo>
                <a:lnTo>
                  <a:pt x="12192000" y="0"/>
                </a:lnTo>
                <a:lnTo>
                  <a:pt x="12192000" y="998261"/>
                </a:lnTo>
                <a:lnTo>
                  <a:pt x="0" y="998261"/>
                </a:lnTo>
                <a:close/>
              </a:path>
            </a:pathLst>
          </a:custGeom>
        </p:spPr>
      </p:pic>
      <p:sp>
        <p:nvSpPr>
          <p:cNvPr id="79" name="Freeform 19"/>
          <p:cNvSpPr>
            <a:spLocks/>
          </p:cNvSpPr>
          <p:nvPr/>
        </p:nvSpPr>
        <p:spPr bwMode="auto">
          <a:xfrm>
            <a:off x="1074715" y="110145"/>
            <a:ext cx="693978" cy="777969"/>
          </a:xfrm>
          <a:custGeom>
            <a:avLst/>
            <a:gdLst>
              <a:gd name="T0" fmla="*/ 772 w 772"/>
              <a:gd name="T1" fmla="*/ 596 h 865"/>
              <a:gd name="T2" fmla="*/ 721 w 772"/>
              <a:gd name="T3" fmla="*/ 685 h 865"/>
              <a:gd name="T4" fmla="*/ 437 w 772"/>
              <a:gd name="T5" fmla="*/ 849 h 865"/>
              <a:gd name="T6" fmla="*/ 335 w 772"/>
              <a:gd name="T7" fmla="*/ 849 h 865"/>
              <a:gd name="T8" fmla="*/ 51 w 772"/>
              <a:gd name="T9" fmla="*/ 685 h 865"/>
              <a:gd name="T10" fmla="*/ 0 w 772"/>
              <a:gd name="T11" fmla="*/ 596 h 865"/>
              <a:gd name="T12" fmla="*/ 0 w 772"/>
              <a:gd name="T13" fmla="*/ 268 h 865"/>
              <a:gd name="T14" fmla="*/ 51 w 772"/>
              <a:gd name="T15" fmla="*/ 180 h 865"/>
              <a:gd name="T16" fmla="*/ 335 w 772"/>
              <a:gd name="T17" fmla="*/ 16 h 865"/>
              <a:gd name="T18" fmla="*/ 437 w 772"/>
              <a:gd name="T19" fmla="*/ 16 h 865"/>
              <a:gd name="T20" fmla="*/ 721 w 772"/>
              <a:gd name="T21" fmla="*/ 180 h 865"/>
              <a:gd name="T22" fmla="*/ 772 w 772"/>
              <a:gd name="T23" fmla="*/ 268 h 865"/>
              <a:gd name="T24" fmla="*/ 772 w 772"/>
              <a:gd name="T25" fmla="*/ 596 h 8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72" h="865">
                <a:moveTo>
                  <a:pt x="772" y="596"/>
                </a:moveTo>
                <a:cubicBezTo>
                  <a:pt x="772" y="629"/>
                  <a:pt x="749" y="668"/>
                  <a:pt x="721" y="685"/>
                </a:cubicBezTo>
                <a:cubicBezTo>
                  <a:pt x="437" y="849"/>
                  <a:pt x="437" y="849"/>
                  <a:pt x="437" y="849"/>
                </a:cubicBezTo>
                <a:cubicBezTo>
                  <a:pt x="409" y="865"/>
                  <a:pt x="363" y="865"/>
                  <a:pt x="335" y="849"/>
                </a:cubicBezTo>
                <a:cubicBezTo>
                  <a:pt x="51" y="685"/>
                  <a:pt x="51" y="685"/>
                  <a:pt x="51" y="685"/>
                </a:cubicBezTo>
                <a:cubicBezTo>
                  <a:pt x="23" y="668"/>
                  <a:pt x="0" y="629"/>
                  <a:pt x="0" y="596"/>
                </a:cubicBezTo>
                <a:cubicBezTo>
                  <a:pt x="0" y="268"/>
                  <a:pt x="0" y="268"/>
                  <a:pt x="0" y="268"/>
                </a:cubicBezTo>
                <a:cubicBezTo>
                  <a:pt x="0" y="236"/>
                  <a:pt x="23" y="196"/>
                  <a:pt x="51" y="180"/>
                </a:cubicBezTo>
                <a:cubicBezTo>
                  <a:pt x="335" y="16"/>
                  <a:pt x="335" y="16"/>
                  <a:pt x="335" y="16"/>
                </a:cubicBezTo>
                <a:cubicBezTo>
                  <a:pt x="363" y="0"/>
                  <a:pt x="409" y="0"/>
                  <a:pt x="437" y="16"/>
                </a:cubicBezTo>
                <a:cubicBezTo>
                  <a:pt x="721" y="180"/>
                  <a:pt x="721" y="180"/>
                  <a:pt x="721" y="180"/>
                </a:cubicBezTo>
                <a:cubicBezTo>
                  <a:pt x="749" y="196"/>
                  <a:pt x="772" y="236"/>
                  <a:pt x="772" y="268"/>
                </a:cubicBezTo>
                <a:lnTo>
                  <a:pt x="772" y="596"/>
                </a:lnTo>
                <a:close/>
              </a:path>
            </a:pathLst>
          </a:custGeom>
          <a:solidFill>
            <a:srgbClr val="F87A0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文本框 17"/>
          <p:cNvSpPr>
            <a:spLocks noChangeArrowheads="1"/>
          </p:cNvSpPr>
          <p:nvPr/>
        </p:nvSpPr>
        <p:spPr bwMode="auto">
          <a:xfrm>
            <a:off x="1127163" y="206741"/>
            <a:ext cx="62228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Impact" panose="020B0806030902050204" pitchFamily="34" charset="0"/>
                <a:ea typeface="FZYaoTi" panose="02010601030101010101" pitchFamily="2" charset="-122"/>
                <a:sym typeface="Impact" panose="020B0806030902050204" pitchFamily="34" charset="0"/>
              </a:rPr>
              <a:t>02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  <a:ea typeface="FZYaoTi" panose="02010601030101010101" pitchFamily="2" charset="-122"/>
              <a:sym typeface="Impact" panose="020B0806030902050204" pitchFamily="34" charset="0"/>
            </a:endParaRPr>
          </a:p>
        </p:txBody>
      </p:sp>
      <p:sp>
        <p:nvSpPr>
          <p:cNvPr id="81" name="文本框 90"/>
          <p:cNvSpPr txBox="1"/>
          <p:nvPr/>
        </p:nvSpPr>
        <p:spPr>
          <a:xfrm>
            <a:off x="2052468" y="141030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6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 dirty="0"/>
              <a:t>人才九宮</a:t>
            </a:r>
            <a:r>
              <a:rPr lang="zh-TW" altLang="en-US" dirty="0" smtClean="0"/>
              <a:t>格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3449689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0" grpId="0"/>
      <p:bldP spid="8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9"/>
          <p:cNvSpPr>
            <a:spLocks/>
          </p:cNvSpPr>
          <p:nvPr/>
        </p:nvSpPr>
        <p:spPr bwMode="auto">
          <a:xfrm>
            <a:off x="4812240" y="1995471"/>
            <a:ext cx="2576347" cy="2888159"/>
          </a:xfrm>
          <a:custGeom>
            <a:avLst/>
            <a:gdLst>
              <a:gd name="T0" fmla="*/ 772 w 772"/>
              <a:gd name="T1" fmla="*/ 596 h 865"/>
              <a:gd name="T2" fmla="*/ 721 w 772"/>
              <a:gd name="T3" fmla="*/ 685 h 865"/>
              <a:gd name="T4" fmla="*/ 437 w 772"/>
              <a:gd name="T5" fmla="*/ 849 h 865"/>
              <a:gd name="T6" fmla="*/ 335 w 772"/>
              <a:gd name="T7" fmla="*/ 849 h 865"/>
              <a:gd name="T8" fmla="*/ 51 w 772"/>
              <a:gd name="T9" fmla="*/ 685 h 865"/>
              <a:gd name="T10" fmla="*/ 0 w 772"/>
              <a:gd name="T11" fmla="*/ 596 h 865"/>
              <a:gd name="T12" fmla="*/ 0 w 772"/>
              <a:gd name="T13" fmla="*/ 268 h 865"/>
              <a:gd name="T14" fmla="*/ 51 w 772"/>
              <a:gd name="T15" fmla="*/ 180 h 865"/>
              <a:gd name="T16" fmla="*/ 335 w 772"/>
              <a:gd name="T17" fmla="*/ 16 h 865"/>
              <a:gd name="T18" fmla="*/ 437 w 772"/>
              <a:gd name="T19" fmla="*/ 16 h 865"/>
              <a:gd name="T20" fmla="*/ 721 w 772"/>
              <a:gd name="T21" fmla="*/ 180 h 865"/>
              <a:gd name="T22" fmla="*/ 772 w 772"/>
              <a:gd name="T23" fmla="*/ 268 h 865"/>
              <a:gd name="T24" fmla="*/ 772 w 772"/>
              <a:gd name="T25" fmla="*/ 596 h 8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72" h="865">
                <a:moveTo>
                  <a:pt x="772" y="596"/>
                </a:moveTo>
                <a:cubicBezTo>
                  <a:pt x="772" y="629"/>
                  <a:pt x="749" y="668"/>
                  <a:pt x="721" y="685"/>
                </a:cubicBezTo>
                <a:cubicBezTo>
                  <a:pt x="437" y="849"/>
                  <a:pt x="437" y="849"/>
                  <a:pt x="437" y="849"/>
                </a:cubicBezTo>
                <a:cubicBezTo>
                  <a:pt x="409" y="865"/>
                  <a:pt x="363" y="865"/>
                  <a:pt x="335" y="849"/>
                </a:cubicBezTo>
                <a:cubicBezTo>
                  <a:pt x="51" y="685"/>
                  <a:pt x="51" y="685"/>
                  <a:pt x="51" y="685"/>
                </a:cubicBezTo>
                <a:cubicBezTo>
                  <a:pt x="23" y="668"/>
                  <a:pt x="0" y="629"/>
                  <a:pt x="0" y="596"/>
                </a:cubicBezTo>
                <a:cubicBezTo>
                  <a:pt x="0" y="268"/>
                  <a:pt x="0" y="268"/>
                  <a:pt x="0" y="268"/>
                </a:cubicBezTo>
                <a:cubicBezTo>
                  <a:pt x="0" y="236"/>
                  <a:pt x="23" y="196"/>
                  <a:pt x="51" y="180"/>
                </a:cubicBezTo>
                <a:cubicBezTo>
                  <a:pt x="335" y="16"/>
                  <a:pt x="335" y="16"/>
                  <a:pt x="335" y="16"/>
                </a:cubicBezTo>
                <a:cubicBezTo>
                  <a:pt x="363" y="0"/>
                  <a:pt x="409" y="0"/>
                  <a:pt x="437" y="16"/>
                </a:cubicBezTo>
                <a:cubicBezTo>
                  <a:pt x="721" y="180"/>
                  <a:pt x="721" y="180"/>
                  <a:pt x="721" y="180"/>
                </a:cubicBezTo>
                <a:cubicBezTo>
                  <a:pt x="749" y="196"/>
                  <a:pt x="772" y="236"/>
                  <a:pt x="772" y="268"/>
                </a:cubicBezTo>
                <a:lnTo>
                  <a:pt x="772" y="596"/>
                </a:lnTo>
                <a:close/>
              </a:path>
            </a:pathLst>
          </a:custGeom>
          <a:noFill/>
          <a:ln>
            <a:solidFill>
              <a:srgbClr val="74AF4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>
            <a:spLocks/>
          </p:cNvSpPr>
          <p:nvPr/>
        </p:nvSpPr>
        <p:spPr bwMode="auto">
          <a:xfrm>
            <a:off x="2280649" y="0"/>
            <a:ext cx="7639528" cy="6858000"/>
          </a:xfrm>
          <a:custGeom>
            <a:avLst/>
            <a:gdLst>
              <a:gd name="connsiteX0" fmla="*/ 2131006 w 7639528"/>
              <a:gd name="connsiteY0" fmla="*/ 0 h 6858000"/>
              <a:gd name="connsiteX1" fmla="*/ 5508522 w 7639528"/>
              <a:gd name="connsiteY1" fmla="*/ 0 h 6858000"/>
              <a:gd name="connsiteX2" fmla="*/ 5627413 w 7639528"/>
              <a:gd name="connsiteY2" fmla="*/ 68690 h 6858000"/>
              <a:gd name="connsiteX3" fmla="*/ 7134844 w 7639528"/>
              <a:gd name="connsiteY3" fmla="*/ 939616 h 6858000"/>
              <a:gd name="connsiteX4" fmla="*/ 7639528 w 7639528"/>
              <a:gd name="connsiteY4" fmla="*/ 1810880 h 6858000"/>
              <a:gd name="connsiteX5" fmla="*/ 7639528 w 7639528"/>
              <a:gd name="connsiteY5" fmla="*/ 5058319 h 6858000"/>
              <a:gd name="connsiteX6" fmla="*/ 7134844 w 7639528"/>
              <a:gd name="connsiteY6" fmla="*/ 5939484 h 6858000"/>
              <a:gd name="connsiteX7" fmla="*/ 5664549 w 7639528"/>
              <a:gd name="connsiteY7" fmla="*/ 6788953 h 6858000"/>
              <a:gd name="connsiteX8" fmla="*/ 5545041 w 7639528"/>
              <a:gd name="connsiteY8" fmla="*/ 6858000 h 6858000"/>
              <a:gd name="connsiteX9" fmla="*/ 2094488 w 7639528"/>
              <a:gd name="connsiteY9" fmla="*/ 6858000 h 6858000"/>
              <a:gd name="connsiteX10" fmla="*/ 2012116 w 7639528"/>
              <a:gd name="connsiteY10" fmla="*/ 6810409 h 6858000"/>
              <a:gd name="connsiteX11" fmla="*/ 504684 w 7639528"/>
              <a:gd name="connsiteY11" fmla="*/ 5939484 h 6858000"/>
              <a:gd name="connsiteX12" fmla="*/ 0 w 7639528"/>
              <a:gd name="connsiteY12" fmla="*/ 5058319 h 6858000"/>
              <a:gd name="connsiteX13" fmla="*/ 0 w 7639528"/>
              <a:gd name="connsiteY13" fmla="*/ 1810880 h 6858000"/>
              <a:gd name="connsiteX14" fmla="*/ 504684 w 7639528"/>
              <a:gd name="connsiteY14" fmla="*/ 939616 h 6858000"/>
              <a:gd name="connsiteX15" fmla="*/ 2129444 w 7639528"/>
              <a:gd name="connsiteY15" fmla="*/ 90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639528" h="6858000">
                <a:moveTo>
                  <a:pt x="2131006" y="0"/>
                </a:moveTo>
                <a:lnTo>
                  <a:pt x="5508522" y="0"/>
                </a:lnTo>
                <a:lnTo>
                  <a:pt x="5627413" y="68690"/>
                </a:lnTo>
                <a:cubicBezTo>
                  <a:pt x="7134844" y="939616"/>
                  <a:pt x="7134844" y="939616"/>
                  <a:pt x="7134844" y="939616"/>
                </a:cubicBezTo>
                <a:cubicBezTo>
                  <a:pt x="7411925" y="1098027"/>
                  <a:pt x="7639528" y="1494057"/>
                  <a:pt x="7639528" y="1810880"/>
                </a:cubicBezTo>
                <a:lnTo>
                  <a:pt x="7639528" y="5058319"/>
                </a:lnTo>
                <a:cubicBezTo>
                  <a:pt x="7639528" y="5385043"/>
                  <a:pt x="7411925" y="5771172"/>
                  <a:pt x="7134844" y="5939484"/>
                </a:cubicBezTo>
                <a:cubicBezTo>
                  <a:pt x="6520070" y="6294672"/>
                  <a:pt x="6039778" y="6572163"/>
                  <a:pt x="5664549" y="6788953"/>
                </a:cubicBezTo>
                <a:lnTo>
                  <a:pt x="5545041" y="6858000"/>
                </a:lnTo>
                <a:lnTo>
                  <a:pt x="2094488" y="6858000"/>
                </a:lnTo>
                <a:lnTo>
                  <a:pt x="2012116" y="6810409"/>
                </a:lnTo>
                <a:cubicBezTo>
                  <a:pt x="504684" y="5939484"/>
                  <a:pt x="504684" y="5939484"/>
                  <a:pt x="504684" y="5939484"/>
                </a:cubicBezTo>
                <a:cubicBezTo>
                  <a:pt x="227603" y="5771172"/>
                  <a:pt x="0" y="5385043"/>
                  <a:pt x="0" y="5058319"/>
                </a:cubicBezTo>
                <a:cubicBezTo>
                  <a:pt x="0" y="1810880"/>
                  <a:pt x="0" y="1810880"/>
                  <a:pt x="0" y="1810880"/>
                </a:cubicBezTo>
                <a:cubicBezTo>
                  <a:pt x="0" y="1494057"/>
                  <a:pt x="227603" y="1098027"/>
                  <a:pt x="504684" y="939616"/>
                </a:cubicBezTo>
                <a:cubicBezTo>
                  <a:pt x="1207283" y="533686"/>
                  <a:pt x="1734232" y="229238"/>
                  <a:pt x="2129444" y="903"/>
                </a:cubicBezTo>
                <a:close/>
              </a:path>
            </a:pathLst>
          </a:custGeom>
          <a:noFill/>
          <a:ln>
            <a:solidFill>
              <a:srgbClr val="74AF4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5002386" y="2208630"/>
            <a:ext cx="2196057" cy="2461843"/>
            <a:chOff x="5002386" y="2208630"/>
            <a:chExt cx="2196057" cy="2461843"/>
          </a:xfrm>
        </p:grpSpPr>
        <p:sp>
          <p:nvSpPr>
            <p:cNvPr id="10" name="Freeform 19"/>
            <p:cNvSpPr>
              <a:spLocks/>
            </p:cNvSpPr>
            <p:nvPr/>
          </p:nvSpPr>
          <p:spPr bwMode="auto">
            <a:xfrm>
              <a:off x="5002386" y="2208630"/>
              <a:ext cx="2196057" cy="2461843"/>
            </a:xfrm>
            <a:custGeom>
              <a:avLst/>
              <a:gdLst>
                <a:gd name="T0" fmla="*/ 772 w 772"/>
                <a:gd name="T1" fmla="*/ 596 h 865"/>
                <a:gd name="T2" fmla="*/ 721 w 772"/>
                <a:gd name="T3" fmla="*/ 685 h 865"/>
                <a:gd name="T4" fmla="*/ 437 w 772"/>
                <a:gd name="T5" fmla="*/ 849 h 865"/>
                <a:gd name="T6" fmla="*/ 335 w 772"/>
                <a:gd name="T7" fmla="*/ 849 h 865"/>
                <a:gd name="T8" fmla="*/ 51 w 772"/>
                <a:gd name="T9" fmla="*/ 685 h 865"/>
                <a:gd name="T10" fmla="*/ 0 w 772"/>
                <a:gd name="T11" fmla="*/ 596 h 865"/>
                <a:gd name="T12" fmla="*/ 0 w 772"/>
                <a:gd name="T13" fmla="*/ 268 h 865"/>
                <a:gd name="T14" fmla="*/ 51 w 772"/>
                <a:gd name="T15" fmla="*/ 180 h 865"/>
                <a:gd name="T16" fmla="*/ 335 w 772"/>
                <a:gd name="T17" fmla="*/ 16 h 865"/>
                <a:gd name="T18" fmla="*/ 437 w 772"/>
                <a:gd name="T19" fmla="*/ 16 h 865"/>
                <a:gd name="T20" fmla="*/ 721 w 772"/>
                <a:gd name="T21" fmla="*/ 180 h 865"/>
                <a:gd name="T22" fmla="*/ 772 w 772"/>
                <a:gd name="T23" fmla="*/ 268 h 865"/>
                <a:gd name="T24" fmla="*/ 772 w 772"/>
                <a:gd name="T25" fmla="*/ 596 h 8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2" h="865">
                  <a:moveTo>
                    <a:pt x="772" y="596"/>
                  </a:moveTo>
                  <a:cubicBezTo>
                    <a:pt x="772" y="629"/>
                    <a:pt x="749" y="668"/>
                    <a:pt x="721" y="685"/>
                  </a:cubicBezTo>
                  <a:cubicBezTo>
                    <a:pt x="437" y="849"/>
                    <a:pt x="437" y="849"/>
                    <a:pt x="437" y="849"/>
                  </a:cubicBezTo>
                  <a:cubicBezTo>
                    <a:pt x="409" y="865"/>
                    <a:pt x="363" y="865"/>
                    <a:pt x="335" y="849"/>
                  </a:cubicBezTo>
                  <a:cubicBezTo>
                    <a:pt x="51" y="685"/>
                    <a:pt x="51" y="685"/>
                    <a:pt x="51" y="685"/>
                  </a:cubicBezTo>
                  <a:cubicBezTo>
                    <a:pt x="23" y="668"/>
                    <a:pt x="0" y="629"/>
                    <a:pt x="0" y="596"/>
                  </a:cubicBezTo>
                  <a:cubicBezTo>
                    <a:pt x="0" y="268"/>
                    <a:pt x="0" y="268"/>
                    <a:pt x="0" y="268"/>
                  </a:cubicBezTo>
                  <a:cubicBezTo>
                    <a:pt x="0" y="236"/>
                    <a:pt x="23" y="196"/>
                    <a:pt x="51" y="180"/>
                  </a:cubicBezTo>
                  <a:cubicBezTo>
                    <a:pt x="335" y="16"/>
                    <a:pt x="335" y="16"/>
                    <a:pt x="335" y="16"/>
                  </a:cubicBezTo>
                  <a:cubicBezTo>
                    <a:pt x="363" y="0"/>
                    <a:pt x="409" y="0"/>
                    <a:pt x="437" y="16"/>
                  </a:cubicBezTo>
                  <a:cubicBezTo>
                    <a:pt x="721" y="180"/>
                    <a:pt x="721" y="180"/>
                    <a:pt x="721" y="180"/>
                  </a:cubicBezTo>
                  <a:cubicBezTo>
                    <a:pt x="749" y="196"/>
                    <a:pt x="772" y="236"/>
                    <a:pt x="772" y="268"/>
                  </a:cubicBezTo>
                  <a:lnTo>
                    <a:pt x="772" y="596"/>
                  </a:lnTo>
                  <a:close/>
                </a:path>
              </a:pathLst>
            </a:custGeom>
            <a:solidFill>
              <a:srgbClr val="74AF4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 flipH="1">
              <a:off x="5366821" y="2654720"/>
              <a:ext cx="1497526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600" dirty="0" smtClean="0">
                  <a:solidFill>
                    <a:schemeClr val="bg1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96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9" name="六边形 8"/>
          <p:cNvSpPr/>
          <p:nvPr/>
        </p:nvSpPr>
        <p:spPr>
          <a:xfrm>
            <a:off x="1057017" y="-1043354"/>
            <a:ext cx="962793" cy="829994"/>
          </a:xfrm>
          <a:prstGeom prst="hexagon">
            <a:avLst/>
          </a:prstGeom>
          <a:solidFill>
            <a:srgbClr val="0E64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六边形 10"/>
          <p:cNvSpPr/>
          <p:nvPr/>
        </p:nvSpPr>
        <p:spPr>
          <a:xfrm>
            <a:off x="2151952" y="-1043354"/>
            <a:ext cx="962793" cy="829994"/>
          </a:xfrm>
          <a:prstGeom prst="hexagon">
            <a:avLst/>
          </a:prstGeom>
          <a:solidFill>
            <a:srgbClr val="2DB2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六边形 11"/>
          <p:cNvSpPr/>
          <p:nvPr/>
        </p:nvSpPr>
        <p:spPr>
          <a:xfrm>
            <a:off x="3246887" y="-1043354"/>
            <a:ext cx="962793" cy="829994"/>
          </a:xfrm>
          <a:prstGeom prst="hexagon">
            <a:avLst/>
          </a:prstGeom>
          <a:solidFill>
            <a:srgbClr val="F87A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六边形 12"/>
          <p:cNvSpPr/>
          <p:nvPr/>
        </p:nvSpPr>
        <p:spPr>
          <a:xfrm>
            <a:off x="4341822" y="-1043354"/>
            <a:ext cx="962793" cy="829994"/>
          </a:xfrm>
          <a:prstGeom prst="hexagon">
            <a:avLst/>
          </a:prstGeom>
          <a:solidFill>
            <a:srgbClr val="74A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444523" y="5116563"/>
            <a:ext cx="35750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 來 展 望</a:t>
            </a:r>
            <a:endParaRPr lang="zh-CN" altLang="en-US" sz="5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CD8BB-5593-45B4-989A-D8D5518AAFB0}" type="slidenum">
              <a:rPr lang="zh-CN" altLang="en-US" smtClean="0"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7822137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2" grpId="0" animBg="1"/>
      <p:bldP spid="9" grpId="0" animBg="1"/>
      <p:bldP spid="11" grpId="0" animBg="1"/>
      <p:bldP spid="12" grpId="0" animBg="1"/>
      <p:bldP spid="13" grpId="0" animBg="1"/>
      <p:bldP spid="1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482725"/>
            <a:ext cx="10515600" cy="4718050"/>
          </a:xfrm>
        </p:spPr>
        <p:txBody>
          <a:bodyPr>
            <a:noAutofit/>
          </a:bodyPr>
          <a:lstStyle/>
          <a:p>
            <a:pPr>
              <a:buClr>
                <a:srgbClr val="65983E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/>
              <a:t>依託平台優勢，拓寬海外</a:t>
            </a:r>
            <a:r>
              <a:rPr lang="zh-CN" altLang="en-US" dirty="0"/>
              <a:t>系統</a:t>
            </a:r>
            <a:r>
              <a:rPr lang="zh-CN" altLang="en-US" dirty="0" smtClean="0"/>
              <a:t>推廣</a:t>
            </a:r>
            <a:endParaRPr lang="en-US" altLang="zh-CN" dirty="0" smtClean="0"/>
          </a:p>
          <a:p>
            <a:pPr>
              <a:buClr>
                <a:srgbClr val="65983E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/>
              <a:t>國內新</a:t>
            </a:r>
            <a:r>
              <a:rPr lang="zh-CN" altLang="en-US" dirty="0"/>
              <a:t>專案</a:t>
            </a:r>
            <a:r>
              <a:rPr lang="zh-CN" altLang="en-US" dirty="0" smtClean="0"/>
              <a:t>及</a:t>
            </a:r>
            <a:r>
              <a:rPr lang="zh-CN" altLang="en-US" dirty="0"/>
              <a:t>需求</a:t>
            </a:r>
            <a:r>
              <a:rPr lang="zh-CN" altLang="en-US" dirty="0" smtClean="0"/>
              <a:t>變更？</a:t>
            </a:r>
            <a:endParaRPr lang="en-US" altLang="zh-CN" dirty="0" smtClean="0"/>
          </a:p>
          <a:p>
            <a:pPr>
              <a:buClr>
                <a:srgbClr val="65983E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/>
              <a:t>企業微信</a:t>
            </a:r>
            <a:r>
              <a:rPr lang="en-US" altLang="zh-CN" dirty="0" smtClean="0"/>
              <a:t>…</a:t>
            </a:r>
          </a:p>
          <a:p>
            <a:pPr>
              <a:buClr>
                <a:srgbClr val="65983E"/>
              </a:buClr>
              <a:buFont typeface="Wingdings" panose="05000000000000000000" pitchFamily="2" charset="2"/>
              <a:buChar char="Ø"/>
            </a:pPr>
            <a:r>
              <a:rPr lang="en-US" altLang="zh-CN" dirty="0" smtClean="0"/>
              <a:t>Workflow</a:t>
            </a:r>
            <a:r>
              <a:rPr lang="zh-CN" altLang="en-US" dirty="0"/>
              <a:t>登錄</a:t>
            </a:r>
            <a:r>
              <a:rPr lang="zh-CN" altLang="en-US" dirty="0" smtClean="0"/>
              <a:t>驗證推動</a:t>
            </a:r>
            <a:endParaRPr lang="en-US" altLang="zh-CN" dirty="0" smtClean="0"/>
          </a:p>
          <a:p>
            <a:pPr>
              <a:buClr>
                <a:srgbClr val="65983E"/>
              </a:buClr>
              <a:buFont typeface="Wingdings" panose="05000000000000000000" pitchFamily="2" charset="2"/>
              <a:buChar char="Ø"/>
            </a:pPr>
            <a:r>
              <a:rPr lang="en-US" altLang="zh-CN" dirty="0" smtClean="0"/>
              <a:t>Workflow Web Api</a:t>
            </a:r>
          </a:p>
          <a:p>
            <a:pPr>
              <a:buClr>
                <a:srgbClr val="65983E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/>
              <a:t>企業微信平台應用</a:t>
            </a:r>
            <a:endParaRPr lang="en-US" altLang="zh-CN" dirty="0" smtClean="0"/>
          </a:p>
          <a:p>
            <a:pPr>
              <a:buClr>
                <a:srgbClr val="65983E"/>
              </a:buClr>
              <a:buFont typeface="Wingdings" panose="05000000000000000000" pitchFamily="2" charset="2"/>
              <a:buChar char="Ø"/>
            </a:pPr>
            <a:r>
              <a:rPr lang="zh-TW" altLang="en-US" dirty="0" smtClean="0"/>
              <a:t>技術</a:t>
            </a:r>
            <a:r>
              <a:rPr lang="zh-TW" altLang="en-US" dirty="0"/>
              <a:t>的儲備，大</a:t>
            </a:r>
            <a:r>
              <a:rPr lang="zh-TW" altLang="en-US" dirty="0" smtClean="0"/>
              <a:t>數據</a:t>
            </a:r>
            <a:endParaRPr lang="en-US" altLang="zh-TW" dirty="0" smtClean="0"/>
          </a:p>
          <a:p>
            <a:pPr>
              <a:buClr>
                <a:srgbClr val="65983E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/>
              <a:t>移動</a:t>
            </a:r>
            <a:r>
              <a:rPr lang="en-US" altLang="zh-CN" dirty="0" smtClean="0"/>
              <a:t>App</a:t>
            </a:r>
            <a:r>
              <a:rPr lang="zh-CN" altLang="en-US" dirty="0" smtClean="0"/>
              <a:t>開發</a:t>
            </a:r>
            <a:endParaRPr lang="en-US" altLang="zh-CN" dirty="0" smtClean="0"/>
          </a:p>
          <a:p>
            <a:pPr>
              <a:buClr>
                <a:srgbClr val="65983E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/>
              <a:t>物料移動平台優化</a:t>
            </a:r>
            <a:endParaRPr lang="en-US" altLang="zh-CN" dirty="0" smtClean="0"/>
          </a:p>
        </p:txBody>
      </p:sp>
      <p:pic>
        <p:nvPicPr>
          <p:cNvPr id="5" name="图片 2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867" b="59210"/>
          <a:stretch>
            <a:fillRect/>
          </a:stretch>
        </p:blipFill>
        <p:spPr>
          <a:xfrm>
            <a:off x="0" y="0"/>
            <a:ext cx="12192000" cy="998261"/>
          </a:xfrm>
          <a:custGeom>
            <a:avLst/>
            <a:gdLst>
              <a:gd name="connsiteX0" fmla="*/ 0 w 12192000"/>
              <a:gd name="connsiteY0" fmla="*/ 0 h 998261"/>
              <a:gd name="connsiteX1" fmla="*/ 12192000 w 12192000"/>
              <a:gd name="connsiteY1" fmla="*/ 0 h 998261"/>
              <a:gd name="connsiteX2" fmla="*/ 12192000 w 12192000"/>
              <a:gd name="connsiteY2" fmla="*/ 998261 h 998261"/>
              <a:gd name="connsiteX3" fmla="*/ 0 w 12192000"/>
              <a:gd name="connsiteY3" fmla="*/ 998261 h 998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998261">
                <a:moveTo>
                  <a:pt x="0" y="0"/>
                </a:moveTo>
                <a:lnTo>
                  <a:pt x="12192000" y="0"/>
                </a:lnTo>
                <a:lnTo>
                  <a:pt x="12192000" y="998261"/>
                </a:lnTo>
                <a:lnTo>
                  <a:pt x="0" y="998261"/>
                </a:lnTo>
                <a:close/>
              </a:path>
            </a:pathLst>
          </a:custGeom>
        </p:spPr>
      </p:pic>
      <p:sp>
        <p:nvSpPr>
          <p:cNvPr id="6" name="文本框 90"/>
          <p:cNvSpPr txBox="1"/>
          <p:nvPr/>
        </p:nvSpPr>
        <p:spPr>
          <a:xfrm>
            <a:off x="1928370" y="175962"/>
            <a:ext cx="21916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6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smtClean="0"/>
              <a:t>2021</a:t>
            </a:r>
            <a:r>
              <a:rPr lang="zh-CN" altLang="en-US" dirty="0" smtClean="0"/>
              <a:t>規劃</a:t>
            </a:r>
            <a:endParaRPr lang="zh-CN" altLang="en-US" dirty="0"/>
          </a:p>
        </p:txBody>
      </p:sp>
      <p:sp>
        <p:nvSpPr>
          <p:cNvPr id="9" name="Freeform 19"/>
          <p:cNvSpPr>
            <a:spLocks/>
          </p:cNvSpPr>
          <p:nvPr/>
        </p:nvSpPr>
        <p:spPr bwMode="auto">
          <a:xfrm>
            <a:off x="1074715" y="110145"/>
            <a:ext cx="693978" cy="777969"/>
          </a:xfrm>
          <a:custGeom>
            <a:avLst/>
            <a:gdLst>
              <a:gd name="T0" fmla="*/ 772 w 772"/>
              <a:gd name="T1" fmla="*/ 596 h 865"/>
              <a:gd name="T2" fmla="*/ 721 w 772"/>
              <a:gd name="T3" fmla="*/ 685 h 865"/>
              <a:gd name="T4" fmla="*/ 437 w 772"/>
              <a:gd name="T5" fmla="*/ 849 h 865"/>
              <a:gd name="T6" fmla="*/ 335 w 772"/>
              <a:gd name="T7" fmla="*/ 849 h 865"/>
              <a:gd name="T8" fmla="*/ 51 w 772"/>
              <a:gd name="T9" fmla="*/ 685 h 865"/>
              <a:gd name="T10" fmla="*/ 0 w 772"/>
              <a:gd name="T11" fmla="*/ 596 h 865"/>
              <a:gd name="T12" fmla="*/ 0 w 772"/>
              <a:gd name="T13" fmla="*/ 268 h 865"/>
              <a:gd name="T14" fmla="*/ 51 w 772"/>
              <a:gd name="T15" fmla="*/ 180 h 865"/>
              <a:gd name="T16" fmla="*/ 335 w 772"/>
              <a:gd name="T17" fmla="*/ 16 h 865"/>
              <a:gd name="T18" fmla="*/ 437 w 772"/>
              <a:gd name="T19" fmla="*/ 16 h 865"/>
              <a:gd name="T20" fmla="*/ 721 w 772"/>
              <a:gd name="T21" fmla="*/ 180 h 865"/>
              <a:gd name="T22" fmla="*/ 772 w 772"/>
              <a:gd name="T23" fmla="*/ 268 h 865"/>
              <a:gd name="T24" fmla="*/ 772 w 772"/>
              <a:gd name="T25" fmla="*/ 596 h 8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72" h="865">
                <a:moveTo>
                  <a:pt x="772" y="596"/>
                </a:moveTo>
                <a:cubicBezTo>
                  <a:pt x="772" y="629"/>
                  <a:pt x="749" y="668"/>
                  <a:pt x="721" y="685"/>
                </a:cubicBezTo>
                <a:cubicBezTo>
                  <a:pt x="437" y="849"/>
                  <a:pt x="437" y="849"/>
                  <a:pt x="437" y="849"/>
                </a:cubicBezTo>
                <a:cubicBezTo>
                  <a:pt x="409" y="865"/>
                  <a:pt x="363" y="865"/>
                  <a:pt x="335" y="849"/>
                </a:cubicBezTo>
                <a:cubicBezTo>
                  <a:pt x="51" y="685"/>
                  <a:pt x="51" y="685"/>
                  <a:pt x="51" y="685"/>
                </a:cubicBezTo>
                <a:cubicBezTo>
                  <a:pt x="23" y="668"/>
                  <a:pt x="0" y="629"/>
                  <a:pt x="0" y="596"/>
                </a:cubicBezTo>
                <a:cubicBezTo>
                  <a:pt x="0" y="268"/>
                  <a:pt x="0" y="268"/>
                  <a:pt x="0" y="268"/>
                </a:cubicBezTo>
                <a:cubicBezTo>
                  <a:pt x="0" y="236"/>
                  <a:pt x="23" y="196"/>
                  <a:pt x="51" y="180"/>
                </a:cubicBezTo>
                <a:cubicBezTo>
                  <a:pt x="335" y="16"/>
                  <a:pt x="335" y="16"/>
                  <a:pt x="335" y="16"/>
                </a:cubicBezTo>
                <a:cubicBezTo>
                  <a:pt x="363" y="0"/>
                  <a:pt x="409" y="0"/>
                  <a:pt x="437" y="16"/>
                </a:cubicBezTo>
                <a:cubicBezTo>
                  <a:pt x="721" y="180"/>
                  <a:pt x="721" y="180"/>
                  <a:pt x="721" y="180"/>
                </a:cubicBezTo>
                <a:cubicBezTo>
                  <a:pt x="749" y="196"/>
                  <a:pt x="772" y="236"/>
                  <a:pt x="772" y="268"/>
                </a:cubicBezTo>
                <a:lnTo>
                  <a:pt x="772" y="596"/>
                </a:lnTo>
                <a:close/>
              </a:path>
            </a:pathLst>
          </a:custGeom>
          <a:solidFill>
            <a:srgbClr val="74AF4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17"/>
          <p:cNvSpPr>
            <a:spLocks noChangeArrowheads="1"/>
          </p:cNvSpPr>
          <p:nvPr/>
        </p:nvSpPr>
        <p:spPr bwMode="auto">
          <a:xfrm>
            <a:off x="1127163" y="206741"/>
            <a:ext cx="62228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Impact" panose="020B0806030902050204" pitchFamily="34" charset="0"/>
                <a:ea typeface="FZYaoTi" panose="02010601030101010101" pitchFamily="2" charset="-122"/>
                <a:sym typeface="Impact" panose="020B0806030902050204" pitchFamily="34" charset="0"/>
              </a:rPr>
              <a:t>03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  <a:ea typeface="FZYaoTi" panose="02010601030101010101" pitchFamily="2" charset="-122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121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2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867" b="59210"/>
          <a:stretch>
            <a:fillRect/>
          </a:stretch>
        </p:blipFill>
        <p:spPr>
          <a:xfrm>
            <a:off x="0" y="0"/>
            <a:ext cx="12192000" cy="998261"/>
          </a:xfrm>
          <a:custGeom>
            <a:avLst/>
            <a:gdLst>
              <a:gd name="connsiteX0" fmla="*/ 0 w 12192000"/>
              <a:gd name="connsiteY0" fmla="*/ 0 h 998261"/>
              <a:gd name="connsiteX1" fmla="*/ 12192000 w 12192000"/>
              <a:gd name="connsiteY1" fmla="*/ 0 h 998261"/>
              <a:gd name="connsiteX2" fmla="*/ 12192000 w 12192000"/>
              <a:gd name="connsiteY2" fmla="*/ 998261 h 998261"/>
              <a:gd name="connsiteX3" fmla="*/ 0 w 12192000"/>
              <a:gd name="connsiteY3" fmla="*/ 998261 h 998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998261">
                <a:moveTo>
                  <a:pt x="0" y="0"/>
                </a:moveTo>
                <a:lnTo>
                  <a:pt x="12192000" y="0"/>
                </a:lnTo>
                <a:lnTo>
                  <a:pt x="12192000" y="998261"/>
                </a:lnTo>
                <a:lnTo>
                  <a:pt x="0" y="998261"/>
                </a:lnTo>
                <a:close/>
              </a:path>
            </a:pathLst>
          </a:custGeom>
        </p:spPr>
      </p:pic>
      <p:sp>
        <p:nvSpPr>
          <p:cNvPr id="6" name="文本框 90"/>
          <p:cNvSpPr txBox="1"/>
          <p:nvPr/>
        </p:nvSpPr>
        <p:spPr>
          <a:xfrm>
            <a:off x="1928370" y="175962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6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 smtClean="0"/>
              <a:t>頭腦風暴</a:t>
            </a:r>
            <a:endParaRPr lang="zh-CN" altLang="en-US" dirty="0"/>
          </a:p>
        </p:txBody>
      </p:sp>
      <p:sp>
        <p:nvSpPr>
          <p:cNvPr id="9" name="Freeform 19"/>
          <p:cNvSpPr>
            <a:spLocks/>
          </p:cNvSpPr>
          <p:nvPr/>
        </p:nvSpPr>
        <p:spPr bwMode="auto">
          <a:xfrm>
            <a:off x="1074715" y="110145"/>
            <a:ext cx="693978" cy="777969"/>
          </a:xfrm>
          <a:custGeom>
            <a:avLst/>
            <a:gdLst>
              <a:gd name="T0" fmla="*/ 772 w 772"/>
              <a:gd name="T1" fmla="*/ 596 h 865"/>
              <a:gd name="T2" fmla="*/ 721 w 772"/>
              <a:gd name="T3" fmla="*/ 685 h 865"/>
              <a:gd name="T4" fmla="*/ 437 w 772"/>
              <a:gd name="T5" fmla="*/ 849 h 865"/>
              <a:gd name="T6" fmla="*/ 335 w 772"/>
              <a:gd name="T7" fmla="*/ 849 h 865"/>
              <a:gd name="T8" fmla="*/ 51 w 772"/>
              <a:gd name="T9" fmla="*/ 685 h 865"/>
              <a:gd name="T10" fmla="*/ 0 w 772"/>
              <a:gd name="T11" fmla="*/ 596 h 865"/>
              <a:gd name="T12" fmla="*/ 0 w 772"/>
              <a:gd name="T13" fmla="*/ 268 h 865"/>
              <a:gd name="T14" fmla="*/ 51 w 772"/>
              <a:gd name="T15" fmla="*/ 180 h 865"/>
              <a:gd name="T16" fmla="*/ 335 w 772"/>
              <a:gd name="T17" fmla="*/ 16 h 865"/>
              <a:gd name="T18" fmla="*/ 437 w 772"/>
              <a:gd name="T19" fmla="*/ 16 h 865"/>
              <a:gd name="T20" fmla="*/ 721 w 772"/>
              <a:gd name="T21" fmla="*/ 180 h 865"/>
              <a:gd name="T22" fmla="*/ 772 w 772"/>
              <a:gd name="T23" fmla="*/ 268 h 865"/>
              <a:gd name="T24" fmla="*/ 772 w 772"/>
              <a:gd name="T25" fmla="*/ 596 h 8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72" h="865">
                <a:moveTo>
                  <a:pt x="772" y="596"/>
                </a:moveTo>
                <a:cubicBezTo>
                  <a:pt x="772" y="629"/>
                  <a:pt x="749" y="668"/>
                  <a:pt x="721" y="685"/>
                </a:cubicBezTo>
                <a:cubicBezTo>
                  <a:pt x="437" y="849"/>
                  <a:pt x="437" y="849"/>
                  <a:pt x="437" y="849"/>
                </a:cubicBezTo>
                <a:cubicBezTo>
                  <a:pt x="409" y="865"/>
                  <a:pt x="363" y="865"/>
                  <a:pt x="335" y="849"/>
                </a:cubicBezTo>
                <a:cubicBezTo>
                  <a:pt x="51" y="685"/>
                  <a:pt x="51" y="685"/>
                  <a:pt x="51" y="685"/>
                </a:cubicBezTo>
                <a:cubicBezTo>
                  <a:pt x="23" y="668"/>
                  <a:pt x="0" y="629"/>
                  <a:pt x="0" y="596"/>
                </a:cubicBezTo>
                <a:cubicBezTo>
                  <a:pt x="0" y="268"/>
                  <a:pt x="0" y="268"/>
                  <a:pt x="0" y="268"/>
                </a:cubicBezTo>
                <a:cubicBezTo>
                  <a:pt x="0" y="236"/>
                  <a:pt x="23" y="196"/>
                  <a:pt x="51" y="180"/>
                </a:cubicBezTo>
                <a:cubicBezTo>
                  <a:pt x="335" y="16"/>
                  <a:pt x="335" y="16"/>
                  <a:pt x="335" y="16"/>
                </a:cubicBezTo>
                <a:cubicBezTo>
                  <a:pt x="363" y="0"/>
                  <a:pt x="409" y="0"/>
                  <a:pt x="437" y="16"/>
                </a:cubicBezTo>
                <a:cubicBezTo>
                  <a:pt x="721" y="180"/>
                  <a:pt x="721" y="180"/>
                  <a:pt x="721" y="180"/>
                </a:cubicBezTo>
                <a:cubicBezTo>
                  <a:pt x="749" y="196"/>
                  <a:pt x="772" y="236"/>
                  <a:pt x="772" y="268"/>
                </a:cubicBezTo>
                <a:lnTo>
                  <a:pt x="772" y="596"/>
                </a:lnTo>
                <a:close/>
              </a:path>
            </a:pathLst>
          </a:custGeom>
          <a:solidFill>
            <a:srgbClr val="74AF4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17"/>
          <p:cNvSpPr>
            <a:spLocks noChangeArrowheads="1"/>
          </p:cNvSpPr>
          <p:nvPr/>
        </p:nvSpPr>
        <p:spPr bwMode="auto">
          <a:xfrm>
            <a:off x="1127163" y="206741"/>
            <a:ext cx="62228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Impact" panose="020B0806030902050204" pitchFamily="34" charset="0"/>
                <a:ea typeface="FZYaoTi" panose="02010601030101010101" pitchFamily="2" charset="-122"/>
                <a:sym typeface="Impact" panose="020B0806030902050204" pitchFamily="34" charset="0"/>
              </a:rPr>
              <a:t>03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  <a:ea typeface="FZYaoTi" panose="02010601030101010101" pitchFamily="2" charset="-122"/>
              <a:sym typeface="Impact" panose="020B0806030902050204" pitchFamily="34" charset="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1174223"/>
            <a:ext cx="4613919" cy="462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37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9"/>
          <p:cNvSpPr>
            <a:spLocks/>
          </p:cNvSpPr>
          <p:nvPr/>
        </p:nvSpPr>
        <p:spPr bwMode="auto">
          <a:xfrm>
            <a:off x="4812240" y="1995471"/>
            <a:ext cx="2576347" cy="2888159"/>
          </a:xfrm>
          <a:custGeom>
            <a:avLst/>
            <a:gdLst>
              <a:gd name="T0" fmla="*/ 772 w 772"/>
              <a:gd name="T1" fmla="*/ 596 h 865"/>
              <a:gd name="T2" fmla="*/ 721 w 772"/>
              <a:gd name="T3" fmla="*/ 685 h 865"/>
              <a:gd name="T4" fmla="*/ 437 w 772"/>
              <a:gd name="T5" fmla="*/ 849 h 865"/>
              <a:gd name="T6" fmla="*/ 335 w 772"/>
              <a:gd name="T7" fmla="*/ 849 h 865"/>
              <a:gd name="T8" fmla="*/ 51 w 772"/>
              <a:gd name="T9" fmla="*/ 685 h 865"/>
              <a:gd name="T10" fmla="*/ 0 w 772"/>
              <a:gd name="T11" fmla="*/ 596 h 865"/>
              <a:gd name="T12" fmla="*/ 0 w 772"/>
              <a:gd name="T13" fmla="*/ 268 h 865"/>
              <a:gd name="T14" fmla="*/ 51 w 772"/>
              <a:gd name="T15" fmla="*/ 180 h 865"/>
              <a:gd name="T16" fmla="*/ 335 w 772"/>
              <a:gd name="T17" fmla="*/ 16 h 865"/>
              <a:gd name="T18" fmla="*/ 437 w 772"/>
              <a:gd name="T19" fmla="*/ 16 h 865"/>
              <a:gd name="T20" fmla="*/ 721 w 772"/>
              <a:gd name="T21" fmla="*/ 180 h 865"/>
              <a:gd name="T22" fmla="*/ 772 w 772"/>
              <a:gd name="T23" fmla="*/ 268 h 865"/>
              <a:gd name="T24" fmla="*/ 772 w 772"/>
              <a:gd name="T25" fmla="*/ 596 h 8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72" h="865">
                <a:moveTo>
                  <a:pt x="772" y="596"/>
                </a:moveTo>
                <a:cubicBezTo>
                  <a:pt x="772" y="629"/>
                  <a:pt x="749" y="668"/>
                  <a:pt x="721" y="685"/>
                </a:cubicBezTo>
                <a:cubicBezTo>
                  <a:pt x="437" y="849"/>
                  <a:pt x="437" y="849"/>
                  <a:pt x="437" y="849"/>
                </a:cubicBezTo>
                <a:cubicBezTo>
                  <a:pt x="409" y="865"/>
                  <a:pt x="363" y="865"/>
                  <a:pt x="335" y="849"/>
                </a:cubicBezTo>
                <a:cubicBezTo>
                  <a:pt x="51" y="685"/>
                  <a:pt x="51" y="685"/>
                  <a:pt x="51" y="685"/>
                </a:cubicBezTo>
                <a:cubicBezTo>
                  <a:pt x="23" y="668"/>
                  <a:pt x="0" y="629"/>
                  <a:pt x="0" y="596"/>
                </a:cubicBezTo>
                <a:cubicBezTo>
                  <a:pt x="0" y="268"/>
                  <a:pt x="0" y="268"/>
                  <a:pt x="0" y="268"/>
                </a:cubicBezTo>
                <a:cubicBezTo>
                  <a:pt x="0" y="236"/>
                  <a:pt x="23" y="196"/>
                  <a:pt x="51" y="180"/>
                </a:cubicBezTo>
                <a:cubicBezTo>
                  <a:pt x="335" y="16"/>
                  <a:pt x="335" y="16"/>
                  <a:pt x="335" y="16"/>
                </a:cubicBezTo>
                <a:cubicBezTo>
                  <a:pt x="363" y="0"/>
                  <a:pt x="409" y="0"/>
                  <a:pt x="437" y="16"/>
                </a:cubicBezTo>
                <a:cubicBezTo>
                  <a:pt x="721" y="180"/>
                  <a:pt x="721" y="180"/>
                  <a:pt x="721" y="180"/>
                </a:cubicBezTo>
                <a:cubicBezTo>
                  <a:pt x="749" y="196"/>
                  <a:pt x="772" y="236"/>
                  <a:pt x="772" y="268"/>
                </a:cubicBezTo>
                <a:lnTo>
                  <a:pt x="772" y="596"/>
                </a:lnTo>
                <a:close/>
              </a:path>
            </a:pathLst>
          </a:custGeom>
          <a:noFill/>
          <a:ln>
            <a:solidFill>
              <a:srgbClr val="0E647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>
            <a:spLocks/>
          </p:cNvSpPr>
          <p:nvPr/>
        </p:nvSpPr>
        <p:spPr bwMode="auto">
          <a:xfrm>
            <a:off x="2280649" y="0"/>
            <a:ext cx="7639528" cy="6858000"/>
          </a:xfrm>
          <a:custGeom>
            <a:avLst/>
            <a:gdLst>
              <a:gd name="connsiteX0" fmla="*/ 2131006 w 7639528"/>
              <a:gd name="connsiteY0" fmla="*/ 0 h 6858000"/>
              <a:gd name="connsiteX1" fmla="*/ 5508522 w 7639528"/>
              <a:gd name="connsiteY1" fmla="*/ 0 h 6858000"/>
              <a:gd name="connsiteX2" fmla="*/ 5627413 w 7639528"/>
              <a:gd name="connsiteY2" fmla="*/ 68690 h 6858000"/>
              <a:gd name="connsiteX3" fmla="*/ 7134844 w 7639528"/>
              <a:gd name="connsiteY3" fmla="*/ 939616 h 6858000"/>
              <a:gd name="connsiteX4" fmla="*/ 7639528 w 7639528"/>
              <a:gd name="connsiteY4" fmla="*/ 1810880 h 6858000"/>
              <a:gd name="connsiteX5" fmla="*/ 7639528 w 7639528"/>
              <a:gd name="connsiteY5" fmla="*/ 5058319 h 6858000"/>
              <a:gd name="connsiteX6" fmla="*/ 7134844 w 7639528"/>
              <a:gd name="connsiteY6" fmla="*/ 5939484 h 6858000"/>
              <a:gd name="connsiteX7" fmla="*/ 5664549 w 7639528"/>
              <a:gd name="connsiteY7" fmla="*/ 6788953 h 6858000"/>
              <a:gd name="connsiteX8" fmla="*/ 5545041 w 7639528"/>
              <a:gd name="connsiteY8" fmla="*/ 6858000 h 6858000"/>
              <a:gd name="connsiteX9" fmla="*/ 2094488 w 7639528"/>
              <a:gd name="connsiteY9" fmla="*/ 6858000 h 6858000"/>
              <a:gd name="connsiteX10" fmla="*/ 2012116 w 7639528"/>
              <a:gd name="connsiteY10" fmla="*/ 6810409 h 6858000"/>
              <a:gd name="connsiteX11" fmla="*/ 504684 w 7639528"/>
              <a:gd name="connsiteY11" fmla="*/ 5939484 h 6858000"/>
              <a:gd name="connsiteX12" fmla="*/ 0 w 7639528"/>
              <a:gd name="connsiteY12" fmla="*/ 5058319 h 6858000"/>
              <a:gd name="connsiteX13" fmla="*/ 0 w 7639528"/>
              <a:gd name="connsiteY13" fmla="*/ 1810880 h 6858000"/>
              <a:gd name="connsiteX14" fmla="*/ 504684 w 7639528"/>
              <a:gd name="connsiteY14" fmla="*/ 939616 h 6858000"/>
              <a:gd name="connsiteX15" fmla="*/ 2129444 w 7639528"/>
              <a:gd name="connsiteY15" fmla="*/ 90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639528" h="6858000">
                <a:moveTo>
                  <a:pt x="2131006" y="0"/>
                </a:moveTo>
                <a:lnTo>
                  <a:pt x="5508522" y="0"/>
                </a:lnTo>
                <a:lnTo>
                  <a:pt x="5627413" y="68690"/>
                </a:lnTo>
                <a:cubicBezTo>
                  <a:pt x="7134844" y="939616"/>
                  <a:pt x="7134844" y="939616"/>
                  <a:pt x="7134844" y="939616"/>
                </a:cubicBezTo>
                <a:cubicBezTo>
                  <a:pt x="7411925" y="1098027"/>
                  <a:pt x="7639528" y="1494057"/>
                  <a:pt x="7639528" y="1810880"/>
                </a:cubicBezTo>
                <a:lnTo>
                  <a:pt x="7639528" y="5058319"/>
                </a:lnTo>
                <a:cubicBezTo>
                  <a:pt x="7639528" y="5385043"/>
                  <a:pt x="7411925" y="5771172"/>
                  <a:pt x="7134844" y="5939484"/>
                </a:cubicBezTo>
                <a:cubicBezTo>
                  <a:pt x="6520070" y="6294672"/>
                  <a:pt x="6039778" y="6572163"/>
                  <a:pt x="5664549" y="6788953"/>
                </a:cubicBezTo>
                <a:lnTo>
                  <a:pt x="5545041" y="6858000"/>
                </a:lnTo>
                <a:lnTo>
                  <a:pt x="2094488" y="6858000"/>
                </a:lnTo>
                <a:lnTo>
                  <a:pt x="2012116" y="6810409"/>
                </a:lnTo>
                <a:cubicBezTo>
                  <a:pt x="504684" y="5939484"/>
                  <a:pt x="504684" y="5939484"/>
                  <a:pt x="504684" y="5939484"/>
                </a:cubicBezTo>
                <a:cubicBezTo>
                  <a:pt x="227603" y="5771172"/>
                  <a:pt x="0" y="5385043"/>
                  <a:pt x="0" y="5058319"/>
                </a:cubicBezTo>
                <a:cubicBezTo>
                  <a:pt x="0" y="1810880"/>
                  <a:pt x="0" y="1810880"/>
                  <a:pt x="0" y="1810880"/>
                </a:cubicBezTo>
                <a:cubicBezTo>
                  <a:pt x="0" y="1494057"/>
                  <a:pt x="227603" y="1098027"/>
                  <a:pt x="504684" y="939616"/>
                </a:cubicBezTo>
                <a:cubicBezTo>
                  <a:pt x="1207283" y="533686"/>
                  <a:pt x="1734232" y="229238"/>
                  <a:pt x="2129444" y="903"/>
                </a:cubicBezTo>
                <a:close/>
              </a:path>
            </a:pathLst>
          </a:custGeom>
          <a:noFill/>
          <a:ln>
            <a:solidFill>
              <a:srgbClr val="0E647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5002386" y="2208630"/>
            <a:ext cx="2196057" cy="2461843"/>
            <a:chOff x="5002386" y="2208630"/>
            <a:chExt cx="2196057" cy="2461843"/>
          </a:xfrm>
        </p:grpSpPr>
        <p:sp>
          <p:nvSpPr>
            <p:cNvPr id="10" name="Freeform 19"/>
            <p:cNvSpPr>
              <a:spLocks/>
            </p:cNvSpPr>
            <p:nvPr/>
          </p:nvSpPr>
          <p:spPr bwMode="auto">
            <a:xfrm>
              <a:off x="5002386" y="2208630"/>
              <a:ext cx="2196057" cy="2461843"/>
            </a:xfrm>
            <a:custGeom>
              <a:avLst/>
              <a:gdLst>
                <a:gd name="T0" fmla="*/ 772 w 772"/>
                <a:gd name="T1" fmla="*/ 596 h 865"/>
                <a:gd name="T2" fmla="*/ 721 w 772"/>
                <a:gd name="T3" fmla="*/ 685 h 865"/>
                <a:gd name="T4" fmla="*/ 437 w 772"/>
                <a:gd name="T5" fmla="*/ 849 h 865"/>
                <a:gd name="T6" fmla="*/ 335 w 772"/>
                <a:gd name="T7" fmla="*/ 849 h 865"/>
                <a:gd name="T8" fmla="*/ 51 w 772"/>
                <a:gd name="T9" fmla="*/ 685 h 865"/>
                <a:gd name="T10" fmla="*/ 0 w 772"/>
                <a:gd name="T11" fmla="*/ 596 h 865"/>
                <a:gd name="T12" fmla="*/ 0 w 772"/>
                <a:gd name="T13" fmla="*/ 268 h 865"/>
                <a:gd name="T14" fmla="*/ 51 w 772"/>
                <a:gd name="T15" fmla="*/ 180 h 865"/>
                <a:gd name="T16" fmla="*/ 335 w 772"/>
                <a:gd name="T17" fmla="*/ 16 h 865"/>
                <a:gd name="T18" fmla="*/ 437 w 772"/>
                <a:gd name="T19" fmla="*/ 16 h 865"/>
                <a:gd name="T20" fmla="*/ 721 w 772"/>
                <a:gd name="T21" fmla="*/ 180 h 865"/>
                <a:gd name="T22" fmla="*/ 772 w 772"/>
                <a:gd name="T23" fmla="*/ 268 h 865"/>
                <a:gd name="T24" fmla="*/ 772 w 772"/>
                <a:gd name="T25" fmla="*/ 596 h 8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2" h="865">
                  <a:moveTo>
                    <a:pt x="772" y="596"/>
                  </a:moveTo>
                  <a:cubicBezTo>
                    <a:pt x="772" y="629"/>
                    <a:pt x="749" y="668"/>
                    <a:pt x="721" y="685"/>
                  </a:cubicBezTo>
                  <a:cubicBezTo>
                    <a:pt x="437" y="849"/>
                    <a:pt x="437" y="849"/>
                    <a:pt x="437" y="849"/>
                  </a:cubicBezTo>
                  <a:cubicBezTo>
                    <a:pt x="409" y="865"/>
                    <a:pt x="363" y="865"/>
                    <a:pt x="335" y="849"/>
                  </a:cubicBezTo>
                  <a:cubicBezTo>
                    <a:pt x="51" y="685"/>
                    <a:pt x="51" y="685"/>
                    <a:pt x="51" y="685"/>
                  </a:cubicBezTo>
                  <a:cubicBezTo>
                    <a:pt x="23" y="668"/>
                    <a:pt x="0" y="629"/>
                    <a:pt x="0" y="596"/>
                  </a:cubicBezTo>
                  <a:cubicBezTo>
                    <a:pt x="0" y="268"/>
                    <a:pt x="0" y="268"/>
                    <a:pt x="0" y="268"/>
                  </a:cubicBezTo>
                  <a:cubicBezTo>
                    <a:pt x="0" y="236"/>
                    <a:pt x="23" y="196"/>
                    <a:pt x="51" y="180"/>
                  </a:cubicBezTo>
                  <a:cubicBezTo>
                    <a:pt x="335" y="16"/>
                    <a:pt x="335" y="16"/>
                    <a:pt x="335" y="16"/>
                  </a:cubicBezTo>
                  <a:cubicBezTo>
                    <a:pt x="363" y="0"/>
                    <a:pt x="409" y="0"/>
                    <a:pt x="437" y="16"/>
                  </a:cubicBezTo>
                  <a:cubicBezTo>
                    <a:pt x="721" y="180"/>
                    <a:pt x="721" y="180"/>
                    <a:pt x="721" y="180"/>
                  </a:cubicBezTo>
                  <a:cubicBezTo>
                    <a:pt x="749" y="196"/>
                    <a:pt x="772" y="236"/>
                    <a:pt x="772" y="268"/>
                  </a:cubicBezTo>
                  <a:lnTo>
                    <a:pt x="772" y="596"/>
                  </a:lnTo>
                  <a:close/>
                </a:path>
              </a:pathLst>
            </a:custGeom>
            <a:solidFill>
              <a:srgbClr val="0E647C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 flipH="1">
              <a:off x="5443021" y="2654720"/>
              <a:ext cx="1460656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600" dirty="0" smtClean="0">
                  <a:solidFill>
                    <a:schemeClr val="bg1"/>
                  </a:solidFill>
                  <a:latin typeface="Impact" panose="020B0806030902050204" pitchFamily="34" charset="0"/>
                </a:rPr>
                <a:t>04</a:t>
              </a:r>
              <a:endParaRPr lang="zh-CN" altLang="en-US" sz="96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4596938" y="5116563"/>
            <a:ext cx="3291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 仁 報 告</a:t>
            </a:r>
            <a:endParaRPr lang="zh-CN" altLang="en-US" sz="48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7535392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2" grpId="0" animBg="1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64417" y="2452985"/>
            <a:ext cx="10389383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9600" b="1" cap="none" spc="0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感謝各位</a:t>
            </a:r>
            <a:r>
              <a:rPr lang="en-US" altLang="zh-CN" sz="9600" b="1" cap="none" spc="0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CN" altLang="en-US" sz="9600" b="1" cap="none" spc="0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辛苦</a:t>
            </a:r>
            <a:r>
              <a:rPr lang="zh-CN" altLang="en-US" sz="9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了</a:t>
            </a:r>
            <a:r>
              <a:rPr lang="zh-CN" altLang="en-US" sz="9600" b="1" cap="none" spc="0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！</a:t>
            </a:r>
            <a:endParaRPr lang="zh-TW" altLang="en-US" sz="96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79853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D9C9AD82-1647-477E-A0E1-99818496E673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A6TU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A6TU0cNwDEewAEAANoDAAAPAAAAAAAAAAEAAAAAAAAAAABub25lL3BsYXllci54bWxQSwUGAAAAAAEAAQA9AAAA7QEAAAAA"/>
  <p:tag name="ISPRING_PRESENTATION_TITLE" val="4色大气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第一PPT，www.1ppt.com">
  <a:themeElements>
    <a:clrScheme name="自定义 1">
      <a:dk1>
        <a:srgbClr val="424554"/>
      </a:dk1>
      <a:lt1>
        <a:srgbClr val="44A6BA"/>
      </a:lt1>
      <a:dk2>
        <a:srgbClr val="E34B07"/>
      </a:dk2>
      <a:lt2>
        <a:srgbClr val="605958"/>
      </a:lt2>
      <a:accent1>
        <a:srgbClr val="F38D16"/>
      </a:accent1>
      <a:accent2>
        <a:srgbClr val="F3F4F6"/>
      </a:accent2>
      <a:accent3>
        <a:srgbClr val="42494D"/>
      </a:accent3>
      <a:accent4>
        <a:srgbClr val="424554"/>
      </a:accent4>
      <a:accent5>
        <a:srgbClr val="44A6BA"/>
      </a:accent5>
      <a:accent6>
        <a:srgbClr val="E34B07"/>
      </a:accent6>
      <a:hlink>
        <a:srgbClr val="F38D16"/>
      </a:hlink>
      <a:folHlink>
        <a:srgbClr val="605958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4606</TotalTime>
  <Words>1097</Words>
  <Application>Microsoft Office PowerPoint</Application>
  <PresentationFormat>寬螢幕</PresentationFormat>
  <Paragraphs>297</Paragraphs>
  <Slides>19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17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19</vt:i4>
      </vt:variant>
    </vt:vector>
  </HeadingPairs>
  <TitlesOfParts>
    <vt:vector size="38" baseType="lpstr">
      <vt:lpstr>仿宋_GB2312</vt:lpstr>
      <vt:lpstr>FZYaoTi</vt:lpstr>
      <vt:lpstr>FZYaoTi</vt:lpstr>
      <vt:lpstr>Kartika</vt:lpstr>
      <vt:lpstr>微软雅黑</vt:lpstr>
      <vt:lpstr>微软雅黑</vt:lpstr>
      <vt:lpstr>宋体</vt:lpstr>
      <vt:lpstr>宋体</vt:lpstr>
      <vt:lpstr>微軟正黑體</vt:lpstr>
      <vt:lpstr>新細明體</vt:lpstr>
      <vt:lpstr>標楷體</vt:lpstr>
      <vt:lpstr>Arial</vt:lpstr>
      <vt:lpstr>Calibri</vt:lpstr>
      <vt:lpstr>Calibri Light</vt:lpstr>
      <vt:lpstr>Impact</vt:lpstr>
      <vt:lpstr>Times New Roman</vt:lpstr>
      <vt:lpstr>Wingdings</vt:lpstr>
      <vt:lpstr>第一PPT，www.1ppt.com</vt:lpstr>
      <vt:lpstr>1_第一PPT，www.1ppt.com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工作总结计划</dc:title>
  <dc:creator>第一PPT</dc:creator>
  <cp:keywords>www.1ppt.com</cp:keywords>
  <cp:lastModifiedBy>段會峰</cp:lastModifiedBy>
  <cp:revision>280</cp:revision>
  <dcterms:created xsi:type="dcterms:W3CDTF">2015-11-11T13:49:48Z</dcterms:created>
  <dcterms:modified xsi:type="dcterms:W3CDTF">2020-11-13T00:22:04Z</dcterms:modified>
</cp:coreProperties>
</file>