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300" r:id="rId2"/>
    <p:sldId id="260" r:id="rId3"/>
    <p:sldId id="266" r:id="rId4"/>
    <p:sldId id="259" r:id="rId5"/>
    <p:sldId id="258" r:id="rId6"/>
    <p:sldId id="302" r:id="rId7"/>
    <p:sldId id="261" r:id="rId8"/>
    <p:sldId id="271" r:id="rId9"/>
    <p:sldId id="269" r:id="rId10"/>
    <p:sldId id="270" r:id="rId11"/>
    <p:sldId id="303" r:id="rId12"/>
    <p:sldId id="272" r:id="rId13"/>
    <p:sldId id="288" r:id="rId14"/>
    <p:sldId id="283" r:id="rId15"/>
    <p:sldId id="289" r:id="rId16"/>
    <p:sldId id="299" r:id="rId17"/>
  </p:sldIdLst>
  <p:sldSz cx="12195175"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96">
          <p15:clr>
            <a:srgbClr val="A4A3A4"/>
          </p15:clr>
        </p15:guide>
        <p15:guide id="2" pos="506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5F8F"/>
    <a:srgbClr val="F1F1F1"/>
    <a:srgbClr val="809BC6"/>
    <a:srgbClr val="6082B8"/>
    <a:srgbClr val="2DB2A4"/>
    <a:srgbClr val="249086"/>
    <a:srgbClr val="F77A08"/>
    <a:srgbClr val="0E647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317" autoAdjust="0"/>
  </p:normalViewPr>
  <p:slideViewPr>
    <p:cSldViewPr showGuides="1">
      <p:cViewPr varScale="1">
        <p:scale>
          <a:sx n="73" d="100"/>
          <a:sy n="73" d="100"/>
        </p:scale>
        <p:origin x="90" y="558"/>
      </p:cViewPr>
      <p:guideLst>
        <p:guide orient="horz" pos="2296"/>
        <p:guide pos="5066"/>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D79F697-7B3E-4B61-BA36-BBED2B79610F}" type="datetimeFigureOut">
              <a:rPr lang="zh-CN" altLang="en-US" smtClean="0"/>
              <a:t>2020/11/3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721919F-01AF-46C7-8CD3-5043392422FD}" type="slidenum">
              <a:rPr lang="zh-CN" altLang="en-US" smtClean="0"/>
              <a:t>‹#›</a:t>
            </a:fld>
            <a:endParaRPr lang="zh-CN" altLang="en-US"/>
          </a:p>
        </p:txBody>
      </p:sp>
    </p:spTree>
    <p:extLst>
      <p:ext uri="{BB962C8B-B14F-4D97-AF65-F5344CB8AC3E}">
        <p14:creationId xmlns:p14="http://schemas.microsoft.com/office/powerpoint/2010/main" val="3458691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21919F-01AF-46C7-8CD3-5043392422FD}" type="slidenum">
              <a:rPr lang="zh-CN" altLang="en-US" smtClean="0"/>
              <a:t>1</a:t>
            </a:fld>
            <a:endParaRPr lang="zh-CN" altLang="en-US"/>
          </a:p>
        </p:txBody>
      </p:sp>
    </p:spTree>
    <p:extLst>
      <p:ext uri="{BB962C8B-B14F-4D97-AF65-F5344CB8AC3E}">
        <p14:creationId xmlns:p14="http://schemas.microsoft.com/office/powerpoint/2010/main" val="2883735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21919F-01AF-46C7-8CD3-5043392422FD}" type="slidenum">
              <a:rPr lang="zh-CN" altLang="en-US" smtClean="0"/>
              <a:t>2</a:t>
            </a:fld>
            <a:endParaRPr lang="zh-CN" altLang="en-US"/>
          </a:p>
        </p:txBody>
      </p:sp>
    </p:spTree>
    <p:extLst>
      <p:ext uri="{BB962C8B-B14F-4D97-AF65-F5344CB8AC3E}">
        <p14:creationId xmlns:p14="http://schemas.microsoft.com/office/powerpoint/2010/main" val="2599564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21919F-01AF-46C7-8CD3-5043392422FD}" type="slidenum">
              <a:rPr lang="zh-CN" altLang="en-US" smtClean="0"/>
              <a:t>3</a:t>
            </a:fld>
            <a:endParaRPr lang="zh-CN" altLang="en-US"/>
          </a:p>
        </p:txBody>
      </p:sp>
    </p:spTree>
    <p:extLst>
      <p:ext uri="{BB962C8B-B14F-4D97-AF65-F5344CB8AC3E}">
        <p14:creationId xmlns:p14="http://schemas.microsoft.com/office/powerpoint/2010/main" val="941987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21919F-01AF-46C7-8CD3-5043392422FD}" type="slidenum">
              <a:rPr lang="zh-CN" altLang="en-US" smtClean="0"/>
              <a:t>4</a:t>
            </a:fld>
            <a:endParaRPr lang="zh-CN" altLang="en-US"/>
          </a:p>
        </p:txBody>
      </p:sp>
    </p:spTree>
    <p:extLst>
      <p:ext uri="{BB962C8B-B14F-4D97-AF65-F5344CB8AC3E}">
        <p14:creationId xmlns:p14="http://schemas.microsoft.com/office/powerpoint/2010/main" val="2362964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21919F-01AF-46C7-8CD3-5043392422FD}" type="slidenum">
              <a:rPr lang="zh-CN" altLang="en-US" smtClean="0"/>
              <a:t>5</a:t>
            </a:fld>
            <a:endParaRPr lang="zh-CN" altLang="en-US"/>
          </a:p>
        </p:txBody>
      </p:sp>
    </p:spTree>
    <p:extLst>
      <p:ext uri="{BB962C8B-B14F-4D97-AF65-F5344CB8AC3E}">
        <p14:creationId xmlns:p14="http://schemas.microsoft.com/office/powerpoint/2010/main" val="1889840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21919F-01AF-46C7-8CD3-5043392422FD}" type="slidenum">
              <a:rPr lang="zh-CN" altLang="en-US" smtClean="0"/>
              <a:t>6</a:t>
            </a:fld>
            <a:endParaRPr lang="zh-CN" altLang="en-US"/>
          </a:p>
        </p:txBody>
      </p:sp>
    </p:spTree>
    <p:extLst>
      <p:ext uri="{BB962C8B-B14F-4D97-AF65-F5344CB8AC3E}">
        <p14:creationId xmlns:p14="http://schemas.microsoft.com/office/powerpoint/2010/main" val="2495263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21919F-01AF-46C7-8CD3-5043392422FD}" type="slidenum">
              <a:rPr lang="zh-CN" altLang="en-US" smtClean="0"/>
              <a:t>7</a:t>
            </a:fld>
            <a:endParaRPr lang="zh-CN" altLang="en-US"/>
          </a:p>
        </p:txBody>
      </p:sp>
    </p:spTree>
    <p:extLst>
      <p:ext uri="{BB962C8B-B14F-4D97-AF65-F5344CB8AC3E}">
        <p14:creationId xmlns:p14="http://schemas.microsoft.com/office/powerpoint/2010/main" val="1016194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21919F-01AF-46C7-8CD3-5043392422FD}" type="slidenum">
              <a:rPr lang="zh-CN" altLang="en-US" smtClean="0"/>
              <a:t>8</a:t>
            </a:fld>
            <a:endParaRPr lang="zh-CN" altLang="en-US"/>
          </a:p>
        </p:txBody>
      </p:sp>
    </p:spTree>
    <p:extLst>
      <p:ext uri="{BB962C8B-B14F-4D97-AF65-F5344CB8AC3E}">
        <p14:creationId xmlns:p14="http://schemas.microsoft.com/office/powerpoint/2010/main" val="1393980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21919F-01AF-46C7-8CD3-5043392422FD}" type="slidenum">
              <a:rPr lang="zh-CN" altLang="en-US" smtClean="0"/>
              <a:t>9</a:t>
            </a:fld>
            <a:endParaRPr lang="zh-CN" altLang="en-US"/>
          </a:p>
        </p:txBody>
      </p:sp>
    </p:spTree>
    <p:extLst>
      <p:ext uri="{BB962C8B-B14F-4D97-AF65-F5344CB8AC3E}">
        <p14:creationId xmlns:p14="http://schemas.microsoft.com/office/powerpoint/2010/main" val="14790359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21919F-01AF-46C7-8CD3-5043392422FD}" type="slidenum">
              <a:rPr lang="zh-CN" altLang="en-US" smtClean="0"/>
              <a:t>10</a:t>
            </a:fld>
            <a:endParaRPr lang="zh-CN" altLang="en-US"/>
          </a:p>
        </p:txBody>
      </p:sp>
    </p:spTree>
    <p:extLst>
      <p:ext uri="{BB962C8B-B14F-4D97-AF65-F5344CB8AC3E}">
        <p14:creationId xmlns:p14="http://schemas.microsoft.com/office/powerpoint/2010/main" val="18587924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21919F-01AF-46C7-8CD3-5043392422FD}" type="slidenum">
              <a:rPr lang="zh-CN" altLang="en-US" smtClean="0"/>
              <a:t>11</a:t>
            </a:fld>
            <a:endParaRPr lang="zh-CN" altLang="en-US"/>
          </a:p>
        </p:txBody>
      </p:sp>
    </p:spTree>
    <p:extLst>
      <p:ext uri="{BB962C8B-B14F-4D97-AF65-F5344CB8AC3E}">
        <p14:creationId xmlns:p14="http://schemas.microsoft.com/office/powerpoint/2010/main" val="37027610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21919F-01AF-46C7-8CD3-5043392422FD}" type="slidenum">
              <a:rPr lang="zh-CN" altLang="en-US" smtClean="0"/>
              <a:t>12</a:t>
            </a:fld>
            <a:endParaRPr lang="zh-CN" altLang="en-US"/>
          </a:p>
        </p:txBody>
      </p:sp>
    </p:spTree>
    <p:extLst>
      <p:ext uri="{BB962C8B-B14F-4D97-AF65-F5344CB8AC3E}">
        <p14:creationId xmlns:p14="http://schemas.microsoft.com/office/powerpoint/2010/main" val="26112096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21919F-01AF-46C7-8CD3-5043392422FD}" type="slidenum">
              <a:rPr lang="zh-CN" altLang="en-US" smtClean="0"/>
              <a:t>13</a:t>
            </a:fld>
            <a:endParaRPr lang="zh-CN" altLang="en-US"/>
          </a:p>
        </p:txBody>
      </p:sp>
    </p:spTree>
    <p:extLst>
      <p:ext uri="{BB962C8B-B14F-4D97-AF65-F5344CB8AC3E}">
        <p14:creationId xmlns:p14="http://schemas.microsoft.com/office/powerpoint/2010/main" val="31399641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21919F-01AF-46C7-8CD3-5043392422FD}" type="slidenum">
              <a:rPr lang="zh-CN" altLang="en-US" smtClean="0"/>
              <a:t>14</a:t>
            </a:fld>
            <a:endParaRPr lang="zh-CN" altLang="en-US"/>
          </a:p>
        </p:txBody>
      </p:sp>
    </p:spTree>
    <p:extLst>
      <p:ext uri="{BB962C8B-B14F-4D97-AF65-F5344CB8AC3E}">
        <p14:creationId xmlns:p14="http://schemas.microsoft.com/office/powerpoint/2010/main" val="12587778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21919F-01AF-46C7-8CD3-5043392422FD}" type="slidenum">
              <a:rPr lang="zh-CN" altLang="en-US" smtClean="0"/>
              <a:t>15</a:t>
            </a:fld>
            <a:endParaRPr lang="zh-CN" altLang="en-US"/>
          </a:p>
        </p:txBody>
      </p:sp>
    </p:spTree>
    <p:extLst>
      <p:ext uri="{BB962C8B-B14F-4D97-AF65-F5344CB8AC3E}">
        <p14:creationId xmlns:p14="http://schemas.microsoft.com/office/powerpoint/2010/main" val="21505573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21919F-01AF-46C7-8CD3-5043392422FD}" type="slidenum">
              <a:rPr lang="zh-CN" altLang="en-US" smtClean="0"/>
              <a:t>16</a:t>
            </a:fld>
            <a:endParaRPr lang="zh-CN" altLang="en-US"/>
          </a:p>
        </p:txBody>
      </p:sp>
    </p:spTree>
    <p:extLst>
      <p:ext uri="{BB962C8B-B14F-4D97-AF65-F5344CB8AC3E}">
        <p14:creationId xmlns:p14="http://schemas.microsoft.com/office/powerpoint/2010/main" val="3668536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638" y="2130426"/>
            <a:ext cx="10365899" cy="1470025"/>
          </a:xfrm>
        </p:spPr>
        <p:txBody>
          <a:bodyPr/>
          <a:lstStyle/>
          <a:p>
            <a:r>
              <a:rPr lang="zh-CN" altLang="en-US"/>
              <a:t>单击此处编辑母版标题样式</a:t>
            </a:r>
          </a:p>
        </p:txBody>
      </p:sp>
      <p:sp>
        <p:nvSpPr>
          <p:cNvPr id="3" name="副标题 2"/>
          <p:cNvSpPr>
            <a:spLocks noGrp="1"/>
          </p:cNvSpPr>
          <p:nvPr>
            <p:ph type="subTitle" idx="1"/>
          </p:nvPr>
        </p:nvSpPr>
        <p:spPr>
          <a:xfrm>
            <a:off x="1829276" y="3886200"/>
            <a:ext cx="8536623"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72B2DED-A951-47FE-B6BB-60A6F72D23B9}" type="datetimeFigureOut">
              <a:rPr lang="zh-CN" altLang="en-US" smtClean="0"/>
              <a:t>2020/11/3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BF1066-5FB3-4C05-A396-445A6094687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advClick="0" advTm="2000">
        <p14:ripple/>
      </p:transition>
    </mc:Choice>
    <mc:Fallback xmlns="">
      <p:transition spd="slow" advClick="0" advTm="2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72B2DED-A951-47FE-B6BB-60A6F72D23B9}" type="datetimeFigureOut">
              <a:rPr lang="zh-CN" altLang="en-US" smtClean="0"/>
              <a:t>2020/11/3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BF1066-5FB3-4C05-A396-445A6094687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advClick="0" advTm="2000">
        <p14:ripple/>
      </p:transition>
    </mc:Choice>
    <mc:Fallback xmlns="">
      <p:transition spd="slow" advClick="0" advTm="2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4406901"/>
            <a:ext cx="10365899"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335" y="2906713"/>
            <a:ext cx="10365899"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72B2DED-A951-47FE-B6BB-60A6F72D23B9}" type="datetimeFigureOut">
              <a:rPr lang="zh-CN" altLang="en-US" smtClean="0"/>
              <a:t>2020/11/3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BF1066-5FB3-4C05-A396-445A6094687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advClick="0" advTm="2000">
        <p14:ripple/>
      </p:transition>
    </mc:Choice>
    <mc:Fallback xmlns="">
      <p:transition spd="slow" advClick="0" advTm="2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13012" y="1600201"/>
            <a:ext cx="7217596"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8233862" y="1600201"/>
            <a:ext cx="721759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72B2DED-A951-47FE-B6BB-60A6F72D23B9}" type="datetimeFigureOut">
              <a:rPr lang="zh-CN" altLang="en-US" smtClean="0"/>
              <a:t>2020/11/3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BF1066-5FB3-4C05-A396-445A6094687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advClick="0" advTm="2000">
        <p14:ripple/>
      </p:transition>
    </mc:Choice>
    <mc:Fallback xmlns="">
      <p:transition spd="slow" advClick="0" advTm="2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59" y="1535113"/>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759" y="2174875"/>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980" y="1535113"/>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980" y="2174875"/>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72B2DED-A951-47FE-B6BB-60A6F72D23B9}" type="datetimeFigureOut">
              <a:rPr lang="zh-CN" altLang="en-US" smtClean="0"/>
              <a:t>2020/11/3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BF1066-5FB3-4C05-A396-445A60946879}" type="slidenum">
              <a:rPr lang="zh-CN" altLang="en-US" smtClean="0"/>
              <a:t>‹#›</a:t>
            </a:fld>
            <a:endParaRPr lang="zh-CN" altLang="en-US"/>
          </a:p>
        </p:txBody>
      </p:sp>
      <p:sp>
        <p:nvSpPr>
          <p:cNvPr id="11" name="矩形 10"/>
          <p:cNvSpPr/>
          <p:nvPr userDrawn="1"/>
        </p:nvSpPr>
        <p:spPr>
          <a:xfrm>
            <a:off x="9282891" y="6423139"/>
            <a:ext cx="775136" cy="246221"/>
          </a:xfrm>
          <a:prstGeom prst="rect">
            <a:avLst/>
          </a:prstGeom>
        </p:spPr>
        <p:txBody>
          <a:bodyPr wrap="square">
            <a:spAutoFit/>
          </a:bodyPr>
          <a:lstStyle/>
          <a:p>
            <a:r>
              <a:rPr lang="en-US" altLang="zh-CN" sz="100" dirty="0">
                <a:solidFill>
                  <a:schemeClr val="bg1">
                    <a:lumMod val="95000"/>
                  </a:schemeClr>
                </a:solidFill>
                <a:latin typeface="Calibri"/>
                <a:ea typeface="宋体"/>
              </a:rPr>
              <a:t>PPT</a:t>
            </a:r>
            <a:r>
              <a:rPr lang="zh-CN" altLang="en-US" sz="100" dirty="0">
                <a:solidFill>
                  <a:schemeClr val="bg1">
                    <a:lumMod val="95000"/>
                  </a:schemeClr>
                </a:solidFill>
                <a:latin typeface="Calibri"/>
                <a:ea typeface="宋体"/>
              </a:rPr>
              <a:t>模板下载：</a:t>
            </a:r>
            <a:r>
              <a:rPr lang="en-US" altLang="zh-CN" sz="100" dirty="0">
                <a:solidFill>
                  <a:schemeClr val="bg1">
                    <a:lumMod val="95000"/>
                  </a:schemeClr>
                </a:solidFill>
                <a:latin typeface="Calibri"/>
                <a:ea typeface="宋体"/>
              </a:rPr>
              <a:t>www.1ppt.com/moban/     </a:t>
            </a:r>
            <a:r>
              <a:rPr lang="zh-CN" altLang="en-US" sz="100" dirty="0">
                <a:solidFill>
                  <a:schemeClr val="bg1">
                    <a:lumMod val="95000"/>
                  </a:schemeClr>
                </a:solidFill>
                <a:latin typeface="Calibri"/>
                <a:ea typeface="宋体"/>
              </a:rPr>
              <a:t>行业</a:t>
            </a:r>
            <a:r>
              <a:rPr lang="en-US" altLang="zh-CN" sz="100" dirty="0">
                <a:solidFill>
                  <a:schemeClr val="bg1">
                    <a:lumMod val="95000"/>
                  </a:schemeClr>
                </a:solidFill>
                <a:latin typeface="Calibri"/>
                <a:ea typeface="宋体"/>
              </a:rPr>
              <a:t>PPT</a:t>
            </a:r>
            <a:r>
              <a:rPr lang="zh-CN" altLang="en-US" sz="100" dirty="0">
                <a:solidFill>
                  <a:schemeClr val="bg1">
                    <a:lumMod val="95000"/>
                  </a:schemeClr>
                </a:solidFill>
                <a:latin typeface="Calibri"/>
                <a:ea typeface="宋体"/>
              </a:rPr>
              <a:t>模板：</a:t>
            </a:r>
            <a:r>
              <a:rPr lang="en-US" altLang="zh-CN" sz="100" dirty="0">
                <a:solidFill>
                  <a:schemeClr val="bg1">
                    <a:lumMod val="95000"/>
                  </a:schemeClr>
                </a:solidFill>
                <a:latin typeface="Calibri"/>
                <a:ea typeface="宋体"/>
              </a:rPr>
              <a:t>www.1ppt.com/hangye/ </a:t>
            </a:r>
          </a:p>
          <a:p>
            <a:r>
              <a:rPr lang="zh-CN" altLang="en-US" sz="100" dirty="0">
                <a:solidFill>
                  <a:schemeClr val="bg1">
                    <a:lumMod val="95000"/>
                  </a:schemeClr>
                </a:solidFill>
                <a:latin typeface="Calibri"/>
                <a:ea typeface="宋体"/>
              </a:rPr>
              <a:t>节日</a:t>
            </a:r>
            <a:r>
              <a:rPr lang="en-US" altLang="zh-CN" sz="100" dirty="0">
                <a:solidFill>
                  <a:schemeClr val="bg1">
                    <a:lumMod val="95000"/>
                  </a:schemeClr>
                </a:solidFill>
                <a:latin typeface="Calibri"/>
                <a:ea typeface="宋体"/>
              </a:rPr>
              <a:t>PPT</a:t>
            </a:r>
            <a:r>
              <a:rPr lang="zh-CN" altLang="en-US" sz="100" dirty="0">
                <a:solidFill>
                  <a:schemeClr val="bg1">
                    <a:lumMod val="95000"/>
                  </a:schemeClr>
                </a:solidFill>
                <a:latin typeface="Calibri"/>
                <a:ea typeface="宋体"/>
              </a:rPr>
              <a:t>模板：</a:t>
            </a:r>
            <a:r>
              <a:rPr lang="en-US" altLang="zh-CN" sz="100" dirty="0">
                <a:solidFill>
                  <a:schemeClr val="bg1">
                    <a:lumMod val="95000"/>
                  </a:schemeClr>
                </a:solidFill>
                <a:latin typeface="Calibri"/>
                <a:ea typeface="宋体"/>
              </a:rPr>
              <a:t>www.1ppt.com/jieri/           PPT</a:t>
            </a:r>
            <a:r>
              <a:rPr lang="zh-CN" altLang="en-US" sz="100" dirty="0">
                <a:solidFill>
                  <a:schemeClr val="bg1">
                    <a:lumMod val="95000"/>
                  </a:schemeClr>
                </a:solidFill>
                <a:latin typeface="Calibri"/>
                <a:ea typeface="宋体"/>
              </a:rPr>
              <a:t>素材下载：</a:t>
            </a:r>
            <a:r>
              <a:rPr lang="en-US" altLang="zh-CN" sz="100" dirty="0">
                <a:solidFill>
                  <a:schemeClr val="bg1">
                    <a:lumMod val="95000"/>
                  </a:schemeClr>
                </a:solidFill>
                <a:latin typeface="Calibri"/>
                <a:ea typeface="宋体"/>
              </a:rPr>
              <a:t>www.1ppt.com/sucai/</a:t>
            </a:r>
          </a:p>
          <a:p>
            <a:r>
              <a:rPr lang="en-US" altLang="zh-CN" sz="100" dirty="0">
                <a:solidFill>
                  <a:schemeClr val="bg1">
                    <a:lumMod val="95000"/>
                  </a:schemeClr>
                </a:solidFill>
                <a:latin typeface="Calibri"/>
                <a:ea typeface="宋体"/>
              </a:rPr>
              <a:t>PPT</a:t>
            </a:r>
            <a:r>
              <a:rPr lang="zh-CN" altLang="en-US" sz="100" dirty="0">
                <a:solidFill>
                  <a:schemeClr val="bg1">
                    <a:lumMod val="95000"/>
                  </a:schemeClr>
                </a:solidFill>
                <a:latin typeface="Calibri"/>
                <a:ea typeface="宋体"/>
              </a:rPr>
              <a:t>背景图片：</a:t>
            </a:r>
            <a:r>
              <a:rPr lang="en-US" altLang="zh-CN" sz="100" dirty="0">
                <a:solidFill>
                  <a:schemeClr val="bg1">
                    <a:lumMod val="95000"/>
                  </a:schemeClr>
                </a:solidFill>
                <a:latin typeface="Calibri"/>
                <a:ea typeface="宋体"/>
              </a:rPr>
              <a:t>www.1ppt.com/beijing/      PPT</a:t>
            </a:r>
            <a:r>
              <a:rPr lang="zh-CN" altLang="en-US" sz="100" dirty="0">
                <a:solidFill>
                  <a:schemeClr val="bg1">
                    <a:lumMod val="95000"/>
                  </a:schemeClr>
                </a:solidFill>
                <a:latin typeface="Calibri"/>
                <a:ea typeface="宋体"/>
              </a:rPr>
              <a:t>图表下载：</a:t>
            </a:r>
            <a:r>
              <a:rPr lang="en-US" altLang="zh-CN" sz="100" dirty="0">
                <a:solidFill>
                  <a:schemeClr val="bg1">
                    <a:lumMod val="95000"/>
                  </a:schemeClr>
                </a:solidFill>
                <a:latin typeface="Calibri"/>
                <a:ea typeface="宋体"/>
              </a:rPr>
              <a:t>www.1ppt.com/tubiao/      </a:t>
            </a:r>
          </a:p>
          <a:p>
            <a:r>
              <a:rPr lang="zh-CN" altLang="en-US" sz="100" dirty="0">
                <a:solidFill>
                  <a:schemeClr val="bg1">
                    <a:lumMod val="95000"/>
                  </a:schemeClr>
                </a:solidFill>
                <a:latin typeface="Calibri"/>
                <a:ea typeface="宋体"/>
              </a:rPr>
              <a:t>优秀</a:t>
            </a:r>
            <a:r>
              <a:rPr lang="en-US" altLang="zh-CN" sz="100" dirty="0">
                <a:solidFill>
                  <a:schemeClr val="bg1">
                    <a:lumMod val="95000"/>
                  </a:schemeClr>
                </a:solidFill>
                <a:latin typeface="Calibri"/>
                <a:ea typeface="宋体"/>
              </a:rPr>
              <a:t>PPT</a:t>
            </a:r>
            <a:r>
              <a:rPr lang="zh-CN" altLang="en-US" sz="100" dirty="0">
                <a:solidFill>
                  <a:schemeClr val="bg1">
                    <a:lumMod val="95000"/>
                  </a:schemeClr>
                </a:solidFill>
                <a:latin typeface="Calibri"/>
                <a:ea typeface="宋体"/>
              </a:rPr>
              <a:t>下载：</a:t>
            </a:r>
            <a:r>
              <a:rPr lang="en-US" altLang="zh-CN" sz="100" dirty="0">
                <a:solidFill>
                  <a:schemeClr val="bg1">
                    <a:lumMod val="95000"/>
                  </a:schemeClr>
                </a:solidFill>
                <a:latin typeface="Calibri"/>
                <a:ea typeface="宋体"/>
              </a:rPr>
              <a:t>www.1ppt.com/xiazai/        PPT</a:t>
            </a:r>
            <a:r>
              <a:rPr lang="zh-CN" altLang="en-US" sz="100" dirty="0">
                <a:solidFill>
                  <a:schemeClr val="bg1">
                    <a:lumMod val="95000"/>
                  </a:schemeClr>
                </a:solidFill>
                <a:latin typeface="Calibri"/>
                <a:ea typeface="宋体"/>
              </a:rPr>
              <a:t>教程： </a:t>
            </a:r>
            <a:r>
              <a:rPr lang="en-US" altLang="zh-CN" sz="100" dirty="0">
                <a:solidFill>
                  <a:schemeClr val="bg1">
                    <a:lumMod val="95000"/>
                  </a:schemeClr>
                </a:solidFill>
                <a:latin typeface="Calibri"/>
                <a:ea typeface="宋体"/>
              </a:rPr>
              <a:t>www.1ppt.com/powerpoint/      </a:t>
            </a:r>
          </a:p>
          <a:p>
            <a:r>
              <a:rPr lang="en-US" altLang="zh-CN" sz="100" dirty="0">
                <a:solidFill>
                  <a:schemeClr val="bg1">
                    <a:lumMod val="95000"/>
                  </a:schemeClr>
                </a:solidFill>
                <a:latin typeface="Calibri"/>
                <a:ea typeface="宋体"/>
              </a:rPr>
              <a:t>Word</a:t>
            </a:r>
            <a:r>
              <a:rPr lang="zh-CN" altLang="en-US" sz="100" dirty="0">
                <a:solidFill>
                  <a:schemeClr val="bg1">
                    <a:lumMod val="95000"/>
                  </a:schemeClr>
                </a:solidFill>
                <a:latin typeface="Calibri"/>
                <a:ea typeface="宋体"/>
              </a:rPr>
              <a:t>教程： </a:t>
            </a:r>
            <a:r>
              <a:rPr lang="en-US" altLang="zh-CN" sz="100" dirty="0">
                <a:solidFill>
                  <a:schemeClr val="bg1">
                    <a:lumMod val="95000"/>
                  </a:schemeClr>
                </a:solidFill>
                <a:latin typeface="Calibri"/>
                <a:ea typeface="宋体"/>
              </a:rPr>
              <a:t>www.1ppt.com/word/              Excel</a:t>
            </a:r>
            <a:r>
              <a:rPr lang="zh-CN" altLang="en-US" sz="100" dirty="0">
                <a:solidFill>
                  <a:schemeClr val="bg1">
                    <a:lumMod val="95000"/>
                  </a:schemeClr>
                </a:solidFill>
                <a:latin typeface="Calibri"/>
                <a:ea typeface="宋体"/>
              </a:rPr>
              <a:t>教程：</a:t>
            </a:r>
            <a:r>
              <a:rPr lang="en-US" altLang="zh-CN" sz="100" dirty="0">
                <a:solidFill>
                  <a:schemeClr val="bg1">
                    <a:lumMod val="95000"/>
                  </a:schemeClr>
                </a:solidFill>
                <a:latin typeface="Calibri"/>
                <a:ea typeface="宋体"/>
              </a:rPr>
              <a:t>www.1ppt.com/excel/  </a:t>
            </a:r>
          </a:p>
          <a:p>
            <a:r>
              <a:rPr lang="zh-CN" altLang="en-US" sz="100" dirty="0">
                <a:solidFill>
                  <a:schemeClr val="bg1">
                    <a:lumMod val="95000"/>
                  </a:schemeClr>
                </a:solidFill>
                <a:latin typeface="Calibri"/>
                <a:ea typeface="宋体"/>
              </a:rPr>
              <a:t>资料下载：</a:t>
            </a:r>
            <a:r>
              <a:rPr lang="en-US" altLang="zh-CN" sz="100" dirty="0">
                <a:solidFill>
                  <a:schemeClr val="bg1">
                    <a:lumMod val="95000"/>
                  </a:schemeClr>
                </a:solidFill>
                <a:latin typeface="Calibri"/>
                <a:ea typeface="宋体"/>
              </a:rPr>
              <a:t>www.1ppt.com/ziliao/                PPT</a:t>
            </a:r>
            <a:r>
              <a:rPr lang="zh-CN" altLang="en-US" sz="100" dirty="0">
                <a:solidFill>
                  <a:schemeClr val="bg1">
                    <a:lumMod val="95000"/>
                  </a:schemeClr>
                </a:solidFill>
                <a:latin typeface="Calibri"/>
                <a:ea typeface="宋体"/>
              </a:rPr>
              <a:t>课件下载：</a:t>
            </a:r>
            <a:r>
              <a:rPr lang="en-US" altLang="zh-CN" sz="100" dirty="0">
                <a:solidFill>
                  <a:schemeClr val="bg1">
                    <a:lumMod val="95000"/>
                  </a:schemeClr>
                </a:solidFill>
                <a:latin typeface="Calibri"/>
                <a:ea typeface="宋体"/>
              </a:rPr>
              <a:t>www.1ppt.com/kejian/ </a:t>
            </a:r>
          </a:p>
          <a:p>
            <a:r>
              <a:rPr lang="zh-CN" altLang="en-US" sz="100" dirty="0">
                <a:solidFill>
                  <a:schemeClr val="bg1">
                    <a:lumMod val="95000"/>
                  </a:schemeClr>
                </a:solidFill>
                <a:latin typeface="Calibri"/>
                <a:ea typeface="宋体"/>
              </a:rPr>
              <a:t>范文下载：</a:t>
            </a:r>
            <a:r>
              <a:rPr lang="en-US" altLang="zh-CN" sz="100" dirty="0">
                <a:solidFill>
                  <a:schemeClr val="bg1">
                    <a:lumMod val="95000"/>
                  </a:schemeClr>
                </a:solidFill>
                <a:latin typeface="Calibri"/>
                <a:ea typeface="宋体"/>
              </a:rPr>
              <a:t>www.1ppt.com/fanwen/             </a:t>
            </a:r>
            <a:r>
              <a:rPr lang="zh-CN" altLang="en-US" sz="100" dirty="0">
                <a:solidFill>
                  <a:schemeClr val="bg1">
                    <a:lumMod val="95000"/>
                  </a:schemeClr>
                </a:solidFill>
                <a:latin typeface="Calibri"/>
                <a:ea typeface="宋体"/>
              </a:rPr>
              <a:t>试卷下载：</a:t>
            </a:r>
            <a:r>
              <a:rPr lang="en-US" altLang="zh-CN" sz="100" dirty="0">
                <a:solidFill>
                  <a:schemeClr val="bg1">
                    <a:lumMod val="95000"/>
                  </a:schemeClr>
                </a:solidFill>
                <a:latin typeface="Calibri"/>
                <a:ea typeface="宋体"/>
              </a:rPr>
              <a:t>www.1ppt.com/shiti/  </a:t>
            </a:r>
          </a:p>
          <a:p>
            <a:r>
              <a:rPr lang="zh-CN" altLang="en-US" sz="100" dirty="0">
                <a:solidFill>
                  <a:schemeClr val="bg1">
                    <a:lumMod val="95000"/>
                  </a:schemeClr>
                </a:solidFill>
                <a:latin typeface="Calibri"/>
                <a:ea typeface="宋体"/>
              </a:rPr>
              <a:t>教案下载：</a:t>
            </a:r>
            <a:r>
              <a:rPr lang="en-US" altLang="zh-CN" sz="100" dirty="0">
                <a:solidFill>
                  <a:schemeClr val="bg1">
                    <a:lumMod val="95000"/>
                  </a:schemeClr>
                </a:solidFill>
                <a:latin typeface="Calibri"/>
                <a:ea typeface="宋体"/>
              </a:rPr>
              <a:t>www.1ppt.com/jiaoan/  </a:t>
            </a:r>
            <a:r>
              <a:rPr lang="en-US" altLang="zh-CN" sz="100" dirty="0" smtClean="0">
                <a:solidFill>
                  <a:schemeClr val="bg1">
                    <a:lumMod val="95000"/>
                  </a:schemeClr>
                </a:solidFill>
                <a:latin typeface="Calibri"/>
                <a:ea typeface="宋体"/>
              </a:rPr>
              <a:t>      </a:t>
            </a:r>
            <a:endParaRPr lang="en-US" altLang="zh-CN" sz="100" dirty="0">
              <a:solidFill>
                <a:schemeClr val="bg1">
                  <a:lumMod val="95000"/>
                </a:schemeClr>
              </a:solidFill>
              <a:latin typeface="Calibri"/>
              <a:ea typeface="宋体"/>
            </a:endParaRPr>
          </a:p>
          <a:p>
            <a:r>
              <a:rPr lang="zh-CN" altLang="en-US" sz="100" dirty="0" smtClean="0">
                <a:solidFill>
                  <a:schemeClr val="bg1">
                    <a:lumMod val="95000"/>
                  </a:schemeClr>
                </a:solidFill>
                <a:latin typeface="Calibri"/>
                <a:ea typeface="宋体"/>
              </a:rPr>
              <a:t>字体下载：</a:t>
            </a:r>
            <a:r>
              <a:rPr lang="en-US" altLang="zh-CN" sz="100" dirty="0" smtClean="0">
                <a:solidFill>
                  <a:schemeClr val="bg1">
                    <a:lumMod val="95000"/>
                  </a:schemeClr>
                </a:solidFill>
                <a:latin typeface="Calibri"/>
                <a:ea typeface="宋体"/>
              </a:rPr>
              <a:t>www.1ppt.com/ziti/</a:t>
            </a:r>
            <a:endParaRPr lang="en-US" altLang="zh-CN" sz="100" dirty="0">
              <a:solidFill>
                <a:schemeClr val="bg1">
                  <a:lumMod val="95000"/>
                </a:schemeClr>
              </a:solidFill>
              <a:latin typeface="Calibri"/>
              <a:ea typeface="宋体"/>
            </a:endParaRPr>
          </a:p>
          <a:p>
            <a:r>
              <a:rPr lang="en-US" altLang="zh-CN" sz="100" dirty="0">
                <a:solidFill>
                  <a:schemeClr val="bg1">
                    <a:lumMod val="95000"/>
                  </a:schemeClr>
                </a:solidFill>
                <a:latin typeface="Calibri"/>
                <a:ea typeface="宋体"/>
              </a:rPr>
              <a:t> </a:t>
            </a:r>
            <a:endParaRPr lang="zh-CN" altLang="en-US" sz="100" dirty="0">
              <a:solidFill>
                <a:schemeClr val="bg1">
                  <a:lumMod val="95000"/>
                </a:schemeClr>
              </a:solidFill>
              <a:latin typeface="Calibri"/>
              <a:ea typeface="宋体"/>
            </a:endParaRPr>
          </a:p>
        </p:txBody>
      </p:sp>
    </p:spTree>
  </p:cSld>
  <p:clrMapOvr>
    <a:masterClrMapping/>
  </p:clrMapOvr>
  <mc:AlternateContent xmlns:mc="http://schemas.openxmlformats.org/markup-compatibility/2006" xmlns:p14="http://schemas.microsoft.com/office/powerpoint/2010/main">
    <mc:Choice Requires="p14">
      <p:transition spd="slow" p14:dur="1400" advClick="0" advTm="2000">
        <p14:ripple/>
      </p:transition>
    </mc:Choice>
    <mc:Fallback xmlns="">
      <p:transition spd="slow" advClick="0" advTm="2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72B2DED-A951-47FE-B6BB-60A6F72D23B9}" type="datetimeFigureOut">
              <a:rPr lang="zh-CN" altLang="en-US" smtClean="0"/>
              <a:t>2020/11/3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BF1066-5FB3-4C05-A396-445A6094687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advClick="0" advTm="2000">
        <p14:ripple/>
      </p:transition>
    </mc:Choice>
    <mc:Fallback xmlns="">
      <p:transition spd="slow" advClick="0" advTm="2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72B2DED-A951-47FE-B6BB-60A6F72D23B9}" type="datetimeFigureOut">
              <a:rPr lang="zh-CN" altLang="en-US" smtClean="0"/>
              <a:t>2020/11/3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BF1066-5FB3-4C05-A396-445A6094687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advClick="0" advTm="2000">
        <p14:ripple/>
      </p:transition>
    </mc:Choice>
    <mc:Fallback xmlns="">
      <p:transition spd="slow" advClick="0" advTm="2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273050"/>
            <a:ext cx="4012129"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974" y="273051"/>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59" y="1435101"/>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72B2DED-A951-47FE-B6BB-60A6F72D23B9}" type="datetimeFigureOut">
              <a:rPr lang="zh-CN" altLang="en-US" smtClean="0"/>
              <a:t>2020/11/3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BF1066-5FB3-4C05-A396-445A6094687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advClick="0" advTm="2000">
        <p14:ripple/>
      </p:transition>
    </mc:Choice>
    <mc:Fallback xmlns="">
      <p:transition spd="slow" advClick="0" advTm="2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0" y="4800600"/>
            <a:ext cx="7317105"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340"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90340"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72B2DED-A951-47FE-B6BB-60A6F72D23B9}" type="datetimeFigureOut">
              <a:rPr lang="zh-CN" altLang="en-US" smtClean="0"/>
              <a:t>2020/11/3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BF1066-5FB3-4C05-A396-445A6094687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advClick="0" advTm="2000">
        <p14:ripple/>
      </p:transition>
    </mc:Choice>
    <mc:Fallback xmlns="">
      <p:transition spd="slow" advClick="0" advTm="2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72B2DED-A951-47FE-B6BB-60A6F72D23B9}" type="datetimeFigureOut">
              <a:rPr lang="zh-CN" altLang="en-US" smtClean="0"/>
              <a:t>2020/11/3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BF1066-5FB3-4C05-A396-445A6094687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advClick="0" advTm="2000">
        <p14:ripple/>
      </p:transition>
    </mc:Choice>
    <mc:Fallback xmlns="">
      <p:transition spd="slow" advClick="0" advTm="2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1792903" y="274639"/>
            <a:ext cx="3658553"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13012" y="274639"/>
            <a:ext cx="10776639"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72B2DED-A951-47FE-B6BB-60A6F72D23B9}" type="datetimeFigureOut">
              <a:rPr lang="zh-CN" altLang="en-US" smtClean="0"/>
              <a:t>2020/11/3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BF1066-5FB3-4C05-A396-445A6094687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advClick="0" advTm="2000">
        <p14:ripple/>
      </p:transition>
    </mc:Choice>
    <mc:Fallback xmlns="">
      <p:transition spd="slow" advClick="0" advTm="2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759" y="274638"/>
            <a:ext cx="10975658"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09759" y="1600201"/>
            <a:ext cx="10975658"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09759" y="6356351"/>
            <a:ext cx="2845541" cy="365125"/>
          </a:xfrm>
          <a:prstGeom prst="rect">
            <a:avLst/>
          </a:prstGeom>
        </p:spPr>
        <p:txBody>
          <a:bodyPr vert="horz" lIns="91440" tIns="45720" rIns="91440" bIns="45720" rtlCol="0" anchor="ctr"/>
          <a:lstStyle>
            <a:lvl1pPr algn="l">
              <a:defRPr sz="1200">
                <a:solidFill>
                  <a:schemeClr val="tx1">
                    <a:tint val="75000"/>
                  </a:schemeClr>
                </a:solidFill>
                <a:latin typeface="方正黑体简体" panose="02010601030101010101" pitchFamily="2" charset="-122"/>
                <a:ea typeface="方正黑体简体" panose="02010601030101010101" pitchFamily="2" charset="-122"/>
              </a:defRPr>
            </a:lvl1pPr>
          </a:lstStyle>
          <a:p>
            <a:fld id="{472B2DED-A951-47FE-B6BB-60A6F72D23B9}" type="datetimeFigureOut">
              <a:rPr lang="zh-CN" altLang="en-US" smtClean="0"/>
              <a:pPr/>
              <a:t>2020/11/3</a:t>
            </a:fld>
            <a:endParaRPr lang="zh-CN" altLang="en-US" dirty="0"/>
          </a:p>
        </p:txBody>
      </p:sp>
      <p:sp>
        <p:nvSpPr>
          <p:cNvPr id="5" name="页脚占位符 4"/>
          <p:cNvSpPr>
            <a:spLocks noGrp="1"/>
          </p:cNvSpPr>
          <p:nvPr>
            <p:ph type="ftr" sz="quarter" idx="3"/>
          </p:nvPr>
        </p:nvSpPr>
        <p:spPr>
          <a:xfrm>
            <a:off x="4166685" y="6356351"/>
            <a:ext cx="3861805" cy="365125"/>
          </a:xfrm>
          <a:prstGeom prst="rect">
            <a:avLst/>
          </a:prstGeom>
        </p:spPr>
        <p:txBody>
          <a:bodyPr vert="horz" lIns="91440" tIns="45720" rIns="91440" bIns="45720" rtlCol="0" anchor="ctr"/>
          <a:lstStyle>
            <a:lvl1pPr algn="ctr">
              <a:defRPr sz="1200">
                <a:solidFill>
                  <a:schemeClr val="tx1">
                    <a:tint val="75000"/>
                  </a:schemeClr>
                </a:solidFill>
                <a:latin typeface="方正黑体简体" panose="02010601030101010101" pitchFamily="2" charset="-122"/>
                <a:ea typeface="方正黑体简体" panose="02010601030101010101" pitchFamily="2" charset="-122"/>
              </a:defRPr>
            </a:lvl1pPr>
          </a:lstStyle>
          <a:p>
            <a:endParaRPr lang="zh-CN" altLang="en-US" dirty="0"/>
          </a:p>
        </p:txBody>
      </p:sp>
      <p:sp>
        <p:nvSpPr>
          <p:cNvPr id="6" name="灯片编号占位符 5"/>
          <p:cNvSpPr>
            <a:spLocks noGrp="1"/>
          </p:cNvSpPr>
          <p:nvPr>
            <p:ph type="sldNum" sz="quarter" idx="4"/>
          </p:nvPr>
        </p:nvSpPr>
        <p:spPr>
          <a:xfrm>
            <a:off x="8739875" y="6356351"/>
            <a:ext cx="2845541" cy="365125"/>
          </a:xfrm>
          <a:prstGeom prst="rect">
            <a:avLst/>
          </a:prstGeom>
        </p:spPr>
        <p:txBody>
          <a:bodyPr vert="horz" lIns="91440" tIns="45720" rIns="91440" bIns="45720" rtlCol="0" anchor="ctr"/>
          <a:lstStyle>
            <a:lvl1pPr algn="r">
              <a:defRPr sz="1200">
                <a:solidFill>
                  <a:schemeClr val="tx1">
                    <a:tint val="75000"/>
                  </a:schemeClr>
                </a:solidFill>
                <a:latin typeface="方正黑体简体" panose="02010601030101010101" pitchFamily="2" charset="-122"/>
                <a:ea typeface="方正黑体简体" panose="02010601030101010101" pitchFamily="2" charset="-122"/>
              </a:defRPr>
            </a:lvl1pPr>
          </a:lstStyle>
          <a:p>
            <a:fld id="{A8BF1066-5FB3-4C05-A396-445A60946879}" type="slidenum">
              <a:rPr lang="zh-CN" altLang="en-US" smtClean="0"/>
              <a:pPr/>
              <a:t>‹#›</a:t>
            </a:fld>
            <a:endParaRPr lang="zh-CN" altLang="en-US" dirty="0"/>
          </a:p>
        </p:txBody>
      </p:sp>
      <p:sp>
        <p:nvSpPr>
          <p:cNvPr id="8" name="矩形 7"/>
          <p:cNvSpPr/>
          <p:nvPr userDrawn="1"/>
        </p:nvSpPr>
        <p:spPr>
          <a:xfrm>
            <a:off x="0" y="0"/>
            <a:ext cx="12195175" cy="6858000"/>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方正黑体简体" panose="02010601030101010101" pitchFamily="2" charset="-122"/>
              <a:ea typeface="方正黑体简体" panose="02010601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400" advClick="0" advTm="2000">
        <p14:ripple/>
      </p:transition>
    </mc:Choice>
    <mc:Fallback xmlns="">
      <p:transition spd="slow" advClick="0" advTm="2000">
        <p:fade/>
      </p:transition>
    </mc:Fallback>
  </mc:AlternateContent>
  <p:txStyles>
    <p:titleStyle>
      <a:lvl1pPr algn="ctr" defTabSz="914400" rtl="0" eaLnBrk="1" latinLnBrk="0" hangingPunct="1">
        <a:spcBef>
          <a:spcPct val="0"/>
        </a:spcBef>
        <a:buNone/>
        <a:defRPr sz="4400" kern="1200">
          <a:solidFill>
            <a:schemeClr val="tx1"/>
          </a:solidFill>
          <a:latin typeface="方正黑体简体" panose="02010601030101010101" pitchFamily="2" charset="-122"/>
          <a:ea typeface="方正黑体简体" panose="02010601030101010101" pitchFamily="2"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方正黑体简体" panose="02010601030101010101" pitchFamily="2" charset="-122"/>
          <a:ea typeface="方正黑体简体" panose="02010601030101010101" pitchFamily="2"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方正黑体简体" panose="02010601030101010101" pitchFamily="2" charset="-122"/>
          <a:ea typeface="方正黑体简体" panose="02010601030101010101" pitchFamily="2"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方正黑体简体" panose="02010601030101010101" pitchFamily="2" charset="-122"/>
          <a:ea typeface="方正黑体简体" panose="02010601030101010101" pitchFamily="2"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方正黑体简体" panose="02010601030101010101" pitchFamily="2" charset="-122"/>
          <a:ea typeface="方正黑体简体" panose="02010601030101010101" pitchFamily="2"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方正黑体简体" panose="02010601030101010101" pitchFamily="2" charset="-122"/>
          <a:ea typeface="方正黑体简体" panose="02010601030101010101" pitchFamily="2"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flipH="1">
            <a:off x="5106299" y="1181857"/>
            <a:ext cx="417953" cy="417953"/>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 name="椭圆 2"/>
          <p:cNvSpPr/>
          <p:nvPr/>
        </p:nvSpPr>
        <p:spPr>
          <a:xfrm flipH="1">
            <a:off x="4422925" y="3341724"/>
            <a:ext cx="344324" cy="34432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4" name="椭圆 3"/>
          <p:cNvSpPr/>
          <p:nvPr/>
        </p:nvSpPr>
        <p:spPr>
          <a:xfrm flipH="1">
            <a:off x="9256318" y="2532063"/>
            <a:ext cx="443733" cy="443735"/>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 name="椭圆 4"/>
          <p:cNvSpPr/>
          <p:nvPr/>
        </p:nvSpPr>
        <p:spPr>
          <a:xfrm flipH="1">
            <a:off x="2497187" y="2150806"/>
            <a:ext cx="564888" cy="564890"/>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6" name="椭圆 5"/>
          <p:cNvSpPr/>
          <p:nvPr/>
        </p:nvSpPr>
        <p:spPr>
          <a:xfrm flipH="1">
            <a:off x="10039266" y="2256431"/>
            <a:ext cx="275632" cy="27563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7" name="椭圆 6"/>
          <p:cNvSpPr/>
          <p:nvPr/>
        </p:nvSpPr>
        <p:spPr>
          <a:xfrm flipH="1">
            <a:off x="1705099" y="2012990"/>
            <a:ext cx="275632" cy="27563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8" name="椭圆 7"/>
          <p:cNvSpPr/>
          <p:nvPr/>
        </p:nvSpPr>
        <p:spPr>
          <a:xfrm flipH="1">
            <a:off x="3510657" y="1484784"/>
            <a:ext cx="275632" cy="27563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9" name="TextBox 22"/>
          <p:cNvSpPr txBox="1"/>
          <p:nvPr/>
        </p:nvSpPr>
        <p:spPr>
          <a:xfrm>
            <a:off x="4880002" y="5302722"/>
            <a:ext cx="3199123" cy="420564"/>
          </a:xfrm>
          <a:prstGeom prst="rect">
            <a:avLst/>
          </a:prstGeom>
          <a:noFill/>
        </p:spPr>
        <p:txBody>
          <a:bodyPr wrap="square" rtlCol="0">
            <a:spAutoFit/>
          </a:bodyPr>
          <a:lstStyle/>
          <a:p>
            <a:pPr defTabSz="1219170"/>
            <a:r>
              <a:rPr lang="zh-CN" altLang="en-US" sz="2133" dirty="0" smtClean="0">
                <a:solidFill>
                  <a:prstClr val="black">
                    <a:lumMod val="75000"/>
                    <a:lumOff val="25000"/>
                  </a:prst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應用系統開發部：張雪梅</a:t>
            </a:r>
            <a:endParaRPr lang="zh-CN" altLang="en-US" sz="2133" dirty="0">
              <a:solidFill>
                <a:prstClr val="black">
                  <a:lumMod val="75000"/>
                  <a:lumOff val="25000"/>
                </a:prst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0" name="TextBox 23"/>
          <p:cNvSpPr txBox="1"/>
          <p:nvPr/>
        </p:nvSpPr>
        <p:spPr>
          <a:xfrm>
            <a:off x="8180382" y="5983364"/>
            <a:ext cx="1075936" cy="297454"/>
          </a:xfrm>
          <a:prstGeom prst="rect">
            <a:avLst/>
          </a:prstGeom>
          <a:noFill/>
        </p:spPr>
        <p:txBody>
          <a:bodyPr wrap="none" rtlCol="0">
            <a:spAutoFit/>
          </a:bodyPr>
          <a:lstStyle/>
          <a:p>
            <a:pPr algn="ctr" defTabSz="1219170"/>
            <a:r>
              <a:rPr lang="en-US" altLang="zh-CN" sz="1333" dirty="0" smtClean="0">
                <a:solidFill>
                  <a:prstClr val="black">
                    <a:lumMod val="50000"/>
                    <a:lumOff val="50000"/>
                  </a:prst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2020.11.02</a:t>
            </a:r>
            <a:endParaRPr lang="en-US" altLang="zh-CN" sz="1333" dirty="0">
              <a:solidFill>
                <a:prstClr val="black">
                  <a:lumMod val="50000"/>
                  <a:lumOff val="50000"/>
                </a:prst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1" name="圆角矩形 10"/>
          <p:cNvSpPr/>
          <p:nvPr/>
        </p:nvSpPr>
        <p:spPr>
          <a:xfrm>
            <a:off x="2804994" y="4394442"/>
            <a:ext cx="7253033" cy="672075"/>
          </a:xfrm>
          <a:prstGeom prst="roundRect">
            <a:avLst>
              <a:gd name="adj" fmla="val 42270"/>
            </a:avLst>
          </a:prstGeom>
          <a:solidFill>
            <a:schemeClr val="bg1">
              <a:lumMod val="85000"/>
            </a:schemeClr>
          </a:solidFill>
          <a:ln>
            <a:noFill/>
          </a:ln>
          <a:effectLst>
            <a:innerShdw blurRad="63500" dist="127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sz="2400" dirty="0">
              <a:solidFill>
                <a:prstClr val="white"/>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2" name="TextBox 25"/>
          <p:cNvSpPr txBox="1"/>
          <p:nvPr/>
        </p:nvSpPr>
        <p:spPr>
          <a:xfrm>
            <a:off x="5095591" y="4437112"/>
            <a:ext cx="2646878" cy="584775"/>
          </a:xfrm>
          <a:prstGeom prst="rect">
            <a:avLst/>
          </a:prstGeom>
          <a:noFill/>
        </p:spPr>
        <p:txBody>
          <a:bodyPr wrap="none" rtlCol="0">
            <a:spAutoFit/>
          </a:bodyPr>
          <a:lstStyle/>
          <a:p>
            <a:pPr algn="ctr" defTabSz="1219170"/>
            <a:r>
              <a:rPr lang="zh-CN" altLang="en-US" sz="3200" dirty="0" smtClean="0">
                <a:solidFill>
                  <a:prstClr val="black">
                    <a:lumMod val="65000"/>
                    <a:lumOff val="35000"/>
                  </a:prst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年終工作報告</a:t>
            </a:r>
            <a:endParaRPr lang="zh-CN" altLang="en-US" sz="3200" dirty="0">
              <a:solidFill>
                <a:prstClr val="black">
                  <a:lumMod val="65000"/>
                  <a:lumOff val="35000"/>
                </a:prst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13" name="组合 12"/>
          <p:cNvGrpSpPr/>
          <p:nvPr/>
        </p:nvGrpSpPr>
        <p:grpSpPr>
          <a:xfrm>
            <a:off x="2591083" y="4356431"/>
            <a:ext cx="960105" cy="766159"/>
            <a:chOff x="899592" y="2377261"/>
            <a:chExt cx="720079" cy="574619"/>
          </a:xfrm>
          <a:effectLst>
            <a:outerShdw blurRad="50800" dist="38100" dir="2700000" algn="tl" rotWithShape="0">
              <a:prstClr val="black">
                <a:alpha val="40000"/>
              </a:prstClr>
            </a:outerShdw>
          </a:effectLst>
        </p:grpSpPr>
        <p:sp>
          <p:nvSpPr>
            <p:cNvPr id="14" name="圆角矩形 13"/>
            <p:cNvSpPr/>
            <p:nvPr/>
          </p:nvSpPr>
          <p:spPr>
            <a:xfrm>
              <a:off x="899592" y="2377261"/>
              <a:ext cx="720079" cy="574619"/>
            </a:xfrm>
            <a:prstGeom prst="roundRect">
              <a:avLst>
                <a:gd name="adj" fmla="val 42270"/>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sz="2400" dirty="0">
                <a:solidFill>
                  <a:srgbClr val="C00000"/>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5" name="圆角矩形 14"/>
            <p:cNvSpPr/>
            <p:nvPr/>
          </p:nvSpPr>
          <p:spPr>
            <a:xfrm>
              <a:off x="920241" y="2397813"/>
              <a:ext cx="681258" cy="533516"/>
            </a:xfrm>
            <a:prstGeom prst="roundRect">
              <a:avLst>
                <a:gd name="adj" fmla="val 42270"/>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sz="2400" dirty="0">
                <a:solidFill>
                  <a:srgbClr val="C00000"/>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17" name="椭圆 16"/>
          <p:cNvSpPr/>
          <p:nvPr/>
        </p:nvSpPr>
        <p:spPr>
          <a:xfrm flipH="1">
            <a:off x="5932471" y="3263886"/>
            <a:ext cx="525156" cy="525154"/>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8" name="椭圆 17"/>
          <p:cNvSpPr/>
          <p:nvPr/>
        </p:nvSpPr>
        <p:spPr>
          <a:xfrm flipH="1">
            <a:off x="7888118" y="1023717"/>
            <a:ext cx="465932" cy="465930"/>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9" name="椭圆 18"/>
          <p:cNvSpPr/>
          <p:nvPr/>
        </p:nvSpPr>
        <p:spPr>
          <a:xfrm flipH="1">
            <a:off x="7773832" y="3422801"/>
            <a:ext cx="525156" cy="525154"/>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0" name="椭圆 19"/>
          <p:cNvSpPr/>
          <p:nvPr/>
        </p:nvSpPr>
        <p:spPr>
          <a:xfrm flipH="1">
            <a:off x="9014258" y="1429926"/>
            <a:ext cx="525156" cy="525154"/>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1" name="椭圆 20"/>
          <p:cNvSpPr/>
          <p:nvPr/>
        </p:nvSpPr>
        <p:spPr>
          <a:xfrm flipH="1">
            <a:off x="6471520" y="1312557"/>
            <a:ext cx="275632" cy="27563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2" name="椭圆 21"/>
          <p:cNvSpPr/>
          <p:nvPr/>
        </p:nvSpPr>
        <p:spPr>
          <a:xfrm flipH="1">
            <a:off x="2833856" y="3087817"/>
            <a:ext cx="381823" cy="38182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3" name="椭圆 22"/>
          <p:cNvSpPr/>
          <p:nvPr/>
        </p:nvSpPr>
        <p:spPr>
          <a:xfrm flipH="1">
            <a:off x="10315120" y="1760416"/>
            <a:ext cx="307495" cy="307494"/>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4" name="椭圆 23"/>
          <p:cNvSpPr/>
          <p:nvPr/>
        </p:nvSpPr>
        <p:spPr>
          <a:xfrm flipH="1">
            <a:off x="8252879" y="1322938"/>
            <a:ext cx="275632" cy="27563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25" name="组合 24"/>
          <p:cNvGrpSpPr/>
          <p:nvPr/>
        </p:nvGrpSpPr>
        <p:grpSpPr>
          <a:xfrm>
            <a:off x="3272300" y="1692503"/>
            <a:ext cx="1636365" cy="1636365"/>
            <a:chOff x="3272300" y="1707146"/>
            <a:chExt cx="1636365" cy="1636365"/>
          </a:xfrm>
        </p:grpSpPr>
        <p:grpSp>
          <p:nvGrpSpPr>
            <p:cNvPr id="26" name="组合 25"/>
            <p:cNvGrpSpPr/>
            <p:nvPr/>
          </p:nvGrpSpPr>
          <p:grpSpPr>
            <a:xfrm>
              <a:off x="3272300" y="1707146"/>
              <a:ext cx="1636365" cy="1636365"/>
              <a:chOff x="1705099" y="2564904"/>
              <a:chExt cx="1800200" cy="1800200"/>
            </a:xfrm>
          </p:grpSpPr>
          <p:sp>
            <p:nvSpPr>
              <p:cNvPr id="28" name="椭圆 27"/>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9" name="椭圆 28"/>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27" name="TextBox 51"/>
            <p:cNvSpPr txBox="1"/>
            <p:nvPr/>
          </p:nvSpPr>
          <p:spPr>
            <a:xfrm>
              <a:off x="3503036" y="1863609"/>
              <a:ext cx="1174892" cy="1323439"/>
            </a:xfrm>
            <a:prstGeom prst="rect">
              <a:avLst/>
            </a:prstGeom>
            <a:noFill/>
          </p:spPr>
          <p:txBody>
            <a:bodyPr wrap="square" rtlCol="0">
              <a:spAutoFit/>
            </a:bodyPr>
            <a:lstStyle/>
            <a:p>
              <a:pPr algn="ctr"/>
              <a:r>
                <a:rPr lang="en-US" altLang="zh-CN" sz="80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2</a:t>
              </a:r>
              <a:endParaRPr lang="zh-CN" altLang="en-US" sz="80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30" name="组合 29"/>
          <p:cNvGrpSpPr/>
          <p:nvPr/>
        </p:nvGrpSpPr>
        <p:grpSpPr>
          <a:xfrm>
            <a:off x="4649266" y="1692503"/>
            <a:ext cx="1636365" cy="1636365"/>
            <a:chOff x="3272300" y="1707146"/>
            <a:chExt cx="1636365" cy="1636365"/>
          </a:xfrm>
        </p:grpSpPr>
        <p:grpSp>
          <p:nvGrpSpPr>
            <p:cNvPr id="31" name="组合 30"/>
            <p:cNvGrpSpPr/>
            <p:nvPr/>
          </p:nvGrpSpPr>
          <p:grpSpPr>
            <a:xfrm>
              <a:off x="3272300" y="1707146"/>
              <a:ext cx="1636365" cy="1636365"/>
              <a:chOff x="1705099" y="2564904"/>
              <a:chExt cx="1800200" cy="1800200"/>
            </a:xfrm>
          </p:grpSpPr>
          <p:sp>
            <p:nvSpPr>
              <p:cNvPr id="33" name="椭圆 32"/>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4" name="椭圆 33"/>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32" name="TextBox 51"/>
            <p:cNvSpPr txBox="1"/>
            <p:nvPr/>
          </p:nvSpPr>
          <p:spPr>
            <a:xfrm>
              <a:off x="3503036" y="1863609"/>
              <a:ext cx="1174892" cy="1323439"/>
            </a:xfrm>
            <a:prstGeom prst="rect">
              <a:avLst/>
            </a:prstGeom>
            <a:noFill/>
          </p:spPr>
          <p:txBody>
            <a:bodyPr wrap="square" rtlCol="0">
              <a:spAutoFit/>
            </a:bodyPr>
            <a:lstStyle/>
            <a:p>
              <a:pPr algn="ctr"/>
              <a:r>
                <a:rPr lang="en-US" altLang="zh-CN" sz="80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a:t>
              </a:r>
              <a:endParaRPr lang="zh-CN" altLang="en-US" sz="80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35" name="组合 34"/>
          <p:cNvGrpSpPr/>
          <p:nvPr/>
        </p:nvGrpSpPr>
        <p:grpSpPr>
          <a:xfrm>
            <a:off x="6026232" y="1692503"/>
            <a:ext cx="1636365" cy="1636365"/>
            <a:chOff x="3272300" y="1707146"/>
            <a:chExt cx="1636365" cy="1636365"/>
          </a:xfrm>
        </p:grpSpPr>
        <p:grpSp>
          <p:nvGrpSpPr>
            <p:cNvPr id="36" name="组合 35"/>
            <p:cNvGrpSpPr/>
            <p:nvPr/>
          </p:nvGrpSpPr>
          <p:grpSpPr>
            <a:xfrm>
              <a:off x="3272300" y="1707146"/>
              <a:ext cx="1636365" cy="1636365"/>
              <a:chOff x="1705099" y="2564904"/>
              <a:chExt cx="1800200" cy="1800200"/>
            </a:xfrm>
          </p:grpSpPr>
          <p:sp>
            <p:nvSpPr>
              <p:cNvPr id="38" name="椭圆 37"/>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9" name="椭圆 38"/>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37" name="TextBox 51"/>
            <p:cNvSpPr txBox="1"/>
            <p:nvPr/>
          </p:nvSpPr>
          <p:spPr>
            <a:xfrm>
              <a:off x="3503036" y="1863609"/>
              <a:ext cx="1174892" cy="1323439"/>
            </a:xfrm>
            <a:prstGeom prst="rect">
              <a:avLst/>
            </a:prstGeom>
            <a:noFill/>
          </p:spPr>
          <p:txBody>
            <a:bodyPr wrap="square" rtlCol="0">
              <a:spAutoFit/>
            </a:bodyPr>
            <a:lstStyle/>
            <a:p>
              <a:pPr algn="ctr"/>
              <a:r>
                <a:rPr lang="en-US" altLang="zh-CN" sz="8000"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2</a:t>
              </a:r>
              <a:endParaRPr lang="zh-CN" altLang="en-US" sz="80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40" name="组合 39"/>
          <p:cNvGrpSpPr/>
          <p:nvPr/>
        </p:nvGrpSpPr>
        <p:grpSpPr>
          <a:xfrm>
            <a:off x="7403198" y="1692503"/>
            <a:ext cx="1636365" cy="1636365"/>
            <a:chOff x="3272300" y="1707146"/>
            <a:chExt cx="1636365" cy="1636365"/>
          </a:xfrm>
        </p:grpSpPr>
        <p:grpSp>
          <p:nvGrpSpPr>
            <p:cNvPr id="41" name="组合 40"/>
            <p:cNvGrpSpPr/>
            <p:nvPr/>
          </p:nvGrpSpPr>
          <p:grpSpPr>
            <a:xfrm>
              <a:off x="3272300" y="1707146"/>
              <a:ext cx="1636365" cy="1636365"/>
              <a:chOff x="1705099" y="2564904"/>
              <a:chExt cx="1800200" cy="1800200"/>
            </a:xfrm>
          </p:grpSpPr>
          <p:sp>
            <p:nvSpPr>
              <p:cNvPr id="43" name="椭圆 42"/>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44" name="椭圆 43"/>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42" name="TextBox 51"/>
            <p:cNvSpPr txBox="1"/>
            <p:nvPr/>
          </p:nvSpPr>
          <p:spPr>
            <a:xfrm>
              <a:off x="3503036" y="1863609"/>
              <a:ext cx="1174892" cy="1323439"/>
            </a:xfrm>
            <a:prstGeom prst="rect">
              <a:avLst/>
            </a:prstGeom>
            <a:noFill/>
          </p:spPr>
          <p:txBody>
            <a:bodyPr wrap="square" rtlCol="0">
              <a:spAutoFit/>
            </a:bodyPr>
            <a:lstStyle/>
            <a:p>
              <a:pPr algn="ctr"/>
              <a:r>
                <a:rPr lang="en-US" altLang="zh-CN" sz="80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a:t>
              </a:r>
              <a:endParaRPr lang="zh-CN" altLang="en-US" sz="80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Tree>
    <p:extLst>
      <p:ext uri="{BB962C8B-B14F-4D97-AF65-F5344CB8AC3E}">
        <p14:creationId xmlns:p14="http://schemas.microsoft.com/office/powerpoint/2010/main" val="180171941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75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25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grpId="0" nodeType="withEffect">
                                  <p:stCondLst>
                                    <p:cond delay="75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20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grpId="0" nodeType="withEffect">
                                  <p:stCondLst>
                                    <p:cond delay="50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par>
                                <p:cTn id="41" presetID="10" presetClass="entr" presetSubtype="0" fill="hold" grpId="0" nodeType="withEffect">
                                  <p:stCondLst>
                                    <p:cond delay="20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500"/>
                                        <p:tgtEl>
                                          <p:spTgt spid="22"/>
                                        </p:tgtEl>
                                      </p:cBhvr>
                                    </p:animEffect>
                                  </p:childTnLst>
                                </p:cTn>
                              </p:par>
                              <p:par>
                                <p:cTn id="44" presetID="10" presetClass="entr" presetSubtype="0" fill="hold" grpId="0" nodeType="withEffect">
                                  <p:stCondLst>
                                    <p:cond delay="100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500"/>
                                        <p:tgtEl>
                                          <p:spTgt spid="23"/>
                                        </p:tgtEl>
                                      </p:cBhvr>
                                    </p:animEffect>
                                  </p:childTnLst>
                                </p:cTn>
                              </p:par>
                              <p:par>
                                <p:cTn id="47" presetID="10" presetClass="entr" presetSubtype="0" fill="hold" grpId="0" nodeType="withEffect">
                                  <p:stCondLst>
                                    <p:cond delay="20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par>
                                <p:cTn id="50" presetID="15" presetClass="entr" presetSubtype="0" fill="hold" nodeType="withEffect">
                                  <p:stCondLst>
                                    <p:cond delay="200"/>
                                  </p:stCondLst>
                                  <p:childTnLst>
                                    <p:set>
                                      <p:cBhvr>
                                        <p:cTn id="51" dur="1" fill="hold">
                                          <p:stCondLst>
                                            <p:cond delay="0"/>
                                          </p:stCondLst>
                                        </p:cTn>
                                        <p:tgtEl>
                                          <p:spTgt spid="25"/>
                                        </p:tgtEl>
                                        <p:attrNameLst>
                                          <p:attrName>style.visibility</p:attrName>
                                        </p:attrNameLst>
                                      </p:cBhvr>
                                      <p:to>
                                        <p:strVal val="visible"/>
                                      </p:to>
                                    </p:set>
                                    <p:anim calcmode="lin" valueType="num">
                                      <p:cBhvr>
                                        <p:cTn id="52" dur="1000" fill="hold"/>
                                        <p:tgtEl>
                                          <p:spTgt spid="25"/>
                                        </p:tgtEl>
                                        <p:attrNameLst>
                                          <p:attrName>ppt_w</p:attrName>
                                        </p:attrNameLst>
                                      </p:cBhvr>
                                      <p:tavLst>
                                        <p:tav tm="0">
                                          <p:val>
                                            <p:fltVal val="0"/>
                                          </p:val>
                                        </p:tav>
                                        <p:tav tm="100000">
                                          <p:val>
                                            <p:strVal val="#ppt_w"/>
                                          </p:val>
                                        </p:tav>
                                      </p:tavLst>
                                    </p:anim>
                                    <p:anim calcmode="lin" valueType="num">
                                      <p:cBhvr>
                                        <p:cTn id="53" dur="1000" fill="hold"/>
                                        <p:tgtEl>
                                          <p:spTgt spid="25"/>
                                        </p:tgtEl>
                                        <p:attrNameLst>
                                          <p:attrName>ppt_h</p:attrName>
                                        </p:attrNameLst>
                                      </p:cBhvr>
                                      <p:tavLst>
                                        <p:tav tm="0">
                                          <p:val>
                                            <p:fltVal val="0"/>
                                          </p:val>
                                        </p:tav>
                                        <p:tav tm="100000">
                                          <p:val>
                                            <p:strVal val="#ppt_h"/>
                                          </p:val>
                                        </p:tav>
                                      </p:tavLst>
                                    </p:anim>
                                    <p:anim calcmode="lin" valueType="num">
                                      <p:cBhvr>
                                        <p:cTn id="54" dur="1000" fill="hold"/>
                                        <p:tgtEl>
                                          <p:spTgt spid="25"/>
                                        </p:tgtEl>
                                        <p:attrNameLst>
                                          <p:attrName>ppt_x</p:attrName>
                                        </p:attrNameLst>
                                      </p:cBhvr>
                                      <p:tavLst>
                                        <p:tav tm="0" fmla="#ppt_x+(cos(-2*pi*(1-$))*-#ppt_x-sin(-2*pi*(1-$))*(1-#ppt_y))*(1-$)">
                                          <p:val>
                                            <p:fltVal val="0"/>
                                          </p:val>
                                        </p:tav>
                                        <p:tav tm="100000">
                                          <p:val>
                                            <p:fltVal val="1"/>
                                          </p:val>
                                        </p:tav>
                                      </p:tavLst>
                                    </p:anim>
                                    <p:anim calcmode="lin" valueType="num">
                                      <p:cBhvr>
                                        <p:cTn id="55" dur="1000" fill="hold"/>
                                        <p:tgtEl>
                                          <p:spTgt spid="25"/>
                                        </p:tgtEl>
                                        <p:attrNameLst>
                                          <p:attrName>ppt_y</p:attrName>
                                        </p:attrNameLst>
                                      </p:cBhvr>
                                      <p:tavLst>
                                        <p:tav tm="0" fmla="#ppt_y+(sin(-2*pi*(1-$))*-#ppt_x+cos(-2*pi*(1-$))*(1-#ppt_y))*(1-$)">
                                          <p:val>
                                            <p:fltVal val="0"/>
                                          </p:val>
                                        </p:tav>
                                        <p:tav tm="100000">
                                          <p:val>
                                            <p:fltVal val="1"/>
                                          </p:val>
                                        </p:tav>
                                      </p:tavLst>
                                    </p:anim>
                                  </p:childTnLst>
                                </p:cTn>
                              </p:par>
                              <p:par>
                                <p:cTn id="56" presetID="15" presetClass="entr" presetSubtype="0" fill="hold" nodeType="withEffect">
                                  <p:stCondLst>
                                    <p:cond delay="500"/>
                                  </p:stCondLst>
                                  <p:childTnLst>
                                    <p:set>
                                      <p:cBhvr>
                                        <p:cTn id="57" dur="1" fill="hold">
                                          <p:stCondLst>
                                            <p:cond delay="0"/>
                                          </p:stCondLst>
                                        </p:cTn>
                                        <p:tgtEl>
                                          <p:spTgt spid="30"/>
                                        </p:tgtEl>
                                        <p:attrNameLst>
                                          <p:attrName>style.visibility</p:attrName>
                                        </p:attrNameLst>
                                      </p:cBhvr>
                                      <p:to>
                                        <p:strVal val="visible"/>
                                      </p:to>
                                    </p:set>
                                    <p:anim calcmode="lin" valueType="num">
                                      <p:cBhvr>
                                        <p:cTn id="58" dur="1000" fill="hold"/>
                                        <p:tgtEl>
                                          <p:spTgt spid="30"/>
                                        </p:tgtEl>
                                        <p:attrNameLst>
                                          <p:attrName>ppt_w</p:attrName>
                                        </p:attrNameLst>
                                      </p:cBhvr>
                                      <p:tavLst>
                                        <p:tav tm="0">
                                          <p:val>
                                            <p:fltVal val="0"/>
                                          </p:val>
                                        </p:tav>
                                        <p:tav tm="100000">
                                          <p:val>
                                            <p:strVal val="#ppt_w"/>
                                          </p:val>
                                        </p:tav>
                                      </p:tavLst>
                                    </p:anim>
                                    <p:anim calcmode="lin" valueType="num">
                                      <p:cBhvr>
                                        <p:cTn id="59" dur="1000" fill="hold"/>
                                        <p:tgtEl>
                                          <p:spTgt spid="30"/>
                                        </p:tgtEl>
                                        <p:attrNameLst>
                                          <p:attrName>ppt_h</p:attrName>
                                        </p:attrNameLst>
                                      </p:cBhvr>
                                      <p:tavLst>
                                        <p:tav tm="0">
                                          <p:val>
                                            <p:fltVal val="0"/>
                                          </p:val>
                                        </p:tav>
                                        <p:tav tm="100000">
                                          <p:val>
                                            <p:strVal val="#ppt_h"/>
                                          </p:val>
                                        </p:tav>
                                      </p:tavLst>
                                    </p:anim>
                                    <p:anim calcmode="lin" valueType="num">
                                      <p:cBhvr>
                                        <p:cTn id="60" dur="1000" fill="hold"/>
                                        <p:tgtEl>
                                          <p:spTgt spid="30"/>
                                        </p:tgtEl>
                                        <p:attrNameLst>
                                          <p:attrName>ppt_x</p:attrName>
                                        </p:attrNameLst>
                                      </p:cBhvr>
                                      <p:tavLst>
                                        <p:tav tm="0" fmla="#ppt_x+(cos(-2*pi*(1-$))*-#ppt_x-sin(-2*pi*(1-$))*(1-#ppt_y))*(1-$)">
                                          <p:val>
                                            <p:fltVal val="0"/>
                                          </p:val>
                                        </p:tav>
                                        <p:tav tm="100000">
                                          <p:val>
                                            <p:fltVal val="1"/>
                                          </p:val>
                                        </p:tav>
                                      </p:tavLst>
                                    </p:anim>
                                    <p:anim calcmode="lin" valueType="num">
                                      <p:cBhvr>
                                        <p:cTn id="61" dur="1000" fill="hold"/>
                                        <p:tgtEl>
                                          <p:spTgt spid="30"/>
                                        </p:tgtEl>
                                        <p:attrNameLst>
                                          <p:attrName>ppt_y</p:attrName>
                                        </p:attrNameLst>
                                      </p:cBhvr>
                                      <p:tavLst>
                                        <p:tav tm="0" fmla="#ppt_y+(sin(-2*pi*(1-$))*-#ppt_x+cos(-2*pi*(1-$))*(1-#ppt_y))*(1-$)">
                                          <p:val>
                                            <p:fltVal val="0"/>
                                          </p:val>
                                        </p:tav>
                                        <p:tav tm="100000">
                                          <p:val>
                                            <p:fltVal val="1"/>
                                          </p:val>
                                        </p:tav>
                                      </p:tavLst>
                                    </p:anim>
                                  </p:childTnLst>
                                </p:cTn>
                              </p:par>
                              <p:par>
                                <p:cTn id="62" presetID="15" presetClass="entr" presetSubtype="0" fill="hold" nodeType="withEffect">
                                  <p:stCondLst>
                                    <p:cond delay="750"/>
                                  </p:stCondLst>
                                  <p:childTnLst>
                                    <p:set>
                                      <p:cBhvr>
                                        <p:cTn id="63" dur="1" fill="hold">
                                          <p:stCondLst>
                                            <p:cond delay="0"/>
                                          </p:stCondLst>
                                        </p:cTn>
                                        <p:tgtEl>
                                          <p:spTgt spid="35"/>
                                        </p:tgtEl>
                                        <p:attrNameLst>
                                          <p:attrName>style.visibility</p:attrName>
                                        </p:attrNameLst>
                                      </p:cBhvr>
                                      <p:to>
                                        <p:strVal val="visible"/>
                                      </p:to>
                                    </p:set>
                                    <p:anim calcmode="lin" valueType="num">
                                      <p:cBhvr>
                                        <p:cTn id="64" dur="1000" fill="hold"/>
                                        <p:tgtEl>
                                          <p:spTgt spid="35"/>
                                        </p:tgtEl>
                                        <p:attrNameLst>
                                          <p:attrName>ppt_w</p:attrName>
                                        </p:attrNameLst>
                                      </p:cBhvr>
                                      <p:tavLst>
                                        <p:tav tm="0">
                                          <p:val>
                                            <p:fltVal val="0"/>
                                          </p:val>
                                        </p:tav>
                                        <p:tav tm="100000">
                                          <p:val>
                                            <p:strVal val="#ppt_w"/>
                                          </p:val>
                                        </p:tav>
                                      </p:tavLst>
                                    </p:anim>
                                    <p:anim calcmode="lin" valueType="num">
                                      <p:cBhvr>
                                        <p:cTn id="65" dur="1000" fill="hold"/>
                                        <p:tgtEl>
                                          <p:spTgt spid="35"/>
                                        </p:tgtEl>
                                        <p:attrNameLst>
                                          <p:attrName>ppt_h</p:attrName>
                                        </p:attrNameLst>
                                      </p:cBhvr>
                                      <p:tavLst>
                                        <p:tav tm="0">
                                          <p:val>
                                            <p:fltVal val="0"/>
                                          </p:val>
                                        </p:tav>
                                        <p:tav tm="100000">
                                          <p:val>
                                            <p:strVal val="#ppt_h"/>
                                          </p:val>
                                        </p:tav>
                                      </p:tavLst>
                                    </p:anim>
                                    <p:anim calcmode="lin" valueType="num">
                                      <p:cBhvr>
                                        <p:cTn id="66"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67" dur="1000" fill="hold"/>
                                        <p:tgtEl>
                                          <p:spTgt spid="35"/>
                                        </p:tgtEl>
                                        <p:attrNameLst>
                                          <p:attrName>ppt_y</p:attrName>
                                        </p:attrNameLst>
                                      </p:cBhvr>
                                      <p:tavLst>
                                        <p:tav tm="0" fmla="#ppt_y+(sin(-2*pi*(1-$))*-#ppt_x+cos(-2*pi*(1-$))*(1-#ppt_y))*(1-$)">
                                          <p:val>
                                            <p:fltVal val="0"/>
                                          </p:val>
                                        </p:tav>
                                        <p:tav tm="100000">
                                          <p:val>
                                            <p:fltVal val="1"/>
                                          </p:val>
                                        </p:tav>
                                      </p:tavLst>
                                    </p:anim>
                                  </p:childTnLst>
                                </p:cTn>
                              </p:par>
                              <p:par>
                                <p:cTn id="68" presetID="15" presetClass="entr" presetSubtype="0" fill="hold" nodeType="withEffect">
                                  <p:stCondLst>
                                    <p:cond delay="1000"/>
                                  </p:stCondLst>
                                  <p:childTnLst>
                                    <p:set>
                                      <p:cBhvr>
                                        <p:cTn id="69" dur="1" fill="hold">
                                          <p:stCondLst>
                                            <p:cond delay="0"/>
                                          </p:stCondLst>
                                        </p:cTn>
                                        <p:tgtEl>
                                          <p:spTgt spid="40"/>
                                        </p:tgtEl>
                                        <p:attrNameLst>
                                          <p:attrName>style.visibility</p:attrName>
                                        </p:attrNameLst>
                                      </p:cBhvr>
                                      <p:to>
                                        <p:strVal val="visible"/>
                                      </p:to>
                                    </p:set>
                                    <p:anim calcmode="lin" valueType="num">
                                      <p:cBhvr>
                                        <p:cTn id="70" dur="1000" fill="hold"/>
                                        <p:tgtEl>
                                          <p:spTgt spid="40"/>
                                        </p:tgtEl>
                                        <p:attrNameLst>
                                          <p:attrName>ppt_w</p:attrName>
                                        </p:attrNameLst>
                                      </p:cBhvr>
                                      <p:tavLst>
                                        <p:tav tm="0">
                                          <p:val>
                                            <p:fltVal val="0"/>
                                          </p:val>
                                        </p:tav>
                                        <p:tav tm="100000">
                                          <p:val>
                                            <p:strVal val="#ppt_w"/>
                                          </p:val>
                                        </p:tav>
                                      </p:tavLst>
                                    </p:anim>
                                    <p:anim calcmode="lin" valueType="num">
                                      <p:cBhvr>
                                        <p:cTn id="71" dur="1000" fill="hold"/>
                                        <p:tgtEl>
                                          <p:spTgt spid="40"/>
                                        </p:tgtEl>
                                        <p:attrNameLst>
                                          <p:attrName>ppt_h</p:attrName>
                                        </p:attrNameLst>
                                      </p:cBhvr>
                                      <p:tavLst>
                                        <p:tav tm="0">
                                          <p:val>
                                            <p:fltVal val="0"/>
                                          </p:val>
                                        </p:tav>
                                        <p:tav tm="100000">
                                          <p:val>
                                            <p:strVal val="#ppt_h"/>
                                          </p:val>
                                        </p:tav>
                                      </p:tavLst>
                                    </p:anim>
                                    <p:anim calcmode="lin" valueType="num">
                                      <p:cBhvr>
                                        <p:cTn id="72" dur="1000" fill="hold"/>
                                        <p:tgtEl>
                                          <p:spTgt spid="40"/>
                                        </p:tgtEl>
                                        <p:attrNameLst>
                                          <p:attrName>ppt_x</p:attrName>
                                        </p:attrNameLst>
                                      </p:cBhvr>
                                      <p:tavLst>
                                        <p:tav tm="0" fmla="#ppt_x+(cos(-2*pi*(1-$))*-#ppt_x-sin(-2*pi*(1-$))*(1-#ppt_y))*(1-$)">
                                          <p:val>
                                            <p:fltVal val="0"/>
                                          </p:val>
                                        </p:tav>
                                        <p:tav tm="100000">
                                          <p:val>
                                            <p:fltVal val="1"/>
                                          </p:val>
                                        </p:tav>
                                      </p:tavLst>
                                    </p:anim>
                                    <p:anim calcmode="lin" valueType="num">
                                      <p:cBhvr>
                                        <p:cTn id="73" dur="1000" fill="hold"/>
                                        <p:tgtEl>
                                          <p:spTgt spid="40"/>
                                        </p:tgtEl>
                                        <p:attrNameLst>
                                          <p:attrName>ppt_y</p:attrName>
                                        </p:attrNameLst>
                                      </p:cBhvr>
                                      <p:tavLst>
                                        <p:tav tm="0" fmla="#ppt_y+(sin(-2*pi*(1-$))*-#ppt_x+cos(-2*pi*(1-$))*(1-#ppt_y))*(1-$)">
                                          <p:val>
                                            <p:fltVal val="0"/>
                                          </p:val>
                                        </p:tav>
                                        <p:tav tm="100000">
                                          <p:val>
                                            <p:fltVal val="1"/>
                                          </p:val>
                                        </p:tav>
                                      </p:tavLst>
                                    </p:anim>
                                  </p:childTnLst>
                                </p:cTn>
                              </p:par>
                            </p:childTnLst>
                          </p:cTn>
                        </p:par>
                        <p:par>
                          <p:cTn id="74" fill="hold">
                            <p:stCondLst>
                              <p:cond delay="2000"/>
                            </p:stCondLst>
                            <p:childTnLst>
                              <p:par>
                                <p:cTn id="75" presetID="10" presetClass="entr" presetSubtype="0" fill="hold" grpId="0" nodeType="afterEffect">
                                  <p:stCondLst>
                                    <p:cond delay="0"/>
                                  </p:stCondLst>
                                  <p:childTnLst>
                                    <p:set>
                                      <p:cBhvr>
                                        <p:cTn id="76" dur="1" fill="hold">
                                          <p:stCondLst>
                                            <p:cond delay="0"/>
                                          </p:stCondLst>
                                        </p:cTn>
                                        <p:tgtEl>
                                          <p:spTgt spid="11"/>
                                        </p:tgtEl>
                                        <p:attrNameLst>
                                          <p:attrName>style.visibility</p:attrName>
                                        </p:attrNameLst>
                                      </p:cBhvr>
                                      <p:to>
                                        <p:strVal val="visible"/>
                                      </p:to>
                                    </p:set>
                                    <p:animEffect transition="in" filter="fade">
                                      <p:cBhvr>
                                        <p:cTn id="77" dur="500"/>
                                        <p:tgtEl>
                                          <p:spTgt spid="11"/>
                                        </p:tgtEl>
                                      </p:cBhvr>
                                    </p:animEffect>
                                  </p:childTnLst>
                                </p:cTn>
                              </p:par>
                              <p:par>
                                <p:cTn id="78" presetID="10" presetClass="entr" presetSubtype="0" fill="hold" nodeType="withEffect">
                                  <p:stCondLst>
                                    <p:cond delay="0"/>
                                  </p:stCondLst>
                                  <p:childTnLst>
                                    <p:set>
                                      <p:cBhvr>
                                        <p:cTn id="79" dur="1" fill="hold">
                                          <p:stCondLst>
                                            <p:cond delay="0"/>
                                          </p:stCondLst>
                                        </p:cTn>
                                        <p:tgtEl>
                                          <p:spTgt spid="13"/>
                                        </p:tgtEl>
                                        <p:attrNameLst>
                                          <p:attrName>style.visibility</p:attrName>
                                        </p:attrNameLst>
                                      </p:cBhvr>
                                      <p:to>
                                        <p:strVal val="visible"/>
                                      </p:to>
                                    </p:set>
                                    <p:animEffect transition="in" filter="fade">
                                      <p:cBhvr>
                                        <p:cTn id="80" dur="500"/>
                                        <p:tgtEl>
                                          <p:spTgt spid="13"/>
                                        </p:tgtEl>
                                      </p:cBhvr>
                                    </p:animEffect>
                                  </p:childTnLst>
                                </p:cTn>
                              </p:par>
                            </p:childTnLst>
                          </p:cTn>
                        </p:par>
                        <p:par>
                          <p:cTn id="81" fill="hold">
                            <p:stCondLst>
                              <p:cond delay="2500"/>
                            </p:stCondLst>
                            <p:childTnLst>
                              <p:par>
                                <p:cTn id="82" presetID="1" presetClass="entr" presetSubtype="0" fill="hold" nodeType="afterEffect">
                                  <p:stCondLst>
                                    <p:cond delay="0"/>
                                  </p:stCondLst>
                                  <p:childTnLst>
                                    <p:set>
                                      <p:cBhvr>
                                        <p:cTn id="83" dur="1" fill="hold">
                                          <p:stCondLst>
                                            <p:cond delay="0"/>
                                          </p:stCondLst>
                                        </p:cTn>
                                        <p:tgtEl>
                                          <p:spTgt spid="13"/>
                                        </p:tgtEl>
                                        <p:attrNameLst>
                                          <p:attrName>style.visibility</p:attrName>
                                        </p:attrNameLst>
                                      </p:cBhvr>
                                      <p:to>
                                        <p:strVal val="visible"/>
                                      </p:to>
                                    </p:set>
                                  </p:childTnLst>
                                </p:cTn>
                              </p:par>
                              <p:par>
                                <p:cTn id="84" presetID="63" presetClass="path" presetSubtype="0" accel="50000" decel="50000" fill="hold" nodeType="withEffect">
                                  <p:stCondLst>
                                    <p:cond delay="0"/>
                                  </p:stCondLst>
                                  <p:childTnLst>
                                    <p:animMotion origin="layout" path="M 4.44444E-6 -4.78691E-6 L 0.575 -4.78691E-6 " pathEditMode="relative" rAng="0" ptsTypes="AA">
                                      <p:cBhvr>
                                        <p:cTn id="85" dur="2000" fill="hold"/>
                                        <p:tgtEl>
                                          <p:spTgt spid="13"/>
                                        </p:tgtEl>
                                        <p:attrNameLst>
                                          <p:attrName>ppt_x</p:attrName>
                                          <p:attrName>ppt_y</p:attrName>
                                        </p:attrNameLst>
                                      </p:cBhvr>
                                      <p:rCtr x="28750" y="0"/>
                                    </p:animMotion>
                                  </p:childTnLst>
                                </p:cTn>
                              </p:par>
                              <p:par>
                                <p:cTn id="86" presetID="22" presetClass="entr" presetSubtype="8" fill="hold" grpId="0" nodeType="withEffect">
                                  <p:stCondLst>
                                    <p:cond delay="250"/>
                                  </p:stCondLst>
                                  <p:childTnLst>
                                    <p:set>
                                      <p:cBhvr>
                                        <p:cTn id="87" dur="1" fill="hold">
                                          <p:stCondLst>
                                            <p:cond delay="0"/>
                                          </p:stCondLst>
                                        </p:cTn>
                                        <p:tgtEl>
                                          <p:spTgt spid="12"/>
                                        </p:tgtEl>
                                        <p:attrNameLst>
                                          <p:attrName>style.visibility</p:attrName>
                                        </p:attrNameLst>
                                      </p:cBhvr>
                                      <p:to>
                                        <p:strVal val="visible"/>
                                      </p:to>
                                    </p:set>
                                    <p:animEffect transition="in" filter="wipe(left)">
                                      <p:cBhvr>
                                        <p:cTn id="88" dur="1750"/>
                                        <p:tgtEl>
                                          <p:spTgt spid="12"/>
                                        </p:tgtEl>
                                      </p:cBhvr>
                                    </p:animEffect>
                                  </p:childTnLst>
                                </p:cTn>
                              </p:par>
                            </p:childTnLst>
                          </p:cTn>
                        </p:par>
                        <p:par>
                          <p:cTn id="89" fill="hold">
                            <p:stCondLst>
                              <p:cond delay="4500"/>
                            </p:stCondLst>
                            <p:childTnLst>
                              <p:par>
                                <p:cTn id="90" presetID="42" presetClass="entr" presetSubtype="0" fill="hold" grpId="0" nodeType="afterEffect">
                                  <p:stCondLst>
                                    <p:cond delay="0"/>
                                  </p:stCondLst>
                                  <p:childTnLst>
                                    <p:set>
                                      <p:cBhvr>
                                        <p:cTn id="91" dur="1" fill="hold">
                                          <p:stCondLst>
                                            <p:cond delay="0"/>
                                          </p:stCondLst>
                                        </p:cTn>
                                        <p:tgtEl>
                                          <p:spTgt spid="9"/>
                                        </p:tgtEl>
                                        <p:attrNameLst>
                                          <p:attrName>style.visibility</p:attrName>
                                        </p:attrNameLst>
                                      </p:cBhvr>
                                      <p:to>
                                        <p:strVal val="visible"/>
                                      </p:to>
                                    </p:set>
                                    <p:animEffect transition="in" filter="fade">
                                      <p:cBhvr>
                                        <p:cTn id="92" dur="1000"/>
                                        <p:tgtEl>
                                          <p:spTgt spid="9"/>
                                        </p:tgtEl>
                                      </p:cBhvr>
                                    </p:animEffect>
                                    <p:anim calcmode="lin" valueType="num">
                                      <p:cBhvr>
                                        <p:cTn id="93" dur="1000" fill="hold"/>
                                        <p:tgtEl>
                                          <p:spTgt spid="9"/>
                                        </p:tgtEl>
                                        <p:attrNameLst>
                                          <p:attrName>ppt_x</p:attrName>
                                        </p:attrNameLst>
                                      </p:cBhvr>
                                      <p:tavLst>
                                        <p:tav tm="0">
                                          <p:val>
                                            <p:strVal val="#ppt_x"/>
                                          </p:val>
                                        </p:tav>
                                        <p:tav tm="100000">
                                          <p:val>
                                            <p:strVal val="#ppt_x"/>
                                          </p:val>
                                        </p:tav>
                                      </p:tavLst>
                                    </p:anim>
                                    <p:anim calcmode="lin" valueType="num">
                                      <p:cBhvr>
                                        <p:cTn id="94" dur="1000" fill="hold"/>
                                        <p:tgtEl>
                                          <p:spTgt spid="9"/>
                                        </p:tgtEl>
                                        <p:attrNameLst>
                                          <p:attrName>ppt_y</p:attrName>
                                        </p:attrNameLst>
                                      </p:cBhvr>
                                      <p:tavLst>
                                        <p:tav tm="0">
                                          <p:val>
                                            <p:strVal val="#ppt_y+.1"/>
                                          </p:val>
                                        </p:tav>
                                        <p:tav tm="100000">
                                          <p:val>
                                            <p:strVal val="#ppt_y"/>
                                          </p:val>
                                        </p:tav>
                                      </p:tavLst>
                                    </p:anim>
                                  </p:childTnLst>
                                </p:cTn>
                              </p:par>
                            </p:childTnLst>
                          </p:cTn>
                        </p:par>
                        <p:par>
                          <p:cTn id="95" fill="hold">
                            <p:stCondLst>
                              <p:cond delay="5500"/>
                            </p:stCondLst>
                            <p:childTnLst>
                              <p:par>
                                <p:cTn id="96" presetID="10" presetClass="entr" presetSubtype="0" fill="hold" grpId="0" nodeType="afterEffect">
                                  <p:stCondLst>
                                    <p:cond delay="0"/>
                                  </p:stCondLst>
                                  <p:childTnLst>
                                    <p:set>
                                      <p:cBhvr>
                                        <p:cTn id="97" dur="1" fill="hold">
                                          <p:stCondLst>
                                            <p:cond delay="0"/>
                                          </p:stCondLst>
                                        </p:cTn>
                                        <p:tgtEl>
                                          <p:spTgt spid="10"/>
                                        </p:tgtEl>
                                        <p:attrNameLst>
                                          <p:attrName>style.visibility</p:attrName>
                                        </p:attrNameLst>
                                      </p:cBhvr>
                                      <p:to>
                                        <p:strVal val="visible"/>
                                      </p:to>
                                    </p:set>
                                    <p:animEffect transition="in" filter="fade">
                                      <p:cBhvr>
                                        <p:cTn id="9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p:bldP spid="10" grpId="0"/>
      <p:bldP spid="11" grpId="0" animBg="1"/>
      <p:bldP spid="12" grpId="0"/>
      <p:bldP spid="17" grpId="0" animBg="1"/>
      <p:bldP spid="18" grpId="0" animBg="1"/>
      <p:bldP spid="19" grpId="0" animBg="1"/>
      <p:bldP spid="20" grpId="0" animBg="1"/>
      <p:bldP spid="21" grpId="0" animBg="1"/>
      <p:bldP spid="22" grpId="0" animBg="1"/>
      <p:bldP spid="23" grpId="0" animBg="1"/>
      <p:bldP spid="2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圆角矩形 160"/>
          <p:cNvSpPr/>
          <p:nvPr/>
        </p:nvSpPr>
        <p:spPr>
          <a:xfrm>
            <a:off x="1633091" y="1590351"/>
            <a:ext cx="8928992" cy="3945388"/>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62" name="矩形 161"/>
          <p:cNvSpPr/>
          <p:nvPr/>
        </p:nvSpPr>
        <p:spPr>
          <a:xfrm>
            <a:off x="2281163" y="2427861"/>
            <a:ext cx="7632848" cy="1754318"/>
          </a:xfrm>
          <a:prstGeom prst="rect">
            <a:avLst/>
          </a:prstGeom>
        </p:spPr>
        <p:txBody>
          <a:bodyPr wrap="square" lIns="91432" tIns="45716" rIns="91432" bIns="45716">
            <a:spAutoFit/>
          </a:bodyPr>
          <a:lstStyle/>
          <a:p>
            <a:pPr algn="just">
              <a:lnSpc>
                <a:spcPct val="150000"/>
              </a:lnSpc>
              <a:defRPr/>
            </a:pPr>
            <a:r>
              <a:rPr lang="en-US" altLang="zh-CN"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       </a:t>
            </a:r>
            <a:r>
              <a:rPr lang="zh-CN" altLang="en-US"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時間</a:t>
            </a:r>
            <a:r>
              <a:rPr lang="zh-CN" altLang="en-US"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一晃而過，轉眼間</a:t>
            </a:r>
            <a:r>
              <a:rPr lang="en-US" altLang="zh-CN"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2020</a:t>
            </a:r>
            <a:r>
              <a:rPr lang="zh-CN" altLang="en-US"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年已經快接近尾聲。回顧這</a:t>
            </a:r>
            <a:r>
              <a:rPr lang="zh-CN" altLang="en-US"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一年工作的點點滴滴，在領導的帶領</a:t>
            </a:r>
            <a:r>
              <a:rPr lang="zh-CN" altLang="en-US"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和同事的幫助下既有技術和學習上的成長，同時也存在著諸多的不足和缺點，這都是值得去總結、反思、改正和提高的。下面是我對本年度工作做的總結。</a:t>
            </a:r>
            <a:endParaRPr lang="zh-CN" altLang="en-US" sz="1200" kern="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154" name="组合 153"/>
          <p:cNvGrpSpPr/>
          <p:nvPr/>
        </p:nvGrpSpPr>
        <p:grpSpPr>
          <a:xfrm>
            <a:off x="1012190" y="797639"/>
            <a:ext cx="1610824" cy="1452335"/>
            <a:chOff x="2713211" y="1988840"/>
            <a:chExt cx="1610824" cy="1452335"/>
          </a:xfrm>
        </p:grpSpPr>
        <p:sp>
          <p:nvSpPr>
            <p:cNvPr id="155" name="Freeform 5"/>
            <p:cNvSpPr/>
            <p:nvPr/>
          </p:nvSpPr>
          <p:spPr bwMode="auto">
            <a:xfrm>
              <a:off x="2713211" y="1988840"/>
              <a:ext cx="1610824" cy="145233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5F8F"/>
            </a:solidFill>
            <a:ln w="9525" cap="flat">
              <a:noFill/>
              <a:prstDash val="solid"/>
              <a:miter lim="800000"/>
            </a:ln>
            <a:effectLst>
              <a:outerShdw blurRad="431800" dist="889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56" name="Freeform 5"/>
            <p:cNvSpPr/>
            <p:nvPr/>
          </p:nvSpPr>
          <p:spPr bwMode="auto">
            <a:xfrm>
              <a:off x="2838739" y="2087520"/>
              <a:ext cx="1359768" cy="125497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blipFill>
              <a:blip r:embed="rId3" cstate="screen">
                <a:extLst>
                  <a:ext uri="{28A0092B-C50C-407E-A947-70E740481C1C}">
                    <a14:useLocalDpi xmlns:a14="http://schemas.microsoft.com/office/drawing/2010/main"/>
                  </a:ext>
                </a:extLst>
              </a:blip>
              <a:stretch>
                <a:fillRect l="-167158" t="-31921" r="-198372" b="-151558"/>
              </a:stretch>
            </a:blipFill>
            <a:ln w="9525" cap="flat">
              <a:noFill/>
              <a:prstDash val="solid"/>
              <a:miter lim="800000"/>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157" name="TextBox 156"/>
          <p:cNvSpPr txBox="1"/>
          <p:nvPr/>
        </p:nvSpPr>
        <p:spPr>
          <a:xfrm>
            <a:off x="1230156" y="1200641"/>
            <a:ext cx="1174892" cy="646331"/>
          </a:xfrm>
          <a:prstGeom prst="rect">
            <a:avLst/>
          </a:prstGeom>
          <a:noFill/>
        </p:spPr>
        <p:txBody>
          <a:bodyPr wrap="square" rtlCol="0">
            <a:spAutoFit/>
          </a:bodyPr>
          <a:lstStyle/>
          <a:p>
            <a:pPr algn="ctr"/>
            <a:r>
              <a:rPr lang="zh-CN" altLang="en-US" sz="36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序言</a:t>
            </a:r>
          </a:p>
        </p:txBody>
      </p:sp>
      <p:sp>
        <p:nvSpPr>
          <p:cNvPr id="158" name="椭圆 157"/>
          <p:cNvSpPr/>
          <p:nvPr/>
        </p:nvSpPr>
        <p:spPr>
          <a:xfrm flipH="1">
            <a:off x="572830" y="1874253"/>
            <a:ext cx="564888" cy="564890"/>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59" name="椭圆 158"/>
          <p:cNvSpPr/>
          <p:nvPr/>
        </p:nvSpPr>
        <p:spPr>
          <a:xfrm flipH="1">
            <a:off x="557947" y="1168123"/>
            <a:ext cx="275632" cy="27563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60" name="椭圆 159"/>
          <p:cNvSpPr/>
          <p:nvPr/>
        </p:nvSpPr>
        <p:spPr>
          <a:xfrm flipH="1">
            <a:off x="2406782" y="758503"/>
            <a:ext cx="275632" cy="27563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64" name="Freeform 5"/>
          <p:cNvSpPr/>
          <p:nvPr/>
        </p:nvSpPr>
        <p:spPr bwMode="auto">
          <a:xfrm>
            <a:off x="10162246" y="4291657"/>
            <a:ext cx="1379845" cy="124408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5F8F"/>
          </a:solidFill>
          <a:ln w="9525" cap="flat">
            <a:noFill/>
            <a:prstDash val="solid"/>
            <a:miter lim="800000"/>
          </a:ln>
          <a:effectLst>
            <a:outerShdw blurRad="431800" dist="889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67" name="Freeform 5"/>
          <p:cNvSpPr/>
          <p:nvPr/>
        </p:nvSpPr>
        <p:spPr bwMode="auto">
          <a:xfrm>
            <a:off x="9227978" y="4932815"/>
            <a:ext cx="1107862" cy="998859"/>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5F8F"/>
          </a:solidFill>
          <a:ln w="9525" cap="flat">
            <a:noFill/>
            <a:prstDash val="solid"/>
            <a:miter lim="800000"/>
          </a:ln>
          <a:effectLst>
            <a:outerShdw blurRad="431800" dist="889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69" name="椭圆 168"/>
          <p:cNvSpPr/>
          <p:nvPr/>
        </p:nvSpPr>
        <p:spPr>
          <a:xfrm flipH="1">
            <a:off x="8651612" y="5475717"/>
            <a:ext cx="275632" cy="27563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70" name="椭圆 169"/>
          <p:cNvSpPr/>
          <p:nvPr/>
        </p:nvSpPr>
        <p:spPr>
          <a:xfrm flipH="1">
            <a:off x="10242376" y="5599206"/>
            <a:ext cx="580544" cy="580546"/>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71" name="椭圆 170"/>
          <p:cNvSpPr/>
          <p:nvPr/>
        </p:nvSpPr>
        <p:spPr>
          <a:xfrm flipH="1">
            <a:off x="11158930" y="3785553"/>
            <a:ext cx="275632" cy="27563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500"/>
                                  </p:stCondLst>
                                  <p:childTnLst>
                                    <p:set>
                                      <p:cBhvr>
                                        <p:cTn id="6" dur="1" fill="hold">
                                          <p:stCondLst>
                                            <p:cond delay="0"/>
                                          </p:stCondLst>
                                        </p:cTn>
                                        <p:tgtEl>
                                          <p:spTgt spid="154"/>
                                        </p:tgtEl>
                                        <p:attrNameLst>
                                          <p:attrName>style.visibility</p:attrName>
                                        </p:attrNameLst>
                                      </p:cBhvr>
                                      <p:to>
                                        <p:strVal val="visible"/>
                                      </p:to>
                                    </p:set>
                                    <p:animEffect transition="in" filter="fade">
                                      <p:cBhvr>
                                        <p:cTn id="7" dur="750"/>
                                        <p:tgtEl>
                                          <p:spTgt spid="154"/>
                                        </p:tgtEl>
                                      </p:cBhvr>
                                    </p:animEffect>
                                    <p:anim calcmode="lin" valueType="num">
                                      <p:cBhvr>
                                        <p:cTn id="8" dur="750" fill="hold"/>
                                        <p:tgtEl>
                                          <p:spTgt spid="154"/>
                                        </p:tgtEl>
                                        <p:attrNameLst>
                                          <p:attrName>ppt_w</p:attrName>
                                        </p:attrNameLst>
                                      </p:cBhvr>
                                      <p:tavLst>
                                        <p:tav tm="0" fmla="#ppt_w*sin(2.5*pi*$)">
                                          <p:val>
                                            <p:fltVal val="0"/>
                                          </p:val>
                                        </p:tav>
                                        <p:tav tm="100000">
                                          <p:val>
                                            <p:fltVal val="1"/>
                                          </p:val>
                                        </p:tav>
                                      </p:tavLst>
                                    </p:anim>
                                    <p:anim calcmode="lin" valueType="num">
                                      <p:cBhvr>
                                        <p:cTn id="9" dur="750" fill="hold"/>
                                        <p:tgtEl>
                                          <p:spTgt spid="154"/>
                                        </p:tgtEl>
                                        <p:attrNameLst>
                                          <p:attrName>ppt_h</p:attrName>
                                        </p:attrNameLst>
                                      </p:cBhvr>
                                      <p:tavLst>
                                        <p:tav tm="0">
                                          <p:val>
                                            <p:strVal val="#ppt_h"/>
                                          </p:val>
                                        </p:tav>
                                        <p:tav tm="100000">
                                          <p:val>
                                            <p:strVal val="#ppt_h"/>
                                          </p:val>
                                        </p:tav>
                                      </p:tavLst>
                                    </p:anim>
                                  </p:childTnLst>
                                </p:cTn>
                              </p:par>
                              <p:par>
                                <p:cTn id="10" presetID="41" presetClass="entr" presetSubtype="0" fill="hold" grpId="0" nodeType="withEffect">
                                  <p:stCondLst>
                                    <p:cond delay="1000"/>
                                  </p:stCondLst>
                                  <p:iterate type="lt">
                                    <p:tmPct val="10000"/>
                                  </p:iterate>
                                  <p:childTnLst>
                                    <p:set>
                                      <p:cBhvr>
                                        <p:cTn id="11" dur="1" fill="hold">
                                          <p:stCondLst>
                                            <p:cond delay="0"/>
                                          </p:stCondLst>
                                        </p:cTn>
                                        <p:tgtEl>
                                          <p:spTgt spid="157"/>
                                        </p:tgtEl>
                                        <p:attrNameLst>
                                          <p:attrName>style.visibility</p:attrName>
                                        </p:attrNameLst>
                                      </p:cBhvr>
                                      <p:to>
                                        <p:strVal val="visible"/>
                                      </p:to>
                                    </p:set>
                                    <p:anim calcmode="lin" valueType="num">
                                      <p:cBhvr>
                                        <p:cTn id="12" dur="1000" fill="hold"/>
                                        <p:tgtEl>
                                          <p:spTgt spid="157"/>
                                        </p:tgtEl>
                                        <p:attrNameLst>
                                          <p:attrName>ppt_x</p:attrName>
                                        </p:attrNameLst>
                                      </p:cBhvr>
                                      <p:tavLst>
                                        <p:tav tm="0">
                                          <p:val>
                                            <p:strVal val="#ppt_x"/>
                                          </p:val>
                                        </p:tav>
                                        <p:tav tm="50000">
                                          <p:val>
                                            <p:strVal val="#ppt_x+.1"/>
                                          </p:val>
                                        </p:tav>
                                        <p:tav tm="100000">
                                          <p:val>
                                            <p:strVal val="#ppt_x"/>
                                          </p:val>
                                        </p:tav>
                                      </p:tavLst>
                                    </p:anim>
                                    <p:anim calcmode="lin" valueType="num">
                                      <p:cBhvr>
                                        <p:cTn id="13" dur="1000" fill="hold"/>
                                        <p:tgtEl>
                                          <p:spTgt spid="157"/>
                                        </p:tgtEl>
                                        <p:attrNameLst>
                                          <p:attrName>ppt_y</p:attrName>
                                        </p:attrNameLst>
                                      </p:cBhvr>
                                      <p:tavLst>
                                        <p:tav tm="0">
                                          <p:val>
                                            <p:strVal val="#ppt_y"/>
                                          </p:val>
                                        </p:tav>
                                        <p:tav tm="100000">
                                          <p:val>
                                            <p:strVal val="#ppt_y"/>
                                          </p:val>
                                        </p:tav>
                                      </p:tavLst>
                                    </p:anim>
                                    <p:anim calcmode="lin" valueType="num">
                                      <p:cBhvr>
                                        <p:cTn id="14" dur="1000" fill="hold"/>
                                        <p:tgtEl>
                                          <p:spTgt spid="157"/>
                                        </p:tgtEl>
                                        <p:attrNameLst>
                                          <p:attrName>ppt_h</p:attrName>
                                        </p:attrNameLst>
                                      </p:cBhvr>
                                      <p:tavLst>
                                        <p:tav tm="0">
                                          <p:val>
                                            <p:strVal val="#ppt_h/10"/>
                                          </p:val>
                                        </p:tav>
                                        <p:tav tm="50000">
                                          <p:val>
                                            <p:strVal val="#ppt_h+.01"/>
                                          </p:val>
                                        </p:tav>
                                        <p:tav tm="100000">
                                          <p:val>
                                            <p:strVal val="#ppt_h"/>
                                          </p:val>
                                        </p:tav>
                                      </p:tavLst>
                                    </p:anim>
                                    <p:anim calcmode="lin" valueType="num">
                                      <p:cBhvr>
                                        <p:cTn id="15" dur="1000" fill="hold"/>
                                        <p:tgtEl>
                                          <p:spTgt spid="157"/>
                                        </p:tgtEl>
                                        <p:attrNameLst>
                                          <p:attrName>ppt_w</p:attrName>
                                        </p:attrNameLst>
                                      </p:cBhvr>
                                      <p:tavLst>
                                        <p:tav tm="0">
                                          <p:val>
                                            <p:strVal val="#ppt_w/10"/>
                                          </p:val>
                                        </p:tav>
                                        <p:tav tm="50000">
                                          <p:val>
                                            <p:strVal val="#ppt_w+.01"/>
                                          </p:val>
                                        </p:tav>
                                        <p:tav tm="100000">
                                          <p:val>
                                            <p:strVal val="#ppt_w"/>
                                          </p:val>
                                        </p:tav>
                                      </p:tavLst>
                                    </p:anim>
                                    <p:animEffect transition="in" filter="fade">
                                      <p:cBhvr>
                                        <p:cTn id="16" dur="1000" tmFilter="0,0; .5, 1; 1, 1"/>
                                        <p:tgtEl>
                                          <p:spTgt spid="157"/>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160"/>
                                        </p:tgtEl>
                                        <p:attrNameLst>
                                          <p:attrName>style.visibility</p:attrName>
                                        </p:attrNameLst>
                                      </p:cBhvr>
                                      <p:to>
                                        <p:strVal val="visible"/>
                                      </p:to>
                                    </p:set>
                                    <p:animEffect transition="in" filter="fade">
                                      <p:cBhvr>
                                        <p:cTn id="19" dur="500"/>
                                        <p:tgtEl>
                                          <p:spTgt spid="160"/>
                                        </p:tgtEl>
                                      </p:cBhvr>
                                    </p:animEffect>
                                  </p:childTnLst>
                                </p:cTn>
                              </p:par>
                              <p:par>
                                <p:cTn id="20" presetID="10" presetClass="entr" presetSubtype="0" fill="hold" grpId="0" nodeType="withEffect">
                                  <p:stCondLst>
                                    <p:cond delay="400"/>
                                  </p:stCondLst>
                                  <p:childTnLst>
                                    <p:set>
                                      <p:cBhvr>
                                        <p:cTn id="21" dur="1" fill="hold">
                                          <p:stCondLst>
                                            <p:cond delay="0"/>
                                          </p:stCondLst>
                                        </p:cTn>
                                        <p:tgtEl>
                                          <p:spTgt spid="158"/>
                                        </p:tgtEl>
                                        <p:attrNameLst>
                                          <p:attrName>style.visibility</p:attrName>
                                        </p:attrNameLst>
                                      </p:cBhvr>
                                      <p:to>
                                        <p:strVal val="visible"/>
                                      </p:to>
                                    </p:set>
                                    <p:animEffect transition="in" filter="fade">
                                      <p:cBhvr>
                                        <p:cTn id="22" dur="500"/>
                                        <p:tgtEl>
                                          <p:spTgt spid="158"/>
                                        </p:tgtEl>
                                      </p:cBhvr>
                                    </p:animEffect>
                                  </p:childTnLst>
                                </p:cTn>
                              </p:par>
                              <p:par>
                                <p:cTn id="23" presetID="10" presetClass="entr" presetSubtype="0" fill="hold" grpId="0" nodeType="withEffect">
                                  <p:stCondLst>
                                    <p:cond delay="600"/>
                                  </p:stCondLst>
                                  <p:childTnLst>
                                    <p:set>
                                      <p:cBhvr>
                                        <p:cTn id="24" dur="1" fill="hold">
                                          <p:stCondLst>
                                            <p:cond delay="0"/>
                                          </p:stCondLst>
                                        </p:cTn>
                                        <p:tgtEl>
                                          <p:spTgt spid="159"/>
                                        </p:tgtEl>
                                        <p:attrNameLst>
                                          <p:attrName>style.visibility</p:attrName>
                                        </p:attrNameLst>
                                      </p:cBhvr>
                                      <p:to>
                                        <p:strVal val="visible"/>
                                      </p:to>
                                    </p:set>
                                    <p:animEffect transition="in" filter="fade">
                                      <p:cBhvr>
                                        <p:cTn id="25" dur="500"/>
                                        <p:tgtEl>
                                          <p:spTgt spid="159"/>
                                        </p:tgtEl>
                                      </p:cBhvr>
                                    </p:animEffect>
                                  </p:childTnLst>
                                </p:cTn>
                              </p:par>
                            </p:childTnLst>
                          </p:cTn>
                        </p:par>
                        <p:par>
                          <p:cTn id="26" fill="hold">
                            <p:stCondLst>
                              <p:cond delay="2100"/>
                            </p:stCondLst>
                            <p:childTnLst>
                              <p:par>
                                <p:cTn id="27" presetID="22" presetClass="entr" presetSubtype="8" fill="hold" grpId="0" nodeType="afterEffect">
                                  <p:stCondLst>
                                    <p:cond delay="0"/>
                                  </p:stCondLst>
                                  <p:childTnLst>
                                    <p:set>
                                      <p:cBhvr>
                                        <p:cTn id="28" dur="1" fill="hold">
                                          <p:stCondLst>
                                            <p:cond delay="0"/>
                                          </p:stCondLst>
                                        </p:cTn>
                                        <p:tgtEl>
                                          <p:spTgt spid="161"/>
                                        </p:tgtEl>
                                        <p:attrNameLst>
                                          <p:attrName>style.visibility</p:attrName>
                                        </p:attrNameLst>
                                      </p:cBhvr>
                                      <p:to>
                                        <p:strVal val="visible"/>
                                      </p:to>
                                    </p:set>
                                    <p:animEffect transition="in" filter="wipe(left)">
                                      <p:cBhvr>
                                        <p:cTn id="29" dur="500"/>
                                        <p:tgtEl>
                                          <p:spTgt spid="161"/>
                                        </p:tgtEl>
                                      </p:cBhvr>
                                    </p:animEffect>
                                  </p:childTnLst>
                                </p:cTn>
                              </p:par>
                              <p:par>
                                <p:cTn id="30" presetID="42" presetClass="entr" presetSubtype="0" fill="hold" grpId="0" nodeType="withEffect">
                                  <p:stCondLst>
                                    <p:cond delay="1250"/>
                                  </p:stCondLst>
                                  <p:childTnLst>
                                    <p:set>
                                      <p:cBhvr>
                                        <p:cTn id="31" dur="1" fill="hold">
                                          <p:stCondLst>
                                            <p:cond delay="0"/>
                                          </p:stCondLst>
                                        </p:cTn>
                                        <p:tgtEl>
                                          <p:spTgt spid="162"/>
                                        </p:tgtEl>
                                        <p:attrNameLst>
                                          <p:attrName>style.visibility</p:attrName>
                                        </p:attrNameLst>
                                      </p:cBhvr>
                                      <p:to>
                                        <p:strVal val="visible"/>
                                      </p:to>
                                    </p:set>
                                    <p:animEffect transition="in" filter="fade">
                                      <p:cBhvr>
                                        <p:cTn id="32" dur="1000"/>
                                        <p:tgtEl>
                                          <p:spTgt spid="162"/>
                                        </p:tgtEl>
                                      </p:cBhvr>
                                    </p:animEffect>
                                    <p:anim calcmode="lin" valueType="num">
                                      <p:cBhvr>
                                        <p:cTn id="33" dur="1000" fill="hold"/>
                                        <p:tgtEl>
                                          <p:spTgt spid="162"/>
                                        </p:tgtEl>
                                        <p:attrNameLst>
                                          <p:attrName>ppt_x</p:attrName>
                                        </p:attrNameLst>
                                      </p:cBhvr>
                                      <p:tavLst>
                                        <p:tav tm="0">
                                          <p:val>
                                            <p:strVal val="#ppt_x"/>
                                          </p:val>
                                        </p:tav>
                                        <p:tav tm="100000">
                                          <p:val>
                                            <p:strVal val="#ppt_x"/>
                                          </p:val>
                                        </p:tav>
                                      </p:tavLst>
                                    </p:anim>
                                    <p:anim calcmode="lin" valueType="num">
                                      <p:cBhvr>
                                        <p:cTn id="34" dur="1000" fill="hold"/>
                                        <p:tgtEl>
                                          <p:spTgt spid="162"/>
                                        </p:tgtEl>
                                        <p:attrNameLst>
                                          <p:attrName>ppt_y</p:attrName>
                                        </p:attrNameLst>
                                      </p:cBhvr>
                                      <p:tavLst>
                                        <p:tav tm="0">
                                          <p:val>
                                            <p:strVal val="#ppt_y+.1"/>
                                          </p:val>
                                        </p:tav>
                                        <p:tav tm="100000">
                                          <p:val>
                                            <p:strVal val="#ppt_y"/>
                                          </p:val>
                                        </p:tav>
                                      </p:tavLst>
                                    </p:anim>
                                  </p:childTnLst>
                                </p:cTn>
                              </p:par>
                              <p:par>
                                <p:cTn id="35" presetID="10" presetClass="entr" presetSubtype="0" fill="hold" grpId="0" nodeType="withEffect">
                                  <p:stCondLst>
                                    <p:cond delay="200"/>
                                  </p:stCondLst>
                                  <p:childTnLst>
                                    <p:set>
                                      <p:cBhvr>
                                        <p:cTn id="36" dur="1" fill="hold">
                                          <p:stCondLst>
                                            <p:cond delay="0"/>
                                          </p:stCondLst>
                                        </p:cTn>
                                        <p:tgtEl>
                                          <p:spTgt spid="169"/>
                                        </p:tgtEl>
                                        <p:attrNameLst>
                                          <p:attrName>style.visibility</p:attrName>
                                        </p:attrNameLst>
                                      </p:cBhvr>
                                      <p:to>
                                        <p:strVal val="visible"/>
                                      </p:to>
                                    </p:set>
                                    <p:animEffect transition="in" filter="fade">
                                      <p:cBhvr>
                                        <p:cTn id="37" dur="500"/>
                                        <p:tgtEl>
                                          <p:spTgt spid="169"/>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170"/>
                                        </p:tgtEl>
                                        <p:attrNameLst>
                                          <p:attrName>style.visibility</p:attrName>
                                        </p:attrNameLst>
                                      </p:cBhvr>
                                      <p:to>
                                        <p:strVal val="visible"/>
                                      </p:to>
                                    </p:set>
                                    <p:animEffect transition="in" filter="fade">
                                      <p:cBhvr>
                                        <p:cTn id="40" dur="500"/>
                                        <p:tgtEl>
                                          <p:spTgt spid="170"/>
                                        </p:tgtEl>
                                      </p:cBhvr>
                                    </p:animEffect>
                                  </p:childTnLst>
                                </p:cTn>
                              </p:par>
                              <p:par>
                                <p:cTn id="41" presetID="10" presetClass="entr" presetSubtype="0" fill="hold" grpId="0" nodeType="withEffect">
                                  <p:stCondLst>
                                    <p:cond delay="700"/>
                                  </p:stCondLst>
                                  <p:childTnLst>
                                    <p:set>
                                      <p:cBhvr>
                                        <p:cTn id="42" dur="1" fill="hold">
                                          <p:stCondLst>
                                            <p:cond delay="0"/>
                                          </p:stCondLst>
                                        </p:cTn>
                                        <p:tgtEl>
                                          <p:spTgt spid="171"/>
                                        </p:tgtEl>
                                        <p:attrNameLst>
                                          <p:attrName>style.visibility</p:attrName>
                                        </p:attrNameLst>
                                      </p:cBhvr>
                                      <p:to>
                                        <p:strVal val="visible"/>
                                      </p:to>
                                    </p:set>
                                    <p:animEffect transition="in" filter="fade">
                                      <p:cBhvr>
                                        <p:cTn id="43"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 grpId="0" animBg="1"/>
      <p:bldP spid="162" grpId="0"/>
      <p:bldP spid="157" grpId="0"/>
      <p:bldP spid="158" grpId="0" animBg="1"/>
      <p:bldP spid="159" grpId="0" animBg="1"/>
      <p:bldP spid="160" grpId="0" animBg="1"/>
      <p:bldP spid="169" grpId="0" animBg="1"/>
      <p:bldP spid="170" grpId="0" animBg="1"/>
      <p:bldP spid="17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TextBox 148"/>
          <p:cNvSpPr txBox="1"/>
          <p:nvPr/>
        </p:nvSpPr>
        <p:spPr>
          <a:xfrm>
            <a:off x="4770648" y="188640"/>
            <a:ext cx="2623083" cy="461665"/>
          </a:xfrm>
          <a:prstGeom prst="rect">
            <a:avLst/>
          </a:prstGeom>
          <a:noFill/>
        </p:spPr>
        <p:txBody>
          <a:bodyPr wrap="square" rtlCol="0">
            <a:spAutoFit/>
          </a:bodyPr>
          <a:lstStyle/>
          <a:p>
            <a:pPr algn="ctr"/>
            <a:r>
              <a:rPr lang="zh-CN" altLang="en-US" sz="2400" b="1"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目  录  页</a:t>
            </a:r>
          </a:p>
        </p:txBody>
      </p:sp>
      <p:cxnSp>
        <p:nvCxnSpPr>
          <p:cNvPr id="150" name="直接连接符 149"/>
          <p:cNvCxnSpPr/>
          <p:nvPr/>
        </p:nvCxnSpPr>
        <p:spPr>
          <a:xfrm>
            <a:off x="7393731" y="419473"/>
            <a:ext cx="446449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336947" y="423828"/>
            <a:ext cx="439248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7393731" y="476672"/>
            <a:ext cx="4464496"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336947" y="481027"/>
            <a:ext cx="4392488"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37" name="组合 136"/>
          <p:cNvGrpSpPr/>
          <p:nvPr/>
        </p:nvGrpSpPr>
        <p:grpSpPr>
          <a:xfrm>
            <a:off x="4555084" y="2722712"/>
            <a:ext cx="4735418" cy="1159817"/>
            <a:chOff x="4555084" y="2506688"/>
            <a:chExt cx="4735418" cy="1159817"/>
          </a:xfrm>
        </p:grpSpPr>
        <p:sp>
          <p:nvSpPr>
            <p:cNvPr id="138" name="圆角矩形 137"/>
            <p:cNvSpPr/>
            <p:nvPr/>
          </p:nvSpPr>
          <p:spPr>
            <a:xfrm>
              <a:off x="4555084" y="2506688"/>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pic>
          <p:nvPicPr>
            <p:cNvPr id="139" name="图片 138"/>
            <p:cNvPicPr>
              <a:picLocks noChangeAspect="1"/>
            </p:cNvPicPr>
            <p:nvPr/>
          </p:nvPicPr>
          <p:blipFill rotWithShape="1">
            <a:blip r:embed="rId3">
              <a:extLst>
                <a:ext uri="{BEBA8EAE-BF5A-486C-A8C5-ECC9F3942E4B}">
                  <a14:imgProps xmlns:a14="http://schemas.microsoft.com/office/drawing/2010/main">
                    <a14:imgLayer r:embed="rId4">
                      <a14:imgEffect>
                        <a14:saturation sat="66000"/>
                      </a14:imgEffect>
                    </a14:imgLayer>
                  </a14:imgProps>
                </a:ext>
              </a:extLst>
            </a:blip>
            <a:srcRect t="76775"/>
            <a:stretch>
              <a:fillRect/>
            </a:stretch>
          </p:blipFill>
          <p:spPr>
            <a:xfrm rot="16200000">
              <a:off x="8638244" y="2830336"/>
              <a:ext cx="958122" cy="346394"/>
            </a:xfrm>
            <a:prstGeom prst="rect">
              <a:avLst/>
            </a:prstGeom>
          </p:spPr>
        </p:pic>
        <p:pic>
          <p:nvPicPr>
            <p:cNvPr id="140" name="图片 139"/>
            <p:cNvPicPr>
              <a:picLocks noChangeAspect="1"/>
            </p:cNvPicPr>
            <p:nvPr/>
          </p:nvPicPr>
          <p:blipFill rotWithShape="1">
            <a:blip r:embed="rId3">
              <a:extLst>
                <a:ext uri="{BEBA8EAE-BF5A-486C-A8C5-ECC9F3942E4B}">
                  <a14:imgProps xmlns:a14="http://schemas.microsoft.com/office/drawing/2010/main">
                    <a14:imgLayer r:embed="rId4">
                      <a14:imgEffect>
                        <a14:saturation sat="66000"/>
                      </a14:imgEffect>
                    </a14:imgLayer>
                  </a14:imgProps>
                </a:ext>
              </a:extLst>
            </a:blip>
            <a:srcRect t="76775"/>
            <a:stretch>
              <a:fillRect/>
            </a:stretch>
          </p:blipFill>
          <p:spPr>
            <a:xfrm>
              <a:off x="4926460" y="3465198"/>
              <a:ext cx="3646270" cy="201307"/>
            </a:xfrm>
            <a:prstGeom prst="rect">
              <a:avLst/>
            </a:prstGeom>
          </p:spPr>
        </p:pic>
      </p:grpSp>
      <p:grpSp>
        <p:nvGrpSpPr>
          <p:cNvPr id="141" name="组合 140"/>
          <p:cNvGrpSpPr/>
          <p:nvPr/>
        </p:nvGrpSpPr>
        <p:grpSpPr>
          <a:xfrm>
            <a:off x="4555084" y="1556794"/>
            <a:ext cx="4697323" cy="1015929"/>
            <a:chOff x="4555084" y="1340770"/>
            <a:chExt cx="4697323" cy="1015929"/>
          </a:xfrm>
        </p:grpSpPr>
        <p:pic>
          <p:nvPicPr>
            <p:cNvPr id="142" name="图片 141"/>
            <p:cNvPicPr>
              <a:picLocks noChangeAspect="1"/>
            </p:cNvPicPr>
            <p:nvPr/>
          </p:nvPicPr>
          <p:blipFill rotWithShape="1">
            <a:blip r:embed="rId3">
              <a:extLst>
                <a:ext uri="{BEBA8EAE-BF5A-486C-A8C5-ECC9F3942E4B}">
                  <a14:imgProps xmlns:a14="http://schemas.microsoft.com/office/drawing/2010/main">
                    <a14:imgLayer r:embed="rId4">
                      <a14:imgEffect>
                        <a14:saturation sat="66000"/>
                      </a14:imgEffect>
                    </a14:imgLayer>
                  </a14:imgProps>
                </a:ext>
              </a:extLst>
            </a:blip>
            <a:srcRect t="76775"/>
            <a:stretch>
              <a:fillRect/>
            </a:stretch>
          </p:blipFill>
          <p:spPr>
            <a:xfrm rot="16200000">
              <a:off x="8600149" y="1662963"/>
              <a:ext cx="958122" cy="346394"/>
            </a:xfrm>
            <a:prstGeom prst="rect">
              <a:avLst/>
            </a:prstGeom>
          </p:spPr>
        </p:pic>
        <p:pic>
          <p:nvPicPr>
            <p:cNvPr id="143" name="图片 142"/>
            <p:cNvPicPr>
              <a:picLocks noChangeAspect="1"/>
            </p:cNvPicPr>
            <p:nvPr/>
          </p:nvPicPr>
          <p:blipFill rotWithShape="1">
            <a:blip r:embed="rId3">
              <a:extLst>
                <a:ext uri="{BEBA8EAE-BF5A-486C-A8C5-ECC9F3942E4B}">
                  <a14:imgProps xmlns:a14="http://schemas.microsoft.com/office/drawing/2010/main">
                    <a14:imgLayer r:embed="rId4">
                      <a14:imgEffect>
                        <a14:saturation sat="66000"/>
                      </a14:imgEffect>
                    </a14:imgLayer>
                  </a14:imgProps>
                </a:ext>
              </a:extLst>
            </a:blip>
            <a:srcRect t="76775"/>
            <a:stretch>
              <a:fillRect/>
            </a:stretch>
          </p:blipFill>
          <p:spPr>
            <a:xfrm>
              <a:off x="4926460" y="2155392"/>
              <a:ext cx="3646270" cy="201307"/>
            </a:xfrm>
            <a:prstGeom prst="rect">
              <a:avLst/>
            </a:prstGeom>
          </p:spPr>
        </p:pic>
        <p:sp>
          <p:nvSpPr>
            <p:cNvPr id="144" name="圆角矩形 143"/>
            <p:cNvSpPr/>
            <p:nvPr/>
          </p:nvSpPr>
          <p:spPr>
            <a:xfrm>
              <a:off x="4555084" y="1340770"/>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145" name="组合 144"/>
          <p:cNvGrpSpPr/>
          <p:nvPr/>
        </p:nvGrpSpPr>
        <p:grpSpPr>
          <a:xfrm>
            <a:off x="4555084" y="3864643"/>
            <a:ext cx="4697325" cy="1150703"/>
            <a:chOff x="4555084" y="3648619"/>
            <a:chExt cx="4697325" cy="1150703"/>
          </a:xfrm>
        </p:grpSpPr>
        <p:pic>
          <p:nvPicPr>
            <p:cNvPr id="146" name="图片 145"/>
            <p:cNvPicPr>
              <a:picLocks noChangeAspect="1"/>
            </p:cNvPicPr>
            <p:nvPr/>
          </p:nvPicPr>
          <p:blipFill rotWithShape="1">
            <a:blip r:embed="rId3">
              <a:extLst>
                <a:ext uri="{BEBA8EAE-BF5A-486C-A8C5-ECC9F3942E4B}">
                  <a14:imgProps xmlns:a14="http://schemas.microsoft.com/office/drawing/2010/main">
                    <a14:imgLayer r:embed="rId4">
                      <a14:imgEffect>
                        <a14:saturation sat="66000"/>
                      </a14:imgEffect>
                    </a14:imgLayer>
                  </a14:imgProps>
                </a:ext>
              </a:extLst>
            </a:blip>
            <a:srcRect t="76775"/>
            <a:stretch>
              <a:fillRect/>
            </a:stretch>
          </p:blipFill>
          <p:spPr>
            <a:xfrm rot="16200000">
              <a:off x="8600151" y="3970811"/>
              <a:ext cx="958122" cy="346394"/>
            </a:xfrm>
            <a:prstGeom prst="rect">
              <a:avLst/>
            </a:prstGeom>
          </p:spPr>
        </p:pic>
        <p:pic>
          <p:nvPicPr>
            <p:cNvPr id="147" name="图片 146"/>
            <p:cNvPicPr>
              <a:picLocks noChangeAspect="1"/>
            </p:cNvPicPr>
            <p:nvPr/>
          </p:nvPicPr>
          <p:blipFill rotWithShape="1">
            <a:blip r:embed="rId3">
              <a:extLst>
                <a:ext uri="{BEBA8EAE-BF5A-486C-A8C5-ECC9F3942E4B}">
                  <a14:imgProps xmlns:a14="http://schemas.microsoft.com/office/drawing/2010/main">
                    <a14:imgLayer r:embed="rId4">
                      <a14:imgEffect>
                        <a14:saturation sat="66000"/>
                      </a14:imgEffect>
                    </a14:imgLayer>
                  </a14:imgProps>
                </a:ext>
              </a:extLst>
            </a:blip>
            <a:srcRect t="76775"/>
            <a:stretch>
              <a:fillRect/>
            </a:stretch>
          </p:blipFill>
          <p:spPr>
            <a:xfrm>
              <a:off x="4926460" y="4598015"/>
              <a:ext cx="3646270" cy="201307"/>
            </a:xfrm>
            <a:prstGeom prst="rect">
              <a:avLst/>
            </a:prstGeom>
          </p:spPr>
        </p:pic>
        <p:sp>
          <p:nvSpPr>
            <p:cNvPr id="148" name="圆角矩形 147"/>
            <p:cNvSpPr/>
            <p:nvPr/>
          </p:nvSpPr>
          <p:spPr>
            <a:xfrm>
              <a:off x="4555084" y="3648619"/>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154" name="组合 153"/>
          <p:cNvGrpSpPr/>
          <p:nvPr/>
        </p:nvGrpSpPr>
        <p:grpSpPr>
          <a:xfrm>
            <a:off x="4555084" y="5013178"/>
            <a:ext cx="4697323" cy="1152126"/>
            <a:chOff x="4555084" y="4797154"/>
            <a:chExt cx="4697323" cy="1152126"/>
          </a:xfrm>
        </p:grpSpPr>
        <p:pic>
          <p:nvPicPr>
            <p:cNvPr id="155" name="图片 154"/>
            <p:cNvPicPr>
              <a:picLocks noChangeAspect="1"/>
            </p:cNvPicPr>
            <p:nvPr/>
          </p:nvPicPr>
          <p:blipFill rotWithShape="1">
            <a:blip r:embed="rId3">
              <a:extLst>
                <a:ext uri="{BEBA8EAE-BF5A-486C-A8C5-ECC9F3942E4B}">
                  <a14:imgProps xmlns:a14="http://schemas.microsoft.com/office/drawing/2010/main">
                    <a14:imgLayer r:embed="rId4">
                      <a14:imgEffect>
                        <a14:saturation sat="66000"/>
                      </a14:imgEffect>
                    </a14:imgLayer>
                  </a14:imgProps>
                </a:ext>
              </a:extLst>
            </a:blip>
            <a:srcRect t="76775"/>
            <a:stretch>
              <a:fillRect/>
            </a:stretch>
          </p:blipFill>
          <p:spPr>
            <a:xfrm rot="16200000">
              <a:off x="8600150" y="5119346"/>
              <a:ext cx="958122" cy="346393"/>
            </a:xfrm>
            <a:prstGeom prst="rect">
              <a:avLst/>
            </a:prstGeom>
          </p:spPr>
        </p:pic>
        <p:pic>
          <p:nvPicPr>
            <p:cNvPr id="156" name="图片 155"/>
            <p:cNvPicPr>
              <a:picLocks noChangeAspect="1"/>
            </p:cNvPicPr>
            <p:nvPr/>
          </p:nvPicPr>
          <p:blipFill rotWithShape="1">
            <a:blip r:embed="rId3">
              <a:extLst>
                <a:ext uri="{BEBA8EAE-BF5A-486C-A8C5-ECC9F3942E4B}">
                  <a14:imgProps xmlns:a14="http://schemas.microsoft.com/office/drawing/2010/main">
                    <a14:imgLayer r:embed="rId4">
                      <a14:imgEffect>
                        <a14:saturation sat="66000"/>
                      </a14:imgEffect>
                    </a14:imgLayer>
                  </a14:imgProps>
                </a:ext>
              </a:extLst>
            </a:blip>
            <a:srcRect t="76775"/>
            <a:stretch>
              <a:fillRect/>
            </a:stretch>
          </p:blipFill>
          <p:spPr>
            <a:xfrm>
              <a:off x="4926460" y="5747973"/>
              <a:ext cx="3646270" cy="201307"/>
            </a:xfrm>
            <a:prstGeom prst="rect">
              <a:avLst/>
            </a:prstGeom>
          </p:spPr>
        </p:pic>
        <p:sp>
          <p:nvSpPr>
            <p:cNvPr id="157" name="圆角矩形 156"/>
            <p:cNvSpPr/>
            <p:nvPr/>
          </p:nvSpPr>
          <p:spPr>
            <a:xfrm>
              <a:off x="4555084" y="4797154"/>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158" name="流程图: 手动输入 32"/>
          <p:cNvSpPr/>
          <p:nvPr/>
        </p:nvSpPr>
        <p:spPr>
          <a:xfrm flipH="1" flipV="1">
            <a:off x="4602651" y="1535500"/>
            <a:ext cx="345594" cy="624471"/>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6677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6677 h 10000"/>
              <a:gd name="connsiteX0-11" fmla="*/ 0 w 10000"/>
              <a:gd name="connsiteY0-12" fmla="*/ 6875 h 10000"/>
              <a:gd name="connsiteX1-13" fmla="*/ 10000 w 10000"/>
              <a:gd name="connsiteY1-14" fmla="*/ 0 h 10000"/>
              <a:gd name="connsiteX2-15" fmla="*/ 10000 w 10000"/>
              <a:gd name="connsiteY2-16" fmla="*/ 10000 h 10000"/>
              <a:gd name="connsiteX3-17" fmla="*/ 0 w 10000"/>
              <a:gd name="connsiteY3-18" fmla="*/ 10000 h 10000"/>
              <a:gd name="connsiteX4-19" fmla="*/ 0 w 10000"/>
              <a:gd name="connsiteY4-20" fmla="*/ 6875 h 10000"/>
              <a:gd name="connsiteX0-21" fmla="*/ 0 w 10185"/>
              <a:gd name="connsiteY0-22" fmla="*/ 6624 h 10000"/>
              <a:gd name="connsiteX1-23" fmla="*/ 10185 w 10185"/>
              <a:gd name="connsiteY1-24" fmla="*/ 0 h 10000"/>
              <a:gd name="connsiteX2-25" fmla="*/ 10185 w 10185"/>
              <a:gd name="connsiteY2-26" fmla="*/ 10000 h 10000"/>
              <a:gd name="connsiteX3-27" fmla="*/ 185 w 10185"/>
              <a:gd name="connsiteY3-28" fmla="*/ 10000 h 10000"/>
              <a:gd name="connsiteX4-29" fmla="*/ 0 w 10185"/>
              <a:gd name="connsiteY4-30" fmla="*/ 6624 h 10000"/>
              <a:gd name="connsiteX0-31" fmla="*/ 0 w 10092"/>
              <a:gd name="connsiteY0-32" fmla="*/ 8092 h 10000"/>
              <a:gd name="connsiteX1-33" fmla="*/ 10092 w 10092"/>
              <a:gd name="connsiteY1-34" fmla="*/ 0 h 10000"/>
              <a:gd name="connsiteX2-35" fmla="*/ 10092 w 10092"/>
              <a:gd name="connsiteY2-36" fmla="*/ 10000 h 10000"/>
              <a:gd name="connsiteX3-37" fmla="*/ 92 w 10092"/>
              <a:gd name="connsiteY3-38" fmla="*/ 10000 h 10000"/>
              <a:gd name="connsiteX4-39" fmla="*/ 0 w 10092"/>
              <a:gd name="connsiteY4-40" fmla="*/ 8092 h 10000"/>
              <a:gd name="connsiteX0-41" fmla="*/ 0 w 10092"/>
              <a:gd name="connsiteY0-42" fmla="*/ 8736 h 10000"/>
              <a:gd name="connsiteX1-43" fmla="*/ 10092 w 10092"/>
              <a:gd name="connsiteY1-44" fmla="*/ 0 h 10000"/>
              <a:gd name="connsiteX2-45" fmla="*/ 10092 w 10092"/>
              <a:gd name="connsiteY2-46" fmla="*/ 10000 h 10000"/>
              <a:gd name="connsiteX3-47" fmla="*/ 92 w 10092"/>
              <a:gd name="connsiteY3-48" fmla="*/ 10000 h 10000"/>
              <a:gd name="connsiteX4-49" fmla="*/ 0 w 10092"/>
              <a:gd name="connsiteY4-50" fmla="*/ 8736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92" h="10000">
                <a:moveTo>
                  <a:pt x="0" y="8736"/>
                </a:moveTo>
                <a:lnTo>
                  <a:pt x="10092" y="0"/>
                </a:lnTo>
                <a:lnTo>
                  <a:pt x="10092" y="10000"/>
                </a:lnTo>
                <a:lnTo>
                  <a:pt x="92" y="10000"/>
                </a:lnTo>
                <a:cubicBezTo>
                  <a:pt x="30" y="8875"/>
                  <a:pt x="62" y="9861"/>
                  <a:pt x="0" y="8736"/>
                </a:cubicBezTo>
                <a:close/>
              </a:path>
            </a:pathLst>
          </a:custGeom>
          <a:gradFill>
            <a:gsLst>
              <a:gs pos="0">
                <a:schemeClr val="tx1">
                  <a:alpha val="21000"/>
                </a:schemeClr>
              </a:gs>
              <a:gs pos="100000">
                <a:srgbClr val="F2F2F2">
                  <a:alpha val="0"/>
                </a:srgbClr>
              </a:gs>
            </a:gsLst>
            <a:lin ang="108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59" name="梯形 158"/>
          <p:cNvSpPr/>
          <p:nvPr/>
        </p:nvSpPr>
        <p:spPr>
          <a:xfrm rot="5400000">
            <a:off x="4085362" y="2540848"/>
            <a:ext cx="1396262" cy="345868"/>
          </a:xfrm>
          <a:prstGeom prst="trapezoid">
            <a:avLst>
              <a:gd name="adj" fmla="val 173951"/>
            </a:avLst>
          </a:prstGeom>
          <a:gradFill>
            <a:gsLst>
              <a:gs pos="100000">
                <a:schemeClr val="tx1">
                  <a:alpha val="21000"/>
                </a:schemeClr>
              </a:gs>
              <a:gs pos="0">
                <a:srgbClr val="F2F2F2">
                  <a:alpha val="0"/>
                </a:srgb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60" name="梯形 159"/>
          <p:cNvSpPr/>
          <p:nvPr/>
        </p:nvSpPr>
        <p:spPr>
          <a:xfrm rot="5400000">
            <a:off x="4085362" y="3789845"/>
            <a:ext cx="1396262" cy="345868"/>
          </a:xfrm>
          <a:prstGeom prst="trapezoid">
            <a:avLst>
              <a:gd name="adj" fmla="val 173951"/>
            </a:avLst>
          </a:prstGeom>
          <a:gradFill>
            <a:gsLst>
              <a:gs pos="100000">
                <a:schemeClr val="tx1">
                  <a:alpha val="21000"/>
                </a:schemeClr>
              </a:gs>
              <a:gs pos="0">
                <a:srgbClr val="F2F2F2">
                  <a:alpha val="0"/>
                </a:srgb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61" name="梯形 160"/>
          <p:cNvSpPr/>
          <p:nvPr/>
        </p:nvSpPr>
        <p:spPr>
          <a:xfrm rot="5400000">
            <a:off x="4085362" y="5016819"/>
            <a:ext cx="1396262" cy="345868"/>
          </a:xfrm>
          <a:prstGeom prst="trapezoid">
            <a:avLst>
              <a:gd name="adj" fmla="val 173951"/>
            </a:avLst>
          </a:prstGeom>
          <a:gradFill>
            <a:gsLst>
              <a:gs pos="100000">
                <a:schemeClr val="tx1">
                  <a:alpha val="21000"/>
                </a:schemeClr>
              </a:gs>
              <a:gs pos="0">
                <a:srgbClr val="F2F2F2">
                  <a:alpha val="0"/>
                </a:srgb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62" name="流程图: 手动输入 32"/>
          <p:cNvSpPr/>
          <p:nvPr/>
        </p:nvSpPr>
        <p:spPr>
          <a:xfrm flipH="1">
            <a:off x="4614203" y="5701888"/>
            <a:ext cx="345594" cy="36276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6677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6677 h 10000"/>
              <a:gd name="connsiteX0-11" fmla="*/ 0 w 10000"/>
              <a:gd name="connsiteY0-12" fmla="*/ 6875 h 10000"/>
              <a:gd name="connsiteX1-13" fmla="*/ 10000 w 10000"/>
              <a:gd name="connsiteY1-14" fmla="*/ 0 h 10000"/>
              <a:gd name="connsiteX2-15" fmla="*/ 10000 w 10000"/>
              <a:gd name="connsiteY2-16" fmla="*/ 10000 h 10000"/>
              <a:gd name="connsiteX3-17" fmla="*/ 0 w 10000"/>
              <a:gd name="connsiteY3-18" fmla="*/ 10000 h 10000"/>
              <a:gd name="connsiteX4-19" fmla="*/ 0 w 10000"/>
              <a:gd name="connsiteY4-20" fmla="*/ 6875 h 10000"/>
              <a:gd name="connsiteX0-21" fmla="*/ 0 w 10185"/>
              <a:gd name="connsiteY0-22" fmla="*/ 6624 h 10000"/>
              <a:gd name="connsiteX1-23" fmla="*/ 10185 w 10185"/>
              <a:gd name="connsiteY1-24" fmla="*/ 0 h 10000"/>
              <a:gd name="connsiteX2-25" fmla="*/ 10185 w 10185"/>
              <a:gd name="connsiteY2-26" fmla="*/ 10000 h 10000"/>
              <a:gd name="connsiteX3-27" fmla="*/ 185 w 10185"/>
              <a:gd name="connsiteY3-28" fmla="*/ 10000 h 10000"/>
              <a:gd name="connsiteX4-29" fmla="*/ 0 w 10185"/>
              <a:gd name="connsiteY4-30" fmla="*/ 6624 h 10000"/>
              <a:gd name="connsiteX0-31" fmla="*/ 0 w 10092"/>
              <a:gd name="connsiteY0-32" fmla="*/ 8092 h 10000"/>
              <a:gd name="connsiteX1-33" fmla="*/ 10092 w 10092"/>
              <a:gd name="connsiteY1-34" fmla="*/ 0 h 10000"/>
              <a:gd name="connsiteX2-35" fmla="*/ 10092 w 10092"/>
              <a:gd name="connsiteY2-36" fmla="*/ 10000 h 10000"/>
              <a:gd name="connsiteX3-37" fmla="*/ 92 w 10092"/>
              <a:gd name="connsiteY3-38" fmla="*/ 10000 h 10000"/>
              <a:gd name="connsiteX4-39" fmla="*/ 0 w 10092"/>
              <a:gd name="connsiteY4-40" fmla="*/ 8092 h 10000"/>
              <a:gd name="connsiteX0-41" fmla="*/ 0 w 10092"/>
              <a:gd name="connsiteY0-42" fmla="*/ 8736 h 10000"/>
              <a:gd name="connsiteX1-43" fmla="*/ 10092 w 10092"/>
              <a:gd name="connsiteY1-44" fmla="*/ 0 h 10000"/>
              <a:gd name="connsiteX2-45" fmla="*/ 10092 w 10092"/>
              <a:gd name="connsiteY2-46" fmla="*/ 10000 h 10000"/>
              <a:gd name="connsiteX3-47" fmla="*/ 92 w 10092"/>
              <a:gd name="connsiteY3-48" fmla="*/ 10000 h 10000"/>
              <a:gd name="connsiteX4-49" fmla="*/ 0 w 10092"/>
              <a:gd name="connsiteY4-50" fmla="*/ 8736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92" h="10000">
                <a:moveTo>
                  <a:pt x="0" y="8736"/>
                </a:moveTo>
                <a:lnTo>
                  <a:pt x="10092" y="0"/>
                </a:lnTo>
                <a:lnTo>
                  <a:pt x="10092" y="10000"/>
                </a:lnTo>
                <a:lnTo>
                  <a:pt x="92" y="10000"/>
                </a:lnTo>
                <a:cubicBezTo>
                  <a:pt x="30" y="8875"/>
                  <a:pt x="62" y="9861"/>
                  <a:pt x="0" y="8736"/>
                </a:cubicBezTo>
                <a:close/>
              </a:path>
            </a:pathLst>
          </a:custGeom>
          <a:gradFill>
            <a:gsLst>
              <a:gs pos="0">
                <a:schemeClr val="tx1">
                  <a:alpha val="21000"/>
                </a:schemeClr>
              </a:gs>
              <a:gs pos="100000">
                <a:srgbClr val="F2F2F2">
                  <a:alpha val="0"/>
                </a:srgbClr>
              </a:gs>
            </a:gsLst>
            <a:lin ang="108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163" name="组合 162"/>
          <p:cNvGrpSpPr/>
          <p:nvPr/>
        </p:nvGrpSpPr>
        <p:grpSpPr>
          <a:xfrm>
            <a:off x="3208476" y="1556792"/>
            <a:ext cx="1117236" cy="962801"/>
            <a:chOff x="3208476" y="1556792"/>
            <a:chExt cx="1117236" cy="962801"/>
          </a:xfrm>
        </p:grpSpPr>
        <p:grpSp>
          <p:nvGrpSpPr>
            <p:cNvPr id="164" name="组合 163"/>
            <p:cNvGrpSpPr/>
            <p:nvPr/>
          </p:nvGrpSpPr>
          <p:grpSpPr>
            <a:xfrm>
              <a:off x="3227162" y="1556793"/>
              <a:ext cx="1098550" cy="958123"/>
              <a:chOff x="2857499" y="1149477"/>
              <a:chExt cx="1098550" cy="958123"/>
            </a:xfrm>
          </p:grpSpPr>
          <p:sp>
            <p:nvSpPr>
              <p:cNvPr id="168" name="圆角矩形 167"/>
              <p:cNvSpPr/>
              <p:nvPr/>
            </p:nvSpPr>
            <p:spPr>
              <a:xfrm>
                <a:off x="2857499" y="1149477"/>
                <a:ext cx="1076325" cy="958123"/>
              </a:xfrm>
              <a:prstGeom prst="roundRect">
                <a:avLst>
                  <a:gd name="adj" fmla="val 13889"/>
                </a:avLst>
              </a:prstGeom>
              <a:solidFill>
                <a:srgbClr val="405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69" name="圆角矩形 168"/>
              <p:cNvSpPr/>
              <p:nvPr/>
            </p:nvSpPr>
            <p:spPr>
              <a:xfrm>
                <a:off x="2892834" y="1178024"/>
                <a:ext cx="1063215" cy="901028"/>
              </a:xfrm>
              <a:prstGeom prst="roundRect">
                <a:avLst>
                  <a:gd name="adj" fmla="val 13889"/>
                </a:avLst>
              </a:prstGeom>
              <a:solidFill>
                <a:srgbClr val="405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165" name="组合 164"/>
            <p:cNvGrpSpPr/>
            <p:nvPr/>
          </p:nvGrpSpPr>
          <p:grpSpPr>
            <a:xfrm>
              <a:off x="3208476" y="1556792"/>
              <a:ext cx="1039305" cy="962801"/>
              <a:chOff x="2633251" y="1689376"/>
              <a:chExt cx="1039305" cy="962801"/>
            </a:xfrm>
          </p:grpSpPr>
          <p:sp>
            <p:nvSpPr>
              <p:cNvPr id="166" name="文本框 40"/>
              <p:cNvSpPr txBox="1"/>
              <p:nvPr/>
            </p:nvSpPr>
            <p:spPr>
              <a:xfrm>
                <a:off x="2642042" y="1689376"/>
                <a:ext cx="1030514" cy="707886"/>
              </a:xfrm>
              <a:prstGeom prst="rect">
                <a:avLst/>
              </a:prstGeom>
              <a:noFill/>
            </p:spPr>
            <p:txBody>
              <a:bodyPr wrap="square" rtlCol="0">
                <a:spAutoFit/>
              </a:bodyPr>
              <a:lstStyle/>
              <a:p>
                <a:pPr algn="ctr"/>
                <a:r>
                  <a:rPr lang="en-US" altLang="zh-CN" sz="4000" dirty="0">
                    <a:solidFill>
                      <a:schemeClr val="bg1"/>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01</a:t>
                </a:r>
                <a:endParaRPr lang="zh-CN" altLang="en-US" sz="4000" dirty="0">
                  <a:solidFill>
                    <a:schemeClr val="bg1"/>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67" name="文本框 41"/>
              <p:cNvSpPr txBox="1"/>
              <p:nvPr/>
            </p:nvSpPr>
            <p:spPr>
              <a:xfrm>
                <a:off x="2633251" y="2344400"/>
                <a:ext cx="1030514" cy="307777"/>
              </a:xfrm>
              <a:prstGeom prst="rect">
                <a:avLst/>
              </a:prstGeom>
              <a:noFill/>
            </p:spPr>
            <p:txBody>
              <a:bodyPr wrap="square" rtlCol="0">
                <a:spAutoFit/>
              </a:bodyPr>
              <a:lstStyle/>
              <a:p>
                <a:pPr algn="ctr"/>
                <a:r>
                  <a:rPr lang="en-US" altLang="zh-CN" sz="1400" dirty="0">
                    <a:solidFill>
                      <a:schemeClr val="bg1"/>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OPTION</a:t>
                </a:r>
                <a:endParaRPr lang="zh-CN" altLang="en-US" sz="1400" dirty="0">
                  <a:solidFill>
                    <a:schemeClr val="bg1"/>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grpSp>
        <p:nvGrpSpPr>
          <p:cNvPr id="170" name="组合 169"/>
          <p:cNvGrpSpPr/>
          <p:nvPr/>
        </p:nvGrpSpPr>
        <p:grpSpPr>
          <a:xfrm>
            <a:off x="3208476" y="2708920"/>
            <a:ext cx="1117236" cy="971914"/>
            <a:chOff x="3208476" y="2708920"/>
            <a:chExt cx="1117236" cy="971914"/>
          </a:xfrm>
        </p:grpSpPr>
        <p:grpSp>
          <p:nvGrpSpPr>
            <p:cNvPr id="171" name="组合 170"/>
            <p:cNvGrpSpPr/>
            <p:nvPr/>
          </p:nvGrpSpPr>
          <p:grpSpPr>
            <a:xfrm>
              <a:off x="3227162" y="2722711"/>
              <a:ext cx="1098550" cy="958123"/>
              <a:chOff x="2857499" y="1149477"/>
              <a:chExt cx="1098550" cy="958123"/>
            </a:xfrm>
            <a:solidFill>
              <a:srgbClr val="2DB2A4"/>
            </a:solidFill>
          </p:grpSpPr>
          <p:sp>
            <p:nvSpPr>
              <p:cNvPr id="175" name="圆角矩形 174"/>
              <p:cNvSpPr/>
              <p:nvPr/>
            </p:nvSpPr>
            <p:spPr>
              <a:xfrm>
                <a:off x="2857499" y="1149477"/>
                <a:ext cx="1076325" cy="958123"/>
              </a:xfrm>
              <a:prstGeom prst="roundRect">
                <a:avLst>
                  <a:gd name="adj" fmla="val 13889"/>
                </a:avLst>
              </a:prstGeom>
              <a:solidFill>
                <a:srgbClr val="405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76" name="圆角矩形 175"/>
              <p:cNvSpPr/>
              <p:nvPr/>
            </p:nvSpPr>
            <p:spPr>
              <a:xfrm>
                <a:off x="2892834" y="1178024"/>
                <a:ext cx="1063215" cy="901028"/>
              </a:xfrm>
              <a:prstGeom prst="roundRect">
                <a:avLst>
                  <a:gd name="adj" fmla="val 13889"/>
                </a:avLst>
              </a:prstGeom>
              <a:solidFill>
                <a:srgbClr val="405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172" name="组合 171"/>
            <p:cNvGrpSpPr/>
            <p:nvPr/>
          </p:nvGrpSpPr>
          <p:grpSpPr>
            <a:xfrm>
              <a:off x="3208476" y="2708920"/>
              <a:ext cx="1039305" cy="912152"/>
              <a:chOff x="2633251" y="1679328"/>
              <a:chExt cx="1039305" cy="912152"/>
            </a:xfrm>
          </p:grpSpPr>
          <p:sp>
            <p:nvSpPr>
              <p:cNvPr id="173" name="文本框 43"/>
              <p:cNvSpPr txBox="1"/>
              <p:nvPr/>
            </p:nvSpPr>
            <p:spPr>
              <a:xfrm>
                <a:off x="2642042" y="1679328"/>
                <a:ext cx="1030514" cy="707886"/>
              </a:xfrm>
              <a:prstGeom prst="rect">
                <a:avLst/>
              </a:prstGeom>
              <a:noFill/>
            </p:spPr>
            <p:txBody>
              <a:bodyPr wrap="square" rtlCol="0">
                <a:spAutoFit/>
              </a:bodyPr>
              <a:lstStyle/>
              <a:p>
                <a:pPr algn="ctr"/>
                <a:r>
                  <a:rPr lang="en-US" altLang="zh-CN" sz="4000" dirty="0">
                    <a:solidFill>
                      <a:schemeClr val="bg1"/>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02</a:t>
                </a:r>
                <a:endParaRPr lang="zh-CN" altLang="en-US" sz="4000" dirty="0">
                  <a:solidFill>
                    <a:schemeClr val="bg1"/>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74" name="文本框 44"/>
              <p:cNvSpPr txBox="1"/>
              <p:nvPr/>
            </p:nvSpPr>
            <p:spPr>
              <a:xfrm>
                <a:off x="2633251" y="2283703"/>
                <a:ext cx="1030514" cy="307777"/>
              </a:xfrm>
              <a:prstGeom prst="rect">
                <a:avLst/>
              </a:prstGeom>
              <a:noFill/>
            </p:spPr>
            <p:txBody>
              <a:bodyPr wrap="square" rtlCol="0">
                <a:spAutoFit/>
              </a:bodyPr>
              <a:lstStyle/>
              <a:p>
                <a:pPr algn="ctr"/>
                <a:r>
                  <a:rPr lang="en-US" altLang="zh-CN" sz="1400" dirty="0">
                    <a:solidFill>
                      <a:schemeClr val="bg1"/>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OPTION</a:t>
                </a:r>
                <a:endParaRPr lang="zh-CN" altLang="en-US" sz="1400" dirty="0">
                  <a:solidFill>
                    <a:schemeClr val="bg1"/>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grpSp>
        <p:nvGrpSpPr>
          <p:cNvPr id="177" name="组合 176"/>
          <p:cNvGrpSpPr/>
          <p:nvPr/>
        </p:nvGrpSpPr>
        <p:grpSpPr>
          <a:xfrm>
            <a:off x="3208476" y="3861048"/>
            <a:ext cx="1117236" cy="958123"/>
            <a:chOff x="3208476" y="3861048"/>
            <a:chExt cx="1117236" cy="958123"/>
          </a:xfrm>
        </p:grpSpPr>
        <p:grpSp>
          <p:nvGrpSpPr>
            <p:cNvPr id="178" name="组合 177"/>
            <p:cNvGrpSpPr/>
            <p:nvPr/>
          </p:nvGrpSpPr>
          <p:grpSpPr>
            <a:xfrm>
              <a:off x="3227162" y="3861048"/>
              <a:ext cx="1098550" cy="958123"/>
              <a:chOff x="2857499" y="1149477"/>
              <a:chExt cx="1098550" cy="958123"/>
            </a:xfrm>
          </p:grpSpPr>
          <p:sp>
            <p:nvSpPr>
              <p:cNvPr id="182" name="圆角矩形 181"/>
              <p:cNvSpPr/>
              <p:nvPr/>
            </p:nvSpPr>
            <p:spPr>
              <a:xfrm>
                <a:off x="2857499" y="1149477"/>
                <a:ext cx="1076325" cy="958123"/>
              </a:xfrm>
              <a:prstGeom prst="roundRect">
                <a:avLst>
                  <a:gd name="adj" fmla="val 13889"/>
                </a:avLst>
              </a:prstGeom>
              <a:solidFill>
                <a:srgbClr val="405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83" name="圆角矩形 182"/>
              <p:cNvSpPr/>
              <p:nvPr/>
            </p:nvSpPr>
            <p:spPr>
              <a:xfrm>
                <a:off x="2892834" y="1178024"/>
                <a:ext cx="1063215" cy="901028"/>
              </a:xfrm>
              <a:prstGeom prst="roundRect">
                <a:avLst>
                  <a:gd name="adj" fmla="val 13889"/>
                </a:avLst>
              </a:prstGeom>
              <a:solidFill>
                <a:srgbClr val="405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179" name="组合 178"/>
            <p:cNvGrpSpPr/>
            <p:nvPr/>
          </p:nvGrpSpPr>
          <p:grpSpPr>
            <a:xfrm>
              <a:off x="3208476" y="3873242"/>
              <a:ext cx="1039305" cy="864306"/>
              <a:chOff x="2633251" y="1704765"/>
              <a:chExt cx="1039305" cy="864306"/>
            </a:xfrm>
          </p:grpSpPr>
          <p:sp>
            <p:nvSpPr>
              <p:cNvPr id="180" name="文本框 46"/>
              <p:cNvSpPr txBox="1"/>
              <p:nvPr/>
            </p:nvSpPr>
            <p:spPr>
              <a:xfrm>
                <a:off x="2642042" y="1704765"/>
                <a:ext cx="1030514" cy="707886"/>
              </a:xfrm>
              <a:prstGeom prst="rect">
                <a:avLst/>
              </a:prstGeom>
              <a:noFill/>
            </p:spPr>
            <p:txBody>
              <a:bodyPr wrap="square" rtlCol="0">
                <a:spAutoFit/>
              </a:bodyPr>
              <a:lstStyle/>
              <a:p>
                <a:pPr algn="ctr"/>
                <a:r>
                  <a:rPr lang="en-US" altLang="zh-CN" sz="4000" dirty="0">
                    <a:solidFill>
                      <a:schemeClr val="bg1"/>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03</a:t>
                </a:r>
                <a:endParaRPr lang="zh-CN" altLang="en-US" sz="4000" dirty="0">
                  <a:solidFill>
                    <a:schemeClr val="bg1"/>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81" name="文本框 47"/>
              <p:cNvSpPr txBox="1"/>
              <p:nvPr/>
            </p:nvSpPr>
            <p:spPr>
              <a:xfrm>
                <a:off x="2633251" y="2261294"/>
                <a:ext cx="1030514" cy="307777"/>
              </a:xfrm>
              <a:prstGeom prst="rect">
                <a:avLst/>
              </a:prstGeom>
              <a:noFill/>
            </p:spPr>
            <p:txBody>
              <a:bodyPr wrap="square" rtlCol="0">
                <a:spAutoFit/>
              </a:bodyPr>
              <a:lstStyle/>
              <a:p>
                <a:pPr algn="ctr"/>
                <a:r>
                  <a:rPr lang="en-US" altLang="zh-CN" sz="1400" dirty="0">
                    <a:solidFill>
                      <a:schemeClr val="bg1"/>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OPTION</a:t>
                </a:r>
                <a:endParaRPr lang="zh-CN" altLang="en-US" sz="1400" dirty="0">
                  <a:solidFill>
                    <a:schemeClr val="bg1"/>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grpSp>
        <p:nvGrpSpPr>
          <p:cNvPr id="184" name="组合 183"/>
          <p:cNvGrpSpPr/>
          <p:nvPr/>
        </p:nvGrpSpPr>
        <p:grpSpPr>
          <a:xfrm>
            <a:off x="3194865" y="5013176"/>
            <a:ext cx="1130847" cy="958123"/>
            <a:chOff x="3194865" y="5013176"/>
            <a:chExt cx="1130847" cy="958123"/>
          </a:xfrm>
        </p:grpSpPr>
        <p:grpSp>
          <p:nvGrpSpPr>
            <p:cNvPr id="185" name="组合 184"/>
            <p:cNvGrpSpPr/>
            <p:nvPr/>
          </p:nvGrpSpPr>
          <p:grpSpPr>
            <a:xfrm>
              <a:off x="3227162" y="5013176"/>
              <a:ext cx="1098550" cy="958123"/>
              <a:chOff x="2857499" y="1149477"/>
              <a:chExt cx="1098550" cy="958123"/>
            </a:xfrm>
          </p:grpSpPr>
          <p:sp>
            <p:nvSpPr>
              <p:cNvPr id="189" name="圆角矩形 188"/>
              <p:cNvSpPr/>
              <p:nvPr/>
            </p:nvSpPr>
            <p:spPr>
              <a:xfrm>
                <a:off x="2857499" y="1149477"/>
                <a:ext cx="1076325" cy="958123"/>
              </a:xfrm>
              <a:prstGeom prst="roundRect">
                <a:avLst>
                  <a:gd name="adj" fmla="val 13889"/>
                </a:avLst>
              </a:prstGeom>
              <a:solidFill>
                <a:srgbClr val="405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90" name="圆角矩形 189"/>
              <p:cNvSpPr/>
              <p:nvPr/>
            </p:nvSpPr>
            <p:spPr>
              <a:xfrm>
                <a:off x="2892834" y="1178024"/>
                <a:ext cx="1063215" cy="901028"/>
              </a:xfrm>
              <a:prstGeom prst="roundRect">
                <a:avLst>
                  <a:gd name="adj" fmla="val 13889"/>
                </a:avLst>
              </a:prstGeom>
              <a:solidFill>
                <a:srgbClr val="405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186" name="组合 185"/>
            <p:cNvGrpSpPr/>
            <p:nvPr/>
          </p:nvGrpSpPr>
          <p:grpSpPr>
            <a:xfrm>
              <a:off x="3194865" y="5013176"/>
              <a:ext cx="1044125" cy="879845"/>
              <a:chOff x="2619640" y="1689226"/>
              <a:chExt cx="1044125" cy="879845"/>
            </a:xfrm>
          </p:grpSpPr>
          <p:sp>
            <p:nvSpPr>
              <p:cNvPr id="187" name="文本框 49"/>
              <p:cNvSpPr txBox="1"/>
              <p:nvPr/>
            </p:nvSpPr>
            <p:spPr>
              <a:xfrm>
                <a:off x="2619640" y="1689226"/>
                <a:ext cx="1030514" cy="707886"/>
              </a:xfrm>
              <a:prstGeom prst="rect">
                <a:avLst/>
              </a:prstGeom>
              <a:noFill/>
            </p:spPr>
            <p:txBody>
              <a:bodyPr wrap="square" rtlCol="0">
                <a:spAutoFit/>
              </a:bodyPr>
              <a:lstStyle/>
              <a:p>
                <a:pPr algn="ctr"/>
                <a:r>
                  <a:rPr lang="en-US" altLang="zh-CN" sz="4000" dirty="0">
                    <a:solidFill>
                      <a:schemeClr val="bg1"/>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04</a:t>
                </a:r>
                <a:endParaRPr lang="zh-CN" altLang="en-US" sz="4000" dirty="0">
                  <a:solidFill>
                    <a:schemeClr val="bg1"/>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88" name="文本框 50"/>
              <p:cNvSpPr txBox="1"/>
              <p:nvPr/>
            </p:nvSpPr>
            <p:spPr>
              <a:xfrm>
                <a:off x="2633251" y="2261294"/>
                <a:ext cx="1030514" cy="307777"/>
              </a:xfrm>
              <a:prstGeom prst="rect">
                <a:avLst/>
              </a:prstGeom>
              <a:noFill/>
            </p:spPr>
            <p:txBody>
              <a:bodyPr wrap="square" rtlCol="0">
                <a:spAutoFit/>
              </a:bodyPr>
              <a:lstStyle/>
              <a:p>
                <a:pPr algn="ctr"/>
                <a:r>
                  <a:rPr lang="en-US" altLang="zh-CN" sz="1400" dirty="0">
                    <a:solidFill>
                      <a:schemeClr val="bg1"/>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OPTION</a:t>
                </a:r>
                <a:endParaRPr lang="zh-CN" altLang="en-US" sz="1400" dirty="0">
                  <a:solidFill>
                    <a:schemeClr val="bg1"/>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sp>
        <p:nvSpPr>
          <p:cNvPr id="191" name="文本框 52"/>
          <p:cNvSpPr txBox="1"/>
          <p:nvPr/>
        </p:nvSpPr>
        <p:spPr>
          <a:xfrm>
            <a:off x="6120102" y="1616905"/>
            <a:ext cx="2641781" cy="461665"/>
          </a:xfrm>
          <a:prstGeom prst="rect">
            <a:avLst/>
          </a:prstGeom>
          <a:noFill/>
        </p:spPr>
        <p:txBody>
          <a:bodyPr wrap="square" rtlCol="0">
            <a:spAutoFit/>
          </a:bodyPr>
          <a:lstStyle/>
          <a:p>
            <a:r>
              <a:rPr lang="zh-CN" altLang="en-US" sz="24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年度工作概述</a:t>
            </a:r>
            <a:endParaRPr lang="zh-CN" altLang="en-US" sz="24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92" name="文本框 53"/>
          <p:cNvSpPr txBox="1"/>
          <p:nvPr/>
        </p:nvSpPr>
        <p:spPr>
          <a:xfrm>
            <a:off x="5681897" y="2072121"/>
            <a:ext cx="2359906" cy="276999"/>
          </a:xfrm>
          <a:prstGeom prst="rect">
            <a:avLst/>
          </a:prstGeom>
          <a:noFill/>
        </p:spPr>
        <p:txBody>
          <a:bodyPr wrap="square" rtlCol="0">
            <a:spAutoFit/>
          </a:bodyPr>
          <a:lstStyle/>
          <a:p>
            <a:pPr algn="just"/>
            <a:r>
              <a:rPr lang="zh-CN" altLang="en-US" sz="12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介紹本年度的主要工作情況</a:t>
            </a:r>
            <a:endParaRPr lang="zh-CN" altLang="en-US" sz="12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193" name="Group 4"/>
          <p:cNvGrpSpPr>
            <a:grpSpLocks noChangeAspect="1"/>
          </p:cNvGrpSpPr>
          <p:nvPr/>
        </p:nvGrpSpPr>
        <p:grpSpPr bwMode="auto">
          <a:xfrm>
            <a:off x="5788132" y="1629035"/>
            <a:ext cx="299144" cy="350562"/>
            <a:chOff x="1776" y="1776"/>
            <a:chExt cx="64" cy="75"/>
          </a:xfrm>
          <a:solidFill>
            <a:srgbClr val="405F8F"/>
          </a:solidFill>
          <a:effectLst/>
        </p:grpSpPr>
        <p:sp>
          <p:nvSpPr>
            <p:cNvPr id="194" name="Freeform 5"/>
            <p:cNvSpPr/>
            <p:nvPr/>
          </p:nvSpPr>
          <p:spPr bwMode="auto">
            <a:xfrm>
              <a:off x="1795" y="1779"/>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95" name="Freeform 6"/>
            <p:cNvSpPr/>
            <p:nvPr/>
          </p:nvSpPr>
          <p:spPr bwMode="auto">
            <a:xfrm>
              <a:off x="1776" y="1810"/>
              <a:ext cx="64" cy="41"/>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96" name="Freeform 7"/>
            <p:cNvSpPr/>
            <p:nvPr/>
          </p:nvSpPr>
          <p:spPr bwMode="auto">
            <a:xfrm>
              <a:off x="1795" y="1776"/>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97" name="Freeform 8"/>
            <p:cNvSpPr/>
            <p:nvPr/>
          </p:nvSpPr>
          <p:spPr bwMode="auto">
            <a:xfrm>
              <a:off x="1776" y="1807"/>
              <a:ext cx="64" cy="42"/>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198" name="Group 18"/>
          <p:cNvGrpSpPr>
            <a:grpSpLocks noChangeAspect="1"/>
          </p:cNvGrpSpPr>
          <p:nvPr/>
        </p:nvGrpSpPr>
        <p:grpSpPr bwMode="auto">
          <a:xfrm>
            <a:off x="5770611" y="2799341"/>
            <a:ext cx="334186" cy="311400"/>
            <a:chOff x="3802" y="2858"/>
            <a:chExt cx="616" cy="574"/>
          </a:xfrm>
          <a:solidFill>
            <a:srgbClr val="405F8F"/>
          </a:solidFill>
          <a:effectLst/>
        </p:grpSpPr>
        <p:sp>
          <p:nvSpPr>
            <p:cNvPr id="199" name="Rectangle 19"/>
            <p:cNvSpPr>
              <a:spLocks noChangeArrowheads="1"/>
            </p:cNvSpPr>
            <p:nvPr/>
          </p:nvSpPr>
          <p:spPr bwMode="auto">
            <a:xfrm>
              <a:off x="3802" y="3205"/>
              <a:ext cx="129" cy="2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00" name="Rectangle 20"/>
            <p:cNvSpPr>
              <a:spLocks noChangeArrowheads="1"/>
            </p:cNvSpPr>
            <p:nvPr/>
          </p:nvSpPr>
          <p:spPr bwMode="auto">
            <a:xfrm>
              <a:off x="3964" y="3174"/>
              <a:ext cx="129" cy="2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01" name="Rectangle 21"/>
            <p:cNvSpPr>
              <a:spLocks noChangeArrowheads="1"/>
            </p:cNvSpPr>
            <p:nvPr/>
          </p:nvSpPr>
          <p:spPr bwMode="auto">
            <a:xfrm>
              <a:off x="4129" y="3131"/>
              <a:ext cx="129" cy="30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02" name="Rectangle 22"/>
            <p:cNvSpPr>
              <a:spLocks noChangeArrowheads="1"/>
            </p:cNvSpPr>
            <p:nvPr/>
          </p:nvSpPr>
          <p:spPr bwMode="auto">
            <a:xfrm>
              <a:off x="4289" y="3078"/>
              <a:ext cx="129"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03" name="Freeform 23"/>
            <p:cNvSpPr/>
            <p:nvPr/>
          </p:nvSpPr>
          <p:spPr bwMode="auto">
            <a:xfrm>
              <a:off x="3888" y="2858"/>
              <a:ext cx="370" cy="270"/>
            </a:xfrm>
            <a:custGeom>
              <a:avLst/>
              <a:gdLst>
                <a:gd name="T0" fmla="*/ 94 w 155"/>
                <a:gd name="T1" fmla="*/ 21 h 113"/>
                <a:gd name="T2" fmla="*/ 0 w 155"/>
                <a:gd name="T3" fmla="*/ 72 h 113"/>
                <a:gd name="T4" fmla="*/ 114 w 155"/>
                <a:gd name="T5" fmla="*/ 63 h 113"/>
                <a:gd name="T6" fmla="*/ 122 w 155"/>
                <a:gd name="T7" fmla="*/ 82 h 113"/>
                <a:gd name="T8" fmla="*/ 155 w 155"/>
                <a:gd name="T9" fmla="*/ 0 h 113"/>
                <a:gd name="T10" fmla="*/ 85 w 155"/>
                <a:gd name="T11" fmla="*/ 2 h 113"/>
                <a:gd name="T12" fmla="*/ 94 w 155"/>
                <a:gd name="T13" fmla="*/ 21 h 113"/>
              </a:gdLst>
              <a:ahLst/>
              <a:cxnLst>
                <a:cxn ang="0">
                  <a:pos x="T0" y="T1"/>
                </a:cxn>
                <a:cxn ang="0">
                  <a:pos x="T2" y="T3"/>
                </a:cxn>
                <a:cxn ang="0">
                  <a:pos x="T4" y="T5"/>
                </a:cxn>
                <a:cxn ang="0">
                  <a:pos x="T6" y="T7"/>
                </a:cxn>
                <a:cxn ang="0">
                  <a:pos x="T8" y="T9"/>
                </a:cxn>
                <a:cxn ang="0">
                  <a:pos x="T10" y="T11"/>
                </a:cxn>
                <a:cxn ang="0">
                  <a:pos x="T12" y="T13"/>
                </a:cxn>
              </a:cxnLst>
              <a:rect l="0" t="0" r="r" b="b"/>
              <a:pathLst>
                <a:path w="155" h="113">
                  <a:moveTo>
                    <a:pt x="94" y="21"/>
                  </a:moveTo>
                  <a:cubicBezTo>
                    <a:pt x="85" y="33"/>
                    <a:pt x="53" y="68"/>
                    <a:pt x="0" y="72"/>
                  </a:cubicBezTo>
                  <a:cubicBezTo>
                    <a:pt x="0" y="72"/>
                    <a:pt x="31" y="113"/>
                    <a:pt x="114" y="63"/>
                  </a:cubicBezTo>
                  <a:cubicBezTo>
                    <a:pt x="122" y="82"/>
                    <a:pt x="122" y="82"/>
                    <a:pt x="122" y="82"/>
                  </a:cubicBezTo>
                  <a:cubicBezTo>
                    <a:pt x="155" y="0"/>
                    <a:pt x="155" y="0"/>
                    <a:pt x="155" y="0"/>
                  </a:cubicBezTo>
                  <a:cubicBezTo>
                    <a:pt x="85" y="2"/>
                    <a:pt x="85" y="2"/>
                    <a:pt x="85" y="2"/>
                  </a:cubicBezTo>
                  <a:lnTo>
                    <a:pt x="94"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204" name="Group 13"/>
          <p:cNvGrpSpPr>
            <a:grpSpLocks noChangeAspect="1"/>
          </p:cNvGrpSpPr>
          <p:nvPr/>
        </p:nvGrpSpPr>
        <p:grpSpPr bwMode="auto">
          <a:xfrm>
            <a:off x="5755306" y="3897228"/>
            <a:ext cx="364796" cy="369104"/>
            <a:chOff x="2426" y="2781"/>
            <a:chExt cx="593" cy="600"/>
          </a:xfrm>
          <a:solidFill>
            <a:srgbClr val="405F8F"/>
          </a:solidFill>
          <a:effectLst/>
        </p:grpSpPr>
        <p:sp>
          <p:nvSpPr>
            <p:cNvPr id="205" name="Freeform 14"/>
            <p:cNvSpPr/>
            <p:nvPr/>
          </p:nvSpPr>
          <p:spPr bwMode="auto">
            <a:xfrm>
              <a:off x="2442" y="2805"/>
              <a:ext cx="577"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06"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207" name="组合 206"/>
          <p:cNvGrpSpPr/>
          <p:nvPr/>
        </p:nvGrpSpPr>
        <p:grpSpPr>
          <a:xfrm>
            <a:off x="5765282" y="5066247"/>
            <a:ext cx="344844" cy="375260"/>
            <a:chOff x="4873620" y="1965325"/>
            <a:chExt cx="269882" cy="293688"/>
          </a:xfrm>
          <a:solidFill>
            <a:srgbClr val="405F8F"/>
          </a:solidFill>
          <a:effectLst/>
        </p:grpSpPr>
        <p:sp>
          <p:nvSpPr>
            <p:cNvPr id="208" name="Freeform 502"/>
            <p:cNvSpPr/>
            <p:nvPr/>
          </p:nvSpPr>
          <p:spPr bwMode="auto">
            <a:xfrm>
              <a:off x="4873620" y="2127250"/>
              <a:ext cx="112713" cy="131763"/>
            </a:xfrm>
            <a:custGeom>
              <a:avLst/>
              <a:gdLst>
                <a:gd name="T0" fmla="*/ 2 w 30"/>
                <a:gd name="T1" fmla="*/ 0 h 35"/>
                <a:gd name="T2" fmla="*/ 28 w 30"/>
                <a:gd name="T3" fmla="*/ 0 h 35"/>
                <a:gd name="T4" fmla="*/ 30 w 30"/>
                <a:gd name="T5" fmla="*/ 1 h 35"/>
                <a:gd name="T6" fmla="*/ 28 w 30"/>
                <a:gd name="T7" fmla="*/ 3 h 35"/>
                <a:gd name="T8" fmla="*/ 3 w 30"/>
                <a:gd name="T9" fmla="*/ 3 h 35"/>
                <a:gd name="T10" fmla="*/ 3 w 30"/>
                <a:gd name="T11" fmla="*/ 33 h 35"/>
                <a:gd name="T12" fmla="*/ 2 w 30"/>
                <a:gd name="T13" fmla="*/ 35 h 35"/>
                <a:gd name="T14" fmla="*/ 0 w 30"/>
                <a:gd name="T15" fmla="*/ 33 h 35"/>
                <a:gd name="T16" fmla="*/ 0 w 30"/>
                <a:gd name="T17" fmla="*/ 1 h 35"/>
                <a:gd name="T18" fmla="*/ 2 w 30"/>
                <a:gd name="T19"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35">
                  <a:moveTo>
                    <a:pt x="2" y="0"/>
                  </a:moveTo>
                  <a:cubicBezTo>
                    <a:pt x="28" y="0"/>
                    <a:pt x="28" y="0"/>
                    <a:pt x="28" y="0"/>
                  </a:cubicBezTo>
                  <a:cubicBezTo>
                    <a:pt x="29" y="0"/>
                    <a:pt x="30" y="1"/>
                    <a:pt x="30" y="1"/>
                  </a:cubicBezTo>
                  <a:cubicBezTo>
                    <a:pt x="30" y="2"/>
                    <a:pt x="29" y="3"/>
                    <a:pt x="28" y="3"/>
                  </a:cubicBezTo>
                  <a:cubicBezTo>
                    <a:pt x="3" y="3"/>
                    <a:pt x="3" y="3"/>
                    <a:pt x="3" y="3"/>
                  </a:cubicBezTo>
                  <a:cubicBezTo>
                    <a:pt x="3" y="33"/>
                    <a:pt x="3" y="33"/>
                    <a:pt x="3" y="33"/>
                  </a:cubicBezTo>
                  <a:cubicBezTo>
                    <a:pt x="3" y="34"/>
                    <a:pt x="3" y="35"/>
                    <a:pt x="2" y="35"/>
                  </a:cubicBezTo>
                  <a:cubicBezTo>
                    <a:pt x="1" y="35"/>
                    <a:pt x="0" y="34"/>
                    <a:pt x="0" y="33"/>
                  </a:cubicBezTo>
                  <a:cubicBezTo>
                    <a:pt x="0" y="1"/>
                    <a:pt x="0" y="1"/>
                    <a:pt x="0" y="1"/>
                  </a:cubicBezTo>
                  <a:cubicBezTo>
                    <a:pt x="0" y="1"/>
                    <a:pt x="1"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09" name="Freeform 503"/>
            <p:cNvSpPr/>
            <p:nvPr/>
          </p:nvSpPr>
          <p:spPr bwMode="auto">
            <a:xfrm>
              <a:off x="4884737" y="1973263"/>
              <a:ext cx="41275" cy="146050"/>
            </a:xfrm>
            <a:custGeom>
              <a:avLst/>
              <a:gdLst>
                <a:gd name="T0" fmla="*/ 11 w 11"/>
                <a:gd name="T1" fmla="*/ 34 h 39"/>
                <a:gd name="T2" fmla="*/ 11 w 11"/>
                <a:gd name="T3" fmla="*/ 6 h 39"/>
                <a:gd name="T4" fmla="*/ 5 w 11"/>
                <a:gd name="T5" fmla="*/ 0 h 39"/>
                <a:gd name="T6" fmla="*/ 0 w 11"/>
                <a:gd name="T7" fmla="*/ 6 h 39"/>
                <a:gd name="T8" fmla="*/ 0 w 11"/>
                <a:gd name="T9" fmla="*/ 34 h 39"/>
                <a:gd name="T10" fmla="*/ 5 w 11"/>
                <a:gd name="T11" fmla="*/ 39 h 39"/>
                <a:gd name="T12" fmla="*/ 11 w 11"/>
                <a:gd name="T13" fmla="*/ 34 h 39"/>
              </a:gdLst>
              <a:ahLst/>
              <a:cxnLst>
                <a:cxn ang="0">
                  <a:pos x="T0" y="T1"/>
                </a:cxn>
                <a:cxn ang="0">
                  <a:pos x="T2" y="T3"/>
                </a:cxn>
                <a:cxn ang="0">
                  <a:pos x="T4" y="T5"/>
                </a:cxn>
                <a:cxn ang="0">
                  <a:pos x="T6" y="T7"/>
                </a:cxn>
                <a:cxn ang="0">
                  <a:pos x="T8" y="T9"/>
                </a:cxn>
                <a:cxn ang="0">
                  <a:pos x="T10" y="T11"/>
                </a:cxn>
                <a:cxn ang="0">
                  <a:pos x="T12" y="T13"/>
                </a:cxn>
              </a:cxnLst>
              <a:rect l="0" t="0" r="r" b="b"/>
              <a:pathLst>
                <a:path w="11" h="39">
                  <a:moveTo>
                    <a:pt x="11" y="34"/>
                  </a:moveTo>
                  <a:cubicBezTo>
                    <a:pt x="11" y="6"/>
                    <a:pt x="11" y="6"/>
                    <a:pt x="11" y="6"/>
                  </a:cubicBezTo>
                  <a:cubicBezTo>
                    <a:pt x="11" y="3"/>
                    <a:pt x="9" y="0"/>
                    <a:pt x="5" y="0"/>
                  </a:cubicBezTo>
                  <a:cubicBezTo>
                    <a:pt x="2" y="0"/>
                    <a:pt x="0" y="3"/>
                    <a:pt x="0" y="6"/>
                  </a:cubicBezTo>
                  <a:cubicBezTo>
                    <a:pt x="0" y="34"/>
                    <a:pt x="0" y="34"/>
                    <a:pt x="0" y="34"/>
                  </a:cubicBezTo>
                  <a:cubicBezTo>
                    <a:pt x="0" y="37"/>
                    <a:pt x="2" y="39"/>
                    <a:pt x="5" y="39"/>
                  </a:cubicBezTo>
                  <a:cubicBezTo>
                    <a:pt x="9" y="39"/>
                    <a:pt x="11" y="37"/>
                    <a:pt x="11"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10" name="Freeform 504"/>
            <p:cNvSpPr/>
            <p:nvPr/>
          </p:nvSpPr>
          <p:spPr bwMode="auto">
            <a:xfrm>
              <a:off x="4940303" y="1965325"/>
              <a:ext cx="177800" cy="293688"/>
            </a:xfrm>
            <a:custGeom>
              <a:avLst/>
              <a:gdLst>
                <a:gd name="T0" fmla="*/ 5 w 47"/>
                <a:gd name="T1" fmla="*/ 69 h 78"/>
                <a:gd name="T2" fmla="*/ 6 w 47"/>
                <a:gd name="T3" fmla="*/ 77 h 78"/>
                <a:gd name="T4" fmla="*/ 9 w 47"/>
                <a:gd name="T5" fmla="*/ 78 h 78"/>
                <a:gd name="T6" fmla="*/ 14 w 47"/>
                <a:gd name="T7" fmla="*/ 76 h 78"/>
                <a:gd name="T8" fmla="*/ 26 w 47"/>
                <a:gd name="T9" fmla="*/ 57 h 78"/>
                <a:gd name="T10" fmla="*/ 46 w 47"/>
                <a:gd name="T11" fmla="*/ 57 h 78"/>
                <a:gd name="T12" fmla="*/ 47 w 47"/>
                <a:gd name="T13" fmla="*/ 56 h 78"/>
                <a:gd name="T14" fmla="*/ 47 w 47"/>
                <a:gd name="T15" fmla="*/ 42 h 78"/>
                <a:gd name="T16" fmla="*/ 32 w 47"/>
                <a:gd name="T17" fmla="*/ 19 h 78"/>
                <a:gd name="T18" fmla="*/ 30 w 47"/>
                <a:gd name="T19" fmla="*/ 20 h 78"/>
                <a:gd name="T20" fmla="*/ 35 w 47"/>
                <a:gd name="T21" fmla="*/ 10 h 78"/>
                <a:gd name="T22" fmla="*/ 24 w 47"/>
                <a:gd name="T23" fmla="*/ 0 h 78"/>
                <a:gd name="T24" fmla="*/ 14 w 47"/>
                <a:gd name="T25" fmla="*/ 10 h 78"/>
                <a:gd name="T26" fmla="*/ 24 w 47"/>
                <a:gd name="T27" fmla="*/ 21 h 78"/>
                <a:gd name="T28" fmla="*/ 27 w 47"/>
                <a:gd name="T29" fmla="*/ 20 h 78"/>
                <a:gd name="T30" fmla="*/ 21 w 47"/>
                <a:gd name="T31" fmla="*/ 27 h 78"/>
                <a:gd name="T32" fmla="*/ 5 w 47"/>
                <a:gd name="T33" fmla="*/ 31 h 78"/>
                <a:gd name="T34" fmla="*/ 1 w 47"/>
                <a:gd name="T35" fmla="*/ 34 h 78"/>
                <a:gd name="T36" fmla="*/ 1 w 47"/>
                <a:gd name="T37" fmla="*/ 38 h 78"/>
                <a:gd name="T38" fmla="*/ 6 w 47"/>
                <a:gd name="T39" fmla="*/ 42 h 78"/>
                <a:gd name="T40" fmla="*/ 8 w 47"/>
                <a:gd name="T41" fmla="*/ 42 h 78"/>
                <a:gd name="T42" fmla="*/ 17 w 47"/>
                <a:gd name="T43" fmla="*/ 40 h 78"/>
                <a:gd name="T44" fmla="*/ 17 w 47"/>
                <a:gd name="T45" fmla="*/ 43 h 78"/>
                <a:gd name="T46" fmla="*/ 17 w 47"/>
                <a:gd name="T47" fmla="*/ 47 h 78"/>
                <a:gd name="T48" fmla="*/ 5 w 47"/>
                <a:gd name="T49" fmla="*/ 6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7" h="78">
                  <a:moveTo>
                    <a:pt x="5" y="69"/>
                  </a:moveTo>
                  <a:cubicBezTo>
                    <a:pt x="3" y="72"/>
                    <a:pt x="3" y="76"/>
                    <a:pt x="6" y="77"/>
                  </a:cubicBezTo>
                  <a:cubicBezTo>
                    <a:pt x="7" y="78"/>
                    <a:pt x="8" y="78"/>
                    <a:pt x="9" y="78"/>
                  </a:cubicBezTo>
                  <a:cubicBezTo>
                    <a:pt x="11" y="78"/>
                    <a:pt x="13" y="77"/>
                    <a:pt x="14" y="76"/>
                  </a:cubicBezTo>
                  <a:cubicBezTo>
                    <a:pt x="26" y="57"/>
                    <a:pt x="26" y="57"/>
                    <a:pt x="26" y="57"/>
                  </a:cubicBezTo>
                  <a:cubicBezTo>
                    <a:pt x="46" y="57"/>
                    <a:pt x="46" y="57"/>
                    <a:pt x="46" y="57"/>
                  </a:cubicBezTo>
                  <a:cubicBezTo>
                    <a:pt x="47" y="57"/>
                    <a:pt x="47" y="57"/>
                    <a:pt x="47" y="56"/>
                  </a:cubicBezTo>
                  <a:cubicBezTo>
                    <a:pt x="47" y="42"/>
                    <a:pt x="47" y="42"/>
                    <a:pt x="47" y="42"/>
                  </a:cubicBezTo>
                  <a:cubicBezTo>
                    <a:pt x="47" y="29"/>
                    <a:pt x="41" y="19"/>
                    <a:pt x="32" y="19"/>
                  </a:cubicBezTo>
                  <a:cubicBezTo>
                    <a:pt x="31" y="19"/>
                    <a:pt x="30" y="19"/>
                    <a:pt x="30" y="20"/>
                  </a:cubicBezTo>
                  <a:cubicBezTo>
                    <a:pt x="33" y="18"/>
                    <a:pt x="35" y="14"/>
                    <a:pt x="35" y="10"/>
                  </a:cubicBezTo>
                  <a:cubicBezTo>
                    <a:pt x="35" y="5"/>
                    <a:pt x="30" y="0"/>
                    <a:pt x="24" y="0"/>
                  </a:cubicBezTo>
                  <a:cubicBezTo>
                    <a:pt x="19" y="0"/>
                    <a:pt x="14" y="5"/>
                    <a:pt x="14" y="10"/>
                  </a:cubicBezTo>
                  <a:cubicBezTo>
                    <a:pt x="14" y="16"/>
                    <a:pt x="19" y="21"/>
                    <a:pt x="24" y="21"/>
                  </a:cubicBezTo>
                  <a:cubicBezTo>
                    <a:pt x="25" y="21"/>
                    <a:pt x="26" y="21"/>
                    <a:pt x="27" y="20"/>
                  </a:cubicBezTo>
                  <a:cubicBezTo>
                    <a:pt x="25" y="22"/>
                    <a:pt x="23" y="24"/>
                    <a:pt x="21" y="27"/>
                  </a:cubicBezTo>
                  <a:cubicBezTo>
                    <a:pt x="5" y="31"/>
                    <a:pt x="5" y="31"/>
                    <a:pt x="5" y="31"/>
                  </a:cubicBezTo>
                  <a:cubicBezTo>
                    <a:pt x="3" y="32"/>
                    <a:pt x="2" y="32"/>
                    <a:pt x="1" y="34"/>
                  </a:cubicBezTo>
                  <a:cubicBezTo>
                    <a:pt x="1" y="35"/>
                    <a:pt x="0" y="37"/>
                    <a:pt x="1" y="38"/>
                  </a:cubicBezTo>
                  <a:cubicBezTo>
                    <a:pt x="1" y="41"/>
                    <a:pt x="4" y="42"/>
                    <a:pt x="6" y="42"/>
                  </a:cubicBezTo>
                  <a:cubicBezTo>
                    <a:pt x="7" y="42"/>
                    <a:pt x="7" y="42"/>
                    <a:pt x="8" y="42"/>
                  </a:cubicBezTo>
                  <a:cubicBezTo>
                    <a:pt x="17" y="40"/>
                    <a:pt x="17" y="40"/>
                    <a:pt x="17" y="40"/>
                  </a:cubicBezTo>
                  <a:cubicBezTo>
                    <a:pt x="17" y="41"/>
                    <a:pt x="17" y="42"/>
                    <a:pt x="17" y="43"/>
                  </a:cubicBezTo>
                  <a:cubicBezTo>
                    <a:pt x="17" y="47"/>
                    <a:pt x="17" y="47"/>
                    <a:pt x="17" y="47"/>
                  </a:cubicBezTo>
                  <a:lnTo>
                    <a:pt x="5" y="6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11" name="Freeform 505"/>
            <p:cNvSpPr/>
            <p:nvPr/>
          </p:nvSpPr>
          <p:spPr bwMode="auto">
            <a:xfrm>
              <a:off x="5046664" y="2093913"/>
              <a:ext cx="96838" cy="112713"/>
            </a:xfrm>
            <a:custGeom>
              <a:avLst/>
              <a:gdLst>
                <a:gd name="T0" fmla="*/ 1 w 26"/>
                <a:gd name="T1" fmla="*/ 27 h 30"/>
                <a:gd name="T2" fmla="*/ 23 w 26"/>
                <a:gd name="T3" fmla="*/ 27 h 30"/>
                <a:gd name="T4" fmla="*/ 23 w 26"/>
                <a:gd name="T5" fmla="*/ 2 h 30"/>
                <a:gd name="T6" fmla="*/ 24 w 26"/>
                <a:gd name="T7" fmla="*/ 0 h 30"/>
                <a:gd name="T8" fmla="*/ 26 w 26"/>
                <a:gd name="T9" fmla="*/ 2 h 30"/>
                <a:gd name="T10" fmla="*/ 26 w 26"/>
                <a:gd name="T11" fmla="*/ 28 h 30"/>
                <a:gd name="T12" fmla="*/ 24 w 26"/>
                <a:gd name="T13" fmla="*/ 30 h 30"/>
                <a:gd name="T14" fmla="*/ 1 w 26"/>
                <a:gd name="T15" fmla="*/ 30 h 30"/>
                <a:gd name="T16" fmla="*/ 0 w 26"/>
                <a:gd name="T17" fmla="*/ 28 h 30"/>
                <a:gd name="T18" fmla="*/ 1 w 26"/>
                <a:gd name="T19" fmla="*/ 27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0">
                  <a:moveTo>
                    <a:pt x="1" y="27"/>
                  </a:moveTo>
                  <a:cubicBezTo>
                    <a:pt x="23" y="27"/>
                    <a:pt x="23" y="27"/>
                    <a:pt x="23" y="27"/>
                  </a:cubicBezTo>
                  <a:cubicBezTo>
                    <a:pt x="23" y="2"/>
                    <a:pt x="23" y="2"/>
                    <a:pt x="23" y="2"/>
                  </a:cubicBezTo>
                  <a:cubicBezTo>
                    <a:pt x="23" y="1"/>
                    <a:pt x="23" y="0"/>
                    <a:pt x="24" y="0"/>
                  </a:cubicBezTo>
                  <a:cubicBezTo>
                    <a:pt x="25" y="0"/>
                    <a:pt x="26" y="1"/>
                    <a:pt x="26" y="2"/>
                  </a:cubicBezTo>
                  <a:cubicBezTo>
                    <a:pt x="26" y="28"/>
                    <a:pt x="26" y="28"/>
                    <a:pt x="26" y="28"/>
                  </a:cubicBezTo>
                  <a:cubicBezTo>
                    <a:pt x="26" y="29"/>
                    <a:pt x="25" y="30"/>
                    <a:pt x="24" y="30"/>
                  </a:cubicBezTo>
                  <a:cubicBezTo>
                    <a:pt x="1" y="30"/>
                    <a:pt x="1" y="30"/>
                    <a:pt x="1" y="30"/>
                  </a:cubicBezTo>
                  <a:cubicBezTo>
                    <a:pt x="0" y="30"/>
                    <a:pt x="0" y="29"/>
                    <a:pt x="0" y="28"/>
                  </a:cubicBezTo>
                  <a:cubicBezTo>
                    <a:pt x="0" y="27"/>
                    <a:pt x="0" y="27"/>
                    <a:pt x="1"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212" name="文本框 73"/>
          <p:cNvSpPr txBox="1"/>
          <p:nvPr/>
        </p:nvSpPr>
        <p:spPr>
          <a:xfrm>
            <a:off x="6120102" y="2764341"/>
            <a:ext cx="2641781" cy="461665"/>
          </a:xfrm>
          <a:prstGeom prst="rect">
            <a:avLst/>
          </a:prstGeom>
          <a:noFill/>
        </p:spPr>
        <p:txBody>
          <a:bodyPr wrap="square" rtlCol="0">
            <a:spAutoFit/>
          </a:bodyPr>
          <a:lstStyle/>
          <a:p>
            <a:r>
              <a:rPr lang="zh-CN" altLang="en-US" sz="24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工作完成情況</a:t>
            </a:r>
            <a:endParaRPr lang="zh-CN" altLang="en-US" sz="24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13" name="文本框 74"/>
          <p:cNvSpPr txBox="1"/>
          <p:nvPr/>
        </p:nvSpPr>
        <p:spPr>
          <a:xfrm>
            <a:off x="5681897" y="3219557"/>
            <a:ext cx="2359906" cy="461665"/>
          </a:xfrm>
          <a:prstGeom prst="rect">
            <a:avLst/>
          </a:prstGeom>
          <a:noFill/>
        </p:spPr>
        <p:txBody>
          <a:bodyPr wrap="square" rtlCol="0">
            <a:spAutoFit/>
          </a:bodyPr>
          <a:lstStyle/>
          <a:p>
            <a:pPr algn="just"/>
            <a:r>
              <a:rPr lang="zh-CN" altLang="en-US" sz="12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本年度工作主要內容以及工作達成情況統計</a:t>
            </a:r>
            <a:endParaRPr lang="zh-CN" altLang="en-US" sz="12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14" name="文本框 75"/>
          <p:cNvSpPr txBox="1"/>
          <p:nvPr/>
        </p:nvSpPr>
        <p:spPr>
          <a:xfrm>
            <a:off x="6120102" y="3861521"/>
            <a:ext cx="2590289" cy="461665"/>
          </a:xfrm>
          <a:prstGeom prst="rect">
            <a:avLst/>
          </a:prstGeom>
          <a:noFill/>
        </p:spPr>
        <p:txBody>
          <a:bodyPr wrap="square" rtlCol="0">
            <a:spAutoFit/>
          </a:bodyPr>
          <a:lstStyle/>
          <a:p>
            <a:pPr algn="ctr"/>
            <a:r>
              <a:rPr lang="zh-CN" altLang="en-US" sz="2400" b="1" spc="3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工作存在的不足</a:t>
            </a:r>
            <a:endParaRPr lang="zh-CN" altLang="en-US" sz="2400" b="1" spc="3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15" name="文本框 76"/>
          <p:cNvSpPr txBox="1"/>
          <p:nvPr/>
        </p:nvSpPr>
        <p:spPr>
          <a:xfrm>
            <a:off x="5681897" y="4368241"/>
            <a:ext cx="2359906" cy="276999"/>
          </a:xfrm>
          <a:prstGeom prst="rect">
            <a:avLst/>
          </a:prstGeom>
          <a:noFill/>
        </p:spPr>
        <p:txBody>
          <a:bodyPr wrap="square" rtlCol="0">
            <a:spAutoFit/>
          </a:bodyPr>
          <a:lstStyle/>
          <a:p>
            <a:pPr algn="just"/>
            <a:r>
              <a:rPr lang="zh-CN" altLang="en-US" sz="12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總結</a:t>
            </a:r>
            <a:r>
              <a:rPr lang="zh-CN" altLang="en-US" sz="12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工作中存在的不足</a:t>
            </a:r>
            <a:endParaRPr lang="zh-CN" altLang="en-US" sz="12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16" name="文本框 77"/>
          <p:cNvSpPr txBox="1"/>
          <p:nvPr/>
        </p:nvSpPr>
        <p:spPr>
          <a:xfrm>
            <a:off x="6120102" y="5055559"/>
            <a:ext cx="2641781" cy="461665"/>
          </a:xfrm>
          <a:prstGeom prst="rect">
            <a:avLst/>
          </a:prstGeom>
          <a:noFill/>
        </p:spPr>
        <p:txBody>
          <a:bodyPr wrap="square" rtlCol="0">
            <a:spAutoFit/>
          </a:bodyPr>
          <a:lstStyle/>
          <a:p>
            <a:r>
              <a:rPr lang="zh-CN" altLang="en-US" sz="24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明年工作計劃</a:t>
            </a:r>
            <a:endParaRPr lang="zh-CN" altLang="en-US" sz="24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17" name="文本框 78"/>
          <p:cNvSpPr txBox="1"/>
          <p:nvPr/>
        </p:nvSpPr>
        <p:spPr>
          <a:xfrm>
            <a:off x="5681897" y="5510775"/>
            <a:ext cx="2359906" cy="461665"/>
          </a:xfrm>
          <a:prstGeom prst="rect">
            <a:avLst/>
          </a:prstGeom>
          <a:noFill/>
        </p:spPr>
        <p:txBody>
          <a:bodyPr wrap="square" rtlCol="0">
            <a:spAutoFit/>
          </a:bodyPr>
          <a:lstStyle/>
          <a:p>
            <a:pPr algn="just"/>
            <a:r>
              <a:rPr lang="zh-CN" altLang="en-US" sz="12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展望</a:t>
            </a:r>
            <a:r>
              <a:rPr lang="en-US" altLang="zh-CN" sz="12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2021</a:t>
            </a:r>
            <a:r>
              <a:rPr lang="zh-CN" altLang="en-US" sz="12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，明確明年自己的成長目標并加以規劃</a:t>
            </a:r>
            <a:endParaRPr lang="zh-CN" altLang="en-US" sz="12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18" name="矩形 217"/>
          <p:cNvSpPr/>
          <p:nvPr/>
        </p:nvSpPr>
        <p:spPr>
          <a:xfrm>
            <a:off x="4178614" y="1556793"/>
            <a:ext cx="452661" cy="4430836"/>
          </a:xfrm>
          <a:prstGeom prst="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49"/>
                                        </p:tgtEl>
                                        <p:attrNameLst>
                                          <p:attrName>style.visibility</p:attrName>
                                        </p:attrNameLst>
                                      </p:cBhvr>
                                      <p:to>
                                        <p:strVal val="visible"/>
                                      </p:to>
                                    </p:set>
                                    <p:anim calcmode="lin" valueType="num">
                                      <p:cBhvr>
                                        <p:cTn id="7" dur="500" fill="hold"/>
                                        <p:tgtEl>
                                          <p:spTgt spid="149"/>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49"/>
                                        </p:tgtEl>
                                        <p:attrNameLst>
                                          <p:attrName>ppt_y</p:attrName>
                                        </p:attrNameLst>
                                      </p:cBhvr>
                                      <p:tavLst>
                                        <p:tav tm="0">
                                          <p:val>
                                            <p:strVal val="#ppt_y"/>
                                          </p:val>
                                        </p:tav>
                                        <p:tav tm="100000">
                                          <p:val>
                                            <p:strVal val="#ppt_y"/>
                                          </p:val>
                                        </p:tav>
                                      </p:tavLst>
                                    </p:anim>
                                    <p:anim calcmode="lin" valueType="num">
                                      <p:cBhvr>
                                        <p:cTn id="9" dur="500" fill="hold"/>
                                        <p:tgtEl>
                                          <p:spTgt spid="149"/>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49"/>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49"/>
                                        </p:tgtEl>
                                      </p:cBhvr>
                                    </p:animEffect>
                                  </p:childTnLst>
                                </p:cTn>
                              </p:par>
                              <p:par>
                                <p:cTn id="12" presetID="2" presetClass="entr" presetSubtype="8" fill="hold" nodeType="withEffect">
                                  <p:stCondLst>
                                    <p:cond delay="250"/>
                                  </p:stCondLst>
                                  <p:childTnLst>
                                    <p:set>
                                      <p:cBhvr>
                                        <p:cTn id="13" dur="1" fill="hold">
                                          <p:stCondLst>
                                            <p:cond delay="0"/>
                                          </p:stCondLst>
                                        </p:cTn>
                                        <p:tgtEl>
                                          <p:spTgt spid="151"/>
                                        </p:tgtEl>
                                        <p:attrNameLst>
                                          <p:attrName>style.visibility</p:attrName>
                                        </p:attrNameLst>
                                      </p:cBhvr>
                                      <p:to>
                                        <p:strVal val="visible"/>
                                      </p:to>
                                    </p:set>
                                    <p:anim calcmode="lin" valueType="num">
                                      <p:cBhvr additive="base">
                                        <p:cTn id="14" dur="500" fill="hold"/>
                                        <p:tgtEl>
                                          <p:spTgt spid="151"/>
                                        </p:tgtEl>
                                        <p:attrNameLst>
                                          <p:attrName>ppt_x</p:attrName>
                                        </p:attrNameLst>
                                      </p:cBhvr>
                                      <p:tavLst>
                                        <p:tav tm="0">
                                          <p:val>
                                            <p:strVal val="0-#ppt_w/2"/>
                                          </p:val>
                                        </p:tav>
                                        <p:tav tm="100000">
                                          <p:val>
                                            <p:strVal val="#ppt_x"/>
                                          </p:val>
                                        </p:tav>
                                      </p:tavLst>
                                    </p:anim>
                                    <p:anim calcmode="lin" valueType="num">
                                      <p:cBhvr additive="base">
                                        <p:cTn id="15" dur="500" fill="hold"/>
                                        <p:tgtEl>
                                          <p:spTgt spid="151"/>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150"/>
                                        </p:tgtEl>
                                        <p:attrNameLst>
                                          <p:attrName>style.visibility</p:attrName>
                                        </p:attrNameLst>
                                      </p:cBhvr>
                                      <p:to>
                                        <p:strVal val="visible"/>
                                      </p:to>
                                    </p:set>
                                    <p:anim calcmode="lin" valueType="num">
                                      <p:cBhvr additive="base">
                                        <p:cTn id="18" dur="500" fill="hold"/>
                                        <p:tgtEl>
                                          <p:spTgt spid="150"/>
                                        </p:tgtEl>
                                        <p:attrNameLst>
                                          <p:attrName>ppt_x</p:attrName>
                                        </p:attrNameLst>
                                      </p:cBhvr>
                                      <p:tavLst>
                                        <p:tav tm="0">
                                          <p:val>
                                            <p:strVal val="1+#ppt_w/2"/>
                                          </p:val>
                                        </p:tav>
                                        <p:tav tm="100000">
                                          <p:val>
                                            <p:strVal val="#ppt_x"/>
                                          </p:val>
                                        </p:tav>
                                      </p:tavLst>
                                    </p:anim>
                                    <p:anim calcmode="lin" valueType="num">
                                      <p:cBhvr additive="base">
                                        <p:cTn id="19" dur="500" fill="hold"/>
                                        <p:tgtEl>
                                          <p:spTgt spid="150"/>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stCondLst>
                                    <p:cond delay="250"/>
                                  </p:stCondLst>
                                  <p:childTnLst>
                                    <p:set>
                                      <p:cBhvr>
                                        <p:cTn id="21" dur="1" fill="hold">
                                          <p:stCondLst>
                                            <p:cond delay="0"/>
                                          </p:stCondLst>
                                        </p:cTn>
                                        <p:tgtEl>
                                          <p:spTgt spid="153"/>
                                        </p:tgtEl>
                                        <p:attrNameLst>
                                          <p:attrName>style.visibility</p:attrName>
                                        </p:attrNameLst>
                                      </p:cBhvr>
                                      <p:to>
                                        <p:strVal val="visible"/>
                                      </p:to>
                                    </p:set>
                                    <p:anim calcmode="lin" valueType="num">
                                      <p:cBhvr additive="base">
                                        <p:cTn id="22" dur="500" fill="hold"/>
                                        <p:tgtEl>
                                          <p:spTgt spid="153"/>
                                        </p:tgtEl>
                                        <p:attrNameLst>
                                          <p:attrName>ppt_x</p:attrName>
                                        </p:attrNameLst>
                                      </p:cBhvr>
                                      <p:tavLst>
                                        <p:tav tm="0">
                                          <p:val>
                                            <p:strVal val="0-#ppt_w/2"/>
                                          </p:val>
                                        </p:tav>
                                        <p:tav tm="100000">
                                          <p:val>
                                            <p:strVal val="#ppt_x"/>
                                          </p:val>
                                        </p:tav>
                                      </p:tavLst>
                                    </p:anim>
                                    <p:anim calcmode="lin" valueType="num">
                                      <p:cBhvr additive="base">
                                        <p:cTn id="23" dur="500" fill="hold"/>
                                        <p:tgtEl>
                                          <p:spTgt spid="153"/>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250"/>
                                  </p:stCondLst>
                                  <p:childTnLst>
                                    <p:set>
                                      <p:cBhvr>
                                        <p:cTn id="25" dur="1" fill="hold">
                                          <p:stCondLst>
                                            <p:cond delay="0"/>
                                          </p:stCondLst>
                                        </p:cTn>
                                        <p:tgtEl>
                                          <p:spTgt spid="152"/>
                                        </p:tgtEl>
                                        <p:attrNameLst>
                                          <p:attrName>style.visibility</p:attrName>
                                        </p:attrNameLst>
                                      </p:cBhvr>
                                      <p:to>
                                        <p:strVal val="visible"/>
                                      </p:to>
                                    </p:set>
                                    <p:anim calcmode="lin" valueType="num">
                                      <p:cBhvr additive="base">
                                        <p:cTn id="26" dur="500" fill="hold"/>
                                        <p:tgtEl>
                                          <p:spTgt spid="152"/>
                                        </p:tgtEl>
                                        <p:attrNameLst>
                                          <p:attrName>ppt_x</p:attrName>
                                        </p:attrNameLst>
                                      </p:cBhvr>
                                      <p:tavLst>
                                        <p:tav tm="0">
                                          <p:val>
                                            <p:strVal val="1+#ppt_w/2"/>
                                          </p:val>
                                        </p:tav>
                                        <p:tav tm="100000">
                                          <p:val>
                                            <p:strVal val="#ppt_x"/>
                                          </p:val>
                                        </p:tav>
                                      </p:tavLst>
                                    </p:anim>
                                    <p:anim calcmode="lin" valueType="num">
                                      <p:cBhvr additive="base">
                                        <p:cTn id="27" dur="500" fill="hold"/>
                                        <p:tgtEl>
                                          <p:spTgt spid="152"/>
                                        </p:tgtEl>
                                        <p:attrNameLst>
                                          <p:attrName>ppt_y</p:attrName>
                                        </p:attrNameLst>
                                      </p:cBhvr>
                                      <p:tavLst>
                                        <p:tav tm="0">
                                          <p:val>
                                            <p:strVal val="#ppt_y"/>
                                          </p:val>
                                        </p:tav>
                                        <p:tav tm="100000">
                                          <p:val>
                                            <p:strVal val="#ppt_y"/>
                                          </p:val>
                                        </p:tav>
                                      </p:tavLst>
                                    </p:anim>
                                  </p:childTnLst>
                                </p:cTn>
                              </p:par>
                              <p:par>
                                <p:cTn id="28" presetID="2" presetClass="entr" presetSubtype="8" fill="hold" nodeType="withEffect">
                                  <p:stCondLst>
                                    <p:cond delay="500"/>
                                  </p:stCondLst>
                                  <p:childTnLst>
                                    <p:set>
                                      <p:cBhvr>
                                        <p:cTn id="29" dur="1" fill="hold">
                                          <p:stCondLst>
                                            <p:cond delay="0"/>
                                          </p:stCondLst>
                                        </p:cTn>
                                        <p:tgtEl>
                                          <p:spTgt spid="163"/>
                                        </p:tgtEl>
                                        <p:attrNameLst>
                                          <p:attrName>style.visibility</p:attrName>
                                        </p:attrNameLst>
                                      </p:cBhvr>
                                      <p:to>
                                        <p:strVal val="visible"/>
                                      </p:to>
                                    </p:set>
                                    <p:anim calcmode="lin" valueType="num">
                                      <p:cBhvr additive="base">
                                        <p:cTn id="30" dur="500" fill="hold"/>
                                        <p:tgtEl>
                                          <p:spTgt spid="163"/>
                                        </p:tgtEl>
                                        <p:attrNameLst>
                                          <p:attrName>ppt_x</p:attrName>
                                        </p:attrNameLst>
                                      </p:cBhvr>
                                      <p:tavLst>
                                        <p:tav tm="0">
                                          <p:val>
                                            <p:strVal val="0-#ppt_w/2"/>
                                          </p:val>
                                        </p:tav>
                                        <p:tav tm="100000">
                                          <p:val>
                                            <p:strVal val="#ppt_x"/>
                                          </p:val>
                                        </p:tav>
                                      </p:tavLst>
                                    </p:anim>
                                    <p:anim calcmode="lin" valueType="num">
                                      <p:cBhvr additive="base">
                                        <p:cTn id="31" dur="500" fill="hold"/>
                                        <p:tgtEl>
                                          <p:spTgt spid="163"/>
                                        </p:tgtEl>
                                        <p:attrNameLst>
                                          <p:attrName>ppt_y</p:attrName>
                                        </p:attrNameLst>
                                      </p:cBhvr>
                                      <p:tavLst>
                                        <p:tav tm="0">
                                          <p:val>
                                            <p:strVal val="#ppt_y"/>
                                          </p:val>
                                        </p:tav>
                                        <p:tav tm="100000">
                                          <p:val>
                                            <p:strVal val="#ppt_y"/>
                                          </p:val>
                                        </p:tav>
                                      </p:tavLst>
                                    </p:anim>
                                  </p:childTnLst>
                                </p:cTn>
                              </p:par>
                              <p:par>
                                <p:cTn id="32" presetID="2" presetClass="entr" presetSubtype="2" fill="hold" nodeType="withEffect">
                                  <p:stCondLst>
                                    <p:cond delay="500"/>
                                  </p:stCondLst>
                                  <p:childTnLst>
                                    <p:set>
                                      <p:cBhvr>
                                        <p:cTn id="33" dur="1" fill="hold">
                                          <p:stCondLst>
                                            <p:cond delay="0"/>
                                          </p:stCondLst>
                                        </p:cTn>
                                        <p:tgtEl>
                                          <p:spTgt spid="141"/>
                                        </p:tgtEl>
                                        <p:attrNameLst>
                                          <p:attrName>style.visibility</p:attrName>
                                        </p:attrNameLst>
                                      </p:cBhvr>
                                      <p:to>
                                        <p:strVal val="visible"/>
                                      </p:to>
                                    </p:set>
                                    <p:anim calcmode="lin" valueType="num">
                                      <p:cBhvr additive="base">
                                        <p:cTn id="34" dur="500" fill="hold"/>
                                        <p:tgtEl>
                                          <p:spTgt spid="141"/>
                                        </p:tgtEl>
                                        <p:attrNameLst>
                                          <p:attrName>ppt_x</p:attrName>
                                        </p:attrNameLst>
                                      </p:cBhvr>
                                      <p:tavLst>
                                        <p:tav tm="0">
                                          <p:val>
                                            <p:strVal val="1+#ppt_w/2"/>
                                          </p:val>
                                        </p:tav>
                                        <p:tav tm="100000">
                                          <p:val>
                                            <p:strVal val="#ppt_x"/>
                                          </p:val>
                                        </p:tav>
                                      </p:tavLst>
                                    </p:anim>
                                    <p:anim calcmode="lin" valueType="num">
                                      <p:cBhvr additive="base">
                                        <p:cTn id="35" dur="500" fill="hold"/>
                                        <p:tgtEl>
                                          <p:spTgt spid="141"/>
                                        </p:tgtEl>
                                        <p:attrNameLst>
                                          <p:attrName>ppt_y</p:attrName>
                                        </p:attrNameLst>
                                      </p:cBhvr>
                                      <p:tavLst>
                                        <p:tav tm="0">
                                          <p:val>
                                            <p:strVal val="#ppt_y"/>
                                          </p:val>
                                        </p:tav>
                                        <p:tav tm="100000">
                                          <p:val>
                                            <p:strVal val="#ppt_y"/>
                                          </p:val>
                                        </p:tav>
                                      </p:tavLst>
                                    </p:anim>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193"/>
                                        </p:tgtEl>
                                        <p:attrNameLst>
                                          <p:attrName>style.visibility</p:attrName>
                                        </p:attrNameLst>
                                      </p:cBhvr>
                                      <p:to>
                                        <p:strVal val="visible"/>
                                      </p:to>
                                    </p:set>
                                    <p:animEffect transition="in" filter="fade">
                                      <p:cBhvr>
                                        <p:cTn id="39" dur="500"/>
                                        <p:tgtEl>
                                          <p:spTgt spid="193"/>
                                        </p:tgtEl>
                                      </p:cBhvr>
                                    </p:animEffect>
                                  </p:childTnLst>
                                </p:cTn>
                              </p:par>
                            </p:childTnLst>
                          </p:cTn>
                        </p:par>
                        <p:par>
                          <p:cTn id="40" fill="hold">
                            <p:stCondLst>
                              <p:cond delay="1500"/>
                            </p:stCondLst>
                            <p:childTnLst>
                              <p:par>
                                <p:cTn id="41" presetID="22" presetClass="entr" presetSubtype="4" fill="hold" grpId="0" nodeType="afterEffect">
                                  <p:stCondLst>
                                    <p:cond delay="0"/>
                                  </p:stCondLst>
                                  <p:childTnLst>
                                    <p:set>
                                      <p:cBhvr>
                                        <p:cTn id="42" dur="1" fill="hold">
                                          <p:stCondLst>
                                            <p:cond delay="0"/>
                                          </p:stCondLst>
                                        </p:cTn>
                                        <p:tgtEl>
                                          <p:spTgt spid="191"/>
                                        </p:tgtEl>
                                        <p:attrNameLst>
                                          <p:attrName>style.visibility</p:attrName>
                                        </p:attrNameLst>
                                      </p:cBhvr>
                                      <p:to>
                                        <p:strVal val="visible"/>
                                      </p:to>
                                    </p:set>
                                    <p:animEffect transition="in" filter="wipe(down)">
                                      <p:cBhvr>
                                        <p:cTn id="43" dur="500"/>
                                        <p:tgtEl>
                                          <p:spTgt spid="191"/>
                                        </p:tgtEl>
                                      </p:cBhvr>
                                    </p:animEffect>
                                  </p:childTnLst>
                                </p:cTn>
                              </p:par>
                            </p:childTnLst>
                          </p:cTn>
                        </p:par>
                        <p:par>
                          <p:cTn id="44" fill="hold">
                            <p:stCondLst>
                              <p:cond delay="2000"/>
                            </p:stCondLst>
                            <p:childTnLst>
                              <p:par>
                                <p:cTn id="45" presetID="10" presetClass="entr" presetSubtype="0" fill="hold" grpId="0" nodeType="afterEffect">
                                  <p:stCondLst>
                                    <p:cond delay="0"/>
                                  </p:stCondLst>
                                  <p:childTnLst>
                                    <p:set>
                                      <p:cBhvr>
                                        <p:cTn id="46" dur="1" fill="hold">
                                          <p:stCondLst>
                                            <p:cond delay="0"/>
                                          </p:stCondLst>
                                        </p:cTn>
                                        <p:tgtEl>
                                          <p:spTgt spid="192"/>
                                        </p:tgtEl>
                                        <p:attrNameLst>
                                          <p:attrName>style.visibility</p:attrName>
                                        </p:attrNameLst>
                                      </p:cBhvr>
                                      <p:to>
                                        <p:strVal val="visible"/>
                                      </p:to>
                                    </p:set>
                                    <p:animEffect transition="in" filter="fade">
                                      <p:cBhvr>
                                        <p:cTn id="47" dur="500"/>
                                        <p:tgtEl>
                                          <p:spTgt spid="192"/>
                                        </p:tgtEl>
                                      </p:cBhvr>
                                    </p:animEffect>
                                  </p:childTnLst>
                                </p:cTn>
                              </p:par>
                              <p:par>
                                <p:cTn id="48" presetID="2" presetClass="entr" presetSubtype="8" fill="hold" nodeType="withEffect">
                                  <p:stCondLst>
                                    <p:cond delay="500"/>
                                  </p:stCondLst>
                                  <p:childTnLst>
                                    <p:set>
                                      <p:cBhvr>
                                        <p:cTn id="49" dur="1" fill="hold">
                                          <p:stCondLst>
                                            <p:cond delay="0"/>
                                          </p:stCondLst>
                                        </p:cTn>
                                        <p:tgtEl>
                                          <p:spTgt spid="170"/>
                                        </p:tgtEl>
                                        <p:attrNameLst>
                                          <p:attrName>style.visibility</p:attrName>
                                        </p:attrNameLst>
                                      </p:cBhvr>
                                      <p:to>
                                        <p:strVal val="visible"/>
                                      </p:to>
                                    </p:set>
                                    <p:anim calcmode="lin" valueType="num">
                                      <p:cBhvr additive="base">
                                        <p:cTn id="50" dur="500" fill="hold"/>
                                        <p:tgtEl>
                                          <p:spTgt spid="170"/>
                                        </p:tgtEl>
                                        <p:attrNameLst>
                                          <p:attrName>ppt_x</p:attrName>
                                        </p:attrNameLst>
                                      </p:cBhvr>
                                      <p:tavLst>
                                        <p:tav tm="0">
                                          <p:val>
                                            <p:strVal val="0-#ppt_w/2"/>
                                          </p:val>
                                        </p:tav>
                                        <p:tav tm="100000">
                                          <p:val>
                                            <p:strVal val="#ppt_x"/>
                                          </p:val>
                                        </p:tav>
                                      </p:tavLst>
                                    </p:anim>
                                    <p:anim calcmode="lin" valueType="num">
                                      <p:cBhvr additive="base">
                                        <p:cTn id="51" dur="500" fill="hold"/>
                                        <p:tgtEl>
                                          <p:spTgt spid="170"/>
                                        </p:tgtEl>
                                        <p:attrNameLst>
                                          <p:attrName>ppt_y</p:attrName>
                                        </p:attrNameLst>
                                      </p:cBhvr>
                                      <p:tavLst>
                                        <p:tav tm="0">
                                          <p:val>
                                            <p:strVal val="#ppt_y"/>
                                          </p:val>
                                        </p:tav>
                                        <p:tav tm="100000">
                                          <p:val>
                                            <p:strVal val="#ppt_y"/>
                                          </p:val>
                                        </p:tav>
                                      </p:tavLst>
                                    </p:anim>
                                  </p:childTnLst>
                                </p:cTn>
                              </p:par>
                              <p:par>
                                <p:cTn id="52" presetID="2" presetClass="entr" presetSubtype="2" fill="hold" nodeType="withEffect">
                                  <p:stCondLst>
                                    <p:cond delay="500"/>
                                  </p:stCondLst>
                                  <p:childTnLst>
                                    <p:set>
                                      <p:cBhvr>
                                        <p:cTn id="53" dur="1" fill="hold">
                                          <p:stCondLst>
                                            <p:cond delay="0"/>
                                          </p:stCondLst>
                                        </p:cTn>
                                        <p:tgtEl>
                                          <p:spTgt spid="137"/>
                                        </p:tgtEl>
                                        <p:attrNameLst>
                                          <p:attrName>style.visibility</p:attrName>
                                        </p:attrNameLst>
                                      </p:cBhvr>
                                      <p:to>
                                        <p:strVal val="visible"/>
                                      </p:to>
                                    </p:set>
                                    <p:anim calcmode="lin" valueType="num">
                                      <p:cBhvr additive="base">
                                        <p:cTn id="54" dur="500" fill="hold"/>
                                        <p:tgtEl>
                                          <p:spTgt spid="137"/>
                                        </p:tgtEl>
                                        <p:attrNameLst>
                                          <p:attrName>ppt_x</p:attrName>
                                        </p:attrNameLst>
                                      </p:cBhvr>
                                      <p:tavLst>
                                        <p:tav tm="0">
                                          <p:val>
                                            <p:strVal val="1+#ppt_w/2"/>
                                          </p:val>
                                        </p:tav>
                                        <p:tav tm="100000">
                                          <p:val>
                                            <p:strVal val="#ppt_x"/>
                                          </p:val>
                                        </p:tav>
                                      </p:tavLst>
                                    </p:anim>
                                    <p:anim calcmode="lin" valueType="num">
                                      <p:cBhvr additive="base">
                                        <p:cTn id="55" dur="500" fill="hold"/>
                                        <p:tgtEl>
                                          <p:spTgt spid="137"/>
                                        </p:tgtEl>
                                        <p:attrNameLst>
                                          <p:attrName>ppt_y</p:attrName>
                                        </p:attrNameLst>
                                      </p:cBhvr>
                                      <p:tavLst>
                                        <p:tav tm="0">
                                          <p:val>
                                            <p:strVal val="#ppt_y"/>
                                          </p:val>
                                        </p:tav>
                                        <p:tav tm="100000">
                                          <p:val>
                                            <p:strVal val="#ppt_y"/>
                                          </p:val>
                                        </p:tav>
                                      </p:tavLst>
                                    </p:anim>
                                  </p:childTnLst>
                                </p:cTn>
                              </p:par>
                            </p:childTnLst>
                          </p:cTn>
                        </p:par>
                        <p:par>
                          <p:cTn id="56" fill="hold">
                            <p:stCondLst>
                              <p:cond delay="3000"/>
                            </p:stCondLst>
                            <p:childTnLst>
                              <p:par>
                                <p:cTn id="57" presetID="10" presetClass="entr" presetSubtype="0" fill="hold" nodeType="afterEffect">
                                  <p:stCondLst>
                                    <p:cond delay="0"/>
                                  </p:stCondLst>
                                  <p:childTnLst>
                                    <p:set>
                                      <p:cBhvr>
                                        <p:cTn id="58" dur="1" fill="hold">
                                          <p:stCondLst>
                                            <p:cond delay="0"/>
                                          </p:stCondLst>
                                        </p:cTn>
                                        <p:tgtEl>
                                          <p:spTgt spid="198"/>
                                        </p:tgtEl>
                                        <p:attrNameLst>
                                          <p:attrName>style.visibility</p:attrName>
                                        </p:attrNameLst>
                                      </p:cBhvr>
                                      <p:to>
                                        <p:strVal val="visible"/>
                                      </p:to>
                                    </p:set>
                                    <p:animEffect transition="in" filter="fade">
                                      <p:cBhvr>
                                        <p:cTn id="59" dur="500"/>
                                        <p:tgtEl>
                                          <p:spTgt spid="198"/>
                                        </p:tgtEl>
                                      </p:cBhvr>
                                    </p:animEffect>
                                  </p:childTnLst>
                                </p:cTn>
                              </p:par>
                            </p:childTnLst>
                          </p:cTn>
                        </p:par>
                        <p:par>
                          <p:cTn id="60" fill="hold">
                            <p:stCondLst>
                              <p:cond delay="3500"/>
                            </p:stCondLst>
                            <p:childTnLst>
                              <p:par>
                                <p:cTn id="61" presetID="22" presetClass="entr" presetSubtype="4" fill="hold" grpId="0" nodeType="afterEffect">
                                  <p:stCondLst>
                                    <p:cond delay="0"/>
                                  </p:stCondLst>
                                  <p:childTnLst>
                                    <p:set>
                                      <p:cBhvr>
                                        <p:cTn id="62" dur="1" fill="hold">
                                          <p:stCondLst>
                                            <p:cond delay="0"/>
                                          </p:stCondLst>
                                        </p:cTn>
                                        <p:tgtEl>
                                          <p:spTgt spid="212"/>
                                        </p:tgtEl>
                                        <p:attrNameLst>
                                          <p:attrName>style.visibility</p:attrName>
                                        </p:attrNameLst>
                                      </p:cBhvr>
                                      <p:to>
                                        <p:strVal val="visible"/>
                                      </p:to>
                                    </p:set>
                                    <p:animEffect transition="in" filter="wipe(down)">
                                      <p:cBhvr>
                                        <p:cTn id="63" dur="500"/>
                                        <p:tgtEl>
                                          <p:spTgt spid="212"/>
                                        </p:tgtEl>
                                      </p:cBhvr>
                                    </p:animEffect>
                                  </p:childTnLst>
                                </p:cTn>
                              </p:par>
                            </p:childTnLst>
                          </p:cTn>
                        </p:par>
                        <p:par>
                          <p:cTn id="64" fill="hold">
                            <p:stCondLst>
                              <p:cond delay="4000"/>
                            </p:stCondLst>
                            <p:childTnLst>
                              <p:par>
                                <p:cTn id="65" presetID="10" presetClass="entr" presetSubtype="0" fill="hold" grpId="0" nodeType="afterEffect">
                                  <p:stCondLst>
                                    <p:cond delay="0"/>
                                  </p:stCondLst>
                                  <p:childTnLst>
                                    <p:set>
                                      <p:cBhvr>
                                        <p:cTn id="66" dur="1" fill="hold">
                                          <p:stCondLst>
                                            <p:cond delay="0"/>
                                          </p:stCondLst>
                                        </p:cTn>
                                        <p:tgtEl>
                                          <p:spTgt spid="213"/>
                                        </p:tgtEl>
                                        <p:attrNameLst>
                                          <p:attrName>style.visibility</p:attrName>
                                        </p:attrNameLst>
                                      </p:cBhvr>
                                      <p:to>
                                        <p:strVal val="visible"/>
                                      </p:to>
                                    </p:set>
                                    <p:animEffect transition="in" filter="fade">
                                      <p:cBhvr>
                                        <p:cTn id="67" dur="500"/>
                                        <p:tgtEl>
                                          <p:spTgt spid="213"/>
                                        </p:tgtEl>
                                      </p:cBhvr>
                                    </p:animEffect>
                                  </p:childTnLst>
                                </p:cTn>
                              </p:par>
                              <p:par>
                                <p:cTn id="68" presetID="2" presetClass="entr" presetSubtype="8" fill="hold" nodeType="withEffect">
                                  <p:stCondLst>
                                    <p:cond delay="500"/>
                                  </p:stCondLst>
                                  <p:childTnLst>
                                    <p:set>
                                      <p:cBhvr>
                                        <p:cTn id="69" dur="1" fill="hold">
                                          <p:stCondLst>
                                            <p:cond delay="0"/>
                                          </p:stCondLst>
                                        </p:cTn>
                                        <p:tgtEl>
                                          <p:spTgt spid="177"/>
                                        </p:tgtEl>
                                        <p:attrNameLst>
                                          <p:attrName>style.visibility</p:attrName>
                                        </p:attrNameLst>
                                      </p:cBhvr>
                                      <p:to>
                                        <p:strVal val="visible"/>
                                      </p:to>
                                    </p:set>
                                    <p:anim calcmode="lin" valueType="num">
                                      <p:cBhvr additive="base">
                                        <p:cTn id="70" dur="500" fill="hold"/>
                                        <p:tgtEl>
                                          <p:spTgt spid="177"/>
                                        </p:tgtEl>
                                        <p:attrNameLst>
                                          <p:attrName>ppt_x</p:attrName>
                                        </p:attrNameLst>
                                      </p:cBhvr>
                                      <p:tavLst>
                                        <p:tav tm="0">
                                          <p:val>
                                            <p:strVal val="0-#ppt_w/2"/>
                                          </p:val>
                                        </p:tav>
                                        <p:tav tm="100000">
                                          <p:val>
                                            <p:strVal val="#ppt_x"/>
                                          </p:val>
                                        </p:tav>
                                      </p:tavLst>
                                    </p:anim>
                                    <p:anim calcmode="lin" valueType="num">
                                      <p:cBhvr additive="base">
                                        <p:cTn id="71" dur="500" fill="hold"/>
                                        <p:tgtEl>
                                          <p:spTgt spid="177"/>
                                        </p:tgtEl>
                                        <p:attrNameLst>
                                          <p:attrName>ppt_y</p:attrName>
                                        </p:attrNameLst>
                                      </p:cBhvr>
                                      <p:tavLst>
                                        <p:tav tm="0">
                                          <p:val>
                                            <p:strVal val="#ppt_y"/>
                                          </p:val>
                                        </p:tav>
                                        <p:tav tm="100000">
                                          <p:val>
                                            <p:strVal val="#ppt_y"/>
                                          </p:val>
                                        </p:tav>
                                      </p:tavLst>
                                    </p:anim>
                                  </p:childTnLst>
                                </p:cTn>
                              </p:par>
                              <p:par>
                                <p:cTn id="72" presetID="2" presetClass="entr" presetSubtype="2" fill="hold" nodeType="withEffect">
                                  <p:stCondLst>
                                    <p:cond delay="500"/>
                                  </p:stCondLst>
                                  <p:childTnLst>
                                    <p:set>
                                      <p:cBhvr>
                                        <p:cTn id="73" dur="1" fill="hold">
                                          <p:stCondLst>
                                            <p:cond delay="0"/>
                                          </p:stCondLst>
                                        </p:cTn>
                                        <p:tgtEl>
                                          <p:spTgt spid="145"/>
                                        </p:tgtEl>
                                        <p:attrNameLst>
                                          <p:attrName>style.visibility</p:attrName>
                                        </p:attrNameLst>
                                      </p:cBhvr>
                                      <p:to>
                                        <p:strVal val="visible"/>
                                      </p:to>
                                    </p:set>
                                    <p:anim calcmode="lin" valueType="num">
                                      <p:cBhvr additive="base">
                                        <p:cTn id="74" dur="500" fill="hold"/>
                                        <p:tgtEl>
                                          <p:spTgt spid="145"/>
                                        </p:tgtEl>
                                        <p:attrNameLst>
                                          <p:attrName>ppt_x</p:attrName>
                                        </p:attrNameLst>
                                      </p:cBhvr>
                                      <p:tavLst>
                                        <p:tav tm="0">
                                          <p:val>
                                            <p:strVal val="1+#ppt_w/2"/>
                                          </p:val>
                                        </p:tav>
                                        <p:tav tm="100000">
                                          <p:val>
                                            <p:strVal val="#ppt_x"/>
                                          </p:val>
                                        </p:tav>
                                      </p:tavLst>
                                    </p:anim>
                                    <p:anim calcmode="lin" valueType="num">
                                      <p:cBhvr additive="base">
                                        <p:cTn id="75" dur="500" fill="hold"/>
                                        <p:tgtEl>
                                          <p:spTgt spid="145"/>
                                        </p:tgtEl>
                                        <p:attrNameLst>
                                          <p:attrName>ppt_y</p:attrName>
                                        </p:attrNameLst>
                                      </p:cBhvr>
                                      <p:tavLst>
                                        <p:tav tm="0">
                                          <p:val>
                                            <p:strVal val="#ppt_y"/>
                                          </p:val>
                                        </p:tav>
                                        <p:tav tm="100000">
                                          <p:val>
                                            <p:strVal val="#ppt_y"/>
                                          </p:val>
                                        </p:tav>
                                      </p:tavLst>
                                    </p:anim>
                                  </p:childTnLst>
                                </p:cTn>
                              </p:par>
                            </p:childTnLst>
                          </p:cTn>
                        </p:par>
                        <p:par>
                          <p:cTn id="76" fill="hold">
                            <p:stCondLst>
                              <p:cond delay="5000"/>
                            </p:stCondLst>
                            <p:childTnLst>
                              <p:par>
                                <p:cTn id="77" presetID="10" presetClass="entr" presetSubtype="0" fill="hold" nodeType="afterEffect">
                                  <p:stCondLst>
                                    <p:cond delay="0"/>
                                  </p:stCondLst>
                                  <p:childTnLst>
                                    <p:set>
                                      <p:cBhvr>
                                        <p:cTn id="78" dur="1" fill="hold">
                                          <p:stCondLst>
                                            <p:cond delay="0"/>
                                          </p:stCondLst>
                                        </p:cTn>
                                        <p:tgtEl>
                                          <p:spTgt spid="204"/>
                                        </p:tgtEl>
                                        <p:attrNameLst>
                                          <p:attrName>style.visibility</p:attrName>
                                        </p:attrNameLst>
                                      </p:cBhvr>
                                      <p:to>
                                        <p:strVal val="visible"/>
                                      </p:to>
                                    </p:set>
                                    <p:animEffect transition="in" filter="fade">
                                      <p:cBhvr>
                                        <p:cTn id="79" dur="500"/>
                                        <p:tgtEl>
                                          <p:spTgt spid="204"/>
                                        </p:tgtEl>
                                      </p:cBhvr>
                                    </p:animEffect>
                                  </p:childTnLst>
                                </p:cTn>
                              </p:par>
                            </p:childTnLst>
                          </p:cTn>
                        </p:par>
                        <p:par>
                          <p:cTn id="80" fill="hold">
                            <p:stCondLst>
                              <p:cond delay="5500"/>
                            </p:stCondLst>
                            <p:childTnLst>
                              <p:par>
                                <p:cTn id="81" presetID="22" presetClass="entr" presetSubtype="4" fill="hold" grpId="0" nodeType="afterEffect">
                                  <p:stCondLst>
                                    <p:cond delay="0"/>
                                  </p:stCondLst>
                                  <p:childTnLst>
                                    <p:set>
                                      <p:cBhvr>
                                        <p:cTn id="82" dur="1" fill="hold">
                                          <p:stCondLst>
                                            <p:cond delay="0"/>
                                          </p:stCondLst>
                                        </p:cTn>
                                        <p:tgtEl>
                                          <p:spTgt spid="214"/>
                                        </p:tgtEl>
                                        <p:attrNameLst>
                                          <p:attrName>style.visibility</p:attrName>
                                        </p:attrNameLst>
                                      </p:cBhvr>
                                      <p:to>
                                        <p:strVal val="visible"/>
                                      </p:to>
                                    </p:set>
                                    <p:animEffect transition="in" filter="wipe(down)">
                                      <p:cBhvr>
                                        <p:cTn id="83" dur="500"/>
                                        <p:tgtEl>
                                          <p:spTgt spid="214"/>
                                        </p:tgtEl>
                                      </p:cBhvr>
                                    </p:animEffect>
                                  </p:childTnLst>
                                </p:cTn>
                              </p:par>
                            </p:childTnLst>
                          </p:cTn>
                        </p:par>
                        <p:par>
                          <p:cTn id="84" fill="hold">
                            <p:stCondLst>
                              <p:cond delay="6000"/>
                            </p:stCondLst>
                            <p:childTnLst>
                              <p:par>
                                <p:cTn id="85" presetID="10" presetClass="entr" presetSubtype="0" fill="hold" grpId="0" nodeType="afterEffect">
                                  <p:stCondLst>
                                    <p:cond delay="0"/>
                                  </p:stCondLst>
                                  <p:childTnLst>
                                    <p:set>
                                      <p:cBhvr>
                                        <p:cTn id="86" dur="1" fill="hold">
                                          <p:stCondLst>
                                            <p:cond delay="0"/>
                                          </p:stCondLst>
                                        </p:cTn>
                                        <p:tgtEl>
                                          <p:spTgt spid="215"/>
                                        </p:tgtEl>
                                        <p:attrNameLst>
                                          <p:attrName>style.visibility</p:attrName>
                                        </p:attrNameLst>
                                      </p:cBhvr>
                                      <p:to>
                                        <p:strVal val="visible"/>
                                      </p:to>
                                    </p:set>
                                    <p:animEffect transition="in" filter="fade">
                                      <p:cBhvr>
                                        <p:cTn id="87" dur="500"/>
                                        <p:tgtEl>
                                          <p:spTgt spid="215"/>
                                        </p:tgtEl>
                                      </p:cBhvr>
                                    </p:animEffect>
                                  </p:childTnLst>
                                </p:cTn>
                              </p:par>
                              <p:par>
                                <p:cTn id="88" presetID="2" presetClass="entr" presetSubtype="8" fill="hold" nodeType="withEffect">
                                  <p:stCondLst>
                                    <p:cond delay="500"/>
                                  </p:stCondLst>
                                  <p:childTnLst>
                                    <p:set>
                                      <p:cBhvr>
                                        <p:cTn id="89" dur="1" fill="hold">
                                          <p:stCondLst>
                                            <p:cond delay="0"/>
                                          </p:stCondLst>
                                        </p:cTn>
                                        <p:tgtEl>
                                          <p:spTgt spid="184"/>
                                        </p:tgtEl>
                                        <p:attrNameLst>
                                          <p:attrName>style.visibility</p:attrName>
                                        </p:attrNameLst>
                                      </p:cBhvr>
                                      <p:to>
                                        <p:strVal val="visible"/>
                                      </p:to>
                                    </p:set>
                                    <p:anim calcmode="lin" valueType="num">
                                      <p:cBhvr additive="base">
                                        <p:cTn id="90" dur="500" fill="hold"/>
                                        <p:tgtEl>
                                          <p:spTgt spid="184"/>
                                        </p:tgtEl>
                                        <p:attrNameLst>
                                          <p:attrName>ppt_x</p:attrName>
                                        </p:attrNameLst>
                                      </p:cBhvr>
                                      <p:tavLst>
                                        <p:tav tm="0">
                                          <p:val>
                                            <p:strVal val="0-#ppt_w/2"/>
                                          </p:val>
                                        </p:tav>
                                        <p:tav tm="100000">
                                          <p:val>
                                            <p:strVal val="#ppt_x"/>
                                          </p:val>
                                        </p:tav>
                                      </p:tavLst>
                                    </p:anim>
                                    <p:anim calcmode="lin" valueType="num">
                                      <p:cBhvr additive="base">
                                        <p:cTn id="91" dur="500" fill="hold"/>
                                        <p:tgtEl>
                                          <p:spTgt spid="184"/>
                                        </p:tgtEl>
                                        <p:attrNameLst>
                                          <p:attrName>ppt_y</p:attrName>
                                        </p:attrNameLst>
                                      </p:cBhvr>
                                      <p:tavLst>
                                        <p:tav tm="0">
                                          <p:val>
                                            <p:strVal val="#ppt_y"/>
                                          </p:val>
                                        </p:tav>
                                        <p:tav tm="100000">
                                          <p:val>
                                            <p:strVal val="#ppt_y"/>
                                          </p:val>
                                        </p:tav>
                                      </p:tavLst>
                                    </p:anim>
                                  </p:childTnLst>
                                </p:cTn>
                              </p:par>
                              <p:par>
                                <p:cTn id="92" presetID="2" presetClass="entr" presetSubtype="2" fill="hold" nodeType="withEffect">
                                  <p:stCondLst>
                                    <p:cond delay="500"/>
                                  </p:stCondLst>
                                  <p:childTnLst>
                                    <p:set>
                                      <p:cBhvr>
                                        <p:cTn id="93" dur="1" fill="hold">
                                          <p:stCondLst>
                                            <p:cond delay="0"/>
                                          </p:stCondLst>
                                        </p:cTn>
                                        <p:tgtEl>
                                          <p:spTgt spid="154"/>
                                        </p:tgtEl>
                                        <p:attrNameLst>
                                          <p:attrName>style.visibility</p:attrName>
                                        </p:attrNameLst>
                                      </p:cBhvr>
                                      <p:to>
                                        <p:strVal val="visible"/>
                                      </p:to>
                                    </p:set>
                                    <p:anim calcmode="lin" valueType="num">
                                      <p:cBhvr additive="base">
                                        <p:cTn id="94" dur="500" fill="hold"/>
                                        <p:tgtEl>
                                          <p:spTgt spid="154"/>
                                        </p:tgtEl>
                                        <p:attrNameLst>
                                          <p:attrName>ppt_x</p:attrName>
                                        </p:attrNameLst>
                                      </p:cBhvr>
                                      <p:tavLst>
                                        <p:tav tm="0">
                                          <p:val>
                                            <p:strVal val="1+#ppt_w/2"/>
                                          </p:val>
                                        </p:tav>
                                        <p:tav tm="100000">
                                          <p:val>
                                            <p:strVal val="#ppt_x"/>
                                          </p:val>
                                        </p:tav>
                                      </p:tavLst>
                                    </p:anim>
                                    <p:anim calcmode="lin" valueType="num">
                                      <p:cBhvr additive="base">
                                        <p:cTn id="95" dur="500" fill="hold"/>
                                        <p:tgtEl>
                                          <p:spTgt spid="154"/>
                                        </p:tgtEl>
                                        <p:attrNameLst>
                                          <p:attrName>ppt_y</p:attrName>
                                        </p:attrNameLst>
                                      </p:cBhvr>
                                      <p:tavLst>
                                        <p:tav tm="0">
                                          <p:val>
                                            <p:strVal val="#ppt_y"/>
                                          </p:val>
                                        </p:tav>
                                        <p:tav tm="100000">
                                          <p:val>
                                            <p:strVal val="#ppt_y"/>
                                          </p:val>
                                        </p:tav>
                                      </p:tavLst>
                                    </p:anim>
                                  </p:childTnLst>
                                </p:cTn>
                              </p:par>
                            </p:childTnLst>
                          </p:cTn>
                        </p:par>
                        <p:par>
                          <p:cTn id="96" fill="hold">
                            <p:stCondLst>
                              <p:cond delay="7000"/>
                            </p:stCondLst>
                            <p:childTnLst>
                              <p:par>
                                <p:cTn id="97" presetID="10" presetClass="entr" presetSubtype="0" fill="hold" nodeType="afterEffect">
                                  <p:stCondLst>
                                    <p:cond delay="0"/>
                                  </p:stCondLst>
                                  <p:childTnLst>
                                    <p:set>
                                      <p:cBhvr>
                                        <p:cTn id="98" dur="1" fill="hold">
                                          <p:stCondLst>
                                            <p:cond delay="0"/>
                                          </p:stCondLst>
                                        </p:cTn>
                                        <p:tgtEl>
                                          <p:spTgt spid="207"/>
                                        </p:tgtEl>
                                        <p:attrNameLst>
                                          <p:attrName>style.visibility</p:attrName>
                                        </p:attrNameLst>
                                      </p:cBhvr>
                                      <p:to>
                                        <p:strVal val="visible"/>
                                      </p:to>
                                    </p:set>
                                    <p:animEffect transition="in" filter="fade">
                                      <p:cBhvr>
                                        <p:cTn id="99" dur="500"/>
                                        <p:tgtEl>
                                          <p:spTgt spid="207"/>
                                        </p:tgtEl>
                                      </p:cBhvr>
                                    </p:animEffect>
                                  </p:childTnLst>
                                </p:cTn>
                              </p:par>
                            </p:childTnLst>
                          </p:cTn>
                        </p:par>
                        <p:par>
                          <p:cTn id="100" fill="hold">
                            <p:stCondLst>
                              <p:cond delay="7500"/>
                            </p:stCondLst>
                            <p:childTnLst>
                              <p:par>
                                <p:cTn id="101" presetID="22" presetClass="entr" presetSubtype="4" fill="hold" grpId="0" nodeType="afterEffect">
                                  <p:stCondLst>
                                    <p:cond delay="0"/>
                                  </p:stCondLst>
                                  <p:childTnLst>
                                    <p:set>
                                      <p:cBhvr>
                                        <p:cTn id="102" dur="1" fill="hold">
                                          <p:stCondLst>
                                            <p:cond delay="0"/>
                                          </p:stCondLst>
                                        </p:cTn>
                                        <p:tgtEl>
                                          <p:spTgt spid="216"/>
                                        </p:tgtEl>
                                        <p:attrNameLst>
                                          <p:attrName>style.visibility</p:attrName>
                                        </p:attrNameLst>
                                      </p:cBhvr>
                                      <p:to>
                                        <p:strVal val="visible"/>
                                      </p:to>
                                    </p:set>
                                    <p:animEffect transition="in" filter="wipe(down)">
                                      <p:cBhvr>
                                        <p:cTn id="103" dur="500"/>
                                        <p:tgtEl>
                                          <p:spTgt spid="216"/>
                                        </p:tgtEl>
                                      </p:cBhvr>
                                    </p:animEffect>
                                  </p:childTnLst>
                                </p:cTn>
                              </p:par>
                            </p:childTnLst>
                          </p:cTn>
                        </p:par>
                        <p:par>
                          <p:cTn id="104" fill="hold">
                            <p:stCondLst>
                              <p:cond delay="8000"/>
                            </p:stCondLst>
                            <p:childTnLst>
                              <p:par>
                                <p:cTn id="105" presetID="10" presetClass="entr" presetSubtype="0" fill="hold" grpId="0" nodeType="afterEffect">
                                  <p:stCondLst>
                                    <p:cond delay="0"/>
                                  </p:stCondLst>
                                  <p:childTnLst>
                                    <p:set>
                                      <p:cBhvr>
                                        <p:cTn id="106" dur="1" fill="hold">
                                          <p:stCondLst>
                                            <p:cond delay="0"/>
                                          </p:stCondLst>
                                        </p:cTn>
                                        <p:tgtEl>
                                          <p:spTgt spid="217"/>
                                        </p:tgtEl>
                                        <p:attrNameLst>
                                          <p:attrName>style.visibility</p:attrName>
                                        </p:attrNameLst>
                                      </p:cBhvr>
                                      <p:to>
                                        <p:strVal val="visible"/>
                                      </p:to>
                                    </p:set>
                                    <p:animEffect transition="in" filter="fade">
                                      <p:cBhvr>
                                        <p:cTn id="107" dur="500"/>
                                        <p:tgtEl>
                                          <p:spTgt spid="217"/>
                                        </p:tgtEl>
                                      </p:cBhvr>
                                    </p:animEffect>
                                  </p:childTnLst>
                                </p:cTn>
                              </p:par>
                            </p:childTnLst>
                          </p:cTn>
                        </p:par>
                        <p:par>
                          <p:cTn id="108" fill="hold">
                            <p:stCondLst>
                              <p:cond delay="8500"/>
                            </p:stCondLst>
                            <p:childTnLst>
                              <p:par>
                                <p:cTn id="109" presetID="10" presetClass="entr" presetSubtype="0" fill="hold" grpId="0" nodeType="afterEffect">
                                  <p:stCondLst>
                                    <p:cond delay="0"/>
                                  </p:stCondLst>
                                  <p:childTnLst>
                                    <p:set>
                                      <p:cBhvr>
                                        <p:cTn id="110" dur="1" fill="hold">
                                          <p:stCondLst>
                                            <p:cond delay="0"/>
                                          </p:stCondLst>
                                        </p:cTn>
                                        <p:tgtEl>
                                          <p:spTgt spid="218"/>
                                        </p:tgtEl>
                                        <p:attrNameLst>
                                          <p:attrName>style.visibility</p:attrName>
                                        </p:attrNameLst>
                                      </p:cBhvr>
                                      <p:to>
                                        <p:strVal val="visible"/>
                                      </p:to>
                                    </p:set>
                                    <p:animEffect transition="in" filter="fade">
                                      <p:cBhvr>
                                        <p:cTn id="111" dur="500"/>
                                        <p:tgtEl>
                                          <p:spTgt spid="21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158"/>
                                        </p:tgtEl>
                                        <p:attrNameLst>
                                          <p:attrName>style.visibility</p:attrName>
                                        </p:attrNameLst>
                                      </p:cBhvr>
                                      <p:to>
                                        <p:strVal val="visible"/>
                                      </p:to>
                                    </p:set>
                                    <p:animEffect transition="in" filter="fade">
                                      <p:cBhvr>
                                        <p:cTn id="114" dur="500"/>
                                        <p:tgtEl>
                                          <p:spTgt spid="158"/>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159"/>
                                        </p:tgtEl>
                                        <p:attrNameLst>
                                          <p:attrName>style.visibility</p:attrName>
                                        </p:attrNameLst>
                                      </p:cBhvr>
                                      <p:to>
                                        <p:strVal val="visible"/>
                                      </p:to>
                                    </p:set>
                                    <p:animEffect transition="in" filter="fade">
                                      <p:cBhvr>
                                        <p:cTn id="117" dur="500"/>
                                        <p:tgtEl>
                                          <p:spTgt spid="15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60"/>
                                        </p:tgtEl>
                                        <p:attrNameLst>
                                          <p:attrName>style.visibility</p:attrName>
                                        </p:attrNameLst>
                                      </p:cBhvr>
                                      <p:to>
                                        <p:strVal val="visible"/>
                                      </p:to>
                                    </p:set>
                                    <p:animEffect transition="in" filter="fade">
                                      <p:cBhvr>
                                        <p:cTn id="120" dur="500"/>
                                        <p:tgtEl>
                                          <p:spTgt spid="160"/>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161"/>
                                        </p:tgtEl>
                                        <p:attrNameLst>
                                          <p:attrName>style.visibility</p:attrName>
                                        </p:attrNameLst>
                                      </p:cBhvr>
                                      <p:to>
                                        <p:strVal val="visible"/>
                                      </p:to>
                                    </p:set>
                                    <p:animEffect transition="in" filter="fade">
                                      <p:cBhvr>
                                        <p:cTn id="123" dur="500"/>
                                        <p:tgtEl>
                                          <p:spTgt spid="161"/>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162"/>
                                        </p:tgtEl>
                                        <p:attrNameLst>
                                          <p:attrName>style.visibility</p:attrName>
                                        </p:attrNameLst>
                                      </p:cBhvr>
                                      <p:to>
                                        <p:strVal val="visible"/>
                                      </p:to>
                                    </p:set>
                                    <p:animEffect transition="in" filter="fade">
                                      <p:cBhvr>
                                        <p:cTn id="126" dur="5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p:bldP spid="158" grpId="0" animBg="1"/>
      <p:bldP spid="159" grpId="0" animBg="1"/>
      <p:bldP spid="160" grpId="0" animBg="1"/>
      <p:bldP spid="161" grpId="0" animBg="1"/>
      <p:bldP spid="162" grpId="0" animBg="1"/>
      <p:bldP spid="191" grpId="0"/>
      <p:bldP spid="192" grpId="0"/>
      <p:bldP spid="212" grpId="0"/>
      <p:bldP spid="213" grpId="0"/>
      <p:bldP spid="214" grpId="0"/>
      <p:bldP spid="215" grpId="0"/>
      <p:bldP spid="216" grpId="0"/>
      <p:bldP spid="217" grpId="0"/>
      <p:bldP spid="2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椭圆 52"/>
          <p:cNvSpPr/>
          <p:nvPr/>
        </p:nvSpPr>
        <p:spPr>
          <a:xfrm flipH="1">
            <a:off x="5270762" y="2852936"/>
            <a:ext cx="410758" cy="410760"/>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4" name="椭圆 53"/>
          <p:cNvSpPr/>
          <p:nvPr/>
        </p:nvSpPr>
        <p:spPr>
          <a:xfrm flipH="1">
            <a:off x="4980676" y="1791303"/>
            <a:ext cx="364559" cy="364559"/>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5" name="椭圆 54"/>
          <p:cNvSpPr/>
          <p:nvPr/>
        </p:nvSpPr>
        <p:spPr>
          <a:xfrm flipH="1">
            <a:off x="6724638" y="1380648"/>
            <a:ext cx="250975" cy="250975"/>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81" name="椭圆 80"/>
          <p:cNvSpPr/>
          <p:nvPr/>
        </p:nvSpPr>
        <p:spPr>
          <a:xfrm flipH="1">
            <a:off x="6719835" y="2208193"/>
            <a:ext cx="564888" cy="564890"/>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5" name="文本框 52"/>
          <p:cNvSpPr txBox="1"/>
          <p:nvPr/>
        </p:nvSpPr>
        <p:spPr>
          <a:xfrm>
            <a:off x="3974856" y="3717032"/>
            <a:ext cx="4585997" cy="769441"/>
          </a:xfrm>
          <a:prstGeom prst="rect">
            <a:avLst/>
          </a:prstGeom>
          <a:noFill/>
        </p:spPr>
        <p:txBody>
          <a:bodyPr wrap="square" rtlCol="0">
            <a:spAutoFit/>
          </a:bodyPr>
          <a:lstStyle/>
          <a:p>
            <a:pPr algn="ctr"/>
            <a:r>
              <a:rPr lang="zh-CN" altLang="en-US" sz="4400" b="1" spc="300"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年度工作概述</a:t>
            </a:r>
            <a:endParaRPr lang="zh-CN" altLang="en-US" sz="4400" b="1" spc="3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16" name="组合 15"/>
          <p:cNvGrpSpPr/>
          <p:nvPr/>
        </p:nvGrpSpPr>
        <p:grpSpPr>
          <a:xfrm>
            <a:off x="4081363" y="4941168"/>
            <a:ext cx="1436675" cy="215444"/>
            <a:chOff x="4369395" y="3284984"/>
            <a:chExt cx="1436675" cy="215444"/>
          </a:xfrm>
        </p:grpSpPr>
        <p:sp>
          <p:nvSpPr>
            <p:cNvPr id="17" name="文本框 9"/>
            <p:cNvSpPr txBox="1"/>
            <p:nvPr/>
          </p:nvSpPr>
          <p:spPr>
            <a:xfrm>
              <a:off x="4581935" y="3284984"/>
              <a:ext cx="1224135" cy="215444"/>
            </a:xfrm>
            <a:prstGeom prst="rect">
              <a:avLst/>
            </a:prstGeom>
            <a:noFill/>
          </p:spPr>
          <p:txBody>
            <a:bodyPr wrap="square" lIns="0" tIns="0" rIns="0" bIns="0" rtlCol="0">
              <a:spAutoFit/>
            </a:bodyPr>
            <a:lstStyle/>
            <a:p>
              <a:pPr marL="0" lvl="1"/>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總體工作概述</a:t>
              </a:r>
              <a:endPar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18" name="组合 17"/>
            <p:cNvGrpSpPr/>
            <p:nvPr/>
          </p:nvGrpSpPr>
          <p:grpSpPr>
            <a:xfrm>
              <a:off x="4369395" y="3316401"/>
              <a:ext cx="168551" cy="168551"/>
              <a:chOff x="5005199" y="3717032"/>
              <a:chExt cx="168551" cy="168551"/>
            </a:xfrm>
          </p:grpSpPr>
          <p:sp>
            <p:nvSpPr>
              <p:cNvPr id="19" name="椭圆 18"/>
              <p:cNvSpPr/>
              <p:nvPr/>
            </p:nvSpPr>
            <p:spPr>
              <a:xfrm>
                <a:off x="5005199" y="3717032"/>
                <a:ext cx="168551" cy="168551"/>
              </a:xfrm>
              <a:prstGeom prst="ellipse">
                <a:avLst/>
              </a:prstGeom>
              <a:solidFill>
                <a:srgbClr val="405F8F"/>
              </a:solidFill>
              <a:ln>
                <a:solidFill>
                  <a:srgbClr val="405F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0" name="等腰三角形 19"/>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grpSp>
        <p:nvGrpSpPr>
          <p:cNvPr id="56" name="组合 55"/>
          <p:cNvGrpSpPr/>
          <p:nvPr/>
        </p:nvGrpSpPr>
        <p:grpSpPr>
          <a:xfrm>
            <a:off x="7102214" y="4941168"/>
            <a:ext cx="1436675" cy="215444"/>
            <a:chOff x="4369395" y="3284984"/>
            <a:chExt cx="1436675" cy="215444"/>
          </a:xfrm>
        </p:grpSpPr>
        <p:sp>
          <p:nvSpPr>
            <p:cNvPr id="57" name="文本框 9"/>
            <p:cNvSpPr txBox="1"/>
            <p:nvPr/>
          </p:nvSpPr>
          <p:spPr>
            <a:xfrm>
              <a:off x="4581935" y="3284984"/>
              <a:ext cx="1224135" cy="215444"/>
            </a:xfrm>
            <a:prstGeom prst="rect">
              <a:avLst/>
            </a:prstGeom>
            <a:noFill/>
          </p:spPr>
          <p:txBody>
            <a:bodyPr wrap="square" lIns="0" tIns="0" rIns="0" bIns="0" rtlCol="0">
              <a:spAutoFit/>
            </a:bodyPr>
            <a:lstStyle/>
            <a:p>
              <a:pPr marL="0" lvl="1"/>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具體工作明細</a:t>
              </a:r>
              <a:endPar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58" name="组合 57"/>
            <p:cNvGrpSpPr/>
            <p:nvPr/>
          </p:nvGrpSpPr>
          <p:grpSpPr>
            <a:xfrm>
              <a:off x="4369395" y="3316401"/>
              <a:ext cx="168551" cy="168551"/>
              <a:chOff x="5005199" y="3717032"/>
              <a:chExt cx="168551" cy="168551"/>
            </a:xfrm>
          </p:grpSpPr>
          <p:sp>
            <p:nvSpPr>
              <p:cNvPr id="59" name="椭圆 58"/>
              <p:cNvSpPr/>
              <p:nvPr/>
            </p:nvSpPr>
            <p:spPr>
              <a:xfrm>
                <a:off x="5005199" y="3717032"/>
                <a:ext cx="168551" cy="168551"/>
              </a:xfrm>
              <a:prstGeom prst="ellipse">
                <a:avLst/>
              </a:prstGeom>
              <a:solidFill>
                <a:srgbClr val="405F8F"/>
              </a:solidFill>
              <a:ln>
                <a:solidFill>
                  <a:srgbClr val="405F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60" name="等腰三角形 59"/>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grpSp>
        <p:nvGrpSpPr>
          <p:cNvPr id="49" name="组合 48"/>
          <p:cNvGrpSpPr/>
          <p:nvPr/>
        </p:nvGrpSpPr>
        <p:grpSpPr>
          <a:xfrm>
            <a:off x="5345236" y="1764471"/>
            <a:ext cx="1610824" cy="1452335"/>
            <a:chOff x="2713211" y="1988840"/>
            <a:chExt cx="1610824" cy="1452335"/>
          </a:xfrm>
        </p:grpSpPr>
        <p:sp>
          <p:nvSpPr>
            <p:cNvPr id="50" name="Freeform 5"/>
            <p:cNvSpPr/>
            <p:nvPr/>
          </p:nvSpPr>
          <p:spPr bwMode="auto">
            <a:xfrm>
              <a:off x="2713211" y="1988840"/>
              <a:ext cx="1610824" cy="145233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5F8F"/>
            </a:solidFill>
            <a:ln w="9525" cap="flat">
              <a:noFill/>
              <a:prstDash val="solid"/>
              <a:miter lim="800000"/>
            </a:ln>
            <a:effectLst>
              <a:outerShdw blurRad="431800" dist="889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1" name="Freeform 5"/>
            <p:cNvSpPr/>
            <p:nvPr/>
          </p:nvSpPr>
          <p:spPr bwMode="auto">
            <a:xfrm>
              <a:off x="2838739" y="2087520"/>
              <a:ext cx="1359768" cy="125497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blipFill>
              <a:blip r:embed="rId3" cstate="screen">
                <a:extLst>
                  <a:ext uri="{28A0092B-C50C-407E-A947-70E740481C1C}">
                    <a14:useLocalDpi xmlns:a14="http://schemas.microsoft.com/office/drawing/2010/main"/>
                  </a:ext>
                </a:extLst>
              </a:blip>
              <a:stretch>
                <a:fillRect l="-167158" t="-31921" r="-198372" b="-151558"/>
              </a:stretch>
            </a:blipFill>
            <a:ln w="9525" cap="flat">
              <a:noFill/>
              <a:prstDash val="solid"/>
              <a:miter lim="800000"/>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52" name="TextBox 156"/>
          <p:cNvSpPr txBox="1"/>
          <p:nvPr/>
        </p:nvSpPr>
        <p:spPr>
          <a:xfrm>
            <a:off x="5563202" y="2052503"/>
            <a:ext cx="1174892" cy="830997"/>
          </a:xfrm>
          <a:prstGeom prst="rect">
            <a:avLst/>
          </a:prstGeom>
          <a:noFill/>
        </p:spPr>
        <p:txBody>
          <a:bodyPr wrap="square" rtlCol="0">
            <a:spAutoFit/>
          </a:bodyPr>
          <a:lstStyle/>
          <a:p>
            <a:pPr algn="ctr"/>
            <a:r>
              <a:rPr lang="en-US" altLang="zh-CN" sz="48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01</a:t>
            </a:r>
            <a:endParaRPr lang="zh-CN" altLang="en-US" sz="48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cxnSp>
        <p:nvCxnSpPr>
          <p:cNvPr id="12" name="直接连接符 11"/>
          <p:cNvCxnSpPr/>
          <p:nvPr/>
        </p:nvCxnSpPr>
        <p:spPr>
          <a:xfrm>
            <a:off x="3845833" y="4653136"/>
            <a:ext cx="484404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750"/>
                                        <p:tgtEl>
                                          <p:spTgt spid="49"/>
                                        </p:tgtEl>
                                      </p:cBhvr>
                                    </p:animEffect>
                                    <p:anim calcmode="lin" valueType="num">
                                      <p:cBhvr>
                                        <p:cTn id="8" dur="750" fill="hold"/>
                                        <p:tgtEl>
                                          <p:spTgt spid="49"/>
                                        </p:tgtEl>
                                        <p:attrNameLst>
                                          <p:attrName>ppt_w</p:attrName>
                                        </p:attrNameLst>
                                      </p:cBhvr>
                                      <p:tavLst>
                                        <p:tav tm="0" fmla="#ppt_w*sin(2.5*pi*$)">
                                          <p:val>
                                            <p:fltVal val="0"/>
                                          </p:val>
                                        </p:tav>
                                        <p:tav tm="100000">
                                          <p:val>
                                            <p:fltVal val="1"/>
                                          </p:val>
                                        </p:tav>
                                      </p:tavLst>
                                    </p:anim>
                                    <p:anim calcmode="lin" valueType="num">
                                      <p:cBhvr>
                                        <p:cTn id="9" dur="750" fill="hold"/>
                                        <p:tgtEl>
                                          <p:spTgt spid="49"/>
                                        </p:tgtEl>
                                        <p:attrNameLst>
                                          <p:attrName>ppt_h</p:attrName>
                                        </p:attrNameLst>
                                      </p:cBhvr>
                                      <p:tavLst>
                                        <p:tav tm="0">
                                          <p:val>
                                            <p:strVal val="#ppt_h"/>
                                          </p:val>
                                        </p:tav>
                                        <p:tav tm="100000">
                                          <p:val>
                                            <p:strVal val="#ppt_h"/>
                                          </p:val>
                                        </p:tav>
                                      </p:tavLst>
                                    </p:anim>
                                  </p:childTnLst>
                                </p:cTn>
                              </p:par>
                              <p:par>
                                <p:cTn id="10" presetID="53" presetClass="entr" presetSubtype="16" fill="hold" grpId="0" nodeType="withEffect">
                                  <p:stCondLst>
                                    <p:cond delay="500"/>
                                  </p:stCondLst>
                                  <p:childTnLst>
                                    <p:set>
                                      <p:cBhvr>
                                        <p:cTn id="11" dur="1" fill="hold">
                                          <p:stCondLst>
                                            <p:cond delay="0"/>
                                          </p:stCondLst>
                                        </p:cTn>
                                        <p:tgtEl>
                                          <p:spTgt spid="52"/>
                                        </p:tgtEl>
                                        <p:attrNameLst>
                                          <p:attrName>style.visibility</p:attrName>
                                        </p:attrNameLst>
                                      </p:cBhvr>
                                      <p:to>
                                        <p:strVal val="visible"/>
                                      </p:to>
                                    </p:set>
                                    <p:anim calcmode="lin" valueType="num">
                                      <p:cBhvr>
                                        <p:cTn id="12" dur="500" fill="hold"/>
                                        <p:tgtEl>
                                          <p:spTgt spid="52"/>
                                        </p:tgtEl>
                                        <p:attrNameLst>
                                          <p:attrName>ppt_w</p:attrName>
                                        </p:attrNameLst>
                                      </p:cBhvr>
                                      <p:tavLst>
                                        <p:tav tm="0">
                                          <p:val>
                                            <p:fltVal val="0"/>
                                          </p:val>
                                        </p:tav>
                                        <p:tav tm="100000">
                                          <p:val>
                                            <p:strVal val="#ppt_w"/>
                                          </p:val>
                                        </p:tav>
                                      </p:tavLst>
                                    </p:anim>
                                    <p:anim calcmode="lin" valueType="num">
                                      <p:cBhvr>
                                        <p:cTn id="13" dur="500" fill="hold"/>
                                        <p:tgtEl>
                                          <p:spTgt spid="52"/>
                                        </p:tgtEl>
                                        <p:attrNameLst>
                                          <p:attrName>ppt_h</p:attrName>
                                        </p:attrNameLst>
                                      </p:cBhvr>
                                      <p:tavLst>
                                        <p:tav tm="0">
                                          <p:val>
                                            <p:fltVal val="0"/>
                                          </p:val>
                                        </p:tav>
                                        <p:tav tm="100000">
                                          <p:val>
                                            <p:strVal val="#ppt_h"/>
                                          </p:val>
                                        </p:tav>
                                      </p:tavLst>
                                    </p:anim>
                                    <p:animEffect transition="in" filter="fade">
                                      <p:cBhvr>
                                        <p:cTn id="14" dur="500"/>
                                        <p:tgtEl>
                                          <p:spTgt spid="5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fade">
                                      <p:cBhvr>
                                        <p:cTn id="17" dur="500"/>
                                        <p:tgtEl>
                                          <p:spTgt spid="55"/>
                                        </p:tgtEl>
                                      </p:cBhvr>
                                    </p:animEffect>
                                  </p:childTnLst>
                                </p:cTn>
                              </p:par>
                              <p:par>
                                <p:cTn id="18" presetID="10" presetClass="entr" presetSubtype="0" fill="hold" grpId="0" nodeType="withEffect">
                                  <p:stCondLst>
                                    <p:cond delay="250"/>
                                  </p:stCondLst>
                                  <p:childTnLst>
                                    <p:set>
                                      <p:cBhvr>
                                        <p:cTn id="19" dur="1" fill="hold">
                                          <p:stCondLst>
                                            <p:cond delay="0"/>
                                          </p:stCondLst>
                                        </p:cTn>
                                        <p:tgtEl>
                                          <p:spTgt spid="53"/>
                                        </p:tgtEl>
                                        <p:attrNameLst>
                                          <p:attrName>style.visibility</p:attrName>
                                        </p:attrNameLst>
                                      </p:cBhvr>
                                      <p:to>
                                        <p:strVal val="visible"/>
                                      </p:to>
                                    </p:set>
                                    <p:animEffect transition="in" filter="fade">
                                      <p:cBhvr>
                                        <p:cTn id="20" dur="500"/>
                                        <p:tgtEl>
                                          <p:spTgt spid="53"/>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54"/>
                                        </p:tgtEl>
                                        <p:attrNameLst>
                                          <p:attrName>style.visibility</p:attrName>
                                        </p:attrNameLst>
                                      </p:cBhvr>
                                      <p:to>
                                        <p:strVal val="visible"/>
                                      </p:to>
                                    </p:set>
                                    <p:animEffect transition="in" filter="fade">
                                      <p:cBhvr>
                                        <p:cTn id="23" dur="500"/>
                                        <p:tgtEl>
                                          <p:spTgt spid="54"/>
                                        </p:tgtEl>
                                      </p:cBhvr>
                                    </p:animEffect>
                                  </p:childTnLst>
                                </p:cTn>
                              </p:par>
                              <p:par>
                                <p:cTn id="24" presetID="10" presetClass="entr" presetSubtype="0" fill="hold" grpId="0" nodeType="withEffect">
                                  <p:stCondLst>
                                    <p:cond delay="750"/>
                                  </p:stCondLst>
                                  <p:childTnLst>
                                    <p:set>
                                      <p:cBhvr>
                                        <p:cTn id="25" dur="1" fill="hold">
                                          <p:stCondLst>
                                            <p:cond delay="0"/>
                                          </p:stCondLst>
                                        </p:cTn>
                                        <p:tgtEl>
                                          <p:spTgt spid="81"/>
                                        </p:tgtEl>
                                        <p:attrNameLst>
                                          <p:attrName>style.visibility</p:attrName>
                                        </p:attrNameLst>
                                      </p:cBhvr>
                                      <p:to>
                                        <p:strVal val="visible"/>
                                      </p:to>
                                    </p:set>
                                    <p:animEffect transition="in" filter="fade">
                                      <p:cBhvr>
                                        <p:cTn id="26" dur="500"/>
                                        <p:tgtEl>
                                          <p:spTgt spid="81"/>
                                        </p:tgtEl>
                                      </p:cBhvr>
                                    </p:animEffect>
                                  </p:childTnLst>
                                </p:cTn>
                              </p:par>
                              <p:par>
                                <p:cTn id="27" presetID="41" presetClass="entr" presetSubtype="0" fill="hold" grpId="1" nodeType="withEffect">
                                  <p:stCondLst>
                                    <p:cond delay="750"/>
                                  </p:stCondLst>
                                  <p:iterate type="lt">
                                    <p:tmPct val="10000"/>
                                  </p:iterate>
                                  <p:childTnLst>
                                    <p:set>
                                      <p:cBhvr>
                                        <p:cTn id="28" dur="1" fill="hold">
                                          <p:stCondLst>
                                            <p:cond delay="0"/>
                                          </p:stCondLst>
                                        </p:cTn>
                                        <p:tgtEl>
                                          <p:spTgt spid="15"/>
                                        </p:tgtEl>
                                        <p:attrNameLst>
                                          <p:attrName>style.visibility</p:attrName>
                                        </p:attrNameLst>
                                      </p:cBhvr>
                                      <p:to>
                                        <p:strVal val="visible"/>
                                      </p:to>
                                    </p:set>
                                    <p:anim calcmode="lin" valueType="num">
                                      <p:cBhvr>
                                        <p:cTn id="29" dur="500" fill="hold"/>
                                        <p:tgtEl>
                                          <p:spTgt spid="15"/>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15"/>
                                        </p:tgtEl>
                                        <p:attrNameLst>
                                          <p:attrName>ppt_y</p:attrName>
                                        </p:attrNameLst>
                                      </p:cBhvr>
                                      <p:tavLst>
                                        <p:tav tm="0">
                                          <p:val>
                                            <p:strVal val="#ppt_y"/>
                                          </p:val>
                                        </p:tav>
                                        <p:tav tm="100000">
                                          <p:val>
                                            <p:strVal val="#ppt_y"/>
                                          </p:val>
                                        </p:tav>
                                      </p:tavLst>
                                    </p:anim>
                                    <p:anim calcmode="lin" valueType="num">
                                      <p:cBhvr>
                                        <p:cTn id="31" dur="500" fill="hold"/>
                                        <p:tgtEl>
                                          <p:spTgt spid="15"/>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15"/>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15"/>
                                        </p:tgtEl>
                                      </p:cBhvr>
                                    </p:animEffect>
                                  </p:childTnLst>
                                </p:cTn>
                              </p:par>
                            </p:childTnLst>
                          </p:cTn>
                        </p:par>
                        <p:par>
                          <p:cTn id="34" fill="hold">
                            <p:stCondLst>
                              <p:cond delay="1500"/>
                            </p:stCondLst>
                            <p:childTnLst>
                              <p:par>
                                <p:cTn id="35" presetID="22" presetClass="entr" presetSubtype="8"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par>
                          <p:cTn id="38" fill="hold">
                            <p:stCondLst>
                              <p:cond delay="2000"/>
                            </p:stCondLst>
                            <p:childTnLst>
                              <p:par>
                                <p:cTn id="39" presetID="2" presetClass="entr" presetSubtype="4" fill="hold" nodeType="after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1+#ppt_h/2"/>
                                          </p:val>
                                        </p:tav>
                                        <p:tav tm="100000">
                                          <p:val>
                                            <p:strVal val="#ppt_y"/>
                                          </p:val>
                                        </p:tav>
                                      </p:tavLst>
                                    </p:anim>
                                  </p:childTnLst>
                                </p:cTn>
                              </p:par>
                            </p:childTnLst>
                          </p:cTn>
                        </p:par>
                        <p:par>
                          <p:cTn id="43" fill="hold">
                            <p:stCondLst>
                              <p:cond delay="2500"/>
                            </p:stCondLst>
                            <p:childTnLst>
                              <p:par>
                                <p:cTn id="44" presetID="2" presetClass="entr" presetSubtype="4" fill="hold" nodeType="afterEffect">
                                  <p:stCondLst>
                                    <p:cond delay="0"/>
                                  </p:stCondLst>
                                  <p:childTnLst>
                                    <p:set>
                                      <p:cBhvr>
                                        <p:cTn id="45" dur="1" fill="hold">
                                          <p:stCondLst>
                                            <p:cond delay="0"/>
                                          </p:stCondLst>
                                        </p:cTn>
                                        <p:tgtEl>
                                          <p:spTgt spid="56"/>
                                        </p:tgtEl>
                                        <p:attrNameLst>
                                          <p:attrName>style.visibility</p:attrName>
                                        </p:attrNameLst>
                                      </p:cBhvr>
                                      <p:to>
                                        <p:strVal val="visible"/>
                                      </p:to>
                                    </p:set>
                                    <p:anim calcmode="lin" valueType="num">
                                      <p:cBhvr additive="base">
                                        <p:cTn id="46" dur="500" fill="hold"/>
                                        <p:tgtEl>
                                          <p:spTgt spid="56"/>
                                        </p:tgtEl>
                                        <p:attrNameLst>
                                          <p:attrName>ppt_x</p:attrName>
                                        </p:attrNameLst>
                                      </p:cBhvr>
                                      <p:tavLst>
                                        <p:tav tm="0">
                                          <p:val>
                                            <p:strVal val="#ppt_x"/>
                                          </p:val>
                                        </p:tav>
                                        <p:tav tm="100000">
                                          <p:val>
                                            <p:strVal val="#ppt_x"/>
                                          </p:val>
                                        </p:tav>
                                      </p:tavLst>
                                    </p:anim>
                                    <p:anim calcmode="lin" valueType="num">
                                      <p:cBhvr additive="base">
                                        <p:cTn id="47"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animBg="1"/>
      <p:bldP spid="55" grpId="0" animBg="1"/>
      <p:bldP spid="81" grpId="0" animBg="1"/>
      <p:bldP spid="15" grpId="1"/>
      <p:bldP spid="5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Box 90"/>
          <p:cNvSpPr txBox="1"/>
          <p:nvPr/>
        </p:nvSpPr>
        <p:spPr>
          <a:xfrm>
            <a:off x="4770648" y="188640"/>
            <a:ext cx="2623083" cy="461665"/>
          </a:xfrm>
          <a:prstGeom prst="rect">
            <a:avLst/>
          </a:prstGeom>
          <a:noFill/>
        </p:spPr>
        <p:txBody>
          <a:bodyPr wrap="square" rtlCol="0">
            <a:spAutoFit/>
          </a:bodyPr>
          <a:lstStyle/>
          <a:p>
            <a:pPr algn="ctr"/>
            <a:r>
              <a:rPr lang="zh-CN" altLang="en-US" sz="2400" b="1"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總體工作概述</a:t>
            </a:r>
            <a:endParaRPr lang="zh-CN" altLang="en-US" sz="2400" b="1"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cxnSp>
        <p:nvCxnSpPr>
          <p:cNvPr id="95" name="直接连接符 94"/>
          <p:cNvCxnSpPr/>
          <p:nvPr/>
        </p:nvCxnSpPr>
        <p:spPr>
          <a:xfrm>
            <a:off x="7393731" y="419473"/>
            <a:ext cx="446449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a:off x="336947" y="423828"/>
            <a:ext cx="439248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7393731" y="476672"/>
            <a:ext cx="4464496"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336947" y="481027"/>
            <a:ext cx="4392488"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3" name="矩形 47"/>
          <p:cNvSpPr>
            <a:spLocks noChangeArrowheads="1"/>
          </p:cNvSpPr>
          <p:nvPr/>
        </p:nvSpPr>
        <p:spPr bwMode="auto">
          <a:xfrm>
            <a:off x="1521537" y="865916"/>
            <a:ext cx="9121303" cy="1469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p>
            <a:pPr>
              <a:lnSpc>
                <a:spcPct val="130000"/>
              </a:lnSpc>
              <a:spcBef>
                <a:spcPct val="0"/>
              </a:spcBef>
            </a:pP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通過幾年的經驗積累，用戶保修單和系統異常的修復工作基本都能迅速優質的完成。這一年的主要工作有幾個系統新需求的開發和學習專業技術知識；在開發方面，可以做到代碼規範、可讀性高，便於後期維護，能在規定的時間內優質高效的完成開發任務，並且和用戶配合完成系統測試和上線工作。在學習方面，常常利用工作之餘的休息時間加強學習，平時注意收集</a:t>
            </a:r>
            <a:r>
              <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asp.net</a:t>
            </a:r>
            <a:r>
              <a:rPr lang="zh-TW"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開發</a:t>
            </a:r>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技術</a:t>
            </a:r>
            <a:r>
              <a:rPr lang="zh-TW"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和</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數據</a:t>
            </a:r>
            <a:r>
              <a:rPr lang="zh-TW"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庫</a:t>
            </a:r>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管理</a:t>
            </a:r>
            <a:r>
              <a:rPr lang="zh-TW"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等</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方面的資料文件，提高自己處理新問題和解決新問題的能力。</a:t>
            </a:r>
            <a:endPar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05" name="矩形 104"/>
          <p:cNvSpPr/>
          <p:nvPr/>
        </p:nvSpPr>
        <p:spPr>
          <a:xfrm>
            <a:off x="1592977" y="2450666"/>
            <a:ext cx="4864650" cy="3384550"/>
          </a:xfrm>
          <a:prstGeom prst="rect">
            <a:avLst/>
          </a:prstGeom>
          <a:blipFill>
            <a:blip r:embed="rId3"/>
            <a:stretch>
              <a:fillRect/>
            </a:stretch>
          </a:blipFill>
          <a:ln w="19050">
            <a:noFill/>
          </a:ln>
          <a:effectLst>
            <a:outerShdw blurRad="127000" dist="381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107" name="组合 106"/>
          <p:cNvGrpSpPr/>
          <p:nvPr/>
        </p:nvGrpSpPr>
        <p:grpSpPr>
          <a:xfrm>
            <a:off x="7177707" y="2451497"/>
            <a:ext cx="834492" cy="834492"/>
            <a:chOff x="8761883" y="2061853"/>
            <a:chExt cx="834492" cy="834492"/>
          </a:xfrm>
        </p:grpSpPr>
        <p:grpSp>
          <p:nvGrpSpPr>
            <p:cNvPr id="108" name="组合 107"/>
            <p:cNvGrpSpPr/>
            <p:nvPr/>
          </p:nvGrpSpPr>
          <p:grpSpPr>
            <a:xfrm>
              <a:off x="8761883" y="2061853"/>
              <a:ext cx="834492" cy="834492"/>
              <a:chOff x="1705099" y="2564904"/>
              <a:chExt cx="1800200" cy="1800200"/>
            </a:xfrm>
          </p:grpSpPr>
          <p:sp>
            <p:nvSpPr>
              <p:cNvPr id="124" name="椭圆 123"/>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25" name="椭圆 124"/>
              <p:cNvSpPr/>
              <p:nvPr/>
            </p:nvSpPr>
            <p:spPr>
              <a:xfrm>
                <a:off x="1853307" y="2713112"/>
                <a:ext cx="1503784" cy="1503784"/>
              </a:xfrm>
              <a:prstGeom prst="ellipse">
                <a:avLst/>
              </a:prstGeom>
              <a:blipFill>
                <a:blip r:embed="rId4"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109" name="组合 108"/>
            <p:cNvGrpSpPr/>
            <p:nvPr/>
          </p:nvGrpSpPr>
          <p:grpSpPr>
            <a:xfrm>
              <a:off x="8969180" y="2282033"/>
              <a:ext cx="419897" cy="435380"/>
              <a:chOff x="3602038" y="841375"/>
              <a:chExt cx="4994275" cy="5178426"/>
            </a:xfrm>
            <a:solidFill>
              <a:srgbClr val="0070C0"/>
            </a:solidFill>
          </p:grpSpPr>
          <p:sp>
            <p:nvSpPr>
              <p:cNvPr id="110" name="Freeform 51"/>
              <p:cNvSpPr/>
              <p:nvPr/>
            </p:nvSpPr>
            <p:spPr bwMode="auto">
              <a:xfrm>
                <a:off x="8078788" y="5426075"/>
                <a:ext cx="517525" cy="587375"/>
              </a:xfrm>
              <a:custGeom>
                <a:avLst/>
                <a:gdLst>
                  <a:gd name="T0" fmla="*/ 138 w 138"/>
                  <a:gd name="T1" fmla="*/ 63 h 156"/>
                  <a:gd name="T2" fmla="*/ 138 w 138"/>
                  <a:gd name="T3" fmla="*/ 156 h 156"/>
                  <a:gd name="T4" fmla="*/ 10 w 138"/>
                  <a:gd name="T5" fmla="*/ 156 h 156"/>
                  <a:gd name="T6" fmla="*/ 25 w 138"/>
                  <a:gd name="T7" fmla="*/ 133 h 156"/>
                  <a:gd name="T8" fmla="*/ 0 w 138"/>
                  <a:gd name="T9" fmla="*/ 42 h 156"/>
                  <a:gd name="T10" fmla="*/ 60 w 138"/>
                  <a:gd name="T11" fmla="*/ 0 h 156"/>
                  <a:gd name="T12" fmla="*/ 138 w 138"/>
                  <a:gd name="T13" fmla="*/ 63 h 156"/>
                </a:gdLst>
                <a:ahLst/>
                <a:cxnLst>
                  <a:cxn ang="0">
                    <a:pos x="T0" y="T1"/>
                  </a:cxn>
                  <a:cxn ang="0">
                    <a:pos x="T2" y="T3"/>
                  </a:cxn>
                  <a:cxn ang="0">
                    <a:pos x="T4" y="T5"/>
                  </a:cxn>
                  <a:cxn ang="0">
                    <a:pos x="T6" y="T7"/>
                  </a:cxn>
                  <a:cxn ang="0">
                    <a:pos x="T8" y="T9"/>
                  </a:cxn>
                  <a:cxn ang="0">
                    <a:pos x="T10" y="T11"/>
                  </a:cxn>
                  <a:cxn ang="0">
                    <a:pos x="T12" y="T13"/>
                  </a:cxn>
                </a:cxnLst>
                <a:rect l="0" t="0" r="r" b="b"/>
                <a:pathLst>
                  <a:path w="138" h="156">
                    <a:moveTo>
                      <a:pt x="138" y="63"/>
                    </a:moveTo>
                    <a:cubicBezTo>
                      <a:pt x="138" y="126"/>
                      <a:pt x="138" y="156"/>
                      <a:pt x="138" y="156"/>
                    </a:cubicBezTo>
                    <a:cubicBezTo>
                      <a:pt x="10" y="156"/>
                      <a:pt x="10" y="156"/>
                      <a:pt x="10" y="156"/>
                    </a:cubicBezTo>
                    <a:cubicBezTo>
                      <a:pt x="25" y="133"/>
                      <a:pt x="25" y="133"/>
                      <a:pt x="25" y="133"/>
                    </a:cubicBezTo>
                    <a:cubicBezTo>
                      <a:pt x="0" y="42"/>
                      <a:pt x="0" y="42"/>
                      <a:pt x="0" y="42"/>
                    </a:cubicBezTo>
                    <a:cubicBezTo>
                      <a:pt x="27" y="40"/>
                      <a:pt x="49" y="23"/>
                      <a:pt x="60" y="0"/>
                    </a:cubicBezTo>
                    <a:cubicBezTo>
                      <a:pt x="98" y="11"/>
                      <a:pt x="138" y="29"/>
                      <a:pt x="138" y="63"/>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11" name="Freeform 52"/>
              <p:cNvSpPr/>
              <p:nvPr/>
            </p:nvSpPr>
            <p:spPr bwMode="auto">
              <a:xfrm>
                <a:off x="3892551" y="3751263"/>
                <a:ext cx="4486275" cy="1055688"/>
              </a:xfrm>
              <a:custGeom>
                <a:avLst/>
                <a:gdLst>
                  <a:gd name="T0" fmla="*/ 2826 w 2826"/>
                  <a:gd name="T1" fmla="*/ 516 h 665"/>
                  <a:gd name="T2" fmla="*/ 2826 w 2826"/>
                  <a:gd name="T3" fmla="*/ 665 h 665"/>
                  <a:gd name="T4" fmla="*/ 2748 w 2826"/>
                  <a:gd name="T5" fmla="*/ 665 h 665"/>
                  <a:gd name="T6" fmla="*/ 2748 w 2826"/>
                  <a:gd name="T7" fmla="*/ 568 h 665"/>
                  <a:gd name="T8" fmla="*/ 1524 w 2826"/>
                  <a:gd name="T9" fmla="*/ 78 h 665"/>
                  <a:gd name="T10" fmla="*/ 1451 w 2826"/>
                  <a:gd name="T11" fmla="*/ 78 h 665"/>
                  <a:gd name="T12" fmla="*/ 1451 w 2826"/>
                  <a:gd name="T13" fmla="*/ 665 h 665"/>
                  <a:gd name="T14" fmla="*/ 1373 w 2826"/>
                  <a:gd name="T15" fmla="*/ 665 h 665"/>
                  <a:gd name="T16" fmla="*/ 1373 w 2826"/>
                  <a:gd name="T17" fmla="*/ 78 h 665"/>
                  <a:gd name="T18" fmla="*/ 1302 w 2826"/>
                  <a:gd name="T19" fmla="*/ 78 h 665"/>
                  <a:gd name="T20" fmla="*/ 78 w 2826"/>
                  <a:gd name="T21" fmla="*/ 568 h 665"/>
                  <a:gd name="T22" fmla="*/ 78 w 2826"/>
                  <a:gd name="T23" fmla="*/ 665 h 665"/>
                  <a:gd name="T24" fmla="*/ 0 w 2826"/>
                  <a:gd name="T25" fmla="*/ 665 h 665"/>
                  <a:gd name="T26" fmla="*/ 0 w 2826"/>
                  <a:gd name="T27" fmla="*/ 516 h 665"/>
                  <a:gd name="T28" fmla="*/ 1287 w 2826"/>
                  <a:gd name="T29" fmla="*/ 0 h 665"/>
                  <a:gd name="T30" fmla="*/ 1538 w 2826"/>
                  <a:gd name="T31" fmla="*/ 0 h 665"/>
                  <a:gd name="T32" fmla="*/ 2826 w 2826"/>
                  <a:gd name="T33" fmla="*/ 516 h 6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26" h="665">
                    <a:moveTo>
                      <a:pt x="2826" y="516"/>
                    </a:moveTo>
                    <a:lnTo>
                      <a:pt x="2826" y="665"/>
                    </a:lnTo>
                    <a:lnTo>
                      <a:pt x="2748" y="665"/>
                    </a:lnTo>
                    <a:lnTo>
                      <a:pt x="2748" y="568"/>
                    </a:lnTo>
                    <a:lnTo>
                      <a:pt x="1524" y="78"/>
                    </a:lnTo>
                    <a:lnTo>
                      <a:pt x="1451" y="78"/>
                    </a:lnTo>
                    <a:lnTo>
                      <a:pt x="1451" y="665"/>
                    </a:lnTo>
                    <a:lnTo>
                      <a:pt x="1373" y="665"/>
                    </a:lnTo>
                    <a:lnTo>
                      <a:pt x="1373" y="78"/>
                    </a:lnTo>
                    <a:lnTo>
                      <a:pt x="1302" y="78"/>
                    </a:lnTo>
                    <a:lnTo>
                      <a:pt x="78" y="568"/>
                    </a:lnTo>
                    <a:lnTo>
                      <a:pt x="78" y="665"/>
                    </a:lnTo>
                    <a:lnTo>
                      <a:pt x="0" y="665"/>
                    </a:lnTo>
                    <a:lnTo>
                      <a:pt x="0" y="516"/>
                    </a:lnTo>
                    <a:lnTo>
                      <a:pt x="1287" y="0"/>
                    </a:lnTo>
                    <a:lnTo>
                      <a:pt x="1538" y="0"/>
                    </a:lnTo>
                    <a:lnTo>
                      <a:pt x="2826" y="516"/>
                    </a:ln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12" name="Freeform 53"/>
              <p:cNvSpPr>
                <a:spLocks noEditPoints="1"/>
              </p:cNvSpPr>
              <p:nvPr/>
            </p:nvSpPr>
            <p:spPr bwMode="auto">
              <a:xfrm>
                <a:off x="7751763" y="4862513"/>
                <a:ext cx="600075" cy="601663"/>
              </a:xfrm>
              <a:custGeom>
                <a:avLst/>
                <a:gdLst>
                  <a:gd name="T0" fmla="*/ 131 w 160"/>
                  <a:gd name="T1" fmla="*/ 63 h 160"/>
                  <a:gd name="T2" fmla="*/ 95 w 160"/>
                  <a:gd name="T3" fmla="*/ 135 h 160"/>
                  <a:gd name="T4" fmla="*/ 146 w 160"/>
                  <a:gd name="T5" fmla="*/ 77 h 160"/>
                  <a:gd name="T6" fmla="*/ 125 w 160"/>
                  <a:gd name="T7" fmla="*/ 32 h 160"/>
                  <a:gd name="T8" fmla="*/ 125 w 160"/>
                  <a:gd name="T9" fmla="*/ 32 h 160"/>
                  <a:gd name="T10" fmla="*/ 125 w 160"/>
                  <a:gd name="T11" fmla="*/ 32 h 160"/>
                  <a:gd name="T12" fmla="*/ 131 w 160"/>
                  <a:gd name="T13" fmla="*/ 63 h 160"/>
                  <a:gd name="T14" fmla="*/ 80 w 160"/>
                  <a:gd name="T15" fmla="*/ 0 h 160"/>
                  <a:gd name="T16" fmla="*/ 160 w 160"/>
                  <a:gd name="T17" fmla="*/ 80 h 160"/>
                  <a:gd name="T18" fmla="*/ 80 w 160"/>
                  <a:gd name="T19" fmla="*/ 160 h 160"/>
                  <a:gd name="T20" fmla="*/ 0 w 160"/>
                  <a:gd name="T21" fmla="*/ 80 h 160"/>
                  <a:gd name="T22" fmla="*/ 80 w 160"/>
                  <a:gd name="T23"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0" h="160">
                    <a:moveTo>
                      <a:pt x="131" y="63"/>
                    </a:moveTo>
                    <a:cubicBezTo>
                      <a:pt x="131" y="92"/>
                      <a:pt x="117" y="118"/>
                      <a:pt x="95" y="135"/>
                    </a:cubicBezTo>
                    <a:cubicBezTo>
                      <a:pt x="124" y="131"/>
                      <a:pt x="146" y="107"/>
                      <a:pt x="146" y="77"/>
                    </a:cubicBezTo>
                    <a:cubicBezTo>
                      <a:pt x="146" y="59"/>
                      <a:pt x="138" y="43"/>
                      <a:pt x="125" y="32"/>
                    </a:cubicBezTo>
                    <a:cubicBezTo>
                      <a:pt x="125" y="32"/>
                      <a:pt x="125" y="32"/>
                      <a:pt x="125" y="32"/>
                    </a:cubicBezTo>
                    <a:cubicBezTo>
                      <a:pt x="125" y="32"/>
                      <a:pt x="125" y="32"/>
                      <a:pt x="125" y="32"/>
                    </a:cubicBezTo>
                    <a:cubicBezTo>
                      <a:pt x="129" y="42"/>
                      <a:pt x="131" y="52"/>
                      <a:pt x="131" y="63"/>
                    </a:cubicBezTo>
                    <a:close/>
                    <a:moveTo>
                      <a:pt x="80" y="0"/>
                    </a:moveTo>
                    <a:cubicBezTo>
                      <a:pt x="124" y="0"/>
                      <a:pt x="160" y="36"/>
                      <a:pt x="160" y="80"/>
                    </a:cubicBezTo>
                    <a:cubicBezTo>
                      <a:pt x="160" y="124"/>
                      <a:pt x="124" y="160"/>
                      <a:pt x="80" y="160"/>
                    </a:cubicBezTo>
                    <a:cubicBezTo>
                      <a:pt x="36" y="160"/>
                      <a:pt x="0" y="124"/>
                      <a:pt x="0" y="80"/>
                    </a:cubicBezTo>
                    <a:cubicBezTo>
                      <a:pt x="0" y="36"/>
                      <a:pt x="36" y="0"/>
                      <a:pt x="80" y="0"/>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13" name="Freeform 54"/>
              <p:cNvSpPr/>
              <p:nvPr/>
            </p:nvSpPr>
            <p:spPr bwMode="auto">
              <a:xfrm>
                <a:off x="8221663" y="4983163"/>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14" name="Freeform 55"/>
              <p:cNvSpPr/>
              <p:nvPr/>
            </p:nvSpPr>
            <p:spPr bwMode="auto">
              <a:xfrm>
                <a:off x="7521576" y="5426075"/>
                <a:ext cx="519113" cy="587375"/>
              </a:xfrm>
              <a:custGeom>
                <a:avLst/>
                <a:gdLst>
                  <a:gd name="T0" fmla="*/ 138 w 138"/>
                  <a:gd name="T1" fmla="*/ 42 h 156"/>
                  <a:gd name="T2" fmla="*/ 112 w 138"/>
                  <a:gd name="T3" fmla="*/ 133 h 156"/>
                  <a:gd name="T4" fmla="*/ 128 w 138"/>
                  <a:gd name="T5" fmla="*/ 156 h 156"/>
                  <a:gd name="T6" fmla="*/ 0 w 138"/>
                  <a:gd name="T7" fmla="*/ 156 h 156"/>
                  <a:gd name="T8" fmla="*/ 0 w 138"/>
                  <a:gd name="T9" fmla="*/ 63 h 156"/>
                  <a:gd name="T10" fmla="*/ 77 w 138"/>
                  <a:gd name="T11" fmla="*/ 0 h 156"/>
                  <a:gd name="T12" fmla="*/ 138 w 138"/>
                  <a:gd name="T13" fmla="*/ 42 h 156"/>
                </a:gdLst>
                <a:ahLst/>
                <a:cxnLst>
                  <a:cxn ang="0">
                    <a:pos x="T0" y="T1"/>
                  </a:cxn>
                  <a:cxn ang="0">
                    <a:pos x="T2" y="T3"/>
                  </a:cxn>
                  <a:cxn ang="0">
                    <a:pos x="T4" y="T5"/>
                  </a:cxn>
                  <a:cxn ang="0">
                    <a:pos x="T6" y="T7"/>
                  </a:cxn>
                  <a:cxn ang="0">
                    <a:pos x="T8" y="T9"/>
                  </a:cxn>
                  <a:cxn ang="0">
                    <a:pos x="T10" y="T11"/>
                  </a:cxn>
                  <a:cxn ang="0">
                    <a:pos x="T12" y="T13"/>
                  </a:cxn>
                </a:cxnLst>
                <a:rect l="0" t="0" r="r" b="b"/>
                <a:pathLst>
                  <a:path w="138" h="156">
                    <a:moveTo>
                      <a:pt x="138" y="42"/>
                    </a:moveTo>
                    <a:cubicBezTo>
                      <a:pt x="112" y="133"/>
                      <a:pt x="112" y="133"/>
                      <a:pt x="112" y="133"/>
                    </a:cubicBezTo>
                    <a:cubicBezTo>
                      <a:pt x="128" y="156"/>
                      <a:pt x="128" y="156"/>
                      <a:pt x="128" y="156"/>
                    </a:cubicBezTo>
                    <a:cubicBezTo>
                      <a:pt x="0" y="156"/>
                      <a:pt x="0" y="156"/>
                      <a:pt x="0" y="156"/>
                    </a:cubicBezTo>
                    <a:cubicBezTo>
                      <a:pt x="0" y="156"/>
                      <a:pt x="0" y="126"/>
                      <a:pt x="0" y="63"/>
                    </a:cubicBezTo>
                    <a:cubicBezTo>
                      <a:pt x="0" y="29"/>
                      <a:pt x="40" y="11"/>
                      <a:pt x="77" y="0"/>
                    </a:cubicBezTo>
                    <a:cubicBezTo>
                      <a:pt x="88" y="23"/>
                      <a:pt x="111" y="40"/>
                      <a:pt x="138" y="42"/>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15" name="Freeform 56"/>
              <p:cNvSpPr/>
              <p:nvPr/>
            </p:nvSpPr>
            <p:spPr bwMode="auto">
              <a:xfrm>
                <a:off x="6199188" y="2232025"/>
                <a:ext cx="1270000" cy="1431925"/>
              </a:xfrm>
              <a:custGeom>
                <a:avLst/>
                <a:gdLst>
                  <a:gd name="T0" fmla="*/ 61 w 338"/>
                  <a:gd name="T1" fmla="*/ 324 h 381"/>
                  <a:gd name="T2" fmla="*/ 0 w 338"/>
                  <a:gd name="T3" fmla="*/ 101 h 381"/>
                  <a:gd name="T4" fmla="*/ 147 w 338"/>
                  <a:gd name="T5" fmla="*/ 0 h 381"/>
                  <a:gd name="T6" fmla="*/ 338 w 338"/>
                  <a:gd name="T7" fmla="*/ 153 h 381"/>
                  <a:gd name="T8" fmla="*/ 338 w 338"/>
                  <a:gd name="T9" fmla="*/ 381 h 381"/>
                  <a:gd name="T10" fmla="*/ 24 w 338"/>
                  <a:gd name="T11" fmla="*/ 381 h 381"/>
                  <a:gd name="T12" fmla="*/ 61 w 338"/>
                  <a:gd name="T13" fmla="*/ 324 h 381"/>
                </a:gdLst>
                <a:ahLst/>
                <a:cxnLst>
                  <a:cxn ang="0">
                    <a:pos x="T0" y="T1"/>
                  </a:cxn>
                  <a:cxn ang="0">
                    <a:pos x="T2" y="T3"/>
                  </a:cxn>
                  <a:cxn ang="0">
                    <a:pos x="T4" y="T5"/>
                  </a:cxn>
                  <a:cxn ang="0">
                    <a:pos x="T6" y="T7"/>
                  </a:cxn>
                  <a:cxn ang="0">
                    <a:pos x="T8" y="T9"/>
                  </a:cxn>
                  <a:cxn ang="0">
                    <a:pos x="T10" y="T11"/>
                  </a:cxn>
                  <a:cxn ang="0">
                    <a:pos x="T12" y="T13"/>
                  </a:cxn>
                </a:cxnLst>
                <a:rect l="0" t="0" r="r" b="b"/>
                <a:pathLst>
                  <a:path w="338" h="381">
                    <a:moveTo>
                      <a:pt x="61" y="324"/>
                    </a:moveTo>
                    <a:cubicBezTo>
                      <a:pt x="0" y="101"/>
                      <a:pt x="0" y="101"/>
                      <a:pt x="0" y="101"/>
                    </a:cubicBezTo>
                    <a:cubicBezTo>
                      <a:pt x="65" y="96"/>
                      <a:pt x="120" y="56"/>
                      <a:pt x="147" y="0"/>
                    </a:cubicBezTo>
                    <a:cubicBezTo>
                      <a:pt x="240" y="25"/>
                      <a:pt x="338" y="71"/>
                      <a:pt x="338" y="153"/>
                    </a:cubicBezTo>
                    <a:cubicBezTo>
                      <a:pt x="338" y="307"/>
                      <a:pt x="338" y="381"/>
                      <a:pt x="338" y="381"/>
                    </a:cubicBezTo>
                    <a:cubicBezTo>
                      <a:pt x="24" y="381"/>
                      <a:pt x="24" y="381"/>
                      <a:pt x="24" y="381"/>
                    </a:cubicBezTo>
                    <a:lnTo>
                      <a:pt x="61" y="324"/>
                    </a:ln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16" name="Freeform 57"/>
              <p:cNvSpPr/>
              <p:nvPr/>
            </p:nvSpPr>
            <p:spPr bwMode="auto">
              <a:xfrm>
                <a:off x="6154738" y="5426075"/>
                <a:ext cx="517525" cy="582613"/>
              </a:xfrm>
              <a:custGeom>
                <a:avLst/>
                <a:gdLst>
                  <a:gd name="T0" fmla="*/ 138 w 138"/>
                  <a:gd name="T1" fmla="*/ 62 h 155"/>
                  <a:gd name="T2" fmla="*/ 138 w 138"/>
                  <a:gd name="T3" fmla="*/ 155 h 155"/>
                  <a:gd name="T4" fmla="*/ 10 w 138"/>
                  <a:gd name="T5" fmla="*/ 155 h 155"/>
                  <a:gd name="T6" fmla="*/ 25 w 138"/>
                  <a:gd name="T7" fmla="*/ 132 h 155"/>
                  <a:gd name="T8" fmla="*/ 0 w 138"/>
                  <a:gd name="T9" fmla="*/ 41 h 155"/>
                  <a:gd name="T10" fmla="*/ 60 w 138"/>
                  <a:gd name="T11" fmla="*/ 0 h 155"/>
                  <a:gd name="T12" fmla="*/ 138 w 138"/>
                  <a:gd name="T13" fmla="*/ 62 h 155"/>
                </a:gdLst>
                <a:ahLst/>
                <a:cxnLst>
                  <a:cxn ang="0">
                    <a:pos x="T0" y="T1"/>
                  </a:cxn>
                  <a:cxn ang="0">
                    <a:pos x="T2" y="T3"/>
                  </a:cxn>
                  <a:cxn ang="0">
                    <a:pos x="T4" y="T5"/>
                  </a:cxn>
                  <a:cxn ang="0">
                    <a:pos x="T6" y="T7"/>
                  </a:cxn>
                  <a:cxn ang="0">
                    <a:pos x="T8" y="T9"/>
                  </a:cxn>
                  <a:cxn ang="0">
                    <a:pos x="T10" y="T11"/>
                  </a:cxn>
                  <a:cxn ang="0">
                    <a:pos x="T12" y="T13"/>
                  </a:cxn>
                </a:cxnLst>
                <a:rect l="0" t="0" r="r" b="b"/>
                <a:pathLst>
                  <a:path w="138" h="155">
                    <a:moveTo>
                      <a:pt x="138" y="62"/>
                    </a:moveTo>
                    <a:cubicBezTo>
                      <a:pt x="138" y="125"/>
                      <a:pt x="138" y="155"/>
                      <a:pt x="138" y="155"/>
                    </a:cubicBezTo>
                    <a:cubicBezTo>
                      <a:pt x="10" y="155"/>
                      <a:pt x="10" y="155"/>
                      <a:pt x="10" y="155"/>
                    </a:cubicBezTo>
                    <a:cubicBezTo>
                      <a:pt x="25" y="132"/>
                      <a:pt x="25" y="132"/>
                      <a:pt x="25" y="132"/>
                    </a:cubicBezTo>
                    <a:cubicBezTo>
                      <a:pt x="0" y="41"/>
                      <a:pt x="0" y="41"/>
                      <a:pt x="0" y="41"/>
                    </a:cubicBezTo>
                    <a:cubicBezTo>
                      <a:pt x="26" y="39"/>
                      <a:pt x="49" y="23"/>
                      <a:pt x="60" y="0"/>
                    </a:cubicBezTo>
                    <a:cubicBezTo>
                      <a:pt x="98" y="10"/>
                      <a:pt x="138" y="29"/>
                      <a:pt x="138" y="62"/>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17" name="Freeform 58"/>
              <p:cNvSpPr>
                <a:spLocks noEditPoints="1"/>
              </p:cNvSpPr>
              <p:nvPr/>
            </p:nvSpPr>
            <p:spPr bwMode="auto">
              <a:xfrm>
                <a:off x="5395913" y="841375"/>
                <a:ext cx="1479550" cy="1481138"/>
              </a:xfrm>
              <a:custGeom>
                <a:avLst/>
                <a:gdLst>
                  <a:gd name="T0" fmla="*/ 197 w 394"/>
                  <a:gd name="T1" fmla="*/ 0 h 394"/>
                  <a:gd name="T2" fmla="*/ 394 w 394"/>
                  <a:gd name="T3" fmla="*/ 197 h 394"/>
                  <a:gd name="T4" fmla="*/ 197 w 394"/>
                  <a:gd name="T5" fmla="*/ 394 h 394"/>
                  <a:gd name="T6" fmla="*/ 0 w 394"/>
                  <a:gd name="T7" fmla="*/ 197 h 394"/>
                  <a:gd name="T8" fmla="*/ 197 w 394"/>
                  <a:gd name="T9" fmla="*/ 0 h 394"/>
                  <a:gd name="T10" fmla="*/ 359 w 394"/>
                  <a:gd name="T11" fmla="*/ 190 h 394"/>
                  <a:gd name="T12" fmla="*/ 307 w 394"/>
                  <a:gd name="T13" fmla="*/ 79 h 394"/>
                  <a:gd name="T14" fmla="*/ 321 w 394"/>
                  <a:gd name="T15" fmla="*/ 157 h 394"/>
                  <a:gd name="T16" fmla="*/ 235 w 394"/>
                  <a:gd name="T17" fmla="*/ 331 h 394"/>
                  <a:gd name="T18" fmla="*/ 359 w 394"/>
                  <a:gd name="T19" fmla="*/ 19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4" h="394">
                    <a:moveTo>
                      <a:pt x="197" y="0"/>
                    </a:moveTo>
                    <a:cubicBezTo>
                      <a:pt x="306" y="0"/>
                      <a:pt x="394" y="88"/>
                      <a:pt x="394" y="197"/>
                    </a:cubicBezTo>
                    <a:cubicBezTo>
                      <a:pt x="394" y="306"/>
                      <a:pt x="306" y="394"/>
                      <a:pt x="197" y="394"/>
                    </a:cubicBezTo>
                    <a:cubicBezTo>
                      <a:pt x="88" y="394"/>
                      <a:pt x="0" y="306"/>
                      <a:pt x="0" y="197"/>
                    </a:cubicBezTo>
                    <a:cubicBezTo>
                      <a:pt x="0" y="88"/>
                      <a:pt x="88" y="0"/>
                      <a:pt x="197" y="0"/>
                    </a:cubicBezTo>
                    <a:close/>
                    <a:moveTo>
                      <a:pt x="359" y="190"/>
                    </a:moveTo>
                    <a:cubicBezTo>
                      <a:pt x="359" y="145"/>
                      <a:pt x="339" y="105"/>
                      <a:pt x="307" y="79"/>
                    </a:cubicBezTo>
                    <a:cubicBezTo>
                      <a:pt x="316" y="103"/>
                      <a:pt x="321" y="130"/>
                      <a:pt x="321" y="157"/>
                    </a:cubicBezTo>
                    <a:cubicBezTo>
                      <a:pt x="321" y="228"/>
                      <a:pt x="287" y="291"/>
                      <a:pt x="235" y="331"/>
                    </a:cubicBezTo>
                    <a:cubicBezTo>
                      <a:pt x="305" y="322"/>
                      <a:pt x="359" y="262"/>
                      <a:pt x="359" y="190"/>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18" name="Freeform 59"/>
              <p:cNvSpPr/>
              <p:nvPr/>
            </p:nvSpPr>
            <p:spPr bwMode="auto">
              <a:xfrm>
                <a:off x="5594351" y="5426075"/>
                <a:ext cx="522288" cy="582613"/>
              </a:xfrm>
              <a:custGeom>
                <a:avLst/>
                <a:gdLst>
                  <a:gd name="T0" fmla="*/ 139 w 139"/>
                  <a:gd name="T1" fmla="*/ 41 h 155"/>
                  <a:gd name="T2" fmla="*/ 113 w 139"/>
                  <a:gd name="T3" fmla="*/ 132 h 155"/>
                  <a:gd name="T4" fmla="*/ 129 w 139"/>
                  <a:gd name="T5" fmla="*/ 155 h 155"/>
                  <a:gd name="T6" fmla="*/ 0 w 139"/>
                  <a:gd name="T7" fmla="*/ 155 h 155"/>
                  <a:gd name="T8" fmla="*/ 0 w 139"/>
                  <a:gd name="T9" fmla="*/ 62 h 155"/>
                  <a:gd name="T10" fmla="*/ 78 w 139"/>
                  <a:gd name="T11" fmla="*/ 0 h 155"/>
                  <a:gd name="T12" fmla="*/ 139 w 139"/>
                  <a:gd name="T13" fmla="*/ 41 h 155"/>
                </a:gdLst>
                <a:ahLst/>
                <a:cxnLst>
                  <a:cxn ang="0">
                    <a:pos x="T0" y="T1"/>
                  </a:cxn>
                  <a:cxn ang="0">
                    <a:pos x="T2" y="T3"/>
                  </a:cxn>
                  <a:cxn ang="0">
                    <a:pos x="T4" y="T5"/>
                  </a:cxn>
                  <a:cxn ang="0">
                    <a:pos x="T6" y="T7"/>
                  </a:cxn>
                  <a:cxn ang="0">
                    <a:pos x="T8" y="T9"/>
                  </a:cxn>
                  <a:cxn ang="0">
                    <a:pos x="T10" y="T11"/>
                  </a:cxn>
                  <a:cxn ang="0">
                    <a:pos x="T12" y="T13"/>
                  </a:cxn>
                </a:cxnLst>
                <a:rect l="0" t="0" r="r" b="b"/>
                <a:pathLst>
                  <a:path w="139" h="155">
                    <a:moveTo>
                      <a:pt x="139" y="41"/>
                    </a:moveTo>
                    <a:cubicBezTo>
                      <a:pt x="113" y="132"/>
                      <a:pt x="113" y="132"/>
                      <a:pt x="113" y="132"/>
                    </a:cubicBezTo>
                    <a:cubicBezTo>
                      <a:pt x="129" y="155"/>
                      <a:pt x="129" y="155"/>
                      <a:pt x="129" y="155"/>
                    </a:cubicBezTo>
                    <a:cubicBezTo>
                      <a:pt x="0" y="155"/>
                      <a:pt x="0" y="155"/>
                      <a:pt x="0" y="155"/>
                    </a:cubicBezTo>
                    <a:cubicBezTo>
                      <a:pt x="0" y="155"/>
                      <a:pt x="0" y="125"/>
                      <a:pt x="0" y="62"/>
                    </a:cubicBezTo>
                    <a:cubicBezTo>
                      <a:pt x="0" y="29"/>
                      <a:pt x="41" y="10"/>
                      <a:pt x="78" y="0"/>
                    </a:cubicBezTo>
                    <a:cubicBezTo>
                      <a:pt x="89" y="23"/>
                      <a:pt x="112" y="39"/>
                      <a:pt x="139" y="41"/>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19" name="Freeform 60"/>
              <p:cNvSpPr>
                <a:spLocks noEditPoints="1"/>
              </p:cNvSpPr>
              <p:nvPr/>
            </p:nvSpPr>
            <p:spPr bwMode="auto">
              <a:xfrm>
                <a:off x="5827713" y="4859338"/>
                <a:ext cx="601663" cy="601663"/>
              </a:xfrm>
              <a:custGeom>
                <a:avLst/>
                <a:gdLst>
                  <a:gd name="T0" fmla="*/ 95 w 160"/>
                  <a:gd name="T1" fmla="*/ 135 h 160"/>
                  <a:gd name="T2" fmla="*/ 146 w 160"/>
                  <a:gd name="T3" fmla="*/ 77 h 160"/>
                  <a:gd name="T4" fmla="*/ 125 w 160"/>
                  <a:gd name="T5" fmla="*/ 32 h 160"/>
                  <a:gd name="T6" fmla="*/ 130 w 160"/>
                  <a:gd name="T7" fmla="*/ 64 h 160"/>
                  <a:gd name="T8" fmla="*/ 95 w 160"/>
                  <a:gd name="T9" fmla="*/ 135 h 160"/>
                  <a:gd name="T10" fmla="*/ 160 w 160"/>
                  <a:gd name="T11" fmla="*/ 80 h 160"/>
                  <a:gd name="T12" fmla="*/ 80 w 160"/>
                  <a:gd name="T13" fmla="*/ 160 h 160"/>
                  <a:gd name="T14" fmla="*/ 0 w 160"/>
                  <a:gd name="T15" fmla="*/ 80 h 160"/>
                  <a:gd name="T16" fmla="*/ 80 w 160"/>
                  <a:gd name="T17" fmla="*/ 0 h 160"/>
                  <a:gd name="T18" fmla="*/ 160 w 160"/>
                  <a:gd name="T19"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0" h="160">
                    <a:moveTo>
                      <a:pt x="95" y="135"/>
                    </a:moveTo>
                    <a:cubicBezTo>
                      <a:pt x="124" y="131"/>
                      <a:pt x="146" y="107"/>
                      <a:pt x="146" y="77"/>
                    </a:cubicBezTo>
                    <a:cubicBezTo>
                      <a:pt x="146" y="59"/>
                      <a:pt x="138" y="43"/>
                      <a:pt x="125" y="32"/>
                    </a:cubicBezTo>
                    <a:cubicBezTo>
                      <a:pt x="128" y="42"/>
                      <a:pt x="130" y="53"/>
                      <a:pt x="130" y="64"/>
                    </a:cubicBezTo>
                    <a:cubicBezTo>
                      <a:pt x="130" y="93"/>
                      <a:pt x="117" y="119"/>
                      <a:pt x="95" y="135"/>
                    </a:cubicBezTo>
                    <a:close/>
                    <a:moveTo>
                      <a:pt x="160" y="80"/>
                    </a:moveTo>
                    <a:cubicBezTo>
                      <a:pt x="160" y="124"/>
                      <a:pt x="124" y="160"/>
                      <a:pt x="80" y="160"/>
                    </a:cubicBezTo>
                    <a:cubicBezTo>
                      <a:pt x="36" y="160"/>
                      <a:pt x="0" y="124"/>
                      <a:pt x="0" y="80"/>
                    </a:cubicBezTo>
                    <a:cubicBezTo>
                      <a:pt x="0" y="36"/>
                      <a:pt x="36" y="0"/>
                      <a:pt x="80" y="0"/>
                    </a:cubicBezTo>
                    <a:cubicBezTo>
                      <a:pt x="124" y="0"/>
                      <a:pt x="160" y="36"/>
                      <a:pt x="160" y="80"/>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20" name="Freeform 61"/>
              <p:cNvSpPr/>
              <p:nvPr/>
            </p:nvSpPr>
            <p:spPr bwMode="auto">
              <a:xfrm>
                <a:off x="4830763" y="2232025"/>
                <a:ext cx="1274763" cy="1431925"/>
              </a:xfrm>
              <a:custGeom>
                <a:avLst/>
                <a:gdLst>
                  <a:gd name="T0" fmla="*/ 0 w 339"/>
                  <a:gd name="T1" fmla="*/ 381 h 381"/>
                  <a:gd name="T2" fmla="*/ 0 w 339"/>
                  <a:gd name="T3" fmla="*/ 153 h 381"/>
                  <a:gd name="T4" fmla="*/ 191 w 339"/>
                  <a:gd name="T5" fmla="*/ 0 h 381"/>
                  <a:gd name="T6" fmla="*/ 339 w 339"/>
                  <a:gd name="T7" fmla="*/ 101 h 381"/>
                  <a:gd name="T8" fmla="*/ 277 w 339"/>
                  <a:gd name="T9" fmla="*/ 324 h 381"/>
                  <a:gd name="T10" fmla="*/ 314 w 339"/>
                  <a:gd name="T11" fmla="*/ 381 h 381"/>
                  <a:gd name="T12" fmla="*/ 0 w 339"/>
                  <a:gd name="T13" fmla="*/ 381 h 381"/>
                </a:gdLst>
                <a:ahLst/>
                <a:cxnLst>
                  <a:cxn ang="0">
                    <a:pos x="T0" y="T1"/>
                  </a:cxn>
                  <a:cxn ang="0">
                    <a:pos x="T2" y="T3"/>
                  </a:cxn>
                  <a:cxn ang="0">
                    <a:pos x="T4" y="T5"/>
                  </a:cxn>
                  <a:cxn ang="0">
                    <a:pos x="T6" y="T7"/>
                  </a:cxn>
                  <a:cxn ang="0">
                    <a:pos x="T8" y="T9"/>
                  </a:cxn>
                  <a:cxn ang="0">
                    <a:pos x="T10" y="T11"/>
                  </a:cxn>
                  <a:cxn ang="0">
                    <a:pos x="T12" y="T13"/>
                  </a:cxn>
                </a:cxnLst>
                <a:rect l="0" t="0" r="r" b="b"/>
                <a:pathLst>
                  <a:path w="339" h="381">
                    <a:moveTo>
                      <a:pt x="0" y="381"/>
                    </a:moveTo>
                    <a:cubicBezTo>
                      <a:pt x="0" y="381"/>
                      <a:pt x="0" y="307"/>
                      <a:pt x="0" y="153"/>
                    </a:cubicBezTo>
                    <a:cubicBezTo>
                      <a:pt x="0" y="71"/>
                      <a:pt x="98" y="25"/>
                      <a:pt x="191" y="0"/>
                    </a:cubicBezTo>
                    <a:cubicBezTo>
                      <a:pt x="218" y="56"/>
                      <a:pt x="273" y="96"/>
                      <a:pt x="339" y="101"/>
                    </a:cubicBezTo>
                    <a:cubicBezTo>
                      <a:pt x="277" y="324"/>
                      <a:pt x="277" y="324"/>
                      <a:pt x="277" y="324"/>
                    </a:cubicBezTo>
                    <a:cubicBezTo>
                      <a:pt x="314" y="381"/>
                      <a:pt x="314" y="381"/>
                      <a:pt x="314" y="381"/>
                    </a:cubicBezTo>
                    <a:lnTo>
                      <a:pt x="0" y="381"/>
                    </a:ln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21" name="Freeform 62"/>
              <p:cNvSpPr/>
              <p:nvPr/>
            </p:nvSpPr>
            <p:spPr bwMode="auto">
              <a:xfrm>
                <a:off x="4162426" y="5434013"/>
                <a:ext cx="519113" cy="585788"/>
              </a:xfrm>
              <a:custGeom>
                <a:avLst/>
                <a:gdLst>
                  <a:gd name="T0" fmla="*/ 138 w 138"/>
                  <a:gd name="T1" fmla="*/ 62 h 156"/>
                  <a:gd name="T2" fmla="*/ 138 w 138"/>
                  <a:gd name="T3" fmla="*/ 156 h 156"/>
                  <a:gd name="T4" fmla="*/ 10 w 138"/>
                  <a:gd name="T5" fmla="*/ 156 h 156"/>
                  <a:gd name="T6" fmla="*/ 25 w 138"/>
                  <a:gd name="T7" fmla="*/ 132 h 156"/>
                  <a:gd name="T8" fmla="*/ 0 w 138"/>
                  <a:gd name="T9" fmla="*/ 41 h 156"/>
                  <a:gd name="T10" fmla="*/ 60 w 138"/>
                  <a:gd name="T11" fmla="*/ 0 h 156"/>
                  <a:gd name="T12" fmla="*/ 138 w 138"/>
                  <a:gd name="T13" fmla="*/ 62 h 156"/>
                </a:gdLst>
                <a:ahLst/>
                <a:cxnLst>
                  <a:cxn ang="0">
                    <a:pos x="T0" y="T1"/>
                  </a:cxn>
                  <a:cxn ang="0">
                    <a:pos x="T2" y="T3"/>
                  </a:cxn>
                  <a:cxn ang="0">
                    <a:pos x="T4" y="T5"/>
                  </a:cxn>
                  <a:cxn ang="0">
                    <a:pos x="T6" y="T7"/>
                  </a:cxn>
                  <a:cxn ang="0">
                    <a:pos x="T8" y="T9"/>
                  </a:cxn>
                  <a:cxn ang="0">
                    <a:pos x="T10" y="T11"/>
                  </a:cxn>
                  <a:cxn ang="0">
                    <a:pos x="T12" y="T13"/>
                  </a:cxn>
                </a:cxnLst>
                <a:rect l="0" t="0" r="r" b="b"/>
                <a:pathLst>
                  <a:path w="138" h="156">
                    <a:moveTo>
                      <a:pt x="138" y="62"/>
                    </a:moveTo>
                    <a:cubicBezTo>
                      <a:pt x="138" y="125"/>
                      <a:pt x="138" y="156"/>
                      <a:pt x="138" y="156"/>
                    </a:cubicBezTo>
                    <a:cubicBezTo>
                      <a:pt x="10" y="156"/>
                      <a:pt x="10" y="156"/>
                      <a:pt x="10" y="156"/>
                    </a:cubicBezTo>
                    <a:cubicBezTo>
                      <a:pt x="25" y="132"/>
                      <a:pt x="25" y="132"/>
                      <a:pt x="25" y="132"/>
                    </a:cubicBezTo>
                    <a:cubicBezTo>
                      <a:pt x="0" y="41"/>
                      <a:pt x="0" y="41"/>
                      <a:pt x="0" y="41"/>
                    </a:cubicBezTo>
                    <a:cubicBezTo>
                      <a:pt x="26" y="39"/>
                      <a:pt x="49" y="23"/>
                      <a:pt x="60" y="0"/>
                    </a:cubicBezTo>
                    <a:cubicBezTo>
                      <a:pt x="98" y="10"/>
                      <a:pt x="138" y="29"/>
                      <a:pt x="138" y="62"/>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22" name="Freeform 63"/>
              <p:cNvSpPr>
                <a:spLocks noEditPoints="1"/>
              </p:cNvSpPr>
              <p:nvPr/>
            </p:nvSpPr>
            <p:spPr bwMode="auto">
              <a:xfrm>
                <a:off x="3832226" y="4867275"/>
                <a:ext cx="604838" cy="604838"/>
              </a:xfrm>
              <a:custGeom>
                <a:avLst/>
                <a:gdLst>
                  <a:gd name="T0" fmla="*/ 147 w 161"/>
                  <a:gd name="T1" fmla="*/ 78 h 161"/>
                  <a:gd name="T2" fmla="*/ 126 w 161"/>
                  <a:gd name="T3" fmla="*/ 32 h 161"/>
                  <a:gd name="T4" fmla="*/ 131 w 161"/>
                  <a:gd name="T5" fmla="*/ 64 h 161"/>
                  <a:gd name="T6" fmla="*/ 96 w 161"/>
                  <a:gd name="T7" fmla="*/ 135 h 161"/>
                  <a:gd name="T8" fmla="*/ 147 w 161"/>
                  <a:gd name="T9" fmla="*/ 78 h 161"/>
                  <a:gd name="T10" fmla="*/ 81 w 161"/>
                  <a:gd name="T11" fmla="*/ 0 h 161"/>
                  <a:gd name="T12" fmla="*/ 161 w 161"/>
                  <a:gd name="T13" fmla="*/ 80 h 161"/>
                  <a:gd name="T14" fmla="*/ 81 w 161"/>
                  <a:gd name="T15" fmla="*/ 161 h 161"/>
                  <a:gd name="T16" fmla="*/ 0 w 161"/>
                  <a:gd name="T17" fmla="*/ 80 h 161"/>
                  <a:gd name="T18" fmla="*/ 81 w 161"/>
                  <a:gd name="T19"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7" y="78"/>
                    </a:moveTo>
                    <a:cubicBezTo>
                      <a:pt x="147" y="59"/>
                      <a:pt x="139" y="43"/>
                      <a:pt x="126" y="32"/>
                    </a:cubicBezTo>
                    <a:cubicBezTo>
                      <a:pt x="129" y="42"/>
                      <a:pt x="131" y="53"/>
                      <a:pt x="131" y="64"/>
                    </a:cubicBezTo>
                    <a:cubicBezTo>
                      <a:pt x="131" y="93"/>
                      <a:pt x="118" y="119"/>
                      <a:pt x="96" y="135"/>
                    </a:cubicBezTo>
                    <a:cubicBezTo>
                      <a:pt x="125" y="132"/>
                      <a:pt x="147" y="107"/>
                      <a:pt x="147" y="78"/>
                    </a:cubicBezTo>
                    <a:close/>
                    <a:moveTo>
                      <a:pt x="81" y="0"/>
                    </a:moveTo>
                    <a:cubicBezTo>
                      <a:pt x="125" y="0"/>
                      <a:pt x="161" y="36"/>
                      <a:pt x="161" y="80"/>
                    </a:cubicBezTo>
                    <a:cubicBezTo>
                      <a:pt x="161" y="125"/>
                      <a:pt x="125" y="161"/>
                      <a:pt x="81" y="161"/>
                    </a:cubicBezTo>
                    <a:cubicBezTo>
                      <a:pt x="36" y="161"/>
                      <a:pt x="0" y="125"/>
                      <a:pt x="0" y="80"/>
                    </a:cubicBezTo>
                    <a:cubicBezTo>
                      <a:pt x="0" y="36"/>
                      <a:pt x="36" y="0"/>
                      <a:pt x="81" y="0"/>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23" name="Freeform 64"/>
              <p:cNvSpPr/>
              <p:nvPr/>
            </p:nvSpPr>
            <p:spPr bwMode="auto">
              <a:xfrm>
                <a:off x="3602038" y="5434013"/>
                <a:ext cx="519113" cy="585788"/>
              </a:xfrm>
              <a:custGeom>
                <a:avLst/>
                <a:gdLst>
                  <a:gd name="T0" fmla="*/ 138 w 138"/>
                  <a:gd name="T1" fmla="*/ 41 h 156"/>
                  <a:gd name="T2" fmla="*/ 113 w 138"/>
                  <a:gd name="T3" fmla="*/ 132 h 156"/>
                  <a:gd name="T4" fmla="*/ 128 w 138"/>
                  <a:gd name="T5" fmla="*/ 156 h 156"/>
                  <a:gd name="T6" fmla="*/ 0 w 138"/>
                  <a:gd name="T7" fmla="*/ 156 h 156"/>
                  <a:gd name="T8" fmla="*/ 0 w 138"/>
                  <a:gd name="T9" fmla="*/ 62 h 156"/>
                  <a:gd name="T10" fmla="*/ 78 w 138"/>
                  <a:gd name="T11" fmla="*/ 0 h 156"/>
                  <a:gd name="T12" fmla="*/ 138 w 138"/>
                  <a:gd name="T13" fmla="*/ 41 h 156"/>
                </a:gdLst>
                <a:ahLst/>
                <a:cxnLst>
                  <a:cxn ang="0">
                    <a:pos x="T0" y="T1"/>
                  </a:cxn>
                  <a:cxn ang="0">
                    <a:pos x="T2" y="T3"/>
                  </a:cxn>
                  <a:cxn ang="0">
                    <a:pos x="T4" y="T5"/>
                  </a:cxn>
                  <a:cxn ang="0">
                    <a:pos x="T6" y="T7"/>
                  </a:cxn>
                  <a:cxn ang="0">
                    <a:pos x="T8" y="T9"/>
                  </a:cxn>
                  <a:cxn ang="0">
                    <a:pos x="T10" y="T11"/>
                  </a:cxn>
                  <a:cxn ang="0">
                    <a:pos x="T12" y="T13"/>
                  </a:cxn>
                </a:cxnLst>
                <a:rect l="0" t="0" r="r" b="b"/>
                <a:pathLst>
                  <a:path w="138" h="156">
                    <a:moveTo>
                      <a:pt x="138" y="41"/>
                    </a:moveTo>
                    <a:cubicBezTo>
                      <a:pt x="113" y="132"/>
                      <a:pt x="113" y="132"/>
                      <a:pt x="113" y="132"/>
                    </a:cubicBezTo>
                    <a:cubicBezTo>
                      <a:pt x="128" y="156"/>
                      <a:pt x="128" y="156"/>
                      <a:pt x="128" y="156"/>
                    </a:cubicBezTo>
                    <a:cubicBezTo>
                      <a:pt x="0" y="156"/>
                      <a:pt x="0" y="156"/>
                      <a:pt x="0" y="156"/>
                    </a:cubicBezTo>
                    <a:cubicBezTo>
                      <a:pt x="0" y="156"/>
                      <a:pt x="0" y="125"/>
                      <a:pt x="0" y="62"/>
                    </a:cubicBezTo>
                    <a:cubicBezTo>
                      <a:pt x="0" y="29"/>
                      <a:pt x="40" y="10"/>
                      <a:pt x="78" y="0"/>
                    </a:cubicBezTo>
                    <a:cubicBezTo>
                      <a:pt x="89" y="23"/>
                      <a:pt x="112" y="39"/>
                      <a:pt x="138" y="41"/>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grpSp>
        <p:nvGrpSpPr>
          <p:cNvPr id="126" name="组合 125"/>
          <p:cNvGrpSpPr/>
          <p:nvPr/>
        </p:nvGrpSpPr>
        <p:grpSpPr>
          <a:xfrm>
            <a:off x="8041804" y="2522500"/>
            <a:ext cx="3467616" cy="1064762"/>
            <a:chOff x="2288094" y="1321493"/>
            <a:chExt cx="1181071" cy="1064762"/>
          </a:xfrm>
        </p:grpSpPr>
        <p:sp>
          <p:nvSpPr>
            <p:cNvPr id="127" name="矩形 126"/>
            <p:cNvSpPr/>
            <p:nvPr/>
          </p:nvSpPr>
          <p:spPr>
            <a:xfrm>
              <a:off x="2288094" y="1321493"/>
              <a:ext cx="1181071" cy="369332"/>
            </a:xfrm>
            <a:prstGeom prst="rect">
              <a:avLst/>
            </a:prstGeom>
          </p:spPr>
          <p:txBody>
            <a:bodyPr wrap="none">
              <a:spAutoFit/>
            </a:bodyPr>
            <a:lstStyle/>
            <a:p>
              <a:r>
                <a:rPr lang="zh-CN" altLang="en-US"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用戶報修單和系統</a:t>
              </a:r>
              <a:r>
                <a:rPr lang="en-US" altLang="zh-CN"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BUG</a:t>
              </a:r>
              <a:r>
                <a:rPr lang="zh-CN" altLang="en-US"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修復工作</a:t>
              </a:r>
              <a:endParaRPr lang="zh-CN" altLang="en-US"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28" name="矩形 127"/>
            <p:cNvSpPr/>
            <p:nvPr/>
          </p:nvSpPr>
          <p:spPr>
            <a:xfrm>
              <a:off x="2288094" y="1647591"/>
              <a:ext cx="1054615" cy="738664"/>
            </a:xfrm>
            <a:prstGeom prst="rect">
              <a:avLst/>
            </a:prstGeom>
          </p:spPr>
          <p:txBody>
            <a:bodyPr wrap="square" anchor="ctr">
              <a:spAutoFit/>
            </a:bodyPr>
            <a:lstStyle/>
            <a:p>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用戶報修的問題能第一時間給用戶解決，用戶反饋的異常</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也</a:t>
              </a:r>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可以快速找到異常原因并修復完成。</a:t>
              </a:r>
              <a:endPar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129" name="组合 128"/>
          <p:cNvGrpSpPr/>
          <p:nvPr/>
        </p:nvGrpSpPr>
        <p:grpSpPr>
          <a:xfrm>
            <a:off x="7177707" y="3818644"/>
            <a:ext cx="834492" cy="834492"/>
            <a:chOff x="8522033" y="3429000"/>
            <a:chExt cx="834492" cy="834492"/>
          </a:xfrm>
        </p:grpSpPr>
        <p:grpSp>
          <p:nvGrpSpPr>
            <p:cNvPr id="130" name="组合 129"/>
            <p:cNvGrpSpPr/>
            <p:nvPr/>
          </p:nvGrpSpPr>
          <p:grpSpPr>
            <a:xfrm>
              <a:off x="8522033" y="3429000"/>
              <a:ext cx="834492" cy="834492"/>
              <a:chOff x="1705099" y="2564904"/>
              <a:chExt cx="1800200" cy="1800200"/>
            </a:xfrm>
          </p:grpSpPr>
          <p:sp>
            <p:nvSpPr>
              <p:cNvPr id="146" name="椭圆 145"/>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47" name="椭圆 146"/>
              <p:cNvSpPr/>
              <p:nvPr/>
            </p:nvSpPr>
            <p:spPr>
              <a:xfrm>
                <a:off x="1853307" y="2713112"/>
                <a:ext cx="1503784" cy="1503784"/>
              </a:xfrm>
              <a:prstGeom prst="ellipse">
                <a:avLst/>
              </a:prstGeom>
              <a:blipFill>
                <a:blip r:embed="rId4"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131" name="组合 130"/>
            <p:cNvGrpSpPr/>
            <p:nvPr/>
          </p:nvGrpSpPr>
          <p:grpSpPr>
            <a:xfrm>
              <a:off x="8751897" y="3624839"/>
              <a:ext cx="444667" cy="442813"/>
              <a:chOff x="3632200" y="998538"/>
              <a:chExt cx="4949826" cy="4929188"/>
            </a:xfrm>
            <a:solidFill>
              <a:srgbClr val="0070C0"/>
            </a:solidFill>
          </p:grpSpPr>
          <p:sp>
            <p:nvSpPr>
              <p:cNvPr id="132" name="Rectangle 94"/>
              <p:cNvSpPr>
                <a:spLocks noChangeArrowheads="1"/>
              </p:cNvSpPr>
              <p:nvPr/>
            </p:nvSpPr>
            <p:spPr bwMode="auto">
              <a:xfrm>
                <a:off x="3632200" y="4795838"/>
                <a:ext cx="615950" cy="1000125"/>
              </a:xfrm>
              <a:prstGeom prst="rect">
                <a:avLst/>
              </a:prstGeom>
              <a:solidFill>
                <a:srgbClr val="405F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33" name="Freeform 95"/>
              <p:cNvSpPr>
                <a:spLocks noEditPoints="1"/>
              </p:cNvSpPr>
              <p:nvPr/>
            </p:nvSpPr>
            <p:spPr bwMode="auto">
              <a:xfrm>
                <a:off x="4451350" y="2814638"/>
                <a:ext cx="1409700" cy="1409700"/>
              </a:xfrm>
              <a:custGeom>
                <a:avLst/>
                <a:gdLst>
                  <a:gd name="T0" fmla="*/ 20 w 375"/>
                  <a:gd name="T1" fmla="*/ 187 h 375"/>
                  <a:gd name="T2" fmla="*/ 188 w 375"/>
                  <a:gd name="T3" fmla="*/ 20 h 375"/>
                  <a:gd name="T4" fmla="*/ 356 w 375"/>
                  <a:gd name="T5" fmla="*/ 187 h 375"/>
                  <a:gd name="T6" fmla="*/ 188 w 375"/>
                  <a:gd name="T7" fmla="*/ 355 h 375"/>
                  <a:gd name="T8" fmla="*/ 20 w 375"/>
                  <a:gd name="T9" fmla="*/ 187 h 375"/>
                  <a:gd name="T10" fmla="*/ 188 w 375"/>
                  <a:gd name="T11" fmla="*/ 0 h 375"/>
                  <a:gd name="T12" fmla="*/ 0 w 375"/>
                  <a:gd name="T13" fmla="*/ 187 h 375"/>
                  <a:gd name="T14" fmla="*/ 188 w 375"/>
                  <a:gd name="T15" fmla="*/ 375 h 375"/>
                  <a:gd name="T16" fmla="*/ 375 w 375"/>
                  <a:gd name="T17" fmla="*/ 187 h 375"/>
                  <a:gd name="T18" fmla="*/ 188 w 375"/>
                  <a:gd name="T19" fmla="*/ 0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5" h="375">
                    <a:moveTo>
                      <a:pt x="20" y="187"/>
                    </a:moveTo>
                    <a:cubicBezTo>
                      <a:pt x="20" y="95"/>
                      <a:pt x="95" y="20"/>
                      <a:pt x="188" y="20"/>
                    </a:cubicBezTo>
                    <a:cubicBezTo>
                      <a:pt x="280" y="20"/>
                      <a:pt x="356" y="95"/>
                      <a:pt x="356" y="187"/>
                    </a:cubicBezTo>
                    <a:cubicBezTo>
                      <a:pt x="356" y="280"/>
                      <a:pt x="280" y="355"/>
                      <a:pt x="188" y="355"/>
                    </a:cubicBezTo>
                    <a:cubicBezTo>
                      <a:pt x="95" y="355"/>
                      <a:pt x="20" y="280"/>
                      <a:pt x="20" y="187"/>
                    </a:cubicBezTo>
                    <a:close/>
                    <a:moveTo>
                      <a:pt x="188" y="0"/>
                    </a:moveTo>
                    <a:cubicBezTo>
                      <a:pt x="84" y="0"/>
                      <a:pt x="0" y="84"/>
                      <a:pt x="0" y="187"/>
                    </a:cubicBezTo>
                    <a:cubicBezTo>
                      <a:pt x="0" y="291"/>
                      <a:pt x="84" y="375"/>
                      <a:pt x="188" y="375"/>
                    </a:cubicBezTo>
                    <a:cubicBezTo>
                      <a:pt x="291" y="375"/>
                      <a:pt x="375" y="291"/>
                      <a:pt x="375" y="187"/>
                    </a:cubicBezTo>
                    <a:cubicBezTo>
                      <a:pt x="375" y="84"/>
                      <a:pt x="291" y="0"/>
                      <a:pt x="188" y="0"/>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34" name="Freeform 96"/>
              <p:cNvSpPr/>
              <p:nvPr/>
            </p:nvSpPr>
            <p:spPr bwMode="auto">
              <a:xfrm>
                <a:off x="4737100" y="3438526"/>
                <a:ext cx="406400" cy="455613"/>
              </a:xfrm>
              <a:custGeom>
                <a:avLst/>
                <a:gdLst>
                  <a:gd name="T0" fmla="*/ 88 w 108"/>
                  <a:gd name="T1" fmla="*/ 103 h 121"/>
                  <a:gd name="T2" fmla="*/ 108 w 108"/>
                  <a:gd name="T3" fmla="*/ 32 h 121"/>
                  <a:gd name="T4" fmla="*/ 61 w 108"/>
                  <a:gd name="T5" fmla="*/ 0 h 121"/>
                  <a:gd name="T6" fmla="*/ 0 w 108"/>
                  <a:gd name="T7" fmla="*/ 48 h 121"/>
                  <a:gd name="T8" fmla="*/ 0 w 108"/>
                  <a:gd name="T9" fmla="*/ 121 h 121"/>
                  <a:gd name="T10" fmla="*/ 100 w 108"/>
                  <a:gd name="T11" fmla="*/ 121 h 121"/>
                  <a:gd name="T12" fmla="*/ 88 w 108"/>
                  <a:gd name="T13" fmla="*/ 103 h 121"/>
                </a:gdLst>
                <a:ahLst/>
                <a:cxnLst>
                  <a:cxn ang="0">
                    <a:pos x="T0" y="T1"/>
                  </a:cxn>
                  <a:cxn ang="0">
                    <a:pos x="T2" y="T3"/>
                  </a:cxn>
                  <a:cxn ang="0">
                    <a:pos x="T4" y="T5"/>
                  </a:cxn>
                  <a:cxn ang="0">
                    <a:pos x="T6" y="T7"/>
                  </a:cxn>
                  <a:cxn ang="0">
                    <a:pos x="T8" y="T9"/>
                  </a:cxn>
                  <a:cxn ang="0">
                    <a:pos x="T10" y="T11"/>
                  </a:cxn>
                  <a:cxn ang="0">
                    <a:pos x="T12" y="T13"/>
                  </a:cxn>
                </a:cxnLst>
                <a:rect l="0" t="0" r="r" b="b"/>
                <a:pathLst>
                  <a:path w="108" h="121">
                    <a:moveTo>
                      <a:pt x="88" y="103"/>
                    </a:moveTo>
                    <a:cubicBezTo>
                      <a:pt x="108" y="32"/>
                      <a:pt x="108" y="32"/>
                      <a:pt x="108" y="32"/>
                    </a:cubicBezTo>
                    <a:cubicBezTo>
                      <a:pt x="87" y="31"/>
                      <a:pt x="69" y="18"/>
                      <a:pt x="61" y="0"/>
                    </a:cubicBezTo>
                    <a:cubicBezTo>
                      <a:pt x="31" y="8"/>
                      <a:pt x="0" y="23"/>
                      <a:pt x="0" y="48"/>
                    </a:cubicBezTo>
                    <a:cubicBezTo>
                      <a:pt x="0" y="97"/>
                      <a:pt x="0" y="121"/>
                      <a:pt x="0" y="121"/>
                    </a:cubicBezTo>
                    <a:cubicBezTo>
                      <a:pt x="100" y="121"/>
                      <a:pt x="100" y="121"/>
                      <a:pt x="100" y="121"/>
                    </a:cubicBezTo>
                    <a:lnTo>
                      <a:pt x="88" y="103"/>
                    </a:ln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35" name="Freeform 97"/>
              <p:cNvSpPr/>
              <p:nvPr/>
            </p:nvSpPr>
            <p:spPr bwMode="auto">
              <a:xfrm>
                <a:off x="4335463" y="4067176"/>
                <a:ext cx="4246563" cy="1860550"/>
              </a:xfrm>
              <a:custGeom>
                <a:avLst/>
                <a:gdLst>
                  <a:gd name="T0" fmla="*/ 1102 w 1130"/>
                  <a:gd name="T1" fmla="*/ 108 h 495"/>
                  <a:gd name="T2" fmla="*/ 1120 w 1130"/>
                  <a:gd name="T3" fmla="*/ 34 h 495"/>
                  <a:gd name="T4" fmla="*/ 1042 w 1130"/>
                  <a:gd name="T5" fmla="*/ 36 h 495"/>
                  <a:gd name="T6" fmla="*/ 962 w 1130"/>
                  <a:gd name="T7" fmla="*/ 171 h 495"/>
                  <a:gd name="T8" fmla="*/ 775 w 1130"/>
                  <a:gd name="T9" fmla="*/ 275 h 495"/>
                  <a:gd name="T10" fmla="*/ 587 w 1130"/>
                  <a:gd name="T11" fmla="*/ 275 h 495"/>
                  <a:gd name="T12" fmla="*/ 479 w 1130"/>
                  <a:gd name="T13" fmla="*/ 223 h 495"/>
                  <a:gd name="T14" fmla="*/ 611 w 1130"/>
                  <a:gd name="T15" fmla="*/ 223 h 495"/>
                  <a:gd name="T16" fmla="*/ 715 w 1130"/>
                  <a:gd name="T17" fmla="*/ 152 h 495"/>
                  <a:gd name="T18" fmla="*/ 639 w 1130"/>
                  <a:gd name="T19" fmla="*/ 108 h 495"/>
                  <a:gd name="T20" fmla="*/ 575 w 1130"/>
                  <a:gd name="T21" fmla="*/ 108 h 495"/>
                  <a:gd name="T22" fmla="*/ 386 w 1130"/>
                  <a:gd name="T23" fmla="*/ 108 h 495"/>
                  <a:gd name="T24" fmla="*/ 310 w 1130"/>
                  <a:gd name="T25" fmla="*/ 128 h 495"/>
                  <a:gd name="T26" fmla="*/ 159 w 1130"/>
                  <a:gd name="T27" fmla="*/ 195 h 495"/>
                  <a:gd name="T28" fmla="*/ 53 w 1130"/>
                  <a:gd name="T29" fmla="*/ 215 h 495"/>
                  <a:gd name="T30" fmla="*/ 0 w 1130"/>
                  <a:gd name="T31" fmla="*/ 215 h 495"/>
                  <a:gd name="T32" fmla="*/ 0 w 1130"/>
                  <a:gd name="T33" fmla="*/ 435 h 495"/>
                  <a:gd name="T34" fmla="*/ 282 w 1130"/>
                  <a:gd name="T35" fmla="*/ 463 h 495"/>
                  <a:gd name="T36" fmla="*/ 641 w 1130"/>
                  <a:gd name="T37" fmla="*/ 463 h 495"/>
                  <a:gd name="T38" fmla="*/ 858 w 1130"/>
                  <a:gd name="T39" fmla="*/ 379 h 495"/>
                  <a:gd name="T40" fmla="*/ 1030 w 1130"/>
                  <a:gd name="T41" fmla="*/ 247 h 495"/>
                  <a:gd name="T42" fmla="*/ 1102 w 1130"/>
                  <a:gd name="T43" fmla="*/ 108 h 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30" h="495">
                    <a:moveTo>
                      <a:pt x="1102" y="108"/>
                    </a:moveTo>
                    <a:cubicBezTo>
                      <a:pt x="1111" y="89"/>
                      <a:pt x="1130" y="54"/>
                      <a:pt x="1120" y="34"/>
                    </a:cubicBezTo>
                    <a:cubicBezTo>
                      <a:pt x="1105" y="0"/>
                      <a:pt x="1063" y="13"/>
                      <a:pt x="1042" y="36"/>
                    </a:cubicBezTo>
                    <a:cubicBezTo>
                      <a:pt x="962" y="171"/>
                      <a:pt x="962" y="171"/>
                      <a:pt x="962" y="171"/>
                    </a:cubicBezTo>
                    <a:cubicBezTo>
                      <a:pt x="775" y="275"/>
                      <a:pt x="775" y="275"/>
                      <a:pt x="775" y="275"/>
                    </a:cubicBezTo>
                    <a:cubicBezTo>
                      <a:pt x="775" y="275"/>
                      <a:pt x="667" y="275"/>
                      <a:pt x="587" y="275"/>
                    </a:cubicBezTo>
                    <a:cubicBezTo>
                      <a:pt x="507" y="275"/>
                      <a:pt x="479" y="223"/>
                      <a:pt x="479" y="223"/>
                    </a:cubicBezTo>
                    <a:cubicBezTo>
                      <a:pt x="479" y="223"/>
                      <a:pt x="531" y="223"/>
                      <a:pt x="611" y="223"/>
                    </a:cubicBezTo>
                    <a:cubicBezTo>
                      <a:pt x="691" y="223"/>
                      <a:pt x="715" y="207"/>
                      <a:pt x="715" y="152"/>
                    </a:cubicBezTo>
                    <a:cubicBezTo>
                      <a:pt x="715" y="96"/>
                      <a:pt x="639" y="108"/>
                      <a:pt x="639" y="108"/>
                    </a:cubicBezTo>
                    <a:cubicBezTo>
                      <a:pt x="575" y="108"/>
                      <a:pt x="575" y="108"/>
                      <a:pt x="575" y="108"/>
                    </a:cubicBezTo>
                    <a:cubicBezTo>
                      <a:pt x="575" y="108"/>
                      <a:pt x="435" y="108"/>
                      <a:pt x="386" y="108"/>
                    </a:cubicBezTo>
                    <a:cubicBezTo>
                      <a:pt x="338" y="108"/>
                      <a:pt x="310" y="128"/>
                      <a:pt x="310" y="128"/>
                    </a:cubicBezTo>
                    <a:cubicBezTo>
                      <a:pt x="159" y="195"/>
                      <a:pt x="159" y="195"/>
                      <a:pt x="159" y="195"/>
                    </a:cubicBezTo>
                    <a:cubicBezTo>
                      <a:pt x="159" y="195"/>
                      <a:pt x="107" y="215"/>
                      <a:pt x="53" y="215"/>
                    </a:cubicBezTo>
                    <a:cubicBezTo>
                      <a:pt x="0" y="215"/>
                      <a:pt x="0" y="215"/>
                      <a:pt x="0" y="215"/>
                    </a:cubicBezTo>
                    <a:cubicBezTo>
                      <a:pt x="0" y="435"/>
                      <a:pt x="0" y="435"/>
                      <a:pt x="0" y="435"/>
                    </a:cubicBezTo>
                    <a:cubicBezTo>
                      <a:pt x="0" y="435"/>
                      <a:pt x="213" y="443"/>
                      <a:pt x="282" y="463"/>
                    </a:cubicBezTo>
                    <a:cubicBezTo>
                      <a:pt x="282" y="463"/>
                      <a:pt x="448" y="495"/>
                      <a:pt x="641" y="463"/>
                    </a:cubicBezTo>
                    <a:cubicBezTo>
                      <a:pt x="707" y="452"/>
                      <a:pt x="858" y="379"/>
                      <a:pt x="858" y="379"/>
                    </a:cubicBezTo>
                    <a:cubicBezTo>
                      <a:pt x="1030" y="247"/>
                      <a:pt x="1030" y="247"/>
                      <a:pt x="1030" y="247"/>
                    </a:cubicBezTo>
                    <a:cubicBezTo>
                      <a:pt x="1030" y="247"/>
                      <a:pt x="1066" y="184"/>
                      <a:pt x="1102" y="108"/>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36" name="Freeform 98"/>
              <p:cNvSpPr>
                <a:spLocks noEditPoints="1"/>
              </p:cNvSpPr>
              <p:nvPr/>
            </p:nvSpPr>
            <p:spPr bwMode="auto">
              <a:xfrm>
                <a:off x="4924425" y="2998788"/>
                <a:ext cx="469900" cy="469900"/>
              </a:xfrm>
              <a:custGeom>
                <a:avLst/>
                <a:gdLst>
                  <a:gd name="T0" fmla="*/ 24 w 125"/>
                  <a:gd name="T1" fmla="*/ 50 h 125"/>
                  <a:gd name="T2" fmla="*/ 51 w 125"/>
                  <a:gd name="T3" fmla="*/ 105 h 125"/>
                  <a:gd name="T4" fmla="*/ 12 w 125"/>
                  <a:gd name="T5" fmla="*/ 60 h 125"/>
                  <a:gd name="T6" fmla="*/ 28 w 125"/>
                  <a:gd name="T7" fmla="*/ 25 h 125"/>
                  <a:gd name="T8" fmla="*/ 24 w 125"/>
                  <a:gd name="T9" fmla="*/ 50 h 125"/>
                  <a:gd name="T10" fmla="*/ 125 w 125"/>
                  <a:gd name="T11" fmla="*/ 62 h 125"/>
                  <a:gd name="T12" fmla="*/ 63 w 125"/>
                  <a:gd name="T13" fmla="*/ 0 h 125"/>
                  <a:gd name="T14" fmla="*/ 0 w 125"/>
                  <a:gd name="T15" fmla="*/ 62 h 125"/>
                  <a:gd name="T16" fmla="*/ 63 w 125"/>
                  <a:gd name="T17" fmla="*/ 125 h 125"/>
                  <a:gd name="T18" fmla="*/ 125 w 125"/>
                  <a:gd name="T19" fmla="*/ 6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 h="125">
                    <a:moveTo>
                      <a:pt x="24" y="50"/>
                    </a:moveTo>
                    <a:cubicBezTo>
                      <a:pt x="24" y="72"/>
                      <a:pt x="34" y="92"/>
                      <a:pt x="51" y="105"/>
                    </a:cubicBezTo>
                    <a:cubicBezTo>
                      <a:pt x="29" y="102"/>
                      <a:pt x="12" y="83"/>
                      <a:pt x="12" y="60"/>
                    </a:cubicBezTo>
                    <a:cubicBezTo>
                      <a:pt x="12" y="46"/>
                      <a:pt x="18" y="33"/>
                      <a:pt x="28" y="25"/>
                    </a:cubicBezTo>
                    <a:cubicBezTo>
                      <a:pt x="25" y="33"/>
                      <a:pt x="24" y="41"/>
                      <a:pt x="24" y="50"/>
                    </a:cubicBezTo>
                    <a:close/>
                    <a:moveTo>
                      <a:pt x="125" y="62"/>
                    </a:moveTo>
                    <a:cubicBezTo>
                      <a:pt x="125" y="28"/>
                      <a:pt x="97" y="0"/>
                      <a:pt x="63" y="0"/>
                    </a:cubicBezTo>
                    <a:cubicBezTo>
                      <a:pt x="28" y="0"/>
                      <a:pt x="0" y="28"/>
                      <a:pt x="0" y="62"/>
                    </a:cubicBezTo>
                    <a:cubicBezTo>
                      <a:pt x="0" y="97"/>
                      <a:pt x="28" y="125"/>
                      <a:pt x="63" y="125"/>
                    </a:cubicBezTo>
                    <a:cubicBezTo>
                      <a:pt x="97" y="125"/>
                      <a:pt x="125" y="97"/>
                      <a:pt x="125" y="62"/>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37" name="Freeform 99"/>
              <p:cNvSpPr/>
              <p:nvPr/>
            </p:nvSpPr>
            <p:spPr bwMode="auto">
              <a:xfrm>
                <a:off x="5173663" y="3438526"/>
                <a:ext cx="401638" cy="455613"/>
              </a:xfrm>
              <a:custGeom>
                <a:avLst/>
                <a:gdLst>
                  <a:gd name="T0" fmla="*/ 46 w 107"/>
                  <a:gd name="T1" fmla="*/ 0 h 121"/>
                  <a:gd name="T2" fmla="*/ 0 w 107"/>
                  <a:gd name="T3" fmla="*/ 32 h 121"/>
                  <a:gd name="T4" fmla="*/ 19 w 107"/>
                  <a:gd name="T5" fmla="*/ 103 h 121"/>
                  <a:gd name="T6" fmla="*/ 7 w 107"/>
                  <a:gd name="T7" fmla="*/ 121 h 121"/>
                  <a:gd name="T8" fmla="*/ 107 w 107"/>
                  <a:gd name="T9" fmla="*/ 121 h 121"/>
                  <a:gd name="T10" fmla="*/ 107 w 107"/>
                  <a:gd name="T11" fmla="*/ 48 h 121"/>
                  <a:gd name="T12" fmla="*/ 46 w 107"/>
                  <a:gd name="T13" fmla="*/ 0 h 121"/>
                </a:gdLst>
                <a:ahLst/>
                <a:cxnLst>
                  <a:cxn ang="0">
                    <a:pos x="T0" y="T1"/>
                  </a:cxn>
                  <a:cxn ang="0">
                    <a:pos x="T2" y="T3"/>
                  </a:cxn>
                  <a:cxn ang="0">
                    <a:pos x="T4" y="T5"/>
                  </a:cxn>
                  <a:cxn ang="0">
                    <a:pos x="T6" y="T7"/>
                  </a:cxn>
                  <a:cxn ang="0">
                    <a:pos x="T8" y="T9"/>
                  </a:cxn>
                  <a:cxn ang="0">
                    <a:pos x="T10" y="T11"/>
                  </a:cxn>
                  <a:cxn ang="0">
                    <a:pos x="T12" y="T13"/>
                  </a:cxn>
                </a:cxnLst>
                <a:rect l="0" t="0" r="r" b="b"/>
                <a:pathLst>
                  <a:path w="107" h="121">
                    <a:moveTo>
                      <a:pt x="46" y="0"/>
                    </a:moveTo>
                    <a:cubicBezTo>
                      <a:pt x="38" y="18"/>
                      <a:pt x="20" y="31"/>
                      <a:pt x="0" y="32"/>
                    </a:cubicBezTo>
                    <a:cubicBezTo>
                      <a:pt x="19" y="103"/>
                      <a:pt x="19" y="103"/>
                      <a:pt x="19" y="103"/>
                    </a:cubicBezTo>
                    <a:cubicBezTo>
                      <a:pt x="7" y="121"/>
                      <a:pt x="7" y="121"/>
                      <a:pt x="7" y="121"/>
                    </a:cubicBezTo>
                    <a:cubicBezTo>
                      <a:pt x="107" y="121"/>
                      <a:pt x="107" y="121"/>
                      <a:pt x="107" y="121"/>
                    </a:cubicBezTo>
                    <a:cubicBezTo>
                      <a:pt x="107" y="121"/>
                      <a:pt x="107" y="97"/>
                      <a:pt x="107" y="48"/>
                    </a:cubicBezTo>
                    <a:cubicBezTo>
                      <a:pt x="107" y="23"/>
                      <a:pt x="76" y="8"/>
                      <a:pt x="46" y="0"/>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38" name="Freeform 100"/>
              <p:cNvSpPr>
                <a:spLocks noEditPoints="1"/>
              </p:cNvSpPr>
              <p:nvPr/>
            </p:nvSpPr>
            <p:spPr bwMode="auto">
              <a:xfrm>
                <a:off x="5751513" y="998538"/>
                <a:ext cx="2093913" cy="2093913"/>
              </a:xfrm>
              <a:custGeom>
                <a:avLst/>
                <a:gdLst>
                  <a:gd name="T0" fmla="*/ 278 w 557"/>
                  <a:gd name="T1" fmla="*/ 557 h 557"/>
                  <a:gd name="T2" fmla="*/ 557 w 557"/>
                  <a:gd name="T3" fmla="*/ 278 h 557"/>
                  <a:gd name="T4" fmla="*/ 278 w 557"/>
                  <a:gd name="T5" fmla="*/ 0 h 557"/>
                  <a:gd name="T6" fmla="*/ 0 w 557"/>
                  <a:gd name="T7" fmla="*/ 278 h 557"/>
                  <a:gd name="T8" fmla="*/ 278 w 557"/>
                  <a:gd name="T9" fmla="*/ 557 h 557"/>
                  <a:gd name="T10" fmla="*/ 278 w 557"/>
                  <a:gd name="T11" fmla="*/ 29 h 557"/>
                  <a:gd name="T12" fmla="*/ 528 w 557"/>
                  <a:gd name="T13" fmla="*/ 278 h 557"/>
                  <a:gd name="T14" fmla="*/ 278 w 557"/>
                  <a:gd name="T15" fmla="*/ 528 h 557"/>
                  <a:gd name="T16" fmla="*/ 29 w 557"/>
                  <a:gd name="T17" fmla="*/ 278 h 557"/>
                  <a:gd name="T18" fmla="*/ 278 w 557"/>
                  <a:gd name="T19" fmla="*/ 29 h 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7" h="557">
                    <a:moveTo>
                      <a:pt x="278" y="557"/>
                    </a:moveTo>
                    <a:cubicBezTo>
                      <a:pt x="432" y="557"/>
                      <a:pt x="557" y="432"/>
                      <a:pt x="557" y="278"/>
                    </a:cubicBezTo>
                    <a:cubicBezTo>
                      <a:pt x="557" y="125"/>
                      <a:pt x="432" y="0"/>
                      <a:pt x="278" y="0"/>
                    </a:cubicBezTo>
                    <a:cubicBezTo>
                      <a:pt x="125" y="0"/>
                      <a:pt x="0" y="125"/>
                      <a:pt x="0" y="278"/>
                    </a:cubicBezTo>
                    <a:cubicBezTo>
                      <a:pt x="0" y="432"/>
                      <a:pt x="125" y="557"/>
                      <a:pt x="278" y="557"/>
                    </a:cubicBezTo>
                    <a:close/>
                    <a:moveTo>
                      <a:pt x="278" y="29"/>
                    </a:moveTo>
                    <a:cubicBezTo>
                      <a:pt x="416" y="29"/>
                      <a:pt x="528" y="141"/>
                      <a:pt x="528" y="278"/>
                    </a:cubicBezTo>
                    <a:cubicBezTo>
                      <a:pt x="528" y="416"/>
                      <a:pt x="416" y="528"/>
                      <a:pt x="278" y="528"/>
                    </a:cubicBezTo>
                    <a:cubicBezTo>
                      <a:pt x="141" y="528"/>
                      <a:pt x="29" y="416"/>
                      <a:pt x="29" y="278"/>
                    </a:cubicBezTo>
                    <a:cubicBezTo>
                      <a:pt x="29" y="141"/>
                      <a:pt x="141" y="29"/>
                      <a:pt x="278" y="29"/>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39" name="Freeform 101"/>
              <p:cNvSpPr/>
              <p:nvPr/>
            </p:nvSpPr>
            <p:spPr bwMode="auto">
              <a:xfrm>
                <a:off x="6180138" y="1938338"/>
                <a:ext cx="598488" cy="673100"/>
              </a:xfrm>
              <a:custGeom>
                <a:avLst/>
                <a:gdLst>
                  <a:gd name="T0" fmla="*/ 0 w 159"/>
                  <a:gd name="T1" fmla="*/ 179 h 179"/>
                  <a:gd name="T2" fmla="*/ 147 w 159"/>
                  <a:gd name="T3" fmla="*/ 179 h 179"/>
                  <a:gd name="T4" fmla="*/ 130 w 159"/>
                  <a:gd name="T5" fmla="*/ 152 h 179"/>
                  <a:gd name="T6" fmla="*/ 159 w 159"/>
                  <a:gd name="T7" fmla="*/ 48 h 179"/>
                  <a:gd name="T8" fmla="*/ 90 w 159"/>
                  <a:gd name="T9" fmla="*/ 0 h 179"/>
                  <a:gd name="T10" fmla="*/ 0 w 159"/>
                  <a:gd name="T11" fmla="*/ 72 h 179"/>
                  <a:gd name="T12" fmla="*/ 0 w 159"/>
                  <a:gd name="T13" fmla="*/ 179 h 179"/>
                </a:gdLst>
                <a:ahLst/>
                <a:cxnLst>
                  <a:cxn ang="0">
                    <a:pos x="T0" y="T1"/>
                  </a:cxn>
                  <a:cxn ang="0">
                    <a:pos x="T2" y="T3"/>
                  </a:cxn>
                  <a:cxn ang="0">
                    <a:pos x="T4" y="T5"/>
                  </a:cxn>
                  <a:cxn ang="0">
                    <a:pos x="T6" y="T7"/>
                  </a:cxn>
                  <a:cxn ang="0">
                    <a:pos x="T8" y="T9"/>
                  </a:cxn>
                  <a:cxn ang="0">
                    <a:pos x="T10" y="T11"/>
                  </a:cxn>
                  <a:cxn ang="0">
                    <a:pos x="T12" y="T13"/>
                  </a:cxn>
                </a:cxnLst>
                <a:rect l="0" t="0" r="r" b="b"/>
                <a:pathLst>
                  <a:path w="159" h="179">
                    <a:moveTo>
                      <a:pt x="0" y="179"/>
                    </a:moveTo>
                    <a:cubicBezTo>
                      <a:pt x="147" y="179"/>
                      <a:pt x="147" y="179"/>
                      <a:pt x="147" y="179"/>
                    </a:cubicBezTo>
                    <a:cubicBezTo>
                      <a:pt x="130" y="152"/>
                      <a:pt x="130" y="152"/>
                      <a:pt x="130" y="152"/>
                    </a:cubicBezTo>
                    <a:cubicBezTo>
                      <a:pt x="159" y="48"/>
                      <a:pt x="159" y="48"/>
                      <a:pt x="159" y="48"/>
                    </a:cubicBezTo>
                    <a:cubicBezTo>
                      <a:pt x="128" y="45"/>
                      <a:pt x="102" y="27"/>
                      <a:pt x="90" y="0"/>
                    </a:cubicBezTo>
                    <a:cubicBezTo>
                      <a:pt x="46" y="12"/>
                      <a:pt x="0" y="34"/>
                      <a:pt x="0" y="72"/>
                    </a:cubicBezTo>
                    <a:cubicBezTo>
                      <a:pt x="0" y="144"/>
                      <a:pt x="0" y="179"/>
                      <a:pt x="0" y="179"/>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40" name="Freeform 102"/>
              <p:cNvSpPr>
                <a:spLocks noEditPoints="1"/>
              </p:cNvSpPr>
              <p:nvPr/>
            </p:nvSpPr>
            <p:spPr bwMode="auto">
              <a:xfrm>
                <a:off x="6457950" y="1292226"/>
                <a:ext cx="692150" cy="692150"/>
              </a:xfrm>
              <a:custGeom>
                <a:avLst/>
                <a:gdLst>
                  <a:gd name="T0" fmla="*/ 92 w 184"/>
                  <a:gd name="T1" fmla="*/ 184 h 184"/>
                  <a:gd name="T2" fmla="*/ 184 w 184"/>
                  <a:gd name="T3" fmla="*/ 92 h 184"/>
                  <a:gd name="T4" fmla="*/ 92 w 184"/>
                  <a:gd name="T5" fmla="*/ 0 h 184"/>
                  <a:gd name="T6" fmla="*/ 0 w 184"/>
                  <a:gd name="T7" fmla="*/ 92 h 184"/>
                  <a:gd name="T8" fmla="*/ 92 w 184"/>
                  <a:gd name="T9" fmla="*/ 184 h 184"/>
                  <a:gd name="T10" fmla="*/ 34 w 184"/>
                  <a:gd name="T11" fmla="*/ 73 h 184"/>
                  <a:gd name="T12" fmla="*/ 75 w 184"/>
                  <a:gd name="T13" fmla="*/ 154 h 184"/>
                  <a:gd name="T14" fmla="*/ 17 w 184"/>
                  <a:gd name="T15" fmla="*/ 88 h 184"/>
                  <a:gd name="T16" fmla="*/ 41 w 184"/>
                  <a:gd name="T17" fmla="*/ 37 h 184"/>
                  <a:gd name="T18" fmla="*/ 34 w 184"/>
                  <a:gd name="T19" fmla="*/ 73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4" h="184">
                    <a:moveTo>
                      <a:pt x="92" y="184"/>
                    </a:moveTo>
                    <a:cubicBezTo>
                      <a:pt x="143" y="184"/>
                      <a:pt x="184" y="142"/>
                      <a:pt x="184" y="92"/>
                    </a:cubicBezTo>
                    <a:cubicBezTo>
                      <a:pt x="184" y="41"/>
                      <a:pt x="143" y="0"/>
                      <a:pt x="92" y="0"/>
                    </a:cubicBezTo>
                    <a:cubicBezTo>
                      <a:pt x="41" y="0"/>
                      <a:pt x="0" y="41"/>
                      <a:pt x="0" y="92"/>
                    </a:cubicBezTo>
                    <a:cubicBezTo>
                      <a:pt x="0" y="142"/>
                      <a:pt x="41" y="184"/>
                      <a:pt x="92" y="184"/>
                    </a:cubicBezTo>
                    <a:close/>
                    <a:moveTo>
                      <a:pt x="34" y="73"/>
                    </a:moveTo>
                    <a:cubicBezTo>
                      <a:pt x="34" y="106"/>
                      <a:pt x="50" y="136"/>
                      <a:pt x="75" y="154"/>
                    </a:cubicBezTo>
                    <a:cubicBezTo>
                      <a:pt x="42" y="150"/>
                      <a:pt x="17" y="122"/>
                      <a:pt x="17" y="88"/>
                    </a:cubicBezTo>
                    <a:cubicBezTo>
                      <a:pt x="17" y="68"/>
                      <a:pt x="26" y="49"/>
                      <a:pt x="41" y="37"/>
                    </a:cubicBezTo>
                    <a:cubicBezTo>
                      <a:pt x="37" y="48"/>
                      <a:pt x="34" y="60"/>
                      <a:pt x="34" y="73"/>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41" name="Freeform 103"/>
              <p:cNvSpPr/>
              <p:nvPr/>
            </p:nvSpPr>
            <p:spPr bwMode="auto">
              <a:xfrm>
                <a:off x="6819900" y="1938338"/>
                <a:ext cx="593725" cy="673100"/>
              </a:xfrm>
              <a:custGeom>
                <a:avLst/>
                <a:gdLst>
                  <a:gd name="T0" fmla="*/ 69 w 158"/>
                  <a:gd name="T1" fmla="*/ 0 h 179"/>
                  <a:gd name="T2" fmla="*/ 0 w 158"/>
                  <a:gd name="T3" fmla="*/ 48 h 179"/>
                  <a:gd name="T4" fmla="*/ 29 w 158"/>
                  <a:gd name="T5" fmla="*/ 152 h 179"/>
                  <a:gd name="T6" fmla="*/ 12 w 158"/>
                  <a:gd name="T7" fmla="*/ 179 h 179"/>
                  <a:gd name="T8" fmla="*/ 158 w 158"/>
                  <a:gd name="T9" fmla="*/ 179 h 179"/>
                  <a:gd name="T10" fmla="*/ 158 w 158"/>
                  <a:gd name="T11" fmla="*/ 72 h 179"/>
                  <a:gd name="T12" fmla="*/ 69 w 158"/>
                  <a:gd name="T13" fmla="*/ 0 h 179"/>
                </a:gdLst>
                <a:ahLst/>
                <a:cxnLst>
                  <a:cxn ang="0">
                    <a:pos x="T0" y="T1"/>
                  </a:cxn>
                  <a:cxn ang="0">
                    <a:pos x="T2" y="T3"/>
                  </a:cxn>
                  <a:cxn ang="0">
                    <a:pos x="T4" y="T5"/>
                  </a:cxn>
                  <a:cxn ang="0">
                    <a:pos x="T6" y="T7"/>
                  </a:cxn>
                  <a:cxn ang="0">
                    <a:pos x="T8" y="T9"/>
                  </a:cxn>
                  <a:cxn ang="0">
                    <a:pos x="T10" y="T11"/>
                  </a:cxn>
                  <a:cxn ang="0">
                    <a:pos x="T12" y="T13"/>
                  </a:cxn>
                </a:cxnLst>
                <a:rect l="0" t="0" r="r" b="b"/>
                <a:pathLst>
                  <a:path w="158" h="179">
                    <a:moveTo>
                      <a:pt x="69" y="0"/>
                    </a:moveTo>
                    <a:cubicBezTo>
                      <a:pt x="57" y="27"/>
                      <a:pt x="31" y="45"/>
                      <a:pt x="0" y="48"/>
                    </a:cubicBezTo>
                    <a:cubicBezTo>
                      <a:pt x="29" y="152"/>
                      <a:pt x="29" y="152"/>
                      <a:pt x="29" y="152"/>
                    </a:cubicBezTo>
                    <a:cubicBezTo>
                      <a:pt x="12" y="179"/>
                      <a:pt x="12" y="179"/>
                      <a:pt x="12" y="179"/>
                    </a:cubicBezTo>
                    <a:cubicBezTo>
                      <a:pt x="158" y="179"/>
                      <a:pt x="158" y="179"/>
                      <a:pt x="158" y="179"/>
                    </a:cubicBezTo>
                    <a:cubicBezTo>
                      <a:pt x="158" y="179"/>
                      <a:pt x="158" y="144"/>
                      <a:pt x="158" y="72"/>
                    </a:cubicBezTo>
                    <a:cubicBezTo>
                      <a:pt x="158" y="34"/>
                      <a:pt x="112" y="12"/>
                      <a:pt x="69" y="0"/>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42" name="Freeform 104"/>
              <p:cNvSpPr/>
              <p:nvPr/>
            </p:nvSpPr>
            <p:spPr bwMode="auto">
              <a:xfrm>
                <a:off x="7037388" y="3814763"/>
                <a:ext cx="271463" cy="300038"/>
              </a:xfrm>
              <a:custGeom>
                <a:avLst/>
                <a:gdLst>
                  <a:gd name="T0" fmla="*/ 41 w 72"/>
                  <a:gd name="T1" fmla="*/ 0 h 80"/>
                  <a:gd name="T2" fmla="*/ 0 w 72"/>
                  <a:gd name="T3" fmla="*/ 32 h 80"/>
                  <a:gd name="T4" fmla="*/ 0 w 72"/>
                  <a:gd name="T5" fmla="*/ 80 h 80"/>
                  <a:gd name="T6" fmla="*/ 67 w 72"/>
                  <a:gd name="T7" fmla="*/ 80 h 80"/>
                  <a:gd name="T8" fmla="*/ 59 w 72"/>
                  <a:gd name="T9" fmla="*/ 68 h 80"/>
                  <a:gd name="T10" fmla="*/ 72 w 72"/>
                  <a:gd name="T11" fmla="*/ 21 h 80"/>
                  <a:gd name="T12" fmla="*/ 41 w 72"/>
                  <a:gd name="T13" fmla="*/ 0 h 80"/>
                </a:gdLst>
                <a:ahLst/>
                <a:cxnLst>
                  <a:cxn ang="0">
                    <a:pos x="T0" y="T1"/>
                  </a:cxn>
                  <a:cxn ang="0">
                    <a:pos x="T2" y="T3"/>
                  </a:cxn>
                  <a:cxn ang="0">
                    <a:pos x="T4" y="T5"/>
                  </a:cxn>
                  <a:cxn ang="0">
                    <a:pos x="T6" y="T7"/>
                  </a:cxn>
                  <a:cxn ang="0">
                    <a:pos x="T8" y="T9"/>
                  </a:cxn>
                  <a:cxn ang="0">
                    <a:pos x="T10" y="T11"/>
                  </a:cxn>
                  <a:cxn ang="0">
                    <a:pos x="T12" y="T13"/>
                  </a:cxn>
                </a:cxnLst>
                <a:rect l="0" t="0" r="r" b="b"/>
                <a:pathLst>
                  <a:path w="72" h="80">
                    <a:moveTo>
                      <a:pt x="41" y="0"/>
                    </a:moveTo>
                    <a:cubicBezTo>
                      <a:pt x="21" y="5"/>
                      <a:pt x="0" y="15"/>
                      <a:pt x="0" y="32"/>
                    </a:cubicBezTo>
                    <a:cubicBezTo>
                      <a:pt x="0" y="65"/>
                      <a:pt x="0" y="80"/>
                      <a:pt x="0" y="80"/>
                    </a:cubicBezTo>
                    <a:cubicBezTo>
                      <a:pt x="67" y="80"/>
                      <a:pt x="67" y="80"/>
                      <a:pt x="67" y="80"/>
                    </a:cubicBezTo>
                    <a:cubicBezTo>
                      <a:pt x="59" y="68"/>
                      <a:pt x="59" y="68"/>
                      <a:pt x="59" y="68"/>
                    </a:cubicBezTo>
                    <a:cubicBezTo>
                      <a:pt x="72" y="21"/>
                      <a:pt x="72" y="21"/>
                      <a:pt x="72" y="21"/>
                    </a:cubicBezTo>
                    <a:cubicBezTo>
                      <a:pt x="58" y="20"/>
                      <a:pt x="46" y="12"/>
                      <a:pt x="41" y="0"/>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43" name="Freeform 105"/>
              <p:cNvSpPr>
                <a:spLocks noEditPoints="1"/>
              </p:cNvSpPr>
              <p:nvPr/>
            </p:nvSpPr>
            <p:spPr bwMode="auto">
              <a:xfrm>
                <a:off x="7165975" y="3517901"/>
                <a:ext cx="311150" cy="315913"/>
              </a:xfrm>
              <a:custGeom>
                <a:avLst/>
                <a:gdLst>
                  <a:gd name="T0" fmla="*/ 33 w 83"/>
                  <a:gd name="T1" fmla="*/ 70 h 84"/>
                  <a:gd name="T2" fmla="*/ 7 w 83"/>
                  <a:gd name="T3" fmla="*/ 40 h 84"/>
                  <a:gd name="T4" fmla="*/ 18 w 83"/>
                  <a:gd name="T5" fmla="*/ 17 h 84"/>
                  <a:gd name="T6" fmla="*/ 15 w 83"/>
                  <a:gd name="T7" fmla="*/ 34 h 84"/>
                  <a:gd name="T8" fmla="*/ 33 w 83"/>
                  <a:gd name="T9" fmla="*/ 70 h 84"/>
                  <a:gd name="T10" fmla="*/ 41 w 83"/>
                  <a:gd name="T11" fmla="*/ 84 h 84"/>
                  <a:gd name="T12" fmla="*/ 83 w 83"/>
                  <a:gd name="T13" fmla="*/ 42 h 84"/>
                  <a:gd name="T14" fmla="*/ 41 w 83"/>
                  <a:gd name="T15" fmla="*/ 0 h 84"/>
                  <a:gd name="T16" fmla="*/ 0 w 83"/>
                  <a:gd name="T17" fmla="*/ 42 h 84"/>
                  <a:gd name="T18" fmla="*/ 41 w 83"/>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84">
                    <a:moveTo>
                      <a:pt x="33" y="70"/>
                    </a:moveTo>
                    <a:cubicBezTo>
                      <a:pt x="19" y="69"/>
                      <a:pt x="7" y="56"/>
                      <a:pt x="7" y="40"/>
                    </a:cubicBezTo>
                    <a:cubicBezTo>
                      <a:pt x="7" y="31"/>
                      <a:pt x="11" y="23"/>
                      <a:pt x="18" y="17"/>
                    </a:cubicBezTo>
                    <a:cubicBezTo>
                      <a:pt x="16" y="22"/>
                      <a:pt x="15" y="28"/>
                      <a:pt x="15" y="34"/>
                    </a:cubicBezTo>
                    <a:cubicBezTo>
                      <a:pt x="15" y="49"/>
                      <a:pt x="22" y="62"/>
                      <a:pt x="33" y="70"/>
                    </a:cubicBezTo>
                    <a:close/>
                    <a:moveTo>
                      <a:pt x="41" y="84"/>
                    </a:moveTo>
                    <a:cubicBezTo>
                      <a:pt x="64" y="84"/>
                      <a:pt x="83" y="65"/>
                      <a:pt x="83" y="42"/>
                    </a:cubicBezTo>
                    <a:cubicBezTo>
                      <a:pt x="83" y="19"/>
                      <a:pt x="64" y="0"/>
                      <a:pt x="41" y="0"/>
                    </a:cubicBezTo>
                    <a:cubicBezTo>
                      <a:pt x="18" y="0"/>
                      <a:pt x="0" y="19"/>
                      <a:pt x="0" y="42"/>
                    </a:cubicBezTo>
                    <a:cubicBezTo>
                      <a:pt x="0" y="65"/>
                      <a:pt x="18" y="84"/>
                      <a:pt x="41" y="84"/>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44" name="Freeform 106"/>
              <p:cNvSpPr/>
              <p:nvPr/>
            </p:nvSpPr>
            <p:spPr bwMode="auto">
              <a:xfrm>
                <a:off x="7326313" y="3814763"/>
                <a:ext cx="271463" cy="300038"/>
              </a:xfrm>
              <a:custGeom>
                <a:avLst/>
                <a:gdLst>
                  <a:gd name="T0" fmla="*/ 72 w 72"/>
                  <a:gd name="T1" fmla="*/ 80 h 80"/>
                  <a:gd name="T2" fmla="*/ 72 w 72"/>
                  <a:gd name="T3" fmla="*/ 32 h 80"/>
                  <a:gd name="T4" fmla="*/ 31 w 72"/>
                  <a:gd name="T5" fmla="*/ 0 h 80"/>
                  <a:gd name="T6" fmla="*/ 0 w 72"/>
                  <a:gd name="T7" fmla="*/ 21 h 80"/>
                  <a:gd name="T8" fmla="*/ 13 w 72"/>
                  <a:gd name="T9" fmla="*/ 68 h 80"/>
                  <a:gd name="T10" fmla="*/ 5 w 72"/>
                  <a:gd name="T11" fmla="*/ 80 h 80"/>
                  <a:gd name="T12" fmla="*/ 72 w 72"/>
                  <a:gd name="T13" fmla="*/ 80 h 80"/>
                </a:gdLst>
                <a:ahLst/>
                <a:cxnLst>
                  <a:cxn ang="0">
                    <a:pos x="T0" y="T1"/>
                  </a:cxn>
                  <a:cxn ang="0">
                    <a:pos x="T2" y="T3"/>
                  </a:cxn>
                  <a:cxn ang="0">
                    <a:pos x="T4" y="T5"/>
                  </a:cxn>
                  <a:cxn ang="0">
                    <a:pos x="T6" y="T7"/>
                  </a:cxn>
                  <a:cxn ang="0">
                    <a:pos x="T8" y="T9"/>
                  </a:cxn>
                  <a:cxn ang="0">
                    <a:pos x="T10" y="T11"/>
                  </a:cxn>
                  <a:cxn ang="0">
                    <a:pos x="T12" y="T13"/>
                  </a:cxn>
                </a:cxnLst>
                <a:rect l="0" t="0" r="r" b="b"/>
                <a:pathLst>
                  <a:path w="72" h="80">
                    <a:moveTo>
                      <a:pt x="72" y="80"/>
                    </a:moveTo>
                    <a:cubicBezTo>
                      <a:pt x="72" y="80"/>
                      <a:pt x="72" y="65"/>
                      <a:pt x="72" y="32"/>
                    </a:cubicBezTo>
                    <a:cubicBezTo>
                      <a:pt x="72" y="15"/>
                      <a:pt x="51" y="5"/>
                      <a:pt x="31" y="0"/>
                    </a:cubicBezTo>
                    <a:cubicBezTo>
                      <a:pt x="26" y="12"/>
                      <a:pt x="14" y="20"/>
                      <a:pt x="0" y="21"/>
                    </a:cubicBezTo>
                    <a:cubicBezTo>
                      <a:pt x="13" y="68"/>
                      <a:pt x="13" y="68"/>
                      <a:pt x="13" y="68"/>
                    </a:cubicBezTo>
                    <a:cubicBezTo>
                      <a:pt x="5" y="80"/>
                      <a:pt x="5" y="80"/>
                      <a:pt x="5" y="80"/>
                    </a:cubicBezTo>
                    <a:lnTo>
                      <a:pt x="72" y="80"/>
                    </a:ln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45" name="Freeform 107"/>
              <p:cNvSpPr>
                <a:spLocks noEditPoints="1"/>
              </p:cNvSpPr>
              <p:nvPr/>
            </p:nvSpPr>
            <p:spPr bwMode="auto">
              <a:xfrm>
                <a:off x="6834188" y="3394076"/>
                <a:ext cx="1003300" cy="1000125"/>
              </a:xfrm>
              <a:custGeom>
                <a:avLst/>
                <a:gdLst>
                  <a:gd name="T0" fmla="*/ 134 w 267"/>
                  <a:gd name="T1" fmla="*/ 266 h 266"/>
                  <a:gd name="T2" fmla="*/ 267 w 267"/>
                  <a:gd name="T3" fmla="*/ 133 h 266"/>
                  <a:gd name="T4" fmla="*/ 134 w 267"/>
                  <a:gd name="T5" fmla="*/ 0 h 266"/>
                  <a:gd name="T6" fmla="*/ 0 w 267"/>
                  <a:gd name="T7" fmla="*/ 133 h 266"/>
                  <a:gd name="T8" fmla="*/ 134 w 267"/>
                  <a:gd name="T9" fmla="*/ 266 h 266"/>
                  <a:gd name="T10" fmla="*/ 134 w 267"/>
                  <a:gd name="T11" fmla="*/ 14 h 266"/>
                  <a:gd name="T12" fmla="*/ 253 w 267"/>
                  <a:gd name="T13" fmla="*/ 133 h 266"/>
                  <a:gd name="T14" fmla="*/ 134 w 267"/>
                  <a:gd name="T15" fmla="*/ 253 h 266"/>
                  <a:gd name="T16" fmla="*/ 14 w 267"/>
                  <a:gd name="T17" fmla="*/ 133 h 266"/>
                  <a:gd name="T18" fmla="*/ 134 w 267"/>
                  <a:gd name="T19" fmla="*/ 14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7" h="266">
                    <a:moveTo>
                      <a:pt x="134" y="266"/>
                    </a:moveTo>
                    <a:cubicBezTo>
                      <a:pt x="207" y="266"/>
                      <a:pt x="267" y="207"/>
                      <a:pt x="267" y="133"/>
                    </a:cubicBezTo>
                    <a:cubicBezTo>
                      <a:pt x="267" y="60"/>
                      <a:pt x="207" y="0"/>
                      <a:pt x="134" y="0"/>
                    </a:cubicBezTo>
                    <a:cubicBezTo>
                      <a:pt x="60" y="0"/>
                      <a:pt x="0" y="60"/>
                      <a:pt x="0" y="133"/>
                    </a:cubicBezTo>
                    <a:cubicBezTo>
                      <a:pt x="0" y="207"/>
                      <a:pt x="60" y="266"/>
                      <a:pt x="134" y="266"/>
                    </a:cubicBezTo>
                    <a:close/>
                    <a:moveTo>
                      <a:pt x="134" y="14"/>
                    </a:moveTo>
                    <a:cubicBezTo>
                      <a:pt x="199" y="14"/>
                      <a:pt x="253" y="67"/>
                      <a:pt x="253" y="133"/>
                    </a:cubicBezTo>
                    <a:cubicBezTo>
                      <a:pt x="253" y="199"/>
                      <a:pt x="199" y="253"/>
                      <a:pt x="134" y="253"/>
                    </a:cubicBezTo>
                    <a:cubicBezTo>
                      <a:pt x="68" y="253"/>
                      <a:pt x="14" y="199"/>
                      <a:pt x="14" y="133"/>
                    </a:cubicBezTo>
                    <a:cubicBezTo>
                      <a:pt x="14" y="67"/>
                      <a:pt x="68" y="14"/>
                      <a:pt x="134" y="14"/>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grpSp>
        <p:nvGrpSpPr>
          <p:cNvPr id="148" name="组合 147"/>
          <p:cNvGrpSpPr/>
          <p:nvPr/>
        </p:nvGrpSpPr>
        <p:grpSpPr>
          <a:xfrm>
            <a:off x="8044288" y="3689783"/>
            <a:ext cx="3102761" cy="1305190"/>
            <a:chOff x="2288940" y="1264640"/>
            <a:chExt cx="1056801" cy="1305190"/>
          </a:xfrm>
        </p:grpSpPr>
        <p:sp>
          <p:nvSpPr>
            <p:cNvPr id="149" name="矩形 148"/>
            <p:cNvSpPr/>
            <p:nvPr/>
          </p:nvSpPr>
          <p:spPr>
            <a:xfrm>
              <a:off x="2288940" y="1264640"/>
              <a:ext cx="613248" cy="369332"/>
            </a:xfrm>
            <a:prstGeom prst="rect">
              <a:avLst/>
            </a:prstGeom>
          </p:spPr>
          <p:txBody>
            <a:bodyPr wrap="none">
              <a:spAutoFit/>
            </a:bodyPr>
            <a:lstStyle/>
            <a:p>
              <a:r>
                <a:rPr lang="zh-CN" altLang="en-US"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系統新需求開發</a:t>
              </a:r>
              <a:endParaRPr lang="zh-CN" altLang="en-US"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50" name="矩形 149"/>
            <p:cNvSpPr/>
            <p:nvPr/>
          </p:nvSpPr>
          <p:spPr>
            <a:xfrm>
              <a:off x="2291126" y="1615723"/>
              <a:ext cx="1054615" cy="954107"/>
            </a:xfrm>
            <a:prstGeom prst="rect">
              <a:avLst/>
            </a:prstGeom>
          </p:spPr>
          <p:txBody>
            <a:bodyPr wrap="square" anchor="ctr">
              <a:spAutoFit/>
            </a:bodyPr>
            <a:lstStyle/>
            <a:p>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能夠配合用戶順利完成需求訪談工作，並且在規定的期限內完成需求開發工作，最後合力完成系統測試以及上線工作。</a:t>
              </a:r>
              <a:endPar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151" name="组合 150"/>
          <p:cNvGrpSpPr/>
          <p:nvPr/>
        </p:nvGrpSpPr>
        <p:grpSpPr>
          <a:xfrm>
            <a:off x="7177707" y="5114788"/>
            <a:ext cx="834492" cy="834492"/>
            <a:chOff x="8500277" y="4725144"/>
            <a:chExt cx="834492" cy="834492"/>
          </a:xfrm>
        </p:grpSpPr>
        <p:grpSp>
          <p:nvGrpSpPr>
            <p:cNvPr id="152" name="组合 151"/>
            <p:cNvGrpSpPr/>
            <p:nvPr/>
          </p:nvGrpSpPr>
          <p:grpSpPr>
            <a:xfrm>
              <a:off x="8500277" y="4725144"/>
              <a:ext cx="834492" cy="834492"/>
              <a:chOff x="1705099" y="2564904"/>
              <a:chExt cx="1800200" cy="1800200"/>
            </a:xfrm>
          </p:grpSpPr>
          <p:sp>
            <p:nvSpPr>
              <p:cNvPr id="166" name="椭圆 165"/>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67" name="椭圆 166"/>
              <p:cNvSpPr/>
              <p:nvPr/>
            </p:nvSpPr>
            <p:spPr>
              <a:xfrm>
                <a:off x="1853307" y="2713112"/>
                <a:ext cx="1503784" cy="1503784"/>
              </a:xfrm>
              <a:prstGeom prst="ellipse">
                <a:avLst/>
              </a:prstGeom>
              <a:blipFill>
                <a:blip r:embed="rId4"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153" name="组合 152"/>
            <p:cNvGrpSpPr/>
            <p:nvPr/>
          </p:nvGrpSpPr>
          <p:grpSpPr>
            <a:xfrm>
              <a:off x="8666169" y="4928068"/>
              <a:ext cx="502709" cy="429419"/>
              <a:chOff x="5322888" y="2767013"/>
              <a:chExt cx="1546225" cy="1320801"/>
            </a:xfrm>
            <a:solidFill>
              <a:srgbClr val="0070C0"/>
            </a:solidFill>
          </p:grpSpPr>
          <p:sp>
            <p:nvSpPr>
              <p:cNvPr id="154" name="Rectangle 85"/>
              <p:cNvSpPr>
                <a:spLocks noChangeArrowheads="1"/>
              </p:cNvSpPr>
              <p:nvPr/>
            </p:nvSpPr>
            <p:spPr bwMode="auto">
              <a:xfrm>
                <a:off x="6092825" y="3098801"/>
                <a:ext cx="71438" cy="390526"/>
              </a:xfrm>
              <a:prstGeom prst="rect">
                <a:avLst/>
              </a:prstGeom>
              <a:solidFill>
                <a:srgbClr val="405F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55" name="Rectangle 86"/>
              <p:cNvSpPr>
                <a:spLocks noChangeArrowheads="1"/>
              </p:cNvSpPr>
              <p:nvPr/>
            </p:nvSpPr>
            <p:spPr bwMode="auto">
              <a:xfrm>
                <a:off x="5899151" y="4041776"/>
                <a:ext cx="457200" cy="46038"/>
              </a:xfrm>
              <a:prstGeom prst="rect">
                <a:avLst/>
              </a:prstGeom>
              <a:solidFill>
                <a:srgbClr val="405F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56" name="Freeform 87"/>
              <p:cNvSpPr>
                <a:spLocks noEditPoints="1"/>
              </p:cNvSpPr>
              <p:nvPr/>
            </p:nvSpPr>
            <p:spPr bwMode="auto">
              <a:xfrm>
                <a:off x="5322888" y="2871788"/>
                <a:ext cx="739775" cy="723900"/>
              </a:xfrm>
              <a:custGeom>
                <a:avLst/>
                <a:gdLst>
                  <a:gd name="T0" fmla="*/ 125 w 196"/>
                  <a:gd name="T1" fmla="*/ 165 h 191"/>
                  <a:gd name="T2" fmla="*/ 125 w 196"/>
                  <a:gd name="T3" fmla="*/ 165 h 191"/>
                  <a:gd name="T4" fmla="*/ 125 w 196"/>
                  <a:gd name="T5" fmla="*/ 163 h 191"/>
                  <a:gd name="T6" fmla="*/ 68 w 196"/>
                  <a:gd name="T7" fmla="*/ 24 h 191"/>
                  <a:gd name="T8" fmla="*/ 68 w 196"/>
                  <a:gd name="T9" fmla="*/ 22 h 191"/>
                  <a:gd name="T10" fmla="*/ 80 w 196"/>
                  <a:gd name="T11" fmla="*/ 17 h 191"/>
                  <a:gd name="T12" fmla="*/ 196 w 196"/>
                  <a:gd name="T13" fmla="*/ 37 h 191"/>
                  <a:gd name="T14" fmla="*/ 196 w 196"/>
                  <a:gd name="T15" fmla="*/ 14 h 191"/>
                  <a:gd name="T16" fmla="*/ 78 w 196"/>
                  <a:gd name="T17" fmla="*/ 8 h 191"/>
                  <a:gd name="T18" fmla="*/ 68 w 196"/>
                  <a:gd name="T19" fmla="*/ 15 h 191"/>
                  <a:gd name="T20" fmla="*/ 68 w 196"/>
                  <a:gd name="T21" fmla="*/ 14 h 191"/>
                  <a:gd name="T22" fmla="*/ 64 w 196"/>
                  <a:gd name="T23" fmla="*/ 11 h 191"/>
                  <a:gd name="T24" fmla="*/ 61 w 196"/>
                  <a:gd name="T25" fmla="*/ 14 h 191"/>
                  <a:gd name="T26" fmla="*/ 55 w 196"/>
                  <a:gd name="T27" fmla="*/ 3 h 191"/>
                  <a:gd name="T28" fmla="*/ 51 w 196"/>
                  <a:gd name="T29" fmla="*/ 3 h 191"/>
                  <a:gd name="T30" fmla="*/ 61 w 196"/>
                  <a:gd name="T31" fmla="*/ 21 h 191"/>
                  <a:gd name="T32" fmla="*/ 61 w 196"/>
                  <a:gd name="T33" fmla="*/ 24 h 191"/>
                  <a:gd name="T34" fmla="*/ 4 w 196"/>
                  <a:gd name="T35" fmla="*/ 163 h 191"/>
                  <a:gd name="T36" fmla="*/ 4 w 196"/>
                  <a:gd name="T37" fmla="*/ 165 h 191"/>
                  <a:gd name="T38" fmla="*/ 4 w 196"/>
                  <a:gd name="T39" fmla="*/ 165 h 191"/>
                  <a:gd name="T40" fmla="*/ 2 w 196"/>
                  <a:gd name="T41" fmla="*/ 168 h 191"/>
                  <a:gd name="T42" fmla="*/ 20 w 196"/>
                  <a:gd name="T43" fmla="*/ 186 h 191"/>
                  <a:gd name="T44" fmla="*/ 65 w 196"/>
                  <a:gd name="T45" fmla="*/ 191 h 191"/>
                  <a:gd name="T46" fmla="*/ 109 w 196"/>
                  <a:gd name="T47" fmla="*/ 186 h 191"/>
                  <a:gd name="T48" fmla="*/ 127 w 196"/>
                  <a:gd name="T49" fmla="*/ 168 h 191"/>
                  <a:gd name="T50" fmla="*/ 125 w 196"/>
                  <a:gd name="T51" fmla="*/ 165 h 191"/>
                  <a:gd name="T52" fmla="*/ 71 w 196"/>
                  <a:gd name="T53" fmla="*/ 165 h 191"/>
                  <a:gd name="T54" fmla="*/ 64 w 196"/>
                  <a:gd name="T55" fmla="*/ 165 h 191"/>
                  <a:gd name="T56" fmla="*/ 58 w 196"/>
                  <a:gd name="T57" fmla="*/ 165 h 191"/>
                  <a:gd name="T58" fmla="*/ 11 w 196"/>
                  <a:gd name="T59" fmla="*/ 165 h 191"/>
                  <a:gd name="T60" fmla="*/ 64 w 196"/>
                  <a:gd name="T61" fmla="*/ 36 h 191"/>
                  <a:gd name="T62" fmla="*/ 64 w 196"/>
                  <a:gd name="T63" fmla="*/ 36 h 191"/>
                  <a:gd name="T64" fmla="*/ 65 w 196"/>
                  <a:gd name="T65" fmla="*/ 36 h 191"/>
                  <a:gd name="T66" fmla="*/ 118 w 196"/>
                  <a:gd name="T67" fmla="*/ 165 h 191"/>
                  <a:gd name="T68" fmla="*/ 71 w 196"/>
                  <a:gd name="T69" fmla="*/ 165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6" h="191">
                    <a:moveTo>
                      <a:pt x="125" y="165"/>
                    </a:moveTo>
                    <a:cubicBezTo>
                      <a:pt x="125" y="165"/>
                      <a:pt x="125" y="165"/>
                      <a:pt x="125" y="165"/>
                    </a:cubicBezTo>
                    <a:cubicBezTo>
                      <a:pt x="125" y="164"/>
                      <a:pt x="125" y="163"/>
                      <a:pt x="125" y="163"/>
                    </a:cubicBezTo>
                    <a:cubicBezTo>
                      <a:pt x="68" y="24"/>
                      <a:pt x="68" y="24"/>
                      <a:pt x="68" y="24"/>
                    </a:cubicBezTo>
                    <a:cubicBezTo>
                      <a:pt x="68" y="22"/>
                      <a:pt x="68" y="22"/>
                      <a:pt x="68" y="22"/>
                    </a:cubicBezTo>
                    <a:cubicBezTo>
                      <a:pt x="76" y="22"/>
                      <a:pt x="80" y="17"/>
                      <a:pt x="80" y="17"/>
                    </a:cubicBezTo>
                    <a:cubicBezTo>
                      <a:pt x="80" y="17"/>
                      <a:pt x="94" y="6"/>
                      <a:pt x="196" y="37"/>
                    </a:cubicBezTo>
                    <a:cubicBezTo>
                      <a:pt x="196" y="14"/>
                      <a:pt x="196" y="14"/>
                      <a:pt x="196" y="14"/>
                    </a:cubicBezTo>
                    <a:cubicBezTo>
                      <a:pt x="172" y="8"/>
                      <a:pt x="127" y="1"/>
                      <a:pt x="78" y="8"/>
                    </a:cubicBezTo>
                    <a:cubicBezTo>
                      <a:pt x="78" y="8"/>
                      <a:pt x="74" y="14"/>
                      <a:pt x="68" y="15"/>
                    </a:cubicBezTo>
                    <a:cubicBezTo>
                      <a:pt x="68" y="14"/>
                      <a:pt x="68" y="14"/>
                      <a:pt x="68" y="14"/>
                    </a:cubicBezTo>
                    <a:cubicBezTo>
                      <a:pt x="68" y="12"/>
                      <a:pt x="66" y="11"/>
                      <a:pt x="64" y="11"/>
                    </a:cubicBezTo>
                    <a:cubicBezTo>
                      <a:pt x="62" y="11"/>
                      <a:pt x="61" y="12"/>
                      <a:pt x="61" y="14"/>
                    </a:cubicBezTo>
                    <a:cubicBezTo>
                      <a:pt x="52" y="11"/>
                      <a:pt x="55" y="3"/>
                      <a:pt x="55" y="3"/>
                    </a:cubicBezTo>
                    <a:cubicBezTo>
                      <a:pt x="55" y="3"/>
                      <a:pt x="52" y="0"/>
                      <a:pt x="51" y="3"/>
                    </a:cubicBezTo>
                    <a:cubicBezTo>
                      <a:pt x="50" y="5"/>
                      <a:pt x="49" y="17"/>
                      <a:pt x="61" y="21"/>
                    </a:cubicBezTo>
                    <a:cubicBezTo>
                      <a:pt x="61" y="24"/>
                      <a:pt x="61" y="24"/>
                      <a:pt x="61" y="24"/>
                    </a:cubicBezTo>
                    <a:cubicBezTo>
                      <a:pt x="4" y="163"/>
                      <a:pt x="4" y="163"/>
                      <a:pt x="4" y="163"/>
                    </a:cubicBezTo>
                    <a:cubicBezTo>
                      <a:pt x="4" y="163"/>
                      <a:pt x="4" y="164"/>
                      <a:pt x="4" y="165"/>
                    </a:cubicBezTo>
                    <a:cubicBezTo>
                      <a:pt x="4" y="165"/>
                      <a:pt x="4" y="165"/>
                      <a:pt x="4" y="165"/>
                    </a:cubicBezTo>
                    <a:cubicBezTo>
                      <a:pt x="1" y="165"/>
                      <a:pt x="0" y="167"/>
                      <a:pt x="2" y="168"/>
                    </a:cubicBezTo>
                    <a:cubicBezTo>
                      <a:pt x="2" y="168"/>
                      <a:pt x="18" y="184"/>
                      <a:pt x="20" y="186"/>
                    </a:cubicBezTo>
                    <a:cubicBezTo>
                      <a:pt x="20" y="186"/>
                      <a:pt x="25" y="191"/>
                      <a:pt x="65" y="191"/>
                    </a:cubicBezTo>
                    <a:cubicBezTo>
                      <a:pt x="104" y="191"/>
                      <a:pt x="109" y="186"/>
                      <a:pt x="109" y="186"/>
                    </a:cubicBezTo>
                    <a:cubicBezTo>
                      <a:pt x="111" y="184"/>
                      <a:pt x="127" y="168"/>
                      <a:pt x="127" y="168"/>
                    </a:cubicBezTo>
                    <a:cubicBezTo>
                      <a:pt x="129" y="167"/>
                      <a:pt x="128" y="165"/>
                      <a:pt x="125" y="165"/>
                    </a:cubicBezTo>
                    <a:close/>
                    <a:moveTo>
                      <a:pt x="71" y="165"/>
                    </a:moveTo>
                    <a:cubicBezTo>
                      <a:pt x="68" y="165"/>
                      <a:pt x="65" y="165"/>
                      <a:pt x="64" y="165"/>
                    </a:cubicBezTo>
                    <a:cubicBezTo>
                      <a:pt x="64" y="165"/>
                      <a:pt x="61" y="165"/>
                      <a:pt x="58" y="165"/>
                    </a:cubicBezTo>
                    <a:cubicBezTo>
                      <a:pt x="11" y="165"/>
                      <a:pt x="11" y="165"/>
                      <a:pt x="11" y="165"/>
                    </a:cubicBezTo>
                    <a:cubicBezTo>
                      <a:pt x="64" y="36"/>
                      <a:pt x="64" y="36"/>
                      <a:pt x="64" y="36"/>
                    </a:cubicBezTo>
                    <a:cubicBezTo>
                      <a:pt x="64" y="36"/>
                      <a:pt x="64" y="36"/>
                      <a:pt x="64" y="36"/>
                    </a:cubicBezTo>
                    <a:cubicBezTo>
                      <a:pt x="65" y="36"/>
                      <a:pt x="65" y="36"/>
                      <a:pt x="65" y="36"/>
                    </a:cubicBezTo>
                    <a:cubicBezTo>
                      <a:pt x="118" y="165"/>
                      <a:pt x="118" y="165"/>
                      <a:pt x="118" y="165"/>
                    </a:cubicBezTo>
                    <a:lnTo>
                      <a:pt x="71" y="165"/>
                    </a:ln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57" name="Freeform 88"/>
              <p:cNvSpPr>
                <a:spLocks noEditPoints="1"/>
              </p:cNvSpPr>
              <p:nvPr/>
            </p:nvSpPr>
            <p:spPr bwMode="auto">
              <a:xfrm>
                <a:off x="6073776" y="2906713"/>
                <a:ext cx="109538" cy="177800"/>
              </a:xfrm>
              <a:custGeom>
                <a:avLst/>
                <a:gdLst>
                  <a:gd name="T0" fmla="*/ 29 w 29"/>
                  <a:gd name="T1" fmla="*/ 0 h 47"/>
                  <a:gd name="T2" fmla="*/ 0 w 29"/>
                  <a:gd name="T3" fmla="*/ 0 h 47"/>
                  <a:gd name="T4" fmla="*/ 0 w 29"/>
                  <a:gd name="T5" fmla="*/ 47 h 47"/>
                  <a:gd name="T6" fmla="*/ 29 w 29"/>
                  <a:gd name="T7" fmla="*/ 47 h 47"/>
                  <a:gd name="T8" fmla="*/ 29 w 29"/>
                  <a:gd name="T9" fmla="*/ 0 h 47"/>
                  <a:gd name="T10" fmla="*/ 14 w 29"/>
                  <a:gd name="T11" fmla="*/ 28 h 47"/>
                  <a:gd name="T12" fmla="*/ 8 w 29"/>
                  <a:gd name="T13" fmla="*/ 21 h 47"/>
                  <a:gd name="T14" fmla="*/ 14 w 29"/>
                  <a:gd name="T15" fmla="*/ 14 h 47"/>
                  <a:gd name="T16" fmla="*/ 21 w 29"/>
                  <a:gd name="T17" fmla="*/ 21 h 47"/>
                  <a:gd name="T18" fmla="*/ 14 w 29"/>
                  <a:gd name="T19" fmla="*/ 28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47">
                    <a:moveTo>
                      <a:pt x="29" y="0"/>
                    </a:moveTo>
                    <a:cubicBezTo>
                      <a:pt x="0" y="0"/>
                      <a:pt x="0" y="0"/>
                      <a:pt x="0" y="0"/>
                    </a:cubicBezTo>
                    <a:cubicBezTo>
                      <a:pt x="0" y="47"/>
                      <a:pt x="0" y="47"/>
                      <a:pt x="0" y="47"/>
                    </a:cubicBezTo>
                    <a:cubicBezTo>
                      <a:pt x="29" y="47"/>
                      <a:pt x="29" y="47"/>
                      <a:pt x="29" y="47"/>
                    </a:cubicBezTo>
                    <a:lnTo>
                      <a:pt x="29" y="0"/>
                    </a:lnTo>
                    <a:close/>
                    <a:moveTo>
                      <a:pt x="14" y="28"/>
                    </a:moveTo>
                    <a:cubicBezTo>
                      <a:pt x="11" y="28"/>
                      <a:pt x="8" y="25"/>
                      <a:pt x="8" y="21"/>
                    </a:cubicBezTo>
                    <a:cubicBezTo>
                      <a:pt x="8" y="17"/>
                      <a:pt x="11" y="14"/>
                      <a:pt x="14" y="14"/>
                    </a:cubicBezTo>
                    <a:cubicBezTo>
                      <a:pt x="18" y="14"/>
                      <a:pt x="21" y="17"/>
                      <a:pt x="21" y="21"/>
                    </a:cubicBezTo>
                    <a:cubicBezTo>
                      <a:pt x="21" y="25"/>
                      <a:pt x="18" y="28"/>
                      <a:pt x="14" y="28"/>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58" name="Freeform 89"/>
              <p:cNvSpPr/>
              <p:nvPr/>
            </p:nvSpPr>
            <p:spPr bwMode="auto">
              <a:xfrm>
                <a:off x="5959476" y="3917951"/>
                <a:ext cx="336550" cy="101600"/>
              </a:xfrm>
              <a:custGeom>
                <a:avLst/>
                <a:gdLst>
                  <a:gd name="T0" fmla="*/ 0 w 89"/>
                  <a:gd name="T1" fmla="*/ 27 h 27"/>
                  <a:gd name="T2" fmla="*/ 89 w 89"/>
                  <a:gd name="T3" fmla="*/ 27 h 27"/>
                  <a:gd name="T4" fmla="*/ 89 w 89"/>
                  <a:gd name="T5" fmla="*/ 19 h 27"/>
                  <a:gd name="T6" fmla="*/ 58 w 89"/>
                  <a:gd name="T7" fmla="*/ 0 h 27"/>
                  <a:gd name="T8" fmla="*/ 31 w 89"/>
                  <a:gd name="T9" fmla="*/ 0 h 27"/>
                  <a:gd name="T10" fmla="*/ 0 w 89"/>
                  <a:gd name="T11" fmla="*/ 19 h 27"/>
                  <a:gd name="T12" fmla="*/ 0 w 89"/>
                  <a:gd name="T13" fmla="*/ 27 h 27"/>
                </a:gdLst>
                <a:ahLst/>
                <a:cxnLst>
                  <a:cxn ang="0">
                    <a:pos x="T0" y="T1"/>
                  </a:cxn>
                  <a:cxn ang="0">
                    <a:pos x="T2" y="T3"/>
                  </a:cxn>
                  <a:cxn ang="0">
                    <a:pos x="T4" y="T5"/>
                  </a:cxn>
                  <a:cxn ang="0">
                    <a:pos x="T6" y="T7"/>
                  </a:cxn>
                  <a:cxn ang="0">
                    <a:pos x="T8" y="T9"/>
                  </a:cxn>
                  <a:cxn ang="0">
                    <a:pos x="T10" y="T11"/>
                  </a:cxn>
                  <a:cxn ang="0">
                    <a:pos x="T12" y="T13"/>
                  </a:cxn>
                </a:cxnLst>
                <a:rect l="0" t="0" r="r" b="b"/>
                <a:pathLst>
                  <a:path w="89" h="27">
                    <a:moveTo>
                      <a:pt x="0" y="27"/>
                    </a:moveTo>
                    <a:cubicBezTo>
                      <a:pt x="89" y="27"/>
                      <a:pt x="89" y="27"/>
                      <a:pt x="89" y="27"/>
                    </a:cubicBezTo>
                    <a:cubicBezTo>
                      <a:pt x="89" y="19"/>
                      <a:pt x="89" y="19"/>
                      <a:pt x="89" y="19"/>
                    </a:cubicBezTo>
                    <a:cubicBezTo>
                      <a:pt x="89" y="19"/>
                      <a:pt x="73" y="12"/>
                      <a:pt x="58" y="0"/>
                    </a:cubicBezTo>
                    <a:cubicBezTo>
                      <a:pt x="31" y="0"/>
                      <a:pt x="31" y="0"/>
                      <a:pt x="31" y="0"/>
                    </a:cubicBezTo>
                    <a:cubicBezTo>
                      <a:pt x="16" y="12"/>
                      <a:pt x="0" y="19"/>
                      <a:pt x="0" y="19"/>
                    </a:cubicBezTo>
                    <a:lnTo>
                      <a:pt x="0" y="27"/>
                    </a:ln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59" name="Freeform 90"/>
              <p:cNvSpPr/>
              <p:nvPr/>
            </p:nvSpPr>
            <p:spPr bwMode="auto">
              <a:xfrm>
                <a:off x="6076951" y="3508376"/>
                <a:ext cx="101599" cy="390526"/>
              </a:xfrm>
              <a:custGeom>
                <a:avLst/>
                <a:gdLst>
                  <a:gd name="T0" fmla="*/ 0 w 27"/>
                  <a:gd name="T1" fmla="*/ 9 h 103"/>
                  <a:gd name="T2" fmla="*/ 0 w 27"/>
                  <a:gd name="T3" fmla="*/ 11 h 103"/>
                  <a:gd name="T4" fmla="*/ 0 w 27"/>
                  <a:gd name="T5" fmla="*/ 11 h 103"/>
                  <a:gd name="T6" fmla="*/ 2 w 27"/>
                  <a:gd name="T7" fmla="*/ 103 h 103"/>
                  <a:gd name="T8" fmla="*/ 25 w 27"/>
                  <a:gd name="T9" fmla="*/ 103 h 103"/>
                  <a:gd name="T10" fmla="*/ 27 w 27"/>
                  <a:gd name="T11" fmla="*/ 11 h 103"/>
                  <a:gd name="T12" fmla="*/ 27 w 27"/>
                  <a:gd name="T13" fmla="*/ 11 h 103"/>
                  <a:gd name="T14" fmla="*/ 27 w 27"/>
                  <a:gd name="T15" fmla="*/ 9 h 103"/>
                  <a:gd name="T16" fmla="*/ 24 w 27"/>
                  <a:gd name="T17" fmla="*/ 0 h 103"/>
                  <a:gd name="T18" fmla="*/ 3 w 27"/>
                  <a:gd name="T19" fmla="*/ 0 h 103"/>
                  <a:gd name="T20" fmla="*/ 0 w 27"/>
                  <a:gd name="T21" fmla="*/ 9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103">
                    <a:moveTo>
                      <a:pt x="0" y="9"/>
                    </a:moveTo>
                    <a:cubicBezTo>
                      <a:pt x="0" y="11"/>
                      <a:pt x="0" y="11"/>
                      <a:pt x="0" y="11"/>
                    </a:cubicBezTo>
                    <a:cubicBezTo>
                      <a:pt x="0" y="11"/>
                      <a:pt x="0" y="11"/>
                      <a:pt x="0" y="11"/>
                    </a:cubicBezTo>
                    <a:cubicBezTo>
                      <a:pt x="2" y="103"/>
                      <a:pt x="2" y="103"/>
                      <a:pt x="2" y="103"/>
                    </a:cubicBezTo>
                    <a:cubicBezTo>
                      <a:pt x="25" y="103"/>
                      <a:pt x="25" y="103"/>
                      <a:pt x="25" y="103"/>
                    </a:cubicBezTo>
                    <a:cubicBezTo>
                      <a:pt x="27" y="11"/>
                      <a:pt x="27" y="11"/>
                      <a:pt x="27" y="11"/>
                    </a:cubicBezTo>
                    <a:cubicBezTo>
                      <a:pt x="27" y="11"/>
                      <a:pt x="27" y="11"/>
                      <a:pt x="27" y="11"/>
                    </a:cubicBezTo>
                    <a:cubicBezTo>
                      <a:pt x="27" y="9"/>
                      <a:pt x="27" y="9"/>
                      <a:pt x="27" y="9"/>
                    </a:cubicBezTo>
                    <a:cubicBezTo>
                      <a:pt x="27" y="9"/>
                      <a:pt x="27" y="5"/>
                      <a:pt x="24" y="0"/>
                    </a:cubicBezTo>
                    <a:cubicBezTo>
                      <a:pt x="3" y="0"/>
                      <a:pt x="3" y="0"/>
                      <a:pt x="3" y="0"/>
                    </a:cubicBezTo>
                    <a:cubicBezTo>
                      <a:pt x="0" y="5"/>
                      <a:pt x="0" y="9"/>
                      <a:pt x="0" y="9"/>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60" name="Freeform 91"/>
              <p:cNvSpPr/>
              <p:nvPr/>
            </p:nvSpPr>
            <p:spPr bwMode="auto">
              <a:xfrm>
                <a:off x="6076951" y="2767013"/>
                <a:ext cx="98425" cy="120650"/>
              </a:xfrm>
              <a:custGeom>
                <a:avLst/>
                <a:gdLst>
                  <a:gd name="T0" fmla="*/ 5 w 26"/>
                  <a:gd name="T1" fmla="*/ 32 h 32"/>
                  <a:gd name="T2" fmla="*/ 12 w 26"/>
                  <a:gd name="T3" fmla="*/ 32 h 32"/>
                  <a:gd name="T4" fmla="*/ 13 w 26"/>
                  <a:gd name="T5" fmla="*/ 32 h 32"/>
                  <a:gd name="T6" fmla="*/ 21 w 26"/>
                  <a:gd name="T7" fmla="*/ 32 h 32"/>
                  <a:gd name="T8" fmla="*/ 26 w 26"/>
                  <a:gd name="T9" fmla="*/ 10 h 32"/>
                  <a:gd name="T10" fmla="*/ 26 w 26"/>
                  <a:gd name="T11" fmla="*/ 4 h 32"/>
                  <a:gd name="T12" fmla="*/ 26 w 26"/>
                  <a:gd name="T13" fmla="*/ 4 h 32"/>
                  <a:gd name="T14" fmla="*/ 19 w 26"/>
                  <a:gd name="T15" fmla="*/ 0 h 32"/>
                  <a:gd name="T16" fmla="*/ 13 w 26"/>
                  <a:gd name="T17" fmla="*/ 0 h 32"/>
                  <a:gd name="T18" fmla="*/ 12 w 26"/>
                  <a:gd name="T19" fmla="*/ 0 h 32"/>
                  <a:gd name="T20" fmla="*/ 7 w 26"/>
                  <a:gd name="T21" fmla="*/ 0 h 32"/>
                  <a:gd name="T22" fmla="*/ 0 w 26"/>
                  <a:gd name="T23" fmla="*/ 4 h 32"/>
                  <a:gd name="T24" fmla="*/ 0 w 26"/>
                  <a:gd name="T25" fmla="*/ 4 h 32"/>
                  <a:gd name="T26" fmla="*/ 0 w 26"/>
                  <a:gd name="T27" fmla="*/ 10 h 32"/>
                  <a:gd name="T28" fmla="*/ 5 w 26"/>
                  <a:gd name="T29"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 h="32">
                    <a:moveTo>
                      <a:pt x="5" y="32"/>
                    </a:moveTo>
                    <a:cubicBezTo>
                      <a:pt x="12" y="32"/>
                      <a:pt x="12" y="32"/>
                      <a:pt x="12" y="32"/>
                    </a:cubicBezTo>
                    <a:cubicBezTo>
                      <a:pt x="13" y="32"/>
                      <a:pt x="13" y="32"/>
                      <a:pt x="13" y="32"/>
                    </a:cubicBezTo>
                    <a:cubicBezTo>
                      <a:pt x="21" y="32"/>
                      <a:pt x="21" y="32"/>
                      <a:pt x="21" y="32"/>
                    </a:cubicBezTo>
                    <a:cubicBezTo>
                      <a:pt x="21" y="13"/>
                      <a:pt x="26" y="10"/>
                      <a:pt x="26" y="10"/>
                    </a:cubicBezTo>
                    <a:cubicBezTo>
                      <a:pt x="26" y="4"/>
                      <a:pt x="26" y="4"/>
                      <a:pt x="26" y="4"/>
                    </a:cubicBezTo>
                    <a:cubicBezTo>
                      <a:pt x="26" y="4"/>
                      <a:pt x="26" y="4"/>
                      <a:pt x="26" y="4"/>
                    </a:cubicBezTo>
                    <a:cubicBezTo>
                      <a:pt x="19" y="0"/>
                      <a:pt x="19" y="0"/>
                      <a:pt x="19" y="0"/>
                    </a:cubicBezTo>
                    <a:cubicBezTo>
                      <a:pt x="13" y="0"/>
                      <a:pt x="13" y="0"/>
                      <a:pt x="13" y="0"/>
                    </a:cubicBezTo>
                    <a:cubicBezTo>
                      <a:pt x="12" y="0"/>
                      <a:pt x="12" y="0"/>
                      <a:pt x="12" y="0"/>
                    </a:cubicBezTo>
                    <a:cubicBezTo>
                      <a:pt x="7" y="0"/>
                      <a:pt x="7" y="0"/>
                      <a:pt x="7" y="0"/>
                    </a:cubicBezTo>
                    <a:cubicBezTo>
                      <a:pt x="0" y="4"/>
                      <a:pt x="0" y="4"/>
                      <a:pt x="0" y="4"/>
                    </a:cubicBezTo>
                    <a:cubicBezTo>
                      <a:pt x="0" y="4"/>
                      <a:pt x="0" y="4"/>
                      <a:pt x="0" y="4"/>
                    </a:cubicBezTo>
                    <a:cubicBezTo>
                      <a:pt x="0" y="10"/>
                      <a:pt x="0" y="10"/>
                      <a:pt x="0" y="10"/>
                    </a:cubicBezTo>
                    <a:cubicBezTo>
                      <a:pt x="0" y="10"/>
                      <a:pt x="5" y="13"/>
                      <a:pt x="5" y="32"/>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61" name="Freeform 92"/>
              <p:cNvSpPr/>
              <p:nvPr/>
            </p:nvSpPr>
            <p:spPr bwMode="auto">
              <a:xfrm>
                <a:off x="6556376" y="3538538"/>
                <a:ext cx="142875" cy="30163"/>
              </a:xfrm>
              <a:custGeom>
                <a:avLst/>
                <a:gdLst>
                  <a:gd name="T0" fmla="*/ 35 w 38"/>
                  <a:gd name="T1" fmla="*/ 8 h 8"/>
                  <a:gd name="T2" fmla="*/ 38 w 38"/>
                  <a:gd name="T3" fmla="*/ 4 h 8"/>
                  <a:gd name="T4" fmla="*/ 35 w 38"/>
                  <a:gd name="T5" fmla="*/ 0 h 8"/>
                  <a:gd name="T6" fmla="*/ 4 w 38"/>
                  <a:gd name="T7" fmla="*/ 0 h 8"/>
                  <a:gd name="T8" fmla="*/ 0 w 38"/>
                  <a:gd name="T9" fmla="*/ 4 h 8"/>
                  <a:gd name="T10" fmla="*/ 4 w 38"/>
                  <a:gd name="T11" fmla="*/ 8 h 8"/>
                  <a:gd name="T12" fmla="*/ 35 w 38"/>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38" h="8">
                    <a:moveTo>
                      <a:pt x="35" y="8"/>
                    </a:moveTo>
                    <a:cubicBezTo>
                      <a:pt x="36" y="8"/>
                      <a:pt x="38" y="6"/>
                      <a:pt x="38" y="4"/>
                    </a:cubicBezTo>
                    <a:cubicBezTo>
                      <a:pt x="38" y="2"/>
                      <a:pt x="36" y="0"/>
                      <a:pt x="35" y="0"/>
                    </a:cubicBezTo>
                    <a:cubicBezTo>
                      <a:pt x="4" y="0"/>
                      <a:pt x="4" y="0"/>
                      <a:pt x="4" y="0"/>
                    </a:cubicBezTo>
                    <a:cubicBezTo>
                      <a:pt x="2" y="0"/>
                      <a:pt x="0" y="2"/>
                      <a:pt x="0" y="4"/>
                    </a:cubicBezTo>
                    <a:cubicBezTo>
                      <a:pt x="0" y="6"/>
                      <a:pt x="2" y="8"/>
                      <a:pt x="4" y="8"/>
                    </a:cubicBezTo>
                    <a:lnTo>
                      <a:pt x="35" y="8"/>
                    </a:ln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62" name="Freeform 93"/>
              <p:cNvSpPr/>
              <p:nvPr/>
            </p:nvSpPr>
            <p:spPr bwMode="auto">
              <a:xfrm>
                <a:off x="6503988" y="3417888"/>
                <a:ext cx="260350" cy="106363"/>
              </a:xfrm>
              <a:custGeom>
                <a:avLst/>
                <a:gdLst>
                  <a:gd name="T0" fmla="*/ 40 w 69"/>
                  <a:gd name="T1" fmla="*/ 18 h 28"/>
                  <a:gd name="T2" fmla="*/ 44 w 69"/>
                  <a:gd name="T3" fmla="*/ 3 h 28"/>
                  <a:gd name="T4" fmla="*/ 33 w 69"/>
                  <a:gd name="T5" fmla="*/ 0 h 28"/>
                  <a:gd name="T6" fmla="*/ 23 w 69"/>
                  <a:gd name="T7" fmla="*/ 3 h 28"/>
                  <a:gd name="T8" fmla="*/ 27 w 69"/>
                  <a:gd name="T9" fmla="*/ 18 h 28"/>
                  <a:gd name="T10" fmla="*/ 18 w 69"/>
                  <a:gd name="T11" fmla="*/ 5 h 28"/>
                  <a:gd name="T12" fmla="*/ 7 w 69"/>
                  <a:gd name="T13" fmla="*/ 7 h 28"/>
                  <a:gd name="T14" fmla="*/ 16 w 69"/>
                  <a:gd name="T15" fmla="*/ 28 h 28"/>
                  <a:gd name="T16" fmla="*/ 33 w 69"/>
                  <a:gd name="T17" fmla="*/ 28 h 28"/>
                  <a:gd name="T18" fmla="*/ 34 w 69"/>
                  <a:gd name="T19" fmla="*/ 28 h 28"/>
                  <a:gd name="T20" fmla="*/ 51 w 69"/>
                  <a:gd name="T21" fmla="*/ 28 h 28"/>
                  <a:gd name="T22" fmla="*/ 59 w 69"/>
                  <a:gd name="T23" fmla="*/ 7 h 28"/>
                  <a:gd name="T24" fmla="*/ 49 w 69"/>
                  <a:gd name="T25" fmla="*/ 5 h 28"/>
                  <a:gd name="T26" fmla="*/ 40 w 69"/>
                  <a:gd name="T27" fmla="*/ 1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9" h="28">
                    <a:moveTo>
                      <a:pt x="40" y="18"/>
                    </a:moveTo>
                    <a:cubicBezTo>
                      <a:pt x="40" y="15"/>
                      <a:pt x="46" y="6"/>
                      <a:pt x="44" y="3"/>
                    </a:cubicBezTo>
                    <a:cubicBezTo>
                      <a:pt x="42" y="0"/>
                      <a:pt x="35" y="0"/>
                      <a:pt x="33" y="0"/>
                    </a:cubicBezTo>
                    <a:cubicBezTo>
                      <a:pt x="32" y="0"/>
                      <a:pt x="24" y="0"/>
                      <a:pt x="23" y="3"/>
                    </a:cubicBezTo>
                    <a:cubicBezTo>
                      <a:pt x="21" y="6"/>
                      <a:pt x="27" y="15"/>
                      <a:pt x="27" y="18"/>
                    </a:cubicBezTo>
                    <a:cubicBezTo>
                      <a:pt x="22" y="17"/>
                      <a:pt x="20" y="7"/>
                      <a:pt x="18" y="5"/>
                    </a:cubicBezTo>
                    <a:cubicBezTo>
                      <a:pt x="16" y="3"/>
                      <a:pt x="10" y="5"/>
                      <a:pt x="7" y="7"/>
                    </a:cubicBezTo>
                    <a:cubicBezTo>
                      <a:pt x="0" y="16"/>
                      <a:pt x="11" y="10"/>
                      <a:pt x="16" y="28"/>
                    </a:cubicBezTo>
                    <a:cubicBezTo>
                      <a:pt x="33" y="28"/>
                      <a:pt x="33" y="28"/>
                      <a:pt x="33" y="28"/>
                    </a:cubicBezTo>
                    <a:cubicBezTo>
                      <a:pt x="34" y="28"/>
                      <a:pt x="34" y="28"/>
                      <a:pt x="34" y="28"/>
                    </a:cubicBezTo>
                    <a:cubicBezTo>
                      <a:pt x="51" y="28"/>
                      <a:pt x="51" y="28"/>
                      <a:pt x="51" y="28"/>
                    </a:cubicBezTo>
                    <a:cubicBezTo>
                      <a:pt x="56" y="10"/>
                      <a:pt x="69" y="12"/>
                      <a:pt x="59" y="7"/>
                    </a:cubicBezTo>
                    <a:cubicBezTo>
                      <a:pt x="57" y="6"/>
                      <a:pt x="51" y="3"/>
                      <a:pt x="49" y="5"/>
                    </a:cubicBezTo>
                    <a:cubicBezTo>
                      <a:pt x="47" y="7"/>
                      <a:pt x="45" y="17"/>
                      <a:pt x="40" y="18"/>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63" name="Freeform 94"/>
              <p:cNvSpPr>
                <a:spLocks noEditPoints="1"/>
              </p:cNvSpPr>
              <p:nvPr/>
            </p:nvSpPr>
            <p:spPr bwMode="auto">
              <a:xfrm>
                <a:off x="6432551" y="3579814"/>
                <a:ext cx="395288" cy="250824"/>
              </a:xfrm>
              <a:custGeom>
                <a:avLst/>
                <a:gdLst>
                  <a:gd name="T0" fmla="*/ 0 w 105"/>
                  <a:gd name="T1" fmla="*/ 66 h 66"/>
                  <a:gd name="T2" fmla="*/ 44 w 105"/>
                  <a:gd name="T3" fmla="*/ 66 h 66"/>
                  <a:gd name="T4" fmla="*/ 52 w 105"/>
                  <a:gd name="T5" fmla="*/ 66 h 66"/>
                  <a:gd name="T6" fmla="*/ 60 w 105"/>
                  <a:gd name="T7" fmla="*/ 66 h 66"/>
                  <a:gd name="T8" fmla="*/ 104 w 105"/>
                  <a:gd name="T9" fmla="*/ 66 h 66"/>
                  <a:gd name="T10" fmla="*/ 104 w 105"/>
                  <a:gd name="T11" fmla="*/ 62 h 66"/>
                  <a:gd name="T12" fmla="*/ 70 w 105"/>
                  <a:gd name="T13" fmla="*/ 0 h 66"/>
                  <a:gd name="T14" fmla="*/ 53 w 105"/>
                  <a:gd name="T15" fmla="*/ 0 h 66"/>
                  <a:gd name="T16" fmla="*/ 51 w 105"/>
                  <a:gd name="T17" fmla="*/ 0 h 66"/>
                  <a:gd name="T18" fmla="*/ 34 w 105"/>
                  <a:gd name="T19" fmla="*/ 0 h 66"/>
                  <a:gd name="T20" fmla="*/ 0 w 105"/>
                  <a:gd name="T21" fmla="*/ 62 h 66"/>
                  <a:gd name="T22" fmla="*/ 0 w 105"/>
                  <a:gd name="T23" fmla="*/ 66 h 66"/>
                  <a:gd name="T24" fmla="*/ 60 w 105"/>
                  <a:gd name="T25" fmla="*/ 44 h 66"/>
                  <a:gd name="T26" fmla="*/ 56 w 105"/>
                  <a:gd name="T27" fmla="*/ 41 h 66"/>
                  <a:gd name="T28" fmla="*/ 54 w 105"/>
                  <a:gd name="T29" fmla="*/ 41 h 66"/>
                  <a:gd name="T30" fmla="*/ 40 w 105"/>
                  <a:gd name="T31" fmla="*/ 35 h 66"/>
                  <a:gd name="T32" fmla="*/ 35 w 105"/>
                  <a:gd name="T33" fmla="*/ 30 h 66"/>
                  <a:gd name="T34" fmla="*/ 38 w 105"/>
                  <a:gd name="T35" fmla="*/ 17 h 66"/>
                  <a:gd name="T36" fmla="*/ 47 w 105"/>
                  <a:gd name="T37" fmla="*/ 13 h 66"/>
                  <a:gd name="T38" fmla="*/ 47 w 105"/>
                  <a:gd name="T39" fmla="*/ 9 h 66"/>
                  <a:gd name="T40" fmla="*/ 49 w 105"/>
                  <a:gd name="T41" fmla="*/ 8 h 66"/>
                  <a:gd name="T42" fmla="*/ 54 w 105"/>
                  <a:gd name="T43" fmla="*/ 8 h 66"/>
                  <a:gd name="T44" fmla="*/ 55 w 105"/>
                  <a:gd name="T45" fmla="*/ 9 h 66"/>
                  <a:gd name="T46" fmla="*/ 55 w 105"/>
                  <a:gd name="T47" fmla="*/ 13 h 66"/>
                  <a:gd name="T48" fmla="*/ 58 w 105"/>
                  <a:gd name="T49" fmla="*/ 13 h 66"/>
                  <a:gd name="T50" fmla="*/ 69 w 105"/>
                  <a:gd name="T51" fmla="*/ 19 h 66"/>
                  <a:gd name="T52" fmla="*/ 68 w 105"/>
                  <a:gd name="T53" fmla="*/ 22 h 66"/>
                  <a:gd name="T54" fmla="*/ 64 w 105"/>
                  <a:gd name="T55" fmla="*/ 25 h 66"/>
                  <a:gd name="T56" fmla="*/ 61 w 105"/>
                  <a:gd name="T57" fmla="*/ 24 h 66"/>
                  <a:gd name="T58" fmla="*/ 61 w 105"/>
                  <a:gd name="T59" fmla="*/ 23 h 66"/>
                  <a:gd name="T60" fmla="*/ 61 w 105"/>
                  <a:gd name="T61" fmla="*/ 23 h 66"/>
                  <a:gd name="T62" fmla="*/ 60 w 105"/>
                  <a:gd name="T63" fmla="*/ 23 h 66"/>
                  <a:gd name="T64" fmla="*/ 56 w 105"/>
                  <a:gd name="T65" fmla="*/ 20 h 66"/>
                  <a:gd name="T66" fmla="*/ 51 w 105"/>
                  <a:gd name="T67" fmla="*/ 20 h 66"/>
                  <a:gd name="T68" fmla="*/ 45 w 105"/>
                  <a:gd name="T69" fmla="*/ 22 h 66"/>
                  <a:gd name="T70" fmla="*/ 44 w 105"/>
                  <a:gd name="T71" fmla="*/ 27 h 66"/>
                  <a:gd name="T72" fmla="*/ 48 w 105"/>
                  <a:gd name="T73" fmla="*/ 30 h 66"/>
                  <a:gd name="T74" fmla="*/ 48 w 105"/>
                  <a:gd name="T75" fmla="*/ 30 h 66"/>
                  <a:gd name="T76" fmla="*/ 54 w 105"/>
                  <a:gd name="T77" fmla="*/ 32 h 66"/>
                  <a:gd name="T78" fmla="*/ 55 w 105"/>
                  <a:gd name="T79" fmla="*/ 32 h 66"/>
                  <a:gd name="T80" fmla="*/ 70 w 105"/>
                  <a:gd name="T81" fmla="*/ 42 h 66"/>
                  <a:gd name="T82" fmla="*/ 66 w 105"/>
                  <a:gd name="T83" fmla="*/ 54 h 66"/>
                  <a:gd name="T84" fmla="*/ 55 w 105"/>
                  <a:gd name="T85" fmla="*/ 58 h 66"/>
                  <a:gd name="T86" fmla="*/ 55 w 105"/>
                  <a:gd name="T87" fmla="*/ 62 h 66"/>
                  <a:gd name="T88" fmla="*/ 54 w 105"/>
                  <a:gd name="T89" fmla="*/ 63 h 66"/>
                  <a:gd name="T90" fmla="*/ 49 w 105"/>
                  <a:gd name="T91" fmla="*/ 63 h 66"/>
                  <a:gd name="T92" fmla="*/ 47 w 105"/>
                  <a:gd name="T93" fmla="*/ 62 h 66"/>
                  <a:gd name="T94" fmla="*/ 47 w 105"/>
                  <a:gd name="T95" fmla="*/ 57 h 66"/>
                  <a:gd name="T96" fmla="*/ 33 w 105"/>
                  <a:gd name="T97" fmla="*/ 51 h 66"/>
                  <a:gd name="T98" fmla="*/ 33 w 105"/>
                  <a:gd name="T99" fmla="*/ 48 h 66"/>
                  <a:gd name="T100" fmla="*/ 38 w 105"/>
                  <a:gd name="T101" fmla="*/ 45 h 66"/>
                  <a:gd name="T102" fmla="*/ 41 w 105"/>
                  <a:gd name="T103" fmla="*/ 46 h 66"/>
                  <a:gd name="T104" fmla="*/ 41 w 105"/>
                  <a:gd name="T105" fmla="*/ 47 h 66"/>
                  <a:gd name="T106" fmla="*/ 41 w 105"/>
                  <a:gd name="T107" fmla="*/ 47 h 66"/>
                  <a:gd name="T108" fmla="*/ 41 w 105"/>
                  <a:gd name="T109" fmla="*/ 47 h 66"/>
                  <a:gd name="T110" fmla="*/ 42 w 105"/>
                  <a:gd name="T111" fmla="*/ 47 h 66"/>
                  <a:gd name="T112" fmla="*/ 46 w 105"/>
                  <a:gd name="T113" fmla="*/ 49 h 66"/>
                  <a:gd name="T114" fmla="*/ 53 w 105"/>
                  <a:gd name="T115" fmla="*/ 51 h 66"/>
                  <a:gd name="T116" fmla="*/ 59 w 105"/>
                  <a:gd name="T117" fmla="*/ 49 h 66"/>
                  <a:gd name="T118" fmla="*/ 60 w 105"/>
                  <a:gd name="T119" fmla="*/ 4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5" h="66">
                    <a:moveTo>
                      <a:pt x="0" y="66"/>
                    </a:moveTo>
                    <a:cubicBezTo>
                      <a:pt x="44" y="66"/>
                      <a:pt x="44" y="66"/>
                      <a:pt x="44" y="66"/>
                    </a:cubicBezTo>
                    <a:cubicBezTo>
                      <a:pt x="48" y="66"/>
                      <a:pt x="51" y="66"/>
                      <a:pt x="52" y="66"/>
                    </a:cubicBezTo>
                    <a:cubicBezTo>
                      <a:pt x="53" y="66"/>
                      <a:pt x="57" y="66"/>
                      <a:pt x="60" y="66"/>
                    </a:cubicBezTo>
                    <a:cubicBezTo>
                      <a:pt x="104" y="66"/>
                      <a:pt x="104" y="66"/>
                      <a:pt x="104" y="66"/>
                    </a:cubicBezTo>
                    <a:cubicBezTo>
                      <a:pt x="104" y="65"/>
                      <a:pt x="104" y="63"/>
                      <a:pt x="104" y="62"/>
                    </a:cubicBezTo>
                    <a:cubicBezTo>
                      <a:pt x="105" y="27"/>
                      <a:pt x="75" y="12"/>
                      <a:pt x="70" y="0"/>
                    </a:cubicBezTo>
                    <a:cubicBezTo>
                      <a:pt x="53" y="0"/>
                      <a:pt x="53" y="0"/>
                      <a:pt x="53" y="0"/>
                    </a:cubicBezTo>
                    <a:cubicBezTo>
                      <a:pt x="51" y="0"/>
                      <a:pt x="51" y="0"/>
                      <a:pt x="51" y="0"/>
                    </a:cubicBezTo>
                    <a:cubicBezTo>
                      <a:pt x="34" y="0"/>
                      <a:pt x="34" y="0"/>
                      <a:pt x="34" y="0"/>
                    </a:cubicBezTo>
                    <a:cubicBezTo>
                      <a:pt x="29" y="12"/>
                      <a:pt x="0" y="27"/>
                      <a:pt x="0" y="62"/>
                    </a:cubicBezTo>
                    <a:cubicBezTo>
                      <a:pt x="0" y="63"/>
                      <a:pt x="0" y="65"/>
                      <a:pt x="0" y="66"/>
                    </a:cubicBezTo>
                    <a:close/>
                    <a:moveTo>
                      <a:pt x="60" y="44"/>
                    </a:moveTo>
                    <a:cubicBezTo>
                      <a:pt x="59" y="43"/>
                      <a:pt x="58" y="42"/>
                      <a:pt x="56" y="41"/>
                    </a:cubicBezTo>
                    <a:cubicBezTo>
                      <a:pt x="54" y="41"/>
                      <a:pt x="54" y="41"/>
                      <a:pt x="54" y="41"/>
                    </a:cubicBezTo>
                    <a:cubicBezTo>
                      <a:pt x="50" y="39"/>
                      <a:pt x="42" y="36"/>
                      <a:pt x="40" y="35"/>
                    </a:cubicBezTo>
                    <a:cubicBezTo>
                      <a:pt x="38" y="34"/>
                      <a:pt x="36" y="32"/>
                      <a:pt x="35" y="30"/>
                    </a:cubicBezTo>
                    <a:cubicBezTo>
                      <a:pt x="32" y="26"/>
                      <a:pt x="33" y="20"/>
                      <a:pt x="38" y="17"/>
                    </a:cubicBezTo>
                    <a:cubicBezTo>
                      <a:pt x="40" y="15"/>
                      <a:pt x="43" y="13"/>
                      <a:pt x="47" y="13"/>
                    </a:cubicBezTo>
                    <a:cubicBezTo>
                      <a:pt x="47" y="9"/>
                      <a:pt x="47" y="9"/>
                      <a:pt x="47" y="9"/>
                    </a:cubicBezTo>
                    <a:cubicBezTo>
                      <a:pt x="47" y="8"/>
                      <a:pt x="48" y="8"/>
                      <a:pt x="49" y="8"/>
                    </a:cubicBezTo>
                    <a:cubicBezTo>
                      <a:pt x="54" y="8"/>
                      <a:pt x="54" y="8"/>
                      <a:pt x="54" y="8"/>
                    </a:cubicBezTo>
                    <a:cubicBezTo>
                      <a:pt x="54" y="8"/>
                      <a:pt x="55" y="8"/>
                      <a:pt x="55" y="9"/>
                    </a:cubicBezTo>
                    <a:cubicBezTo>
                      <a:pt x="55" y="13"/>
                      <a:pt x="55" y="13"/>
                      <a:pt x="55" y="13"/>
                    </a:cubicBezTo>
                    <a:cubicBezTo>
                      <a:pt x="56" y="13"/>
                      <a:pt x="57" y="13"/>
                      <a:pt x="58" y="13"/>
                    </a:cubicBezTo>
                    <a:cubicBezTo>
                      <a:pt x="62" y="14"/>
                      <a:pt x="66" y="16"/>
                      <a:pt x="69" y="19"/>
                    </a:cubicBezTo>
                    <a:cubicBezTo>
                      <a:pt x="69" y="20"/>
                      <a:pt x="69" y="21"/>
                      <a:pt x="68" y="22"/>
                    </a:cubicBezTo>
                    <a:cubicBezTo>
                      <a:pt x="68" y="24"/>
                      <a:pt x="66" y="25"/>
                      <a:pt x="64" y="25"/>
                    </a:cubicBezTo>
                    <a:cubicBezTo>
                      <a:pt x="63" y="25"/>
                      <a:pt x="62" y="25"/>
                      <a:pt x="61" y="24"/>
                    </a:cubicBezTo>
                    <a:cubicBezTo>
                      <a:pt x="61" y="24"/>
                      <a:pt x="61" y="24"/>
                      <a:pt x="61" y="23"/>
                    </a:cubicBezTo>
                    <a:cubicBezTo>
                      <a:pt x="61" y="23"/>
                      <a:pt x="61" y="23"/>
                      <a:pt x="61" y="23"/>
                    </a:cubicBezTo>
                    <a:cubicBezTo>
                      <a:pt x="61" y="23"/>
                      <a:pt x="60" y="23"/>
                      <a:pt x="60" y="23"/>
                    </a:cubicBezTo>
                    <a:cubicBezTo>
                      <a:pt x="59" y="22"/>
                      <a:pt x="57" y="21"/>
                      <a:pt x="56" y="20"/>
                    </a:cubicBezTo>
                    <a:cubicBezTo>
                      <a:pt x="54" y="20"/>
                      <a:pt x="53" y="20"/>
                      <a:pt x="51" y="20"/>
                    </a:cubicBezTo>
                    <a:cubicBezTo>
                      <a:pt x="49" y="20"/>
                      <a:pt x="47" y="20"/>
                      <a:pt x="45" y="22"/>
                    </a:cubicBezTo>
                    <a:cubicBezTo>
                      <a:pt x="43" y="23"/>
                      <a:pt x="43" y="25"/>
                      <a:pt x="44" y="27"/>
                    </a:cubicBezTo>
                    <a:cubicBezTo>
                      <a:pt x="45" y="28"/>
                      <a:pt x="46" y="29"/>
                      <a:pt x="48" y="30"/>
                    </a:cubicBezTo>
                    <a:cubicBezTo>
                      <a:pt x="48" y="30"/>
                      <a:pt x="48" y="30"/>
                      <a:pt x="48" y="30"/>
                    </a:cubicBezTo>
                    <a:cubicBezTo>
                      <a:pt x="49" y="30"/>
                      <a:pt x="52" y="31"/>
                      <a:pt x="54" y="32"/>
                    </a:cubicBezTo>
                    <a:cubicBezTo>
                      <a:pt x="55" y="32"/>
                      <a:pt x="55" y="32"/>
                      <a:pt x="55" y="32"/>
                    </a:cubicBezTo>
                    <a:cubicBezTo>
                      <a:pt x="60" y="34"/>
                      <a:pt x="68" y="37"/>
                      <a:pt x="70" y="42"/>
                    </a:cubicBezTo>
                    <a:cubicBezTo>
                      <a:pt x="72" y="46"/>
                      <a:pt x="70" y="51"/>
                      <a:pt x="66" y="54"/>
                    </a:cubicBezTo>
                    <a:cubicBezTo>
                      <a:pt x="63" y="56"/>
                      <a:pt x="59" y="57"/>
                      <a:pt x="55" y="58"/>
                    </a:cubicBezTo>
                    <a:cubicBezTo>
                      <a:pt x="55" y="62"/>
                      <a:pt x="55" y="62"/>
                      <a:pt x="55" y="62"/>
                    </a:cubicBezTo>
                    <a:cubicBezTo>
                      <a:pt x="55" y="62"/>
                      <a:pt x="54" y="63"/>
                      <a:pt x="54" y="63"/>
                    </a:cubicBezTo>
                    <a:cubicBezTo>
                      <a:pt x="49" y="63"/>
                      <a:pt x="49" y="63"/>
                      <a:pt x="49" y="63"/>
                    </a:cubicBezTo>
                    <a:cubicBezTo>
                      <a:pt x="48" y="63"/>
                      <a:pt x="47" y="62"/>
                      <a:pt x="47" y="62"/>
                    </a:cubicBezTo>
                    <a:cubicBezTo>
                      <a:pt x="47" y="57"/>
                      <a:pt x="47" y="57"/>
                      <a:pt x="47" y="57"/>
                    </a:cubicBezTo>
                    <a:cubicBezTo>
                      <a:pt x="42" y="57"/>
                      <a:pt x="36" y="55"/>
                      <a:pt x="33" y="51"/>
                    </a:cubicBezTo>
                    <a:cubicBezTo>
                      <a:pt x="33" y="50"/>
                      <a:pt x="33" y="49"/>
                      <a:pt x="33" y="48"/>
                    </a:cubicBezTo>
                    <a:cubicBezTo>
                      <a:pt x="34" y="46"/>
                      <a:pt x="36" y="45"/>
                      <a:pt x="38" y="45"/>
                    </a:cubicBezTo>
                    <a:cubicBezTo>
                      <a:pt x="39" y="45"/>
                      <a:pt x="40" y="46"/>
                      <a:pt x="41" y="46"/>
                    </a:cubicBezTo>
                    <a:cubicBezTo>
                      <a:pt x="41" y="46"/>
                      <a:pt x="41" y="47"/>
                      <a:pt x="41" y="47"/>
                    </a:cubicBezTo>
                    <a:cubicBezTo>
                      <a:pt x="41" y="47"/>
                      <a:pt x="41" y="47"/>
                      <a:pt x="41" y="47"/>
                    </a:cubicBezTo>
                    <a:cubicBezTo>
                      <a:pt x="41" y="47"/>
                      <a:pt x="41" y="47"/>
                      <a:pt x="41" y="47"/>
                    </a:cubicBezTo>
                    <a:cubicBezTo>
                      <a:pt x="41" y="47"/>
                      <a:pt x="41" y="47"/>
                      <a:pt x="42" y="47"/>
                    </a:cubicBezTo>
                    <a:cubicBezTo>
                      <a:pt x="43" y="48"/>
                      <a:pt x="45" y="49"/>
                      <a:pt x="46" y="49"/>
                    </a:cubicBezTo>
                    <a:cubicBezTo>
                      <a:pt x="48" y="50"/>
                      <a:pt x="51" y="51"/>
                      <a:pt x="53" y="51"/>
                    </a:cubicBezTo>
                    <a:cubicBezTo>
                      <a:pt x="55" y="51"/>
                      <a:pt x="57" y="50"/>
                      <a:pt x="59" y="49"/>
                    </a:cubicBezTo>
                    <a:cubicBezTo>
                      <a:pt x="60" y="48"/>
                      <a:pt x="61" y="46"/>
                      <a:pt x="60" y="44"/>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64" name="Freeform 95"/>
              <p:cNvSpPr/>
              <p:nvPr/>
            </p:nvSpPr>
            <p:spPr bwMode="auto">
              <a:xfrm>
                <a:off x="6386513" y="3841751"/>
                <a:ext cx="482600" cy="101600"/>
              </a:xfrm>
              <a:custGeom>
                <a:avLst/>
                <a:gdLst>
                  <a:gd name="T0" fmla="*/ 125 w 128"/>
                  <a:gd name="T1" fmla="*/ 0 h 27"/>
                  <a:gd name="T2" fmla="*/ 70 w 128"/>
                  <a:gd name="T3" fmla="*/ 0 h 27"/>
                  <a:gd name="T4" fmla="*/ 64 w 128"/>
                  <a:gd name="T5" fmla="*/ 0 h 27"/>
                  <a:gd name="T6" fmla="*/ 58 w 128"/>
                  <a:gd name="T7" fmla="*/ 0 h 27"/>
                  <a:gd name="T8" fmla="*/ 3 w 128"/>
                  <a:gd name="T9" fmla="*/ 0 h 27"/>
                  <a:gd name="T10" fmla="*/ 2 w 128"/>
                  <a:gd name="T11" fmla="*/ 4 h 27"/>
                  <a:gd name="T12" fmla="*/ 19 w 128"/>
                  <a:gd name="T13" fmla="*/ 21 h 27"/>
                  <a:gd name="T14" fmla="*/ 64 w 128"/>
                  <a:gd name="T15" fmla="*/ 27 h 27"/>
                  <a:gd name="T16" fmla="*/ 109 w 128"/>
                  <a:gd name="T17" fmla="*/ 21 h 27"/>
                  <a:gd name="T18" fmla="*/ 126 w 128"/>
                  <a:gd name="T19" fmla="*/ 4 h 27"/>
                  <a:gd name="T20" fmla="*/ 125 w 128"/>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 h="27">
                    <a:moveTo>
                      <a:pt x="125" y="0"/>
                    </a:moveTo>
                    <a:cubicBezTo>
                      <a:pt x="70" y="0"/>
                      <a:pt x="70" y="0"/>
                      <a:pt x="70" y="0"/>
                    </a:cubicBezTo>
                    <a:cubicBezTo>
                      <a:pt x="68" y="0"/>
                      <a:pt x="65" y="0"/>
                      <a:pt x="64" y="0"/>
                    </a:cubicBezTo>
                    <a:cubicBezTo>
                      <a:pt x="63" y="0"/>
                      <a:pt x="61" y="0"/>
                      <a:pt x="58" y="0"/>
                    </a:cubicBezTo>
                    <a:cubicBezTo>
                      <a:pt x="3" y="0"/>
                      <a:pt x="3" y="0"/>
                      <a:pt x="3" y="0"/>
                    </a:cubicBezTo>
                    <a:cubicBezTo>
                      <a:pt x="1" y="0"/>
                      <a:pt x="0" y="2"/>
                      <a:pt x="2" y="4"/>
                    </a:cubicBezTo>
                    <a:cubicBezTo>
                      <a:pt x="2" y="4"/>
                      <a:pt x="17" y="19"/>
                      <a:pt x="19" y="21"/>
                    </a:cubicBezTo>
                    <a:cubicBezTo>
                      <a:pt x="19" y="21"/>
                      <a:pt x="24" y="27"/>
                      <a:pt x="64" y="27"/>
                    </a:cubicBezTo>
                    <a:cubicBezTo>
                      <a:pt x="103" y="27"/>
                      <a:pt x="109" y="21"/>
                      <a:pt x="109" y="21"/>
                    </a:cubicBezTo>
                    <a:cubicBezTo>
                      <a:pt x="111" y="19"/>
                      <a:pt x="126" y="4"/>
                      <a:pt x="126" y="4"/>
                    </a:cubicBezTo>
                    <a:cubicBezTo>
                      <a:pt x="128" y="2"/>
                      <a:pt x="127" y="0"/>
                      <a:pt x="125" y="0"/>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65" name="Freeform 96"/>
              <p:cNvSpPr/>
              <p:nvPr/>
            </p:nvSpPr>
            <p:spPr bwMode="auto">
              <a:xfrm>
                <a:off x="6194426" y="2967038"/>
                <a:ext cx="498475" cy="458788"/>
              </a:xfrm>
              <a:custGeom>
                <a:avLst/>
                <a:gdLst>
                  <a:gd name="T0" fmla="*/ 99 w 132"/>
                  <a:gd name="T1" fmla="*/ 72 h 121"/>
                  <a:gd name="T2" fmla="*/ 110 w 132"/>
                  <a:gd name="T3" fmla="*/ 86 h 121"/>
                  <a:gd name="T4" fmla="*/ 111 w 132"/>
                  <a:gd name="T5" fmla="*/ 87 h 121"/>
                  <a:gd name="T6" fmla="*/ 111 w 132"/>
                  <a:gd name="T7" fmla="*/ 90 h 121"/>
                  <a:gd name="T8" fmla="*/ 99 w 132"/>
                  <a:gd name="T9" fmla="*/ 120 h 121"/>
                  <a:gd name="T10" fmla="*/ 100 w 132"/>
                  <a:gd name="T11" fmla="*/ 120 h 121"/>
                  <a:gd name="T12" fmla="*/ 101 w 132"/>
                  <a:gd name="T13" fmla="*/ 121 h 121"/>
                  <a:gd name="T14" fmla="*/ 102 w 132"/>
                  <a:gd name="T15" fmla="*/ 120 h 121"/>
                  <a:gd name="T16" fmla="*/ 108 w 132"/>
                  <a:gd name="T17" fmla="*/ 117 h 121"/>
                  <a:gd name="T18" fmla="*/ 114 w 132"/>
                  <a:gd name="T19" fmla="*/ 102 h 121"/>
                  <a:gd name="T20" fmla="*/ 115 w 132"/>
                  <a:gd name="T21" fmla="*/ 102 h 121"/>
                  <a:gd name="T22" fmla="*/ 116 w 132"/>
                  <a:gd name="T23" fmla="*/ 102 h 121"/>
                  <a:gd name="T24" fmla="*/ 121 w 132"/>
                  <a:gd name="T25" fmla="*/ 114 h 121"/>
                  <a:gd name="T26" fmla="*/ 123 w 132"/>
                  <a:gd name="T27" fmla="*/ 117 h 121"/>
                  <a:gd name="T28" fmla="*/ 128 w 132"/>
                  <a:gd name="T29" fmla="*/ 120 h 121"/>
                  <a:gd name="T30" fmla="*/ 130 w 132"/>
                  <a:gd name="T31" fmla="*/ 121 h 121"/>
                  <a:gd name="T32" fmla="*/ 131 w 132"/>
                  <a:gd name="T33" fmla="*/ 121 h 121"/>
                  <a:gd name="T34" fmla="*/ 132 w 132"/>
                  <a:gd name="T35" fmla="*/ 120 h 121"/>
                  <a:gd name="T36" fmla="*/ 128 w 132"/>
                  <a:gd name="T37" fmla="*/ 111 h 121"/>
                  <a:gd name="T38" fmla="*/ 119 w 132"/>
                  <a:gd name="T39" fmla="*/ 90 h 121"/>
                  <a:gd name="T40" fmla="*/ 119 w 132"/>
                  <a:gd name="T41" fmla="*/ 88 h 121"/>
                  <a:gd name="T42" fmla="*/ 131 w 132"/>
                  <a:gd name="T43" fmla="*/ 78 h 121"/>
                  <a:gd name="T44" fmla="*/ 128 w 132"/>
                  <a:gd name="T45" fmla="*/ 76 h 121"/>
                  <a:gd name="T46" fmla="*/ 119 w 132"/>
                  <a:gd name="T47" fmla="*/ 82 h 121"/>
                  <a:gd name="T48" fmla="*/ 119 w 132"/>
                  <a:gd name="T49" fmla="*/ 81 h 121"/>
                  <a:gd name="T50" fmla="*/ 115 w 132"/>
                  <a:gd name="T51" fmla="*/ 77 h 121"/>
                  <a:gd name="T52" fmla="*/ 112 w 132"/>
                  <a:gd name="T53" fmla="*/ 80 h 121"/>
                  <a:gd name="T54" fmla="*/ 106 w 132"/>
                  <a:gd name="T55" fmla="*/ 66 h 121"/>
                  <a:gd name="T56" fmla="*/ 0 w 132"/>
                  <a:gd name="T57" fmla="*/ 0 h 121"/>
                  <a:gd name="T58" fmla="*/ 0 w 132"/>
                  <a:gd name="T59" fmla="*/ 23 h 121"/>
                  <a:gd name="T60" fmla="*/ 99 w 132"/>
                  <a:gd name="T61" fmla="*/ 7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2" h="121">
                    <a:moveTo>
                      <a:pt x="99" y="72"/>
                    </a:moveTo>
                    <a:cubicBezTo>
                      <a:pt x="99" y="72"/>
                      <a:pt x="100" y="81"/>
                      <a:pt x="110" y="86"/>
                    </a:cubicBezTo>
                    <a:cubicBezTo>
                      <a:pt x="110" y="86"/>
                      <a:pt x="111" y="86"/>
                      <a:pt x="111" y="87"/>
                    </a:cubicBezTo>
                    <a:cubicBezTo>
                      <a:pt x="111" y="90"/>
                      <a:pt x="111" y="90"/>
                      <a:pt x="111" y="90"/>
                    </a:cubicBezTo>
                    <a:cubicBezTo>
                      <a:pt x="107" y="100"/>
                      <a:pt x="103" y="110"/>
                      <a:pt x="99" y="120"/>
                    </a:cubicBezTo>
                    <a:cubicBezTo>
                      <a:pt x="99" y="120"/>
                      <a:pt x="100" y="120"/>
                      <a:pt x="100" y="120"/>
                    </a:cubicBezTo>
                    <a:cubicBezTo>
                      <a:pt x="100" y="121"/>
                      <a:pt x="101" y="121"/>
                      <a:pt x="101" y="121"/>
                    </a:cubicBezTo>
                    <a:cubicBezTo>
                      <a:pt x="101" y="121"/>
                      <a:pt x="102" y="120"/>
                      <a:pt x="102" y="120"/>
                    </a:cubicBezTo>
                    <a:cubicBezTo>
                      <a:pt x="103" y="119"/>
                      <a:pt x="104" y="117"/>
                      <a:pt x="108" y="117"/>
                    </a:cubicBezTo>
                    <a:cubicBezTo>
                      <a:pt x="110" y="112"/>
                      <a:pt x="112" y="107"/>
                      <a:pt x="114" y="102"/>
                    </a:cubicBezTo>
                    <a:cubicBezTo>
                      <a:pt x="114" y="102"/>
                      <a:pt x="115" y="102"/>
                      <a:pt x="115" y="102"/>
                    </a:cubicBezTo>
                    <a:cubicBezTo>
                      <a:pt x="115" y="102"/>
                      <a:pt x="116" y="102"/>
                      <a:pt x="116" y="102"/>
                    </a:cubicBezTo>
                    <a:cubicBezTo>
                      <a:pt x="118" y="106"/>
                      <a:pt x="120" y="110"/>
                      <a:pt x="121" y="114"/>
                    </a:cubicBezTo>
                    <a:cubicBezTo>
                      <a:pt x="122" y="115"/>
                      <a:pt x="122" y="116"/>
                      <a:pt x="123" y="117"/>
                    </a:cubicBezTo>
                    <a:cubicBezTo>
                      <a:pt x="127" y="117"/>
                      <a:pt x="128" y="119"/>
                      <a:pt x="128" y="120"/>
                    </a:cubicBezTo>
                    <a:cubicBezTo>
                      <a:pt x="129" y="120"/>
                      <a:pt x="129" y="121"/>
                      <a:pt x="130" y="121"/>
                    </a:cubicBezTo>
                    <a:cubicBezTo>
                      <a:pt x="130" y="121"/>
                      <a:pt x="130" y="121"/>
                      <a:pt x="131" y="121"/>
                    </a:cubicBezTo>
                    <a:cubicBezTo>
                      <a:pt x="131" y="120"/>
                      <a:pt x="132" y="120"/>
                      <a:pt x="132" y="120"/>
                    </a:cubicBezTo>
                    <a:cubicBezTo>
                      <a:pt x="131" y="117"/>
                      <a:pt x="129" y="114"/>
                      <a:pt x="128" y="111"/>
                    </a:cubicBezTo>
                    <a:cubicBezTo>
                      <a:pt x="124" y="102"/>
                      <a:pt x="120" y="94"/>
                      <a:pt x="119" y="90"/>
                    </a:cubicBezTo>
                    <a:cubicBezTo>
                      <a:pt x="119" y="88"/>
                      <a:pt x="119" y="88"/>
                      <a:pt x="119" y="88"/>
                    </a:cubicBezTo>
                    <a:cubicBezTo>
                      <a:pt x="127" y="87"/>
                      <a:pt x="131" y="80"/>
                      <a:pt x="131" y="78"/>
                    </a:cubicBezTo>
                    <a:cubicBezTo>
                      <a:pt x="132" y="75"/>
                      <a:pt x="128" y="76"/>
                      <a:pt x="128" y="76"/>
                    </a:cubicBezTo>
                    <a:cubicBezTo>
                      <a:pt x="128" y="76"/>
                      <a:pt x="126" y="82"/>
                      <a:pt x="119" y="82"/>
                    </a:cubicBezTo>
                    <a:cubicBezTo>
                      <a:pt x="119" y="81"/>
                      <a:pt x="119" y="81"/>
                      <a:pt x="119" y="81"/>
                    </a:cubicBezTo>
                    <a:cubicBezTo>
                      <a:pt x="119" y="79"/>
                      <a:pt x="117" y="77"/>
                      <a:pt x="115" y="77"/>
                    </a:cubicBezTo>
                    <a:cubicBezTo>
                      <a:pt x="113" y="77"/>
                      <a:pt x="112" y="78"/>
                      <a:pt x="112" y="80"/>
                    </a:cubicBezTo>
                    <a:cubicBezTo>
                      <a:pt x="105" y="75"/>
                      <a:pt x="106" y="66"/>
                      <a:pt x="106" y="66"/>
                    </a:cubicBezTo>
                    <a:cubicBezTo>
                      <a:pt x="67" y="28"/>
                      <a:pt x="21" y="8"/>
                      <a:pt x="0" y="0"/>
                    </a:cubicBezTo>
                    <a:cubicBezTo>
                      <a:pt x="0" y="23"/>
                      <a:pt x="0" y="23"/>
                      <a:pt x="0" y="23"/>
                    </a:cubicBezTo>
                    <a:cubicBezTo>
                      <a:pt x="94" y="56"/>
                      <a:pt x="99" y="72"/>
                      <a:pt x="99" y="72"/>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grpSp>
        <p:nvGrpSpPr>
          <p:cNvPr id="168" name="组合 167"/>
          <p:cNvGrpSpPr/>
          <p:nvPr/>
        </p:nvGrpSpPr>
        <p:grpSpPr>
          <a:xfrm>
            <a:off x="8041804" y="4986130"/>
            <a:ext cx="3096343" cy="1064762"/>
            <a:chOff x="2288094" y="1321493"/>
            <a:chExt cx="1054615" cy="1064762"/>
          </a:xfrm>
        </p:grpSpPr>
        <p:sp>
          <p:nvSpPr>
            <p:cNvPr id="169" name="矩形 168"/>
            <p:cNvSpPr/>
            <p:nvPr/>
          </p:nvSpPr>
          <p:spPr>
            <a:xfrm>
              <a:off x="2288094" y="1321493"/>
              <a:ext cx="691870" cy="369332"/>
            </a:xfrm>
            <a:prstGeom prst="rect">
              <a:avLst/>
            </a:prstGeom>
          </p:spPr>
          <p:txBody>
            <a:bodyPr wrap="none">
              <a:spAutoFit/>
            </a:bodyPr>
            <a:lstStyle/>
            <a:p>
              <a:r>
                <a:rPr lang="zh-CN" altLang="en-US"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軟</a:t>
              </a:r>
              <a:r>
                <a:rPr lang="zh-CN" altLang="en-US"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件開發技術學習</a:t>
              </a:r>
              <a:endParaRPr lang="zh-CN" altLang="en-US"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70" name="矩形 169"/>
            <p:cNvSpPr/>
            <p:nvPr/>
          </p:nvSpPr>
          <p:spPr>
            <a:xfrm>
              <a:off x="2288094" y="1647591"/>
              <a:ext cx="1054615" cy="738664"/>
            </a:xfrm>
            <a:prstGeom prst="rect">
              <a:avLst/>
            </a:prstGeom>
          </p:spPr>
          <p:txBody>
            <a:bodyPr wrap="square" anchor="ctr">
              <a:spAutoFit/>
            </a:bodyPr>
            <a:lstStyle/>
            <a:p>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通過學習，目前基本熟練掌握</a:t>
              </a:r>
              <a:r>
                <a:rPr lang="en-US" altLang="zh-CN"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asp.net</a:t>
              </a:r>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相關技術，精通</a:t>
              </a:r>
              <a:r>
                <a:rPr lang="en-US" altLang="zh-CN"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SQL Server</a:t>
              </a:r>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數據庫的相關知識。</a:t>
              </a:r>
              <a:endPar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91"/>
                                        </p:tgtEl>
                                        <p:attrNameLst>
                                          <p:attrName>style.visibility</p:attrName>
                                        </p:attrNameLst>
                                      </p:cBhvr>
                                      <p:to>
                                        <p:strVal val="visible"/>
                                      </p:to>
                                    </p:set>
                                    <p:anim calcmode="lin" valueType="num">
                                      <p:cBhvr>
                                        <p:cTn id="7" dur="500" fill="hold"/>
                                        <p:tgtEl>
                                          <p:spTgt spid="9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91"/>
                                        </p:tgtEl>
                                        <p:attrNameLst>
                                          <p:attrName>ppt_y</p:attrName>
                                        </p:attrNameLst>
                                      </p:cBhvr>
                                      <p:tavLst>
                                        <p:tav tm="0">
                                          <p:val>
                                            <p:strVal val="#ppt_y"/>
                                          </p:val>
                                        </p:tav>
                                        <p:tav tm="100000">
                                          <p:val>
                                            <p:strVal val="#ppt_y"/>
                                          </p:val>
                                        </p:tav>
                                      </p:tavLst>
                                    </p:anim>
                                    <p:anim calcmode="lin" valueType="num">
                                      <p:cBhvr>
                                        <p:cTn id="9" dur="500" fill="hold"/>
                                        <p:tgtEl>
                                          <p:spTgt spid="9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9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91"/>
                                        </p:tgtEl>
                                      </p:cBhvr>
                                    </p:animEffect>
                                  </p:childTnLst>
                                </p:cTn>
                              </p:par>
                              <p:par>
                                <p:cTn id="12" presetID="2" presetClass="entr" presetSubtype="8" fill="hold" nodeType="withEffect">
                                  <p:stCondLst>
                                    <p:cond delay="250"/>
                                  </p:stCondLst>
                                  <p:childTnLst>
                                    <p:set>
                                      <p:cBhvr>
                                        <p:cTn id="13" dur="1" fill="hold">
                                          <p:stCondLst>
                                            <p:cond delay="0"/>
                                          </p:stCondLst>
                                        </p:cTn>
                                        <p:tgtEl>
                                          <p:spTgt spid="98"/>
                                        </p:tgtEl>
                                        <p:attrNameLst>
                                          <p:attrName>style.visibility</p:attrName>
                                        </p:attrNameLst>
                                      </p:cBhvr>
                                      <p:to>
                                        <p:strVal val="visible"/>
                                      </p:to>
                                    </p:set>
                                    <p:anim calcmode="lin" valueType="num">
                                      <p:cBhvr additive="base">
                                        <p:cTn id="14" dur="500" fill="hold"/>
                                        <p:tgtEl>
                                          <p:spTgt spid="98"/>
                                        </p:tgtEl>
                                        <p:attrNameLst>
                                          <p:attrName>ppt_x</p:attrName>
                                        </p:attrNameLst>
                                      </p:cBhvr>
                                      <p:tavLst>
                                        <p:tav tm="0">
                                          <p:val>
                                            <p:strVal val="0-#ppt_w/2"/>
                                          </p:val>
                                        </p:tav>
                                        <p:tav tm="100000">
                                          <p:val>
                                            <p:strVal val="#ppt_x"/>
                                          </p:val>
                                        </p:tav>
                                      </p:tavLst>
                                    </p:anim>
                                    <p:anim calcmode="lin" valueType="num">
                                      <p:cBhvr additive="base">
                                        <p:cTn id="15" dur="500" fill="hold"/>
                                        <p:tgtEl>
                                          <p:spTgt spid="98"/>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95"/>
                                        </p:tgtEl>
                                        <p:attrNameLst>
                                          <p:attrName>style.visibility</p:attrName>
                                        </p:attrNameLst>
                                      </p:cBhvr>
                                      <p:to>
                                        <p:strVal val="visible"/>
                                      </p:to>
                                    </p:set>
                                    <p:anim calcmode="lin" valueType="num">
                                      <p:cBhvr additive="base">
                                        <p:cTn id="18" dur="500" fill="hold"/>
                                        <p:tgtEl>
                                          <p:spTgt spid="95"/>
                                        </p:tgtEl>
                                        <p:attrNameLst>
                                          <p:attrName>ppt_x</p:attrName>
                                        </p:attrNameLst>
                                      </p:cBhvr>
                                      <p:tavLst>
                                        <p:tav tm="0">
                                          <p:val>
                                            <p:strVal val="1+#ppt_w/2"/>
                                          </p:val>
                                        </p:tav>
                                        <p:tav tm="100000">
                                          <p:val>
                                            <p:strVal val="#ppt_x"/>
                                          </p:val>
                                        </p:tav>
                                      </p:tavLst>
                                    </p:anim>
                                    <p:anim calcmode="lin" valueType="num">
                                      <p:cBhvr additive="base">
                                        <p:cTn id="19" dur="500" fill="hold"/>
                                        <p:tgtEl>
                                          <p:spTgt spid="95"/>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stCondLst>
                                    <p:cond delay="250"/>
                                  </p:stCondLst>
                                  <p:childTnLst>
                                    <p:set>
                                      <p:cBhvr>
                                        <p:cTn id="21" dur="1" fill="hold">
                                          <p:stCondLst>
                                            <p:cond delay="0"/>
                                          </p:stCondLst>
                                        </p:cTn>
                                        <p:tgtEl>
                                          <p:spTgt spid="102"/>
                                        </p:tgtEl>
                                        <p:attrNameLst>
                                          <p:attrName>style.visibility</p:attrName>
                                        </p:attrNameLst>
                                      </p:cBhvr>
                                      <p:to>
                                        <p:strVal val="visible"/>
                                      </p:to>
                                    </p:set>
                                    <p:anim calcmode="lin" valueType="num">
                                      <p:cBhvr additive="base">
                                        <p:cTn id="22" dur="500" fill="hold"/>
                                        <p:tgtEl>
                                          <p:spTgt spid="102"/>
                                        </p:tgtEl>
                                        <p:attrNameLst>
                                          <p:attrName>ppt_x</p:attrName>
                                        </p:attrNameLst>
                                      </p:cBhvr>
                                      <p:tavLst>
                                        <p:tav tm="0">
                                          <p:val>
                                            <p:strVal val="0-#ppt_w/2"/>
                                          </p:val>
                                        </p:tav>
                                        <p:tav tm="100000">
                                          <p:val>
                                            <p:strVal val="#ppt_x"/>
                                          </p:val>
                                        </p:tav>
                                      </p:tavLst>
                                    </p:anim>
                                    <p:anim calcmode="lin" valueType="num">
                                      <p:cBhvr additive="base">
                                        <p:cTn id="23" dur="500" fill="hold"/>
                                        <p:tgtEl>
                                          <p:spTgt spid="102"/>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250"/>
                                  </p:stCondLst>
                                  <p:childTnLst>
                                    <p:set>
                                      <p:cBhvr>
                                        <p:cTn id="25" dur="1" fill="hold">
                                          <p:stCondLst>
                                            <p:cond delay="0"/>
                                          </p:stCondLst>
                                        </p:cTn>
                                        <p:tgtEl>
                                          <p:spTgt spid="101"/>
                                        </p:tgtEl>
                                        <p:attrNameLst>
                                          <p:attrName>style.visibility</p:attrName>
                                        </p:attrNameLst>
                                      </p:cBhvr>
                                      <p:to>
                                        <p:strVal val="visible"/>
                                      </p:to>
                                    </p:set>
                                    <p:anim calcmode="lin" valueType="num">
                                      <p:cBhvr additive="base">
                                        <p:cTn id="26" dur="500" fill="hold"/>
                                        <p:tgtEl>
                                          <p:spTgt spid="101"/>
                                        </p:tgtEl>
                                        <p:attrNameLst>
                                          <p:attrName>ppt_x</p:attrName>
                                        </p:attrNameLst>
                                      </p:cBhvr>
                                      <p:tavLst>
                                        <p:tav tm="0">
                                          <p:val>
                                            <p:strVal val="1+#ppt_w/2"/>
                                          </p:val>
                                        </p:tav>
                                        <p:tav tm="100000">
                                          <p:val>
                                            <p:strVal val="#ppt_x"/>
                                          </p:val>
                                        </p:tav>
                                      </p:tavLst>
                                    </p:anim>
                                    <p:anim calcmode="lin" valueType="num">
                                      <p:cBhvr additive="base">
                                        <p:cTn id="27" dur="500" fill="hold"/>
                                        <p:tgtEl>
                                          <p:spTgt spid="101"/>
                                        </p:tgtEl>
                                        <p:attrNameLst>
                                          <p:attrName>ppt_y</p:attrName>
                                        </p:attrNameLst>
                                      </p:cBhvr>
                                      <p:tavLst>
                                        <p:tav tm="0">
                                          <p:val>
                                            <p:strVal val="#ppt_y"/>
                                          </p:val>
                                        </p:tav>
                                        <p:tav tm="100000">
                                          <p:val>
                                            <p:strVal val="#ppt_y"/>
                                          </p:val>
                                        </p:tav>
                                      </p:tavLst>
                                    </p:anim>
                                  </p:childTnLst>
                                </p:cTn>
                              </p:par>
                            </p:childTnLst>
                          </p:cTn>
                        </p:par>
                        <p:par>
                          <p:cTn id="28" fill="hold">
                            <p:stCondLst>
                              <p:cond delay="750"/>
                            </p:stCondLst>
                            <p:childTnLst>
                              <p:par>
                                <p:cTn id="29" presetID="42" presetClass="entr" presetSubtype="0" fill="hold" grpId="0" nodeType="afterEffect">
                                  <p:stCondLst>
                                    <p:cond delay="0"/>
                                  </p:stCondLst>
                                  <p:childTnLst>
                                    <p:set>
                                      <p:cBhvr>
                                        <p:cTn id="30" dur="1" fill="hold">
                                          <p:stCondLst>
                                            <p:cond delay="0"/>
                                          </p:stCondLst>
                                        </p:cTn>
                                        <p:tgtEl>
                                          <p:spTgt spid="103"/>
                                        </p:tgtEl>
                                        <p:attrNameLst>
                                          <p:attrName>style.visibility</p:attrName>
                                        </p:attrNameLst>
                                      </p:cBhvr>
                                      <p:to>
                                        <p:strVal val="visible"/>
                                      </p:to>
                                    </p:set>
                                    <p:animEffect transition="in" filter="fade">
                                      <p:cBhvr>
                                        <p:cTn id="31" dur="1000"/>
                                        <p:tgtEl>
                                          <p:spTgt spid="103"/>
                                        </p:tgtEl>
                                      </p:cBhvr>
                                    </p:animEffect>
                                    <p:anim calcmode="lin" valueType="num">
                                      <p:cBhvr>
                                        <p:cTn id="32" dur="1000" fill="hold"/>
                                        <p:tgtEl>
                                          <p:spTgt spid="103"/>
                                        </p:tgtEl>
                                        <p:attrNameLst>
                                          <p:attrName>ppt_x</p:attrName>
                                        </p:attrNameLst>
                                      </p:cBhvr>
                                      <p:tavLst>
                                        <p:tav tm="0">
                                          <p:val>
                                            <p:strVal val="#ppt_x"/>
                                          </p:val>
                                        </p:tav>
                                        <p:tav tm="100000">
                                          <p:val>
                                            <p:strVal val="#ppt_x"/>
                                          </p:val>
                                        </p:tav>
                                      </p:tavLst>
                                    </p:anim>
                                    <p:anim calcmode="lin" valueType="num">
                                      <p:cBhvr>
                                        <p:cTn id="33" dur="1000" fill="hold"/>
                                        <p:tgtEl>
                                          <p:spTgt spid="103"/>
                                        </p:tgtEl>
                                        <p:attrNameLst>
                                          <p:attrName>ppt_y</p:attrName>
                                        </p:attrNameLst>
                                      </p:cBhvr>
                                      <p:tavLst>
                                        <p:tav tm="0">
                                          <p:val>
                                            <p:strVal val="#ppt_y+.1"/>
                                          </p:val>
                                        </p:tav>
                                        <p:tav tm="100000">
                                          <p:val>
                                            <p:strVal val="#ppt_y"/>
                                          </p:val>
                                        </p:tav>
                                      </p:tavLst>
                                    </p:anim>
                                  </p:childTnLst>
                                </p:cTn>
                              </p:par>
                            </p:childTnLst>
                          </p:cTn>
                        </p:par>
                        <p:par>
                          <p:cTn id="34" fill="hold">
                            <p:stCondLst>
                              <p:cond delay="1750"/>
                            </p:stCondLst>
                            <p:childTnLst>
                              <p:par>
                                <p:cTn id="35" presetID="45" presetClass="entr" presetSubtype="0" fill="hold" nodeType="afterEffect">
                                  <p:stCondLst>
                                    <p:cond delay="0"/>
                                  </p:stCondLst>
                                  <p:childTnLst>
                                    <p:set>
                                      <p:cBhvr>
                                        <p:cTn id="36" dur="1" fill="hold">
                                          <p:stCondLst>
                                            <p:cond delay="0"/>
                                          </p:stCondLst>
                                        </p:cTn>
                                        <p:tgtEl>
                                          <p:spTgt spid="107"/>
                                        </p:tgtEl>
                                        <p:attrNameLst>
                                          <p:attrName>style.visibility</p:attrName>
                                        </p:attrNameLst>
                                      </p:cBhvr>
                                      <p:to>
                                        <p:strVal val="visible"/>
                                      </p:to>
                                    </p:set>
                                    <p:animEffect transition="in" filter="fade">
                                      <p:cBhvr>
                                        <p:cTn id="37" dur="750"/>
                                        <p:tgtEl>
                                          <p:spTgt spid="107"/>
                                        </p:tgtEl>
                                      </p:cBhvr>
                                    </p:animEffect>
                                    <p:anim calcmode="lin" valueType="num">
                                      <p:cBhvr>
                                        <p:cTn id="38" dur="750" fill="hold"/>
                                        <p:tgtEl>
                                          <p:spTgt spid="107"/>
                                        </p:tgtEl>
                                        <p:attrNameLst>
                                          <p:attrName>ppt_w</p:attrName>
                                        </p:attrNameLst>
                                      </p:cBhvr>
                                      <p:tavLst>
                                        <p:tav tm="0" fmla="#ppt_w*sin(2.5*pi*$)">
                                          <p:val>
                                            <p:fltVal val="0"/>
                                          </p:val>
                                        </p:tav>
                                        <p:tav tm="100000">
                                          <p:val>
                                            <p:fltVal val="1"/>
                                          </p:val>
                                        </p:tav>
                                      </p:tavLst>
                                    </p:anim>
                                    <p:anim calcmode="lin" valueType="num">
                                      <p:cBhvr>
                                        <p:cTn id="39" dur="750" fill="hold"/>
                                        <p:tgtEl>
                                          <p:spTgt spid="107"/>
                                        </p:tgtEl>
                                        <p:attrNameLst>
                                          <p:attrName>ppt_h</p:attrName>
                                        </p:attrNameLst>
                                      </p:cBhvr>
                                      <p:tavLst>
                                        <p:tav tm="0">
                                          <p:val>
                                            <p:strVal val="#ppt_h"/>
                                          </p:val>
                                        </p:tav>
                                        <p:tav tm="100000">
                                          <p:val>
                                            <p:strVal val="#ppt_h"/>
                                          </p:val>
                                        </p:tav>
                                      </p:tavLst>
                                    </p:anim>
                                  </p:childTnLst>
                                </p:cTn>
                              </p:par>
                              <p:par>
                                <p:cTn id="40" presetID="2" presetClass="entr" presetSubtype="2" fill="hold" nodeType="withEffect">
                                  <p:stCondLst>
                                    <p:cond delay="750"/>
                                  </p:stCondLst>
                                  <p:childTnLst>
                                    <p:set>
                                      <p:cBhvr>
                                        <p:cTn id="41" dur="1" fill="hold">
                                          <p:stCondLst>
                                            <p:cond delay="0"/>
                                          </p:stCondLst>
                                        </p:cTn>
                                        <p:tgtEl>
                                          <p:spTgt spid="126"/>
                                        </p:tgtEl>
                                        <p:attrNameLst>
                                          <p:attrName>style.visibility</p:attrName>
                                        </p:attrNameLst>
                                      </p:cBhvr>
                                      <p:to>
                                        <p:strVal val="visible"/>
                                      </p:to>
                                    </p:set>
                                    <p:anim calcmode="lin" valueType="num">
                                      <p:cBhvr additive="base">
                                        <p:cTn id="42" dur="500" fill="hold"/>
                                        <p:tgtEl>
                                          <p:spTgt spid="126"/>
                                        </p:tgtEl>
                                        <p:attrNameLst>
                                          <p:attrName>ppt_x</p:attrName>
                                        </p:attrNameLst>
                                      </p:cBhvr>
                                      <p:tavLst>
                                        <p:tav tm="0">
                                          <p:val>
                                            <p:strVal val="1+#ppt_w/2"/>
                                          </p:val>
                                        </p:tav>
                                        <p:tav tm="100000">
                                          <p:val>
                                            <p:strVal val="#ppt_x"/>
                                          </p:val>
                                        </p:tav>
                                      </p:tavLst>
                                    </p:anim>
                                    <p:anim calcmode="lin" valueType="num">
                                      <p:cBhvr additive="base">
                                        <p:cTn id="43" dur="500" fill="hold"/>
                                        <p:tgtEl>
                                          <p:spTgt spid="126"/>
                                        </p:tgtEl>
                                        <p:attrNameLst>
                                          <p:attrName>ppt_y</p:attrName>
                                        </p:attrNameLst>
                                      </p:cBhvr>
                                      <p:tavLst>
                                        <p:tav tm="0">
                                          <p:val>
                                            <p:strVal val="#ppt_y"/>
                                          </p:val>
                                        </p:tav>
                                        <p:tav tm="100000">
                                          <p:val>
                                            <p:strVal val="#ppt_y"/>
                                          </p:val>
                                        </p:tav>
                                      </p:tavLst>
                                    </p:anim>
                                  </p:childTnLst>
                                </p:cTn>
                              </p:par>
                            </p:childTnLst>
                          </p:cTn>
                        </p:par>
                        <p:par>
                          <p:cTn id="44" fill="hold">
                            <p:stCondLst>
                              <p:cond delay="3000"/>
                            </p:stCondLst>
                            <p:childTnLst>
                              <p:par>
                                <p:cTn id="45" presetID="45" presetClass="entr" presetSubtype="0" fill="hold" nodeType="afterEffect">
                                  <p:stCondLst>
                                    <p:cond delay="0"/>
                                  </p:stCondLst>
                                  <p:childTnLst>
                                    <p:set>
                                      <p:cBhvr>
                                        <p:cTn id="46" dur="1" fill="hold">
                                          <p:stCondLst>
                                            <p:cond delay="0"/>
                                          </p:stCondLst>
                                        </p:cTn>
                                        <p:tgtEl>
                                          <p:spTgt spid="129"/>
                                        </p:tgtEl>
                                        <p:attrNameLst>
                                          <p:attrName>style.visibility</p:attrName>
                                        </p:attrNameLst>
                                      </p:cBhvr>
                                      <p:to>
                                        <p:strVal val="visible"/>
                                      </p:to>
                                    </p:set>
                                    <p:animEffect transition="in" filter="fade">
                                      <p:cBhvr>
                                        <p:cTn id="47" dur="750"/>
                                        <p:tgtEl>
                                          <p:spTgt spid="129"/>
                                        </p:tgtEl>
                                      </p:cBhvr>
                                    </p:animEffect>
                                    <p:anim calcmode="lin" valueType="num">
                                      <p:cBhvr>
                                        <p:cTn id="48" dur="750" fill="hold"/>
                                        <p:tgtEl>
                                          <p:spTgt spid="129"/>
                                        </p:tgtEl>
                                        <p:attrNameLst>
                                          <p:attrName>ppt_w</p:attrName>
                                        </p:attrNameLst>
                                      </p:cBhvr>
                                      <p:tavLst>
                                        <p:tav tm="0" fmla="#ppt_w*sin(2.5*pi*$)">
                                          <p:val>
                                            <p:fltVal val="0"/>
                                          </p:val>
                                        </p:tav>
                                        <p:tav tm="100000">
                                          <p:val>
                                            <p:fltVal val="1"/>
                                          </p:val>
                                        </p:tav>
                                      </p:tavLst>
                                    </p:anim>
                                    <p:anim calcmode="lin" valueType="num">
                                      <p:cBhvr>
                                        <p:cTn id="49" dur="750" fill="hold"/>
                                        <p:tgtEl>
                                          <p:spTgt spid="129"/>
                                        </p:tgtEl>
                                        <p:attrNameLst>
                                          <p:attrName>ppt_h</p:attrName>
                                        </p:attrNameLst>
                                      </p:cBhvr>
                                      <p:tavLst>
                                        <p:tav tm="0">
                                          <p:val>
                                            <p:strVal val="#ppt_h"/>
                                          </p:val>
                                        </p:tav>
                                        <p:tav tm="100000">
                                          <p:val>
                                            <p:strVal val="#ppt_h"/>
                                          </p:val>
                                        </p:tav>
                                      </p:tavLst>
                                    </p:anim>
                                  </p:childTnLst>
                                </p:cTn>
                              </p:par>
                              <p:par>
                                <p:cTn id="50" presetID="2" presetClass="entr" presetSubtype="2" fill="hold" nodeType="withEffect">
                                  <p:stCondLst>
                                    <p:cond delay="750"/>
                                  </p:stCondLst>
                                  <p:childTnLst>
                                    <p:set>
                                      <p:cBhvr>
                                        <p:cTn id="51" dur="1" fill="hold">
                                          <p:stCondLst>
                                            <p:cond delay="0"/>
                                          </p:stCondLst>
                                        </p:cTn>
                                        <p:tgtEl>
                                          <p:spTgt spid="148"/>
                                        </p:tgtEl>
                                        <p:attrNameLst>
                                          <p:attrName>style.visibility</p:attrName>
                                        </p:attrNameLst>
                                      </p:cBhvr>
                                      <p:to>
                                        <p:strVal val="visible"/>
                                      </p:to>
                                    </p:set>
                                    <p:anim calcmode="lin" valueType="num">
                                      <p:cBhvr additive="base">
                                        <p:cTn id="52" dur="500" fill="hold"/>
                                        <p:tgtEl>
                                          <p:spTgt spid="148"/>
                                        </p:tgtEl>
                                        <p:attrNameLst>
                                          <p:attrName>ppt_x</p:attrName>
                                        </p:attrNameLst>
                                      </p:cBhvr>
                                      <p:tavLst>
                                        <p:tav tm="0">
                                          <p:val>
                                            <p:strVal val="1+#ppt_w/2"/>
                                          </p:val>
                                        </p:tav>
                                        <p:tav tm="100000">
                                          <p:val>
                                            <p:strVal val="#ppt_x"/>
                                          </p:val>
                                        </p:tav>
                                      </p:tavLst>
                                    </p:anim>
                                    <p:anim calcmode="lin" valueType="num">
                                      <p:cBhvr additive="base">
                                        <p:cTn id="53" dur="500" fill="hold"/>
                                        <p:tgtEl>
                                          <p:spTgt spid="148"/>
                                        </p:tgtEl>
                                        <p:attrNameLst>
                                          <p:attrName>ppt_y</p:attrName>
                                        </p:attrNameLst>
                                      </p:cBhvr>
                                      <p:tavLst>
                                        <p:tav tm="0">
                                          <p:val>
                                            <p:strVal val="#ppt_y"/>
                                          </p:val>
                                        </p:tav>
                                        <p:tav tm="100000">
                                          <p:val>
                                            <p:strVal val="#ppt_y"/>
                                          </p:val>
                                        </p:tav>
                                      </p:tavLst>
                                    </p:anim>
                                  </p:childTnLst>
                                </p:cTn>
                              </p:par>
                            </p:childTnLst>
                          </p:cTn>
                        </p:par>
                        <p:par>
                          <p:cTn id="54" fill="hold">
                            <p:stCondLst>
                              <p:cond delay="4250"/>
                            </p:stCondLst>
                            <p:childTnLst>
                              <p:par>
                                <p:cTn id="55" presetID="45" presetClass="entr" presetSubtype="0" fill="hold" nodeType="afterEffect">
                                  <p:stCondLst>
                                    <p:cond delay="0"/>
                                  </p:stCondLst>
                                  <p:childTnLst>
                                    <p:set>
                                      <p:cBhvr>
                                        <p:cTn id="56" dur="1" fill="hold">
                                          <p:stCondLst>
                                            <p:cond delay="0"/>
                                          </p:stCondLst>
                                        </p:cTn>
                                        <p:tgtEl>
                                          <p:spTgt spid="151"/>
                                        </p:tgtEl>
                                        <p:attrNameLst>
                                          <p:attrName>style.visibility</p:attrName>
                                        </p:attrNameLst>
                                      </p:cBhvr>
                                      <p:to>
                                        <p:strVal val="visible"/>
                                      </p:to>
                                    </p:set>
                                    <p:animEffect transition="in" filter="fade">
                                      <p:cBhvr>
                                        <p:cTn id="57" dur="750"/>
                                        <p:tgtEl>
                                          <p:spTgt spid="151"/>
                                        </p:tgtEl>
                                      </p:cBhvr>
                                    </p:animEffect>
                                    <p:anim calcmode="lin" valueType="num">
                                      <p:cBhvr>
                                        <p:cTn id="58" dur="750" fill="hold"/>
                                        <p:tgtEl>
                                          <p:spTgt spid="151"/>
                                        </p:tgtEl>
                                        <p:attrNameLst>
                                          <p:attrName>ppt_w</p:attrName>
                                        </p:attrNameLst>
                                      </p:cBhvr>
                                      <p:tavLst>
                                        <p:tav tm="0" fmla="#ppt_w*sin(2.5*pi*$)">
                                          <p:val>
                                            <p:fltVal val="0"/>
                                          </p:val>
                                        </p:tav>
                                        <p:tav tm="100000">
                                          <p:val>
                                            <p:fltVal val="1"/>
                                          </p:val>
                                        </p:tav>
                                      </p:tavLst>
                                    </p:anim>
                                    <p:anim calcmode="lin" valueType="num">
                                      <p:cBhvr>
                                        <p:cTn id="59" dur="750" fill="hold"/>
                                        <p:tgtEl>
                                          <p:spTgt spid="151"/>
                                        </p:tgtEl>
                                        <p:attrNameLst>
                                          <p:attrName>ppt_h</p:attrName>
                                        </p:attrNameLst>
                                      </p:cBhvr>
                                      <p:tavLst>
                                        <p:tav tm="0">
                                          <p:val>
                                            <p:strVal val="#ppt_h"/>
                                          </p:val>
                                        </p:tav>
                                        <p:tav tm="100000">
                                          <p:val>
                                            <p:strVal val="#ppt_h"/>
                                          </p:val>
                                        </p:tav>
                                      </p:tavLst>
                                    </p:anim>
                                  </p:childTnLst>
                                </p:cTn>
                              </p:par>
                              <p:par>
                                <p:cTn id="60" presetID="2" presetClass="entr" presetSubtype="2" fill="hold" nodeType="withEffect">
                                  <p:stCondLst>
                                    <p:cond delay="750"/>
                                  </p:stCondLst>
                                  <p:childTnLst>
                                    <p:set>
                                      <p:cBhvr>
                                        <p:cTn id="61" dur="1" fill="hold">
                                          <p:stCondLst>
                                            <p:cond delay="0"/>
                                          </p:stCondLst>
                                        </p:cTn>
                                        <p:tgtEl>
                                          <p:spTgt spid="168"/>
                                        </p:tgtEl>
                                        <p:attrNameLst>
                                          <p:attrName>style.visibility</p:attrName>
                                        </p:attrNameLst>
                                      </p:cBhvr>
                                      <p:to>
                                        <p:strVal val="visible"/>
                                      </p:to>
                                    </p:set>
                                    <p:anim calcmode="lin" valueType="num">
                                      <p:cBhvr additive="base">
                                        <p:cTn id="62" dur="500" fill="hold"/>
                                        <p:tgtEl>
                                          <p:spTgt spid="168"/>
                                        </p:tgtEl>
                                        <p:attrNameLst>
                                          <p:attrName>ppt_x</p:attrName>
                                        </p:attrNameLst>
                                      </p:cBhvr>
                                      <p:tavLst>
                                        <p:tav tm="0">
                                          <p:val>
                                            <p:strVal val="1+#ppt_w/2"/>
                                          </p:val>
                                        </p:tav>
                                        <p:tav tm="100000">
                                          <p:val>
                                            <p:strVal val="#ppt_x"/>
                                          </p:val>
                                        </p:tav>
                                      </p:tavLst>
                                    </p:anim>
                                    <p:anim calcmode="lin" valueType="num">
                                      <p:cBhvr additive="base">
                                        <p:cTn id="63" dur="500" fill="hold"/>
                                        <p:tgtEl>
                                          <p:spTgt spid="1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10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Box 90"/>
          <p:cNvSpPr txBox="1"/>
          <p:nvPr/>
        </p:nvSpPr>
        <p:spPr>
          <a:xfrm>
            <a:off x="4770648" y="188640"/>
            <a:ext cx="2623083" cy="461665"/>
          </a:xfrm>
          <a:prstGeom prst="rect">
            <a:avLst/>
          </a:prstGeom>
          <a:noFill/>
        </p:spPr>
        <p:txBody>
          <a:bodyPr wrap="square" rtlCol="0">
            <a:spAutoFit/>
          </a:bodyPr>
          <a:lstStyle/>
          <a:p>
            <a:pPr algn="ctr"/>
            <a:r>
              <a:rPr lang="zh-CN" altLang="en-US" sz="2400" b="1"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具體工作明細</a:t>
            </a:r>
            <a:endParaRPr lang="zh-CN" altLang="en-US" sz="2400" b="1"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cxnSp>
        <p:nvCxnSpPr>
          <p:cNvPr id="95" name="直接连接符 94"/>
          <p:cNvCxnSpPr/>
          <p:nvPr/>
        </p:nvCxnSpPr>
        <p:spPr>
          <a:xfrm>
            <a:off x="7393731" y="419473"/>
            <a:ext cx="446449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a:off x="336947" y="423828"/>
            <a:ext cx="439248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7393731" y="476672"/>
            <a:ext cx="4464496"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336947" y="481027"/>
            <a:ext cx="4392488"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2426295" y="1556792"/>
            <a:ext cx="2016224" cy="2016224"/>
            <a:chOff x="1705099" y="2564904"/>
            <a:chExt cx="1800200" cy="1800200"/>
          </a:xfrm>
        </p:grpSpPr>
        <p:sp>
          <p:nvSpPr>
            <p:cNvPr id="13" name="椭圆 12"/>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4" name="椭圆 13"/>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15" name="KSO_Shape"/>
          <p:cNvSpPr/>
          <p:nvPr/>
        </p:nvSpPr>
        <p:spPr bwMode="auto">
          <a:xfrm>
            <a:off x="2860230" y="2198225"/>
            <a:ext cx="1153220" cy="805332"/>
          </a:xfrm>
          <a:custGeom>
            <a:avLst/>
            <a:gdLst>
              <a:gd name="T0" fmla="*/ 1733867 w 2074863"/>
              <a:gd name="T1" fmla="*/ 579834 h 1449388"/>
              <a:gd name="T2" fmla="*/ 1791884 w 2074863"/>
              <a:gd name="T3" fmla="*/ 600246 h 1449388"/>
              <a:gd name="T4" fmla="*/ 1794804 w 2074863"/>
              <a:gd name="T5" fmla="*/ 538648 h 1449388"/>
              <a:gd name="T6" fmla="*/ 510830 w 2074863"/>
              <a:gd name="T7" fmla="*/ 162256 h 1449388"/>
              <a:gd name="T8" fmla="*/ 492893 w 2074863"/>
              <a:gd name="T9" fmla="*/ 222976 h 1449388"/>
              <a:gd name="T10" fmla="*/ 438718 w 2074863"/>
              <a:gd name="T11" fmla="*/ 188484 h 1449388"/>
              <a:gd name="T12" fmla="*/ 1598128 w 2074863"/>
              <a:gd name="T13" fmla="*/ 142089 h 1449388"/>
              <a:gd name="T14" fmla="*/ 1885296 w 2074863"/>
              <a:gd name="T15" fmla="*/ 549583 h 1449388"/>
              <a:gd name="T16" fmla="*/ 1586087 w 2074863"/>
              <a:gd name="T17" fmla="*/ 450078 h 1449388"/>
              <a:gd name="T18" fmla="*/ 486453 w 2074863"/>
              <a:gd name="T19" fmla="*/ 72185 h 1449388"/>
              <a:gd name="T20" fmla="*/ 151219 w 2074863"/>
              <a:gd name="T21" fmla="*/ 357281 h 1449388"/>
              <a:gd name="T22" fmla="*/ 295879 w 2074863"/>
              <a:gd name="T23" fmla="*/ 407592 h 1449388"/>
              <a:gd name="T24" fmla="*/ 486453 w 2074863"/>
              <a:gd name="T25" fmla="*/ 72185 h 1449388"/>
              <a:gd name="T26" fmla="*/ 681762 w 2074863"/>
              <a:gd name="T27" fmla="*/ 209994 h 1449388"/>
              <a:gd name="T28" fmla="*/ 910960 w 2074863"/>
              <a:gd name="T29" fmla="*/ 275617 h 1449388"/>
              <a:gd name="T30" fmla="*/ 1184248 w 2074863"/>
              <a:gd name="T31" fmla="*/ 351448 h 1449388"/>
              <a:gd name="T32" fmla="*/ 1396319 w 2074863"/>
              <a:gd name="T33" fmla="*/ 332855 h 1449388"/>
              <a:gd name="T34" fmla="*/ 1606205 w 2074863"/>
              <a:gd name="T35" fmla="*/ 562536 h 1449388"/>
              <a:gd name="T36" fmla="*/ 1640821 w 2074863"/>
              <a:gd name="T37" fmla="*/ 739718 h 1449388"/>
              <a:gd name="T38" fmla="*/ 1379558 w 2074863"/>
              <a:gd name="T39" fmla="*/ 843985 h 1449388"/>
              <a:gd name="T40" fmla="*/ 1124853 w 2074863"/>
              <a:gd name="T41" fmla="*/ 641283 h 1449388"/>
              <a:gd name="T42" fmla="*/ 720387 w 2074863"/>
              <a:gd name="T43" fmla="*/ 519516 h 1449388"/>
              <a:gd name="T44" fmla="*/ 653705 w 2074863"/>
              <a:gd name="T45" fmla="*/ 311345 h 1449388"/>
              <a:gd name="T46" fmla="*/ 325395 w 2074863"/>
              <a:gd name="T47" fmla="*/ 480871 h 1449388"/>
              <a:gd name="T48" fmla="*/ 435438 w 2074863"/>
              <a:gd name="T49" fmla="*/ 683574 h 1449388"/>
              <a:gd name="T50" fmla="*/ 530543 w 2074863"/>
              <a:gd name="T51" fmla="*/ 794768 h 1449388"/>
              <a:gd name="T52" fmla="*/ 611436 w 2074863"/>
              <a:gd name="T53" fmla="*/ 890286 h 1449388"/>
              <a:gd name="T54" fmla="*/ 688686 w 2074863"/>
              <a:gd name="T55" fmla="*/ 1001480 h 1449388"/>
              <a:gd name="T56" fmla="*/ 800188 w 2074863"/>
              <a:gd name="T57" fmla="*/ 1230068 h 1449388"/>
              <a:gd name="T58" fmla="*/ 913511 w 2074863"/>
              <a:gd name="T59" fmla="*/ 1255588 h 1449388"/>
              <a:gd name="T60" fmla="*/ 768486 w 2074863"/>
              <a:gd name="T61" fmla="*/ 1063458 h 1449388"/>
              <a:gd name="T62" fmla="*/ 798730 w 2074863"/>
              <a:gd name="T63" fmla="*/ 1022261 h 1449388"/>
              <a:gd name="T64" fmla="*/ 1047604 w 2074863"/>
              <a:gd name="T65" fmla="*/ 1245015 h 1449388"/>
              <a:gd name="T66" fmla="*/ 1112465 w 2074863"/>
              <a:gd name="T67" fmla="*/ 1184496 h 1449388"/>
              <a:gd name="T68" fmla="*/ 841727 w 2074863"/>
              <a:gd name="T69" fmla="*/ 896119 h 1449388"/>
              <a:gd name="T70" fmla="*/ 886182 w 2074863"/>
              <a:gd name="T71" fmla="*/ 868047 h 1449388"/>
              <a:gd name="T72" fmla="*/ 1205383 w 2074863"/>
              <a:gd name="T73" fmla="*/ 1138195 h 1449388"/>
              <a:gd name="T74" fmla="*/ 1202468 w 2074863"/>
              <a:gd name="T75" fmla="*/ 1026636 h 1449388"/>
              <a:gd name="T76" fmla="*/ 955779 w 2074863"/>
              <a:gd name="T77" fmla="*/ 749197 h 1449388"/>
              <a:gd name="T78" fmla="*/ 1006793 w 2074863"/>
              <a:gd name="T79" fmla="*/ 736437 h 1449388"/>
              <a:gd name="T80" fmla="*/ 1311053 w 2074863"/>
              <a:gd name="T81" fmla="*/ 1001480 h 1449388"/>
              <a:gd name="T82" fmla="*/ 1303037 w 2074863"/>
              <a:gd name="T83" fmla="*/ 890286 h 1449388"/>
              <a:gd name="T84" fmla="*/ 1310325 w 2074863"/>
              <a:gd name="T85" fmla="*/ 838516 h 1449388"/>
              <a:gd name="T86" fmla="*/ 1409802 w 2074863"/>
              <a:gd name="T87" fmla="*/ 919087 h 1449388"/>
              <a:gd name="T88" fmla="*/ 1378829 w 2074863"/>
              <a:gd name="T89" fmla="*/ 1028094 h 1449388"/>
              <a:gd name="T90" fmla="*/ 1306317 w 2074863"/>
              <a:gd name="T91" fmla="*/ 1123248 h 1449388"/>
              <a:gd name="T92" fmla="*/ 1210119 w 2074863"/>
              <a:gd name="T93" fmla="*/ 1205641 h 1449388"/>
              <a:gd name="T94" fmla="*/ 1113922 w 2074863"/>
              <a:gd name="T95" fmla="*/ 1290222 h 1449388"/>
              <a:gd name="T96" fmla="*/ 1016631 w 2074863"/>
              <a:gd name="T97" fmla="*/ 1300795 h 1449388"/>
              <a:gd name="T98" fmla="*/ 897478 w 2074863"/>
              <a:gd name="T99" fmla="*/ 1327044 h 1449388"/>
              <a:gd name="T100" fmla="*/ 625648 w 2074863"/>
              <a:gd name="T101" fmla="*/ 1160798 h 1449388"/>
              <a:gd name="T102" fmla="*/ 491918 w 2074863"/>
              <a:gd name="T103" fmla="*/ 1202360 h 1449388"/>
              <a:gd name="T104" fmla="*/ 458760 w 2074863"/>
              <a:gd name="T105" fmla="*/ 1134550 h 1449388"/>
              <a:gd name="T106" fmla="*/ 365477 w 2074863"/>
              <a:gd name="T107" fmla="*/ 1057260 h 1449388"/>
              <a:gd name="T108" fmla="*/ 317378 w 2074863"/>
              <a:gd name="T109" fmla="*/ 969763 h 1449388"/>
              <a:gd name="T110" fmla="*/ 233206 w 2074863"/>
              <a:gd name="T111" fmla="*/ 865131 h 1449388"/>
              <a:gd name="T112" fmla="*/ 268916 w 2074863"/>
              <a:gd name="T113" fmla="*/ 733520 h 1449388"/>
              <a:gd name="T114" fmla="*/ 186565 w 2074863"/>
              <a:gd name="T115" fmla="*/ 647845 h 1449388"/>
              <a:gd name="T116" fmla="*/ 1822 w 2074863"/>
              <a:gd name="T117" fmla="*/ 438580 h 1449388"/>
              <a:gd name="T118" fmla="*/ 272923 w 2074863"/>
              <a:gd name="T119" fmla="*/ 139996 h 144938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074863" h="1449388">
                <a:moveTo>
                  <a:pt x="1923841" y="577723"/>
                </a:moveTo>
                <a:lnTo>
                  <a:pt x="1919867" y="578517"/>
                </a:lnTo>
                <a:lnTo>
                  <a:pt x="1915893" y="579312"/>
                </a:lnTo>
                <a:lnTo>
                  <a:pt x="1911919" y="580503"/>
                </a:lnTo>
                <a:lnTo>
                  <a:pt x="1907944" y="582488"/>
                </a:lnTo>
                <a:lnTo>
                  <a:pt x="1904765" y="584871"/>
                </a:lnTo>
                <a:lnTo>
                  <a:pt x="1901983" y="586857"/>
                </a:lnTo>
                <a:lnTo>
                  <a:pt x="1898804" y="589636"/>
                </a:lnTo>
                <a:lnTo>
                  <a:pt x="1896022" y="592813"/>
                </a:lnTo>
                <a:lnTo>
                  <a:pt x="1893240" y="595593"/>
                </a:lnTo>
                <a:lnTo>
                  <a:pt x="1891253" y="599167"/>
                </a:lnTo>
                <a:lnTo>
                  <a:pt x="1889663" y="602741"/>
                </a:lnTo>
                <a:lnTo>
                  <a:pt x="1888471" y="606712"/>
                </a:lnTo>
                <a:lnTo>
                  <a:pt x="1887278" y="610683"/>
                </a:lnTo>
                <a:lnTo>
                  <a:pt x="1886483" y="615051"/>
                </a:lnTo>
                <a:lnTo>
                  <a:pt x="1886483" y="619419"/>
                </a:lnTo>
                <a:lnTo>
                  <a:pt x="1886483" y="623390"/>
                </a:lnTo>
                <a:lnTo>
                  <a:pt x="1887278" y="627758"/>
                </a:lnTo>
                <a:lnTo>
                  <a:pt x="1888471" y="631729"/>
                </a:lnTo>
                <a:lnTo>
                  <a:pt x="1889663" y="635303"/>
                </a:lnTo>
                <a:lnTo>
                  <a:pt x="1891253" y="639274"/>
                </a:lnTo>
                <a:lnTo>
                  <a:pt x="1893240" y="642451"/>
                </a:lnTo>
                <a:lnTo>
                  <a:pt x="1896022" y="646025"/>
                </a:lnTo>
                <a:lnTo>
                  <a:pt x="1898804" y="648805"/>
                </a:lnTo>
                <a:lnTo>
                  <a:pt x="1901983" y="651188"/>
                </a:lnTo>
                <a:lnTo>
                  <a:pt x="1904765" y="653967"/>
                </a:lnTo>
                <a:lnTo>
                  <a:pt x="1907944" y="655953"/>
                </a:lnTo>
                <a:lnTo>
                  <a:pt x="1911919" y="657541"/>
                </a:lnTo>
                <a:lnTo>
                  <a:pt x="1915893" y="659130"/>
                </a:lnTo>
                <a:lnTo>
                  <a:pt x="1919867" y="660321"/>
                </a:lnTo>
                <a:lnTo>
                  <a:pt x="1923841" y="660718"/>
                </a:lnTo>
                <a:lnTo>
                  <a:pt x="1928213" y="661115"/>
                </a:lnTo>
                <a:lnTo>
                  <a:pt x="1932585" y="660718"/>
                </a:lnTo>
                <a:lnTo>
                  <a:pt x="1936956" y="660321"/>
                </a:lnTo>
                <a:lnTo>
                  <a:pt x="1940533" y="659130"/>
                </a:lnTo>
                <a:lnTo>
                  <a:pt x="1944508" y="657541"/>
                </a:lnTo>
                <a:lnTo>
                  <a:pt x="1948084" y="655953"/>
                </a:lnTo>
                <a:lnTo>
                  <a:pt x="1951661" y="653967"/>
                </a:lnTo>
                <a:lnTo>
                  <a:pt x="1954841" y="651188"/>
                </a:lnTo>
                <a:lnTo>
                  <a:pt x="1958020" y="648805"/>
                </a:lnTo>
                <a:lnTo>
                  <a:pt x="1960405" y="646025"/>
                </a:lnTo>
                <a:lnTo>
                  <a:pt x="1963187" y="642451"/>
                </a:lnTo>
                <a:lnTo>
                  <a:pt x="1965174" y="639274"/>
                </a:lnTo>
                <a:lnTo>
                  <a:pt x="1966763" y="635303"/>
                </a:lnTo>
                <a:lnTo>
                  <a:pt x="1967956" y="631729"/>
                </a:lnTo>
                <a:lnTo>
                  <a:pt x="1969148" y="627758"/>
                </a:lnTo>
                <a:lnTo>
                  <a:pt x="1969943" y="623390"/>
                </a:lnTo>
                <a:lnTo>
                  <a:pt x="1970340" y="619419"/>
                </a:lnTo>
                <a:lnTo>
                  <a:pt x="1969943" y="615051"/>
                </a:lnTo>
                <a:lnTo>
                  <a:pt x="1969148" y="610683"/>
                </a:lnTo>
                <a:lnTo>
                  <a:pt x="1967956" y="606712"/>
                </a:lnTo>
                <a:lnTo>
                  <a:pt x="1966763" y="602741"/>
                </a:lnTo>
                <a:lnTo>
                  <a:pt x="1965174" y="599167"/>
                </a:lnTo>
                <a:lnTo>
                  <a:pt x="1963187" y="595593"/>
                </a:lnTo>
                <a:lnTo>
                  <a:pt x="1960405" y="592813"/>
                </a:lnTo>
                <a:lnTo>
                  <a:pt x="1958020" y="589636"/>
                </a:lnTo>
                <a:lnTo>
                  <a:pt x="1954841" y="586857"/>
                </a:lnTo>
                <a:lnTo>
                  <a:pt x="1951661" y="584871"/>
                </a:lnTo>
                <a:lnTo>
                  <a:pt x="1948084" y="582488"/>
                </a:lnTo>
                <a:lnTo>
                  <a:pt x="1944508" y="580503"/>
                </a:lnTo>
                <a:lnTo>
                  <a:pt x="1940533" y="579312"/>
                </a:lnTo>
                <a:lnTo>
                  <a:pt x="1936956" y="578517"/>
                </a:lnTo>
                <a:lnTo>
                  <a:pt x="1932585" y="577723"/>
                </a:lnTo>
                <a:lnTo>
                  <a:pt x="1928213" y="577723"/>
                </a:lnTo>
                <a:lnTo>
                  <a:pt x="1923841" y="577723"/>
                </a:lnTo>
                <a:close/>
                <a:moveTo>
                  <a:pt x="519301" y="160338"/>
                </a:moveTo>
                <a:lnTo>
                  <a:pt x="523687" y="160338"/>
                </a:lnTo>
                <a:lnTo>
                  <a:pt x="528072" y="160729"/>
                </a:lnTo>
                <a:lnTo>
                  <a:pt x="532059" y="161512"/>
                </a:lnTo>
                <a:lnTo>
                  <a:pt x="536445" y="162687"/>
                </a:lnTo>
                <a:lnTo>
                  <a:pt x="540033" y="163861"/>
                </a:lnTo>
                <a:lnTo>
                  <a:pt x="544020" y="166210"/>
                </a:lnTo>
                <a:lnTo>
                  <a:pt x="547209" y="168558"/>
                </a:lnTo>
                <a:lnTo>
                  <a:pt x="550399" y="170907"/>
                </a:lnTo>
                <a:lnTo>
                  <a:pt x="553588" y="174038"/>
                </a:lnTo>
                <a:lnTo>
                  <a:pt x="556379" y="176778"/>
                </a:lnTo>
                <a:lnTo>
                  <a:pt x="558771" y="180693"/>
                </a:lnTo>
                <a:lnTo>
                  <a:pt x="560366" y="183824"/>
                </a:lnTo>
                <a:lnTo>
                  <a:pt x="562359" y="188130"/>
                </a:lnTo>
                <a:lnTo>
                  <a:pt x="563954" y="192436"/>
                </a:lnTo>
                <a:lnTo>
                  <a:pt x="564752" y="196350"/>
                </a:lnTo>
                <a:lnTo>
                  <a:pt x="565150" y="201048"/>
                </a:lnTo>
                <a:lnTo>
                  <a:pt x="565150" y="205353"/>
                </a:lnTo>
                <a:lnTo>
                  <a:pt x="564752" y="209268"/>
                </a:lnTo>
                <a:lnTo>
                  <a:pt x="563954" y="213574"/>
                </a:lnTo>
                <a:lnTo>
                  <a:pt x="562758" y="217488"/>
                </a:lnTo>
                <a:lnTo>
                  <a:pt x="560765" y="221402"/>
                </a:lnTo>
                <a:lnTo>
                  <a:pt x="558771" y="224925"/>
                </a:lnTo>
                <a:lnTo>
                  <a:pt x="556778" y="228448"/>
                </a:lnTo>
                <a:lnTo>
                  <a:pt x="553987" y="231188"/>
                </a:lnTo>
                <a:lnTo>
                  <a:pt x="551196" y="234711"/>
                </a:lnTo>
                <a:lnTo>
                  <a:pt x="547608" y="237060"/>
                </a:lnTo>
                <a:lnTo>
                  <a:pt x="544418" y="239800"/>
                </a:lnTo>
                <a:lnTo>
                  <a:pt x="540431" y="241366"/>
                </a:lnTo>
                <a:lnTo>
                  <a:pt x="536843" y="242932"/>
                </a:lnTo>
                <a:lnTo>
                  <a:pt x="532458" y="244497"/>
                </a:lnTo>
                <a:lnTo>
                  <a:pt x="528072" y="245672"/>
                </a:lnTo>
                <a:lnTo>
                  <a:pt x="523687" y="246063"/>
                </a:lnTo>
                <a:lnTo>
                  <a:pt x="518902" y="246063"/>
                </a:lnTo>
                <a:lnTo>
                  <a:pt x="514915" y="245672"/>
                </a:lnTo>
                <a:lnTo>
                  <a:pt x="510530" y="244497"/>
                </a:lnTo>
                <a:lnTo>
                  <a:pt x="506543" y="243323"/>
                </a:lnTo>
                <a:lnTo>
                  <a:pt x="502955" y="241757"/>
                </a:lnTo>
                <a:lnTo>
                  <a:pt x="498968" y="239800"/>
                </a:lnTo>
                <a:lnTo>
                  <a:pt x="495778" y="237451"/>
                </a:lnTo>
                <a:lnTo>
                  <a:pt x="492190" y="235103"/>
                </a:lnTo>
                <a:lnTo>
                  <a:pt x="489399" y="232363"/>
                </a:lnTo>
                <a:lnTo>
                  <a:pt x="486210" y="228840"/>
                </a:lnTo>
                <a:lnTo>
                  <a:pt x="484216" y="225708"/>
                </a:lnTo>
                <a:lnTo>
                  <a:pt x="482223" y="221794"/>
                </a:lnTo>
                <a:lnTo>
                  <a:pt x="480628" y="217879"/>
                </a:lnTo>
                <a:lnTo>
                  <a:pt x="479033" y="213965"/>
                </a:lnTo>
                <a:lnTo>
                  <a:pt x="478236" y="209268"/>
                </a:lnTo>
                <a:lnTo>
                  <a:pt x="477837" y="205353"/>
                </a:lnTo>
                <a:lnTo>
                  <a:pt x="477837" y="200656"/>
                </a:lnTo>
                <a:lnTo>
                  <a:pt x="478236" y="196350"/>
                </a:lnTo>
                <a:lnTo>
                  <a:pt x="479033" y="192436"/>
                </a:lnTo>
                <a:lnTo>
                  <a:pt x="480628" y="188522"/>
                </a:lnTo>
                <a:lnTo>
                  <a:pt x="481824" y="184607"/>
                </a:lnTo>
                <a:lnTo>
                  <a:pt x="483818" y="181084"/>
                </a:lnTo>
                <a:lnTo>
                  <a:pt x="486210" y="177561"/>
                </a:lnTo>
                <a:lnTo>
                  <a:pt x="489001" y="174430"/>
                </a:lnTo>
                <a:lnTo>
                  <a:pt x="491791" y="171298"/>
                </a:lnTo>
                <a:lnTo>
                  <a:pt x="494981" y="168558"/>
                </a:lnTo>
                <a:lnTo>
                  <a:pt x="498569" y="166601"/>
                </a:lnTo>
                <a:lnTo>
                  <a:pt x="502157" y="164252"/>
                </a:lnTo>
                <a:lnTo>
                  <a:pt x="506144" y="162687"/>
                </a:lnTo>
                <a:lnTo>
                  <a:pt x="510530" y="161512"/>
                </a:lnTo>
                <a:lnTo>
                  <a:pt x="514915" y="160729"/>
                </a:lnTo>
                <a:lnTo>
                  <a:pt x="519301" y="160338"/>
                </a:lnTo>
                <a:close/>
                <a:moveTo>
                  <a:pt x="1699693" y="111125"/>
                </a:moveTo>
                <a:lnTo>
                  <a:pt x="1718770" y="131377"/>
                </a:lnTo>
                <a:lnTo>
                  <a:pt x="1740628" y="154806"/>
                </a:lnTo>
                <a:lnTo>
                  <a:pt x="1768448" y="186178"/>
                </a:lnTo>
                <a:lnTo>
                  <a:pt x="1784345" y="204842"/>
                </a:lnTo>
                <a:lnTo>
                  <a:pt x="1801832" y="224697"/>
                </a:lnTo>
                <a:lnTo>
                  <a:pt x="1819318" y="246538"/>
                </a:lnTo>
                <a:lnTo>
                  <a:pt x="1838395" y="269173"/>
                </a:lnTo>
                <a:lnTo>
                  <a:pt x="1857471" y="293793"/>
                </a:lnTo>
                <a:lnTo>
                  <a:pt x="1877343" y="318811"/>
                </a:lnTo>
                <a:lnTo>
                  <a:pt x="1897611" y="345417"/>
                </a:lnTo>
                <a:lnTo>
                  <a:pt x="1917483" y="372420"/>
                </a:lnTo>
                <a:lnTo>
                  <a:pt x="1936956" y="400217"/>
                </a:lnTo>
                <a:lnTo>
                  <a:pt x="1954841" y="426823"/>
                </a:lnTo>
                <a:lnTo>
                  <a:pt x="1971930" y="453032"/>
                </a:lnTo>
                <a:lnTo>
                  <a:pt x="1987032" y="478050"/>
                </a:lnTo>
                <a:lnTo>
                  <a:pt x="2001339" y="501479"/>
                </a:lnTo>
                <a:lnTo>
                  <a:pt x="2014057" y="524511"/>
                </a:lnTo>
                <a:lnTo>
                  <a:pt x="2025980" y="545558"/>
                </a:lnTo>
                <a:lnTo>
                  <a:pt x="2036313" y="565016"/>
                </a:lnTo>
                <a:lnTo>
                  <a:pt x="2045454" y="582488"/>
                </a:lnTo>
                <a:lnTo>
                  <a:pt x="2053402" y="598770"/>
                </a:lnTo>
                <a:lnTo>
                  <a:pt x="2065325" y="623787"/>
                </a:lnTo>
                <a:lnTo>
                  <a:pt x="2072479" y="640069"/>
                </a:lnTo>
                <a:lnTo>
                  <a:pt x="2074863" y="646025"/>
                </a:lnTo>
                <a:lnTo>
                  <a:pt x="1870189" y="796925"/>
                </a:lnTo>
                <a:lnTo>
                  <a:pt x="1867407" y="789380"/>
                </a:lnTo>
                <a:lnTo>
                  <a:pt x="1859856" y="767142"/>
                </a:lnTo>
                <a:lnTo>
                  <a:pt x="1854689" y="751258"/>
                </a:lnTo>
                <a:lnTo>
                  <a:pt x="1847933" y="733388"/>
                </a:lnTo>
                <a:lnTo>
                  <a:pt x="1839985" y="712342"/>
                </a:lnTo>
                <a:lnTo>
                  <a:pt x="1830844" y="690104"/>
                </a:lnTo>
                <a:lnTo>
                  <a:pt x="1820908" y="666278"/>
                </a:lnTo>
                <a:lnTo>
                  <a:pt x="1809383" y="640466"/>
                </a:lnTo>
                <a:lnTo>
                  <a:pt x="1797063" y="614257"/>
                </a:lnTo>
                <a:lnTo>
                  <a:pt x="1783550" y="586857"/>
                </a:lnTo>
                <a:lnTo>
                  <a:pt x="1768845" y="559059"/>
                </a:lnTo>
                <a:lnTo>
                  <a:pt x="1753346" y="531262"/>
                </a:lnTo>
                <a:lnTo>
                  <a:pt x="1744602" y="517363"/>
                </a:lnTo>
                <a:lnTo>
                  <a:pt x="1736256" y="503862"/>
                </a:lnTo>
                <a:lnTo>
                  <a:pt x="1727513" y="490360"/>
                </a:lnTo>
                <a:lnTo>
                  <a:pt x="1718770" y="476859"/>
                </a:lnTo>
                <a:lnTo>
                  <a:pt x="1709232" y="463357"/>
                </a:lnTo>
                <a:lnTo>
                  <a:pt x="1700091" y="450650"/>
                </a:lnTo>
                <a:lnTo>
                  <a:pt x="1690552" y="438339"/>
                </a:lnTo>
                <a:lnTo>
                  <a:pt x="1681014" y="426029"/>
                </a:lnTo>
                <a:lnTo>
                  <a:pt x="1661938" y="403394"/>
                </a:lnTo>
                <a:lnTo>
                  <a:pt x="1643259" y="381951"/>
                </a:lnTo>
                <a:lnTo>
                  <a:pt x="1624977" y="362095"/>
                </a:lnTo>
                <a:lnTo>
                  <a:pt x="1606696" y="343431"/>
                </a:lnTo>
                <a:lnTo>
                  <a:pt x="1590004" y="327150"/>
                </a:lnTo>
                <a:lnTo>
                  <a:pt x="1573312" y="311663"/>
                </a:lnTo>
                <a:lnTo>
                  <a:pt x="1558210" y="298559"/>
                </a:lnTo>
                <a:lnTo>
                  <a:pt x="1544697" y="287042"/>
                </a:lnTo>
                <a:lnTo>
                  <a:pt x="1532377" y="276718"/>
                </a:lnTo>
                <a:lnTo>
                  <a:pt x="1522044" y="268776"/>
                </a:lnTo>
                <a:lnTo>
                  <a:pt x="1506942" y="257657"/>
                </a:lnTo>
                <a:lnTo>
                  <a:pt x="1501775" y="254083"/>
                </a:lnTo>
                <a:lnTo>
                  <a:pt x="1699693" y="111125"/>
                </a:lnTo>
                <a:close/>
                <a:moveTo>
                  <a:pt x="529828" y="78646"/>
                </a:moveTo>
                <a:lnTo>
                  <a:pt x="511572" y="88179"/>
                </a:lnTo>
                <a:lnTo>
                  <a:pt x="489347" y="100889"/>
                </a:lnTo>
                <a:lnTo>
                  <a:pt x="476647" y="108436"/>
                </a:lnTo>
                <a:lnTo>
                  <a:pt x="463153" y="116777"/>
                </a:lnTo>
                <a:lnTo>
                  <a:pt x="448865" y="126310"/>
                </a:lnTo>
                <a:lnTo>
                  <a:pt x="433784" y="136240"/>
                </a:lnTo>
                <a:lnTo>
                  <a:pt x="417512" y="147759"/>
                </a:lnTo>
                <a:lnTo>
                  <a:pt x="401637" y="159675"/>
                </a:lnTo>
                <a:lnTo>
                  <a:pt x="384175" y="172783"/>
                </a:lnTo>
                <a:lnTo>
                  <a:pt x="367109" y="186288"/>
                </a:lnTo>
                <a:lnTo>
                  <a:pt x="349250" y="200984"/>
                </a:lnTo>
                <a:lnTo>
                  <a:pt x="331787" y="216475"/>
                </a:lnTo>
                <a:lnTo>
                  <a:pt x="313531" y="233157"/>
                </a:lnTo>
                <a:lnTo>
                  <a:pt x="294878" y="250634"/>
                </a:lnTo>
                <a:lnTo>
                  <a:pt x="277019" y="268905"/>
                </a:lnTo>
                <a:lnTo>
                  <a:pt x="259159" y="287177"/>
                </a:lnTo>
                <a:lnTo>
                  <a:pt x="225028" y="322528"/>
                </a:lnTo>
                <a:lnTo>
                  <a:pt x="193278" y="356687"/>
                </a:lnTo>
                <a:lnTo>
                  <a:pt x="164703" y="389257"/>
                </a:lnTo>
                <a:lnTo>
                  <a:pt x="138906" y="419445"/>
                </a:lnTo>
                <a:lnTo>
                  <a:pt x="116284" y="446057"/>
                </a:lnTo>
                <a:lnTo>
                  <a:pt x="97234" y="469095"/>
                </a:lnTo>
                <a:lnTo>
                  <a:pt x="82550" y="488161"/>
                </a:lnTo>
                <a:lnTo>
                  <a:pt x="205184" y="612882"/>
                </a:lnTo>
                <a:lnTo>
                  <a:pt x="213915" y="597391"/>
                </a:lnTo>
                <a:lnTo>
                  <a:pt x="224631" y="581106"/>
                </a:lnTo>
                <a:lnTo>
                  <a:pt x="236934" y="562437"/>
                </a:lnTo>
                <a:lnTo>
                  <a:pt x="250428" y="542974"/>
                </a:lnTo>
                <a:lnTo>
                  <a:pt x="256381" y="531456"/>
                </a:lnTo>
                <a:lnTo>
                  <a:pt x="260350" y="524306"/>
                </a:lnTo>
                <a:lnTo>
                  <a:pt x="265112" y="515965"/>
                </a:lnTo>
                <a:lnTo>
                  <a:pt x="270669" y="507623"/>
                </a:lnTo>
                <a:lnTo>
                  <a:pt x="277019" y="498885"/>
                </a:lnTo>
                <a:lnTo>
                  <a:pt x="284162" y="488558"/>
                </a:lnTo>
                <a:lnTo>
                  <a:pt x="292100" y="478628"/>
                </a:lnTo>
                <a:lnTo>
                  <a:pt x="301228" y="467506"/>
                </a:lnTo>
                <a:lnTo>
                  <a:pt x="311547" y="456385"/>
                </a:lnTo>
                <a:lnTo>
                  <a:pt x="322262" y="444071"/>
                </a:lnTo>
                <a:lnTo>
                  <a:pt x="334565" y="431758"/>
                </a:lnTo>
                <a:lnTo>
                  <a:pt x="348059" y="418650"/>
                </a:lnTo>
                <a:lnTo>
                  <a:pt x="362347" y="405543"/>
                </a:lnTo>
                <a:lnTo>
                  <a:pt x="378619" y="391641"/>
                </a:lnTo>
                <a:lnTo>
                  <a:pt x="395684" y="377739"/>
                </a:lnTo>
                <a:lnTo>
                  <a:pt x="413147" y="362248"/>
                </a:lnTo>
                <a:lnTo>
                  <a:pt x="430609" y="347154"/>
                </a:lnTo>
                <a:lnTo>
                  <a:pt x="448469" y="332855"/>
                </a:lnTo>
                <a:lnTo>
                  <a:pt x="466328" y="318953"/>
                </a:lnTo>
                <a:lnTo>
                  <a:pt x="484188" y="305448"/>
                </a:lnTo>
                <a:lnTo>
                  <a:pt x="502047" y="292737"/>
                </a:lnTo>
                <a:lnTo>
                  <a:pt x="519510" y="280821"/>
                </a:lnTo>
                <a:lnTo>
                  <a:pt x="536972" y="268905"/>
                </a:lnTo>
                <a:lnTo>
                  <a:pt x="553641" y="257784"/>
                </a:lnTo>
                <a:lnTo>
                  <a:pt x="570310" y="247457"/>
                </a:lnTo>
                <a:lnTo>
                  <a:pt x="601663" y="228391"/>
                </a:lnTo>
                <a:lnTo>
                  <a:pt x="629841" y="212106"/>
                </a:lnTo>
                <a:lnTo>
                  <a:pt x="654050" y="198601"/>
                </a:lnTo>
                <a:lnTo>
                  <a:pt x="529828" y="78646"/>
                </a:lnTo>
                <a:close/>
                <a:moveTo>
                  <a:pt x="537766" y="0"/>
                </a:moveTo>
                <a:lnTo>
                  <a:pt x="542925" y="794"/>
                </a:lnTo>
                <a:lnTo>
                  <a:pt x="548085" y="2383"/>
                </a:lnTo>
                <a:lnTo>
                  <a:pt x="552450" y="4369"/>
                </a:lnTo>
                <a:lnTo>
                  <a:pt x="557213" y="6752"/>
                </a:lnTo>
                <a:lnTo>
                  <a:pt x="561181" y="10327"/>
                </a:lnTo>
                <a:lnTo>
                  <a:pt x="738981" y="181521"/>
                </a:lnTo>
                <a:lnTo>
                  <a:pt x="741760" y="185096"/>
                </a:lnTo>
                <a:lnTo>
                  <a:pt x="744538" y="188274"/>
                </a:lnTo>
                <a:lnTo>
                  <a:pt x="746522" y="192246"/>
                </a:lnTo>
                <a:lnTo>
                  <a:pt x="748110" y="195820"/>
                </a:lnTo>
                <a:lnTo>
                  <a:pt x="748903" y="200190"/>
                </a:lnTo>
                <a:lnTo>
                  <a:pt x="749697" y="204162"/>
                </a:lnTo>
                <a:lnTo>
                  <a:pt x="749697" y="208531"/>
                </a:lnTo>
                <a:lnTo>
                  <a:pt x="749300" y="213297"/>
                </a:lnTo>
                <a:lnTo>
                  <a:pt x="748506" y="217269"/>
                </a:lnTo>
                <a:lnTo>
                  <a:pt x="746919" y="221241"/>
                </a:lnTo>
                <a:lnTo>
                  <a:pt x="745331" y="224816"/>
                </a:lnTo>
                <a:lnTo>
                  <a:pt x="742553" y="228788"/>
                </a:lnTo>
                <a:lnTo>
                  <a:pt x="740172" y="231568"/>
                </a:lnTo>
                <a:lnTo>
                  <a:pt x="736600" y="234746"/>
                </a:lnTo>
                <a:lnTo>
                  <a:pt x="733425" y="237129"/>
                </a:lnTo>
                <a:lnTo>
                  <a:pt x="729456" y="239512"/>
                </a:lnTo>
                <a:lnTo>
                  <a:pt x="722710" y="242690"/>
                </a:lnTo>
                <a:lnTo>
                  <a:pt x="705247" y="251429"/>
                </a:lnTo>
                <a:lnTo>
                  <a:pt x="776685" y="295915"/>
                </a:lnTo>
                <a:lnTo>
                  <a:pt x="813594" y="318953"/>
                </a:lnTo>
                <a:lnTo>
                  <a:pt x="843756" y="338416"/>
                </a:lnTo>
                <a:lnTo>
                  <a:pt x="855266" y="332458"/>
                </a:lnTo>
                <a:lnTo>
                  <a:pt x="867569" y="326500"/>
                </a:lnTo>
                <a:lnTo>
                  <a:pt x="879872" y="321733"/>
                </a:lnTo>
                <a:lnTo>
                  <a:pt x="892175" y="317364"/>
                </a:lnTo>
                <a:lnTo>
                  <a:pt x="905669" y="312995"/>
                </a:lnTo>
                <a:lnTo>
                  <a:pt x="919163" y="309817"/>
                </a:lnTo>
                <a:lnTo>
                  <a:pt x="933847" y="307037"/>
                </a:lnTo>
                <a:lnTo>
                  <a:pt x="948135" y="304256"/>
                </a:lnTo>
                <a:lnTo>
                  <a:pt x="970756" y="301873"/>
                </a:lnTo>
                <a:lnTo>
                  <a:pt x="992188" y="300284"/>
                </a:lnTo>
                <a:lnTo>
                  <a:pt x="1013222" y="299093"/>
                </a:lnTo>
                <a:lnTo>
                  <a:pt x="1033066" y="298696"/>
                </a:lnTo>
                <a:lnTo>
                  <a:pt x="1052513" y="299490"/>
                </a:lnTo>
                <a:lnTo>
                  <a:pt x="1070769" y="301079"/>
                </a:lnTo>
                <a:lnTo>
                  <a:pt x="1088231" y="302668"/>
                </a:lnTo>
                <a:lnTo>
                  <a:pt x="1105297" y="305051"/>
                </a:lnTo>
                <a:lnTo>
                  <a:pt x="1121172" y="308228"/>
                </a:lnTo>
                <a:lnTo>
                  <a:pt x="1137047" y="311803"/>
                </a:lnTo>
                <a:lnTo>
                  <a:pt x="1151731" y="315775"/>
                </a:lnTo>
                <a:lnTo>
                  <a:pt x="1165622" y="320542"/>
                </a:lnTo>
                <a:lnTo>
                  <a:pt x="1179116" y="324911"/>
                </a:lnTo>
                <a:lnTo>
                  <a:pt x="1191816" y="329677"/>
                </a:lnTo>
                <a:lnTo>
                  <a:pt x="1203722" y="335238"/>
                </a:lnTo>
                <a:lnTo>
                  <a:pt x="1215231" y="340004"/>
                </a:lnTo>
                <a:lnTo>
                  <a:pt x="1226741" y="345565"/>
                </a:lnTo>
                <a:lnTo>
                  <a:pt x="1237060" y="351126"/>
                </a:lnTo>
                <a:lnTo>
                  <a:pt x="1256506" y="362645"/>
                </a:lnTo>
                <a:lnTo>
                  <a:pt x="1274366" y="372972"/>
                </a:lnTo>
                <a:lnTo>
                  <a:pt x="1289844" y="382902"/>
                </a:lnTo>
                <a:lnTo>
                  <a:pt x="1304131" y="391641"/>
                </a:lnTo>
                <a:lnTo>
                  <a:pt x="1310878" y="395613"/>
                </a:lnTo>
                <a:lnTo>
                  <a:pt x="1317228" y="398790"/>
                </a:lnTo>
                <a:lnTo>
                  <a:pt x="1323578" y="401968"/>
                </a:lnTo>
                <a:lnTo>
                  <a:pt x="1329135" y="403954"/>
                </a:lnTo>
                <a:lnTo>
                  <a:pt x="1334691" y="405543"/>
                </a:lnTo>
                <a:lnTo>
                  <a:pt x="1340247" y="406337"/>
                </a:lnTo>
                <a:lnTo>
                  <a:pt x="1345406" y="407132"/>
                </a:lnTo>
                <a:lnTo>
                  <a:pt x="1351360" y="407132"/>
                </a:lnTo>
                <a:lnTo>
                  <a:pt x="1358106" y="406734"/>
                </a:lnTo>
                <a:lnTo>
                  <a:pt x="1364853" y="406337"/>
                </a:lnTo>
                <a:lnTo>
                  <a:pt x="1379538" y="404351"/>
                </a:lnTo>
                <a:lnTo>
                  <a:pt x="1395810" y="401173"/>
                </a:lnTo>
                <a:lnTo>
                  <a:pt x="1412081" y="397201"/>
                </a:lnTo>
                <a:lnTo>
                  <a:pt x="1429544" y="392832"/>
                </a:lnTo>
                <a:lnTo>
                  <a:pt x="1446610" y="387669"/>
                </a:lnTo>
                <a:lnTo>
                  <a:pt x="1463675" y="382505"/>
                </a:lnTo>
                <a:lnTo>
                  <a:pt x="1494631" y="371781"/>
                </a:lnTo>
                <a:lnTo>
                  <a:pt x="1520825" y="362645"/>
                </a:lnTo>
                <a:lnTo>
                  <a:pt x="1545035" y="353112"/>
                </a:lnTo>
                <a:lnTo>
                  <a:pt x="1550988" y="357481"/>
                </a:lnTo>
                <a:lnTo>
                  <a:pt x="1557338" y="363439"/>
                </a:lnTo>
                <a:lnTo>
                  <a:pt x="1566069" y="371383"/>
                </a:lnTo>
                <a:lnTo>
                  <a:pt x="1577578" y="382108"/>
                </a:lnTo>
                <a:lnTo>
                  <a:pt x="1589881" y="395215"/>
                </a:lnTo>
                <a:lnTo>
                  <a:pt x="1604963" y="410309"/>
                </a:lnTo>
                <a:lnTo>
                  <a:pt x="1620838" y="428183"/>
                </a:lnTo>
                <a:lnTo>
                  <a:pt x="1638697" y="449235"/>
                </a:lnTo>
                <a:lnTo>
                  <a:pt x="1656953" y="472670"/>
                </a:lnTo>
                <a:lnTo>
                  <a:pt x="1666875" y="485380"/>
                </a:lnTo>
                <a:lnTo>
                  <a:pt x="1676400" y="498885"/>
                </a:lnTo>
                <a:lnTo>
                  <a:pt x="1686719" y="512787"/>
                </a:lnTo>
                <a:lnTo>
                  <a:pt x="1696641" y="527881"/>
                </a:lnTo>
                <a:lnTo>
                  <a:pt x="1707356" y="542974"/>
                </a:lnTo>
                <a:lnTo>
                  <a:pt x="1717675" y="559657"/>
                </a:lnTo>
                <a:lnTo>
                  <a:pt x="1727994" y="576339"/>
                </a:lnTo>
                <a:lnTo>
                  <a:pt x="1738710" y="594213"/>
                </a:lnTo>
                <a:lnTo>
                  <a:pt x="1749425" y="612882"/>
                </a:lnTo>
                <a:lnTo>
                  <a:pt x="1760141" y="632345"/>
                </a:lnTo>
                <a:lnTo>
                  <a:pt x="1770460" y="651808"/>
                </a:lnTo>
                <a:lnTo>
                  <a:pt x="1781175" y="672859"/>
                </a:lnTo>
                <a:lnTo>
                  <a:pt x="1802606" y="715360"/>
                </a:lnTo>
                <a:lnTo>
                  <a:pt x="1810544" y="731645"/>
                </a:lnTo>
                <a:lnTo>
                  <a:pt x="1813322" y="739192"/>
                </a:lnTo>
                <a:lnTo>
                  <a:pt x="1816100" y="745944"/>
                </a:lnTo>
                <a:lnTo>
                  <a:pt x="1817688" y="752300"/>
                </a:lnTo>
                <a:lnTo>
                  <a:pt x="1818878" y="758258"/>
                </a:lnTo>
                <a:lnTo>
                  <a:pt x="1819275" y="764216"/>
                </a:lnTo>
                <a:lnTo>
                  <a:pt x="1819275" y="769379"/>
                </a:lnTo>
                <a:lnTo>
                  <a:pt x="1818481" y="774543"/>
                </a:lnTo>
                <a:lnTo>
                  <a:pt x="1816497" y="778912"/>
                </a:lnTo>
                <a:lnTo>
                  <a:pt x="1814116" y="783679"/>
                </a:lnTo>
                <a:lnTo>
                  <a:pt x="1810544" y="788445"/>
                </a:lnTo>
                <a:lnTo>
                  <a:pt x="1805781" y="792417"/>
                </a:lnTo>
                <a:lnTo>
                  <a:pt x="1801019" y="796786"/>
                </a:lnTo>
                <a:lnTo>
                  <a:pt x="1794272" y="801155"/>
                </a:lnTo>
                <a:lnTo>
                  <a:pt x="1787128" y="805922"/>
                </a:lnTo>
                <a:lnTo>
                  <a:pt x="1778397" y="810688"/>
                </a:lnTo>
                <a:lnTo>
                  <a:pt x="1769269" y="815852"/>
                </a:lnTo>
                <a:lnTo>
                  <a:pt x="1747044" y="826179"/>
                </a:lnTo>
                <a:lnTo>
                  <a:pt x="1720056" y="838492"/>
                </a:lnTo>
                <a:lnTo>
                  <a:pt x="1687910" y="852394"/>
                </a:lnTo>
                <a:lnTo>
                  <a:pt x="1650206" y="868680"/>
                </a:lnTo>
                <a:lnTo>
                  <a:pt x="1607741" y="888142"/>
                </a:lnTo>
                <a:lnTo>
                  <a:pt x="1568450" y="905619"/>
                </a:lnTo>
                <a:lnTo>
                  <a:pt x="1553766" y="911975"/>
                </a:lnTo>
                <a:lnTo>
                  <a:pt x="1541463" y="916344"/>
                </a:lnTo>
                <a:lnTo>
                  <a:pt x="1531144" y="919521"/>
                </a:lnTo>
                <a:lnTo>
                  <a:pt x="1526778" y="920713"/>
                </a:lnTo>
                <a:lnTo>
                  <a:pt x="1522810" y="921507"/>
                </a:lnTo>
                <a:lnTo>
                  <a:pt x="1518841" y="921905"/>
                </a:lnTo>
                <a:lnTo>
                  <a:pt x="1514872" y="921905"/>
                </a:lnTo>
                <a:lnTo>
                  <a:pt x="1511697" y="921507"/>
                </a:lnTo>
                <a:lnTo>
                  <a:pt x="1508522" y="921110"/>
                </a:lnTo>
                <a:lnTo>
                  <a:pt x="1505347" y="920316"/>
                </a:lnTo>
                <a:lnTo>
                  <a:pt x="1502569" y="919521"/>
                </a:lnTo>
                <a:lnTo>
                  <a:pt x="1496219" y="916344"/>
                </a:lnTo>
                <a:lnTo>
                  <a:pt x="1489869" y="912769"/>
                </a:lnTo>
                <a:lnTo>
                  <a:pt x="1482328" y="907605"/>
                </a:lnTo>
                <a:lnTo>
                  <a:pt x="1472803" y="902045"/>
                </a:lnTo>
                <a:lnTo>
                  <a:pt x="1462485" y="895689"/>
                </a:lnTo>
                <a:lnTo>
                  <a:pt x="1449785" y="888540"/>
                </a:lnTo>
                <a:lnTo>
                  <a:pt x="1433910" y="880993"/>
                </a:lnTo>
                <a:lnTo>
                  <a:pt x="1425178" y="876624"/>
                </a:lnTo>
                <a:lnTo>
                  <a:pt x="1415653" y="870666"/>
                </a:lnTo>
                <a:lnTo>
                  <a:pt x="1404541" y="863516"/>
                </a:lnTo>
                <a:lnTo>
                  <a:pt x="1393428" y="854778"/>
                </a:lnTo>
                <a:lnTo>
                  <a:pt x="1381522" y="845642"/>
                </a:lnTo>
                <a:lnTo>
                  <a:pt x="1368822" y="834917"/>
                </a:lnTo>
                <a:lnTo>
                  <a:pt x="1355725" y="823796"/>
                </a:lnTo>
                <a:lnTo>
                  <a:pt x="1342231" y="811483"/>
                </a:lnTo>
                <a:lnTo>
                  <a:pt x="1314053" y="785267"/>
                </a:lnTo>
                <a:lnTo>
                  <a:pt x="1284288" y="757463"/>
                </a:lnTo>
                <a:lnTo>
                  <a:pt x="1254522" y="728468"/>
                </a:lnTo>
                <a:lnTo>
                  <a:pt x="1225153" y="698677"/>
                </a:lnTo>
                <a:lnTo>
                  <a:pt x="1167606" y="642275"/>
                </a:lnTo>
                <a:lnTo>
                  <a:pt x="1141016" y="616457"/>
                </a:lnTo>
                <a:lnTo>
                  <a:pt x="1116806" y="593816"/>
                </a:lnTo>
                <a:lnTo>
                  <a:pt x="1105694" y="583886"/>
                </a:lnTo>
                <a:lnTo>
                  <a:pt x="1094978" y="574751"/>
                </a:lnTo>
                <a:lnTo>
                  <a:pt x="1085453" y="567204"/>
                </a:lnTo>
                <a:lnTo>
                  <a:pt x="1077119" y="560451"/>
                </a:lnTo>
                <a:lnTo>
                  <a:pt x="1069181" y="554890"/>
                </a:lnTo>
                <a:lnTo>
                  <a:pt x="1062435" y="551316"/>
                </a:lnTo>
                <a:lnTo>
                  <a:pt x="1056878" y="548535"/>
                </a:lnTo>
                <a:lnTo>
                  <a:pt x="1054100" y="547741"/>
                </a:lnTo>
                <a:lnTo>
                  <a:pt x="1052116" y="547741"/>
                </a:lnTo>
                <a:lnTo>
                  <a:pt x="1042591" y="547741"/>
                </a:lnTo>
                <a:lnTo>
                  <a:pt x="1028700" y="548535"/>
                </a:lnTo>
                <a:lnTo>
                  <a:pt x="992585" y="550918"/>
                </a:lnTo>
                <a:lnTo>
                  <a:pt x="949325" y="553302"/>
                </a:lnTo>
                <a:lnTo>
                  <a:pt x="902494" y="556479"/>
                </a:lnTo>
                <a:lnTo>
                  <a:pt x="820341" y="562835"/>
                </a:lnTo>
                <a:lnTo>
                  <a:pt x="784622" y="566012"/>
                </a:lnTo>
                <a:lnTo>
                  <a:pt x="760810" y="542180"/>
                </a:lnTo>
                <a:lnTo>
                  <a:pt x="755650" y="532250"/>
                </a:lnTo>
                <a:lnTo>
                  <a:pt x="752078" y="521526"/>
                </a:lnTo>
                <a:lnTo>
                  <a:pt x="748506" y="511596"/>
                </a:lnTo>
                <a:lnTo>
                  <a:pt x="746522" y="500871"/>
                </a:lnTo>
                <a:lnTo>
                  <a:pt x="745331" y="490544"/>
                </a:lnTo>
                <a:lnTo>
                  <a:pt x="744935" y="480217"/>
                </a:lnTo>
                <a:lnTo>
                  <a:pt x="745728" y="470287"/>
                </a:lnTo>
                <a:lnTo>
                  <a:pt x="746919" y="459959"/>
                </a:lnTo>
                <a:lnTo>
                  <a:pt x="748903" y="450029"/>
                </a:lnTo>
                <a:lnTo>
                  <a:pt x="752078" y="440099"/>
                </a:lnTo>
                <a:lnTo>
                  <a:pt x="755650" y="430566"/>
                </a:lnTo>
                <a:lnTo>
                  <a:pt x="760016" y="420636"/>
                </a:lnTo>
                <a:lnTo>
                  <a:pt x="765175" y="411501"/>
                </a:lnTo>
                <a:lnTo>
                  <a:pt x="771128" y="402365"/>
                </a:lnTo>
                <a:lnTo>
                  <a:pt x="777875" y="393229"/>
                </a:lnTo>
                <a:lnTo>
                  <a:pt x="785019" y="384888"/>
                </a:lnTo>
                <a:lnTo>
                  <a:pt x="749697" y="362645"/>
                </a:lnTo>
                <a:lnTo>
                  <a:pt x="711994" y="339210"/>
                </a:lnTo>
                <a:lnTo>
                  <a:pt x="648494" y="300682"/>
                </a:lnTo>
                <a:lnTo>
                  <a:pt x="635000" y="307037"/>
                </a:lnTo>
                <a:lnTo>
                  <a:pt x="617538" y="316172"/>
                </a:lnTo>
                <a:lnTo>
                  <a:pt x="596503" y="327691"/>
                </a:lnTo>
                <a:lnTo>
                  <a:pt x="572294" y="341593"/>
                </a:lnTo>
                <a:lnTo>
                  <a:pt x="545306" y="357879"/>
                </a:lnTo>
                <a:lnTo>
                  <a:pt x="531019" y="367014"/>
                </a:lnTo>
                <a:lnTo>
                  <a:pt x="516335" y="377341"/>
                </a:lnTo>
                <a:lnTo>
                  <a:pt x="500856" y="387669"/>
                </a:lnTo>
                <a:lnTo>
                  <a:pt x="484585" y="399187"/>
                </a:lnTo>
                <a:lnTo>
                  <a:pt x="467915" y="411501"/>
                </a:lnTo>
                <a:lnTo>
                  <a:pt x="450850" y="424211"/>
                </a:lnTo>
                <a:lnTo>
                  <a:pt x="438150" y="434141"/>
                </a:lnTo>
                <a:lnTo>
                  <a:pt x="432990" y="439702"/>
                </a:lnTo>
                <a:lnTo>
                  <a:pt x="415131" y="456782"/>
                </a:lnTo>
                <a:lnTo>
                  <a:pt x="398859" y="473464"/>
                </a:lnTo>
                <a:lnTo>
                  <a:pt x="382984" y="490544"/>
                </a:lnTo>
                <a:lnTo>
                  <a:pt x="368300" y="506829"/>
                </a:lnTo>
                <a:lnTo>
                  <a:pt x="354409" y="523909"/>
                </a:lnTo>
                <a:lnTo>
                  <a:pt x="341312" y="539797"/>
                </a:lnTo>
                <a:lnTo>
                  <a:pt x="329009" y="555685"/>
                </a:lnTo>
                <a:lnTo>
                  <a:pt x="317500" y="570779"/>
                </a:lnTo>
                <a:lnTo>
                  <a:pt x="387350" y="732042"/>
                </a:lnTo>
                <a:lnTo>
                  <a:pt x="401240" y="724098"/>
                </a:lnTo>
                <a:lnTo>
                  <a:pt x="406400" y="721318"/>
                </a:lnTo>
                <a:lnTo>
                  <a:pt x="413147" y="720523"/>
                </a:lnTo>
                <a:lnTo>
                  <a:pt x="419497" y="719729"/>
                </a:lnTo>
                <a:lnTo>
                  <a:pt x="425053" y="719729"/>
                </a:lnTo>
                <a:lnTo>
                  <a:pt x="430609" y="720523"/>
                </a:lnTo>
                <a:lnTo>
                  <a:pt x="436165" y="721715"/>
                </a:lnTo>
                <a:lnTo>
                  <a:pt x="441325" y="722907"/>
                </a:lnTo>
                <a:lnTo>
                  <a:pt x="446484" y="724495"/>
                </a:lnTo>
                <a:lnTo>
                  <a:pt x="450850" y="726482"/>
                </a:lnTo>
                <a:lnTo>
                  <a:pt x="455215" y="729262"/>
                </a:lnTo>
                <a:lnTo>
                  <a:pt x="459581" y="731645"/>
                </a:lnTo>
                <a:lnTo>
                  <a:pt x="463550" y="734823"/>
                </a:lnTo>
                <a:lnTo>
                  <a:pt x="467519" y="738000"/>
                </a:lnTo>
                <a:lnTo>
                  <a:pt x="474265" y="744753"/>
                </a:lnTo>
                <a:lnTo>
                  <a:pt x="481013" y="752300"/>
                </a:lnTo>
                <a:lnTo>
                  <a:pt x="486966" y="759846"/>
                </a:lnTo>
                <a:lnTo>
                  <a:pt x="492125" y="768188"/>
                </a:lnTo>
                <a:lnTo>
                  <a:pt x="502047" y="783281"/>
                </a:lnTo>
                <a:lnTo>
                  <a:pt x="506413" y="790034"/>
                </a:lnTo>
                <a:lnTo>
                  <a:pt x="510778" y="795992"/>
                </a:lnTo>
                <a:lnTo>
                  <a:pt x="515541" y="800361"/>
                </a:lnTo>
                <a:lnTo>
                  <a:pt x="517525" y="802744"/>
                </a:lnTo>
                <a:lnTo>
                  <a:pt x="519510" y="803936"/>
                </a:lnTo>
                <a:lnTo>
                  <a:pt x="525860" y="807511"/>
                </a:lnTo>
                <a:lnTo>
                  <a:pt x="531416" y="811483"/>
                </a:lnTo>
                <a:lnTo>
                  <a:pt x="536972" y="815852"/>
                </a:lnTo>
                <a:lnTo>
                  <a:pt x="541735" y="819427"/>
                </a:lnTo>
                <a:lnTo>
                  <a:pt x="550466" y="827371"/>
                </a:lnTo>
                <a:lnTo>
                  <a:pt x="558006" y="834917"/>
                </a:lnTo>
                <a:lnTo>
                  <a:pt x="564356" y="843259"/>
                </a:lnTo>
                <a:lnTo>
                  <a:pt x="569516" y="850806"/>
                </a:lnTo>
                <a:lnTo>
                  <a:pt x="573881" y="858352"/>
                </a:lnTo>
                <a:lnTo>
                  <a:pt x="577850" y="865899"/>
                </a:lnTo>
                <a:lnTo>
                  <a:pt x="584597" y="879404"/>
                </a:lnTo>
                <a:lnTo>
                  <a:pt x="587375" y="885759"/>
                </a:lnTo>
                <a:lnTo>
                  <a:pt x="590550" y="891717"/>
                </a:lnTo>
                <a:lnTo>
                  <a:pt x="594122" y="896881"/>
                </a:lnTo>
                <a:lnTo>
                  <a:pt x="598091" y="901250"/>
                </a:lnTo>
                <a:lnTo>
                  <a:pt x="602456" y="905619"/>
                </a:lnTo>
                <a:lnTo>
                  <a:pt x="604838" y="907208"/>
                </a:lnTo>
                <a:lnTo>
                  <a:pt x="607616" y="908797"/>
                </a:lnTo>
                <a:lnTo>
                  <a:pt x="613569" y="912372"/>
                </a:lnTo>
                <a:lnTo>
                  <a:pt x="618728" y="915549"/>
                </a:lnTo>
                <a:lnTo>
                  <a:pt x="624285" y="919124"/>
                </a:lnTo>
                <a:lnTo>
                  <a:pt x="629047" y="922699"/>
                </a:lnTo>
                <a:lnTo>
                  <a:pt x="633413" y="926274"/>
                </a:lnTo>
                <a:lnTo>
                  <a:pt x="637778" y="929849"/>
                </a:lnTo>
                <a:lnTo>
                  <a:pt x="645319" y="938190"/>
                </a:lnTo>
                <a:lnTo>
                  <a:pt x="651669" y="946134"/>
                </a:lnTo>
                <a:lnTo>
                  <a:pt x="657622" y="954078"/>
                </a:lnTo>
                <a:lnTo>
                  <a:pt x="661988" y="962022"/>
                </a:lnTo>
                <a:lnTo>
                  <a:pt x="665956" y="969966"/>
                </a:lnTo>
                <a:lnTo>
                  <a:pt x="669528" y="977116"/>
                </a:lnTo>
                <a:lnTo>
                  <a:pt x="671910" y="983868"/>
                </a:lnTo>
                <a:lnTo>
                  <a:pt x="673894" y="990223"/>
                </a:lnTo>
                <a:lnTo>
                  <a:pt x="675085" y="995784"/>
                </a:lnTo>
                <a:lnTo>
                  <a:pt x="677069" y="1003331"/>
                </a:lnTo>
                <a:lnTo>
                  <a:pt x="677466" y="1006509"/>
                </a:lnTo>
                <a:lnTo>
                  <a:pt x="681038" y="1008892"/>
                </a:lnTo>
                <a:lnTo>
                  <a:pt x="691356" y="1016439"/>
                </a:lnTo>
                <a:lnTo>
                  <a:pt x="698103" y="1021999"/>
                </a:lnTo>
                <a:lnTo>
                  <a:pt x="705644" y="1028752"/>
                </a:lnTo>
                <a:lnTo>
                  <a:pt x="713185" y="1036299"/>
                </a:lnTo>
                <a:lnTo>
                  <a:pt x="721519" y="1045037"/>
                </a:lnTo>
                <a:lnTo>
                  <a:pt x="729456" y="1055364"/>
                </a:lnTo>
                <a:lnTo>
                  <a:pt x="733425" y="1060925"/>
                </a:lnTo>
                <a:lnTo>
                  <a:pt x="737394" y="1066486"/>
                </a:lnTo>
                <a:lnTo>
                  <a:pt x="740966" y="1072047"/>
                </a:lnTo>
                <a:lnTo>
                  <a:pt x="744538" y="1078005"/>
                </a:lnTo>
                <a:lnTo>
                  <a:pt x="747316" y="1084757"/>
                </a:lnTo>
                <a:lnTo>
                  <a:pt x="750094" y="1091112"/>
                </a:lnTo>
                <a:lnTo>
                  <a:pt x="753269" y="1097865"/>
                </a:lnTo>
                <a:lnTo>
                  <a:pt x="755253" y="1105014"/>
                </a:lnTo>
                <a:lnTo>
                  <a:pt x="757635" y="1112164"/>
                </a:lnTo>
                <a:lnTo>
                  <a:pt x="759222" y="1120108"/>
                </a:lnTo>
                <a:lnTo>
                  <a:pt x="760016" y="1128052"/>
                </a:lnTo>
                <a:lnTo>
                  <a:pt x="760810" y="1135599"/>
                </a:lnTo>
                <a:lnTo>
                  <a:pt x="760810" y="1143940"/>
                </a:lnTo>
                <a:lnTo>
                  <a:pt x="760413" y="1152281"/>
                </a:lnTo>
                <a:lnTo>
                  <a:pt x="760016" y="1157048"/>
                </a:lnTo>
                <a:lnTo>
                  <a:pt x="759222" y="1162211"/>
                </a:lnTo>
                <a:lnTo>
                  <a:pt x="756841" y="1171347"/>
                </a:lnTo>
                <a:lnTo>
                  <a:pt x="753666" y="1181277"/>
                </a:lnTo>
                <a:lnTo>
                  <a:pt x="749697" y="1190016"/>
                </a:lnTo>
                <a:lnTo>
                  <a:pt x="744935" y="1199151"/>
                </a:lnTo>
                <a:lnTo>
                  <a:pt x="739378" y="1207492"/>
                </a:lnTo>
                <a:lnTo>
                  <a:pt x="733028" y="1216628"/>
                </a:lnTo>
                <a:lnTo>
                  <a:pt x="726281" y="1224572"/>
                </a:lnTo>
                <a:lnTo>
                  <a:pt x="864394" y="1334200"/>
                </a:lnTo>
                <a:lnTo>
                  <a:pt x="871538" y="1340158"/>
                </a:lnTo>
                <a:lnTo>
                  <a:pt x="871935" y="1340555"/>
                </a:lnTo>
                <a:lnTo>
                  <a:pt x="872728" y="1340555"/>
                </a:lnTo>
                <a:lnTo>
                  <a:pt x="891381" y="1356046"/>
                </a:lnTo>
                <a:lnTo>
                  <a:pt x="908050" y="1369153"/>
                </a:lnTo>
                <a:lnTo>
                  <a:pt x="915194" y="1374317"/>
                </a:lnTo>
                <a:lnTo>
                  <a:pt x="921941" y="1379083"/>
                </a:lnTo>
                <a:lnTo>
                  <a:pt x="927894" y="1382658"/>
                </a:lnTo>
                <a:lnTo>
                  <a:pt x="933847" y="1386233"/>
                </a:lnTo>
                <a:lnTo>
                  <a:pt x="939006" y="1388219"/>
                </a:lnTo>
                <a:lnTo>
                  <a:pt x="944563" y="1389808"/>
                </a:lnTo>
                <a:lnTo>
                  <a:pt x="949722" y="1390205"/>
                </a:lnTo>
                <a:lnTo>
                  <a:pt x="954881" y="1390205"/>
                </a:lnTo>
                <a:lnTo>
                  <a:pt x="960041" y="1389411"/>
                </a:lnTo>
                <a:lnTo>
                  <a:pt x="965200" y="1387822"/>
                </a:lnTo>
                <a:lnTo>
                  <a:pt x="971153" y="1385041"/>
                </a:lnTo>
                <a:lnTo>
                  <a:pt x="977106" y="1381467"/>
                </a:lnTo>
                <a:lnTo>
                  <a:pt x="983456" y="1376700"/>
                </a:lnTo>
                <a:lnTo>
                  <a:pt x="990203" y="1371934"/>
                </a:lnTo>
                <a:lnTo>
                  <a:pt x="994966" y="1367962"/>
                </a:lnTo>
                <a:lnTo>
                  <a:pt x="998538" y="1364387"/>
                </a:lnTo>
                <a:lnTo>
                  <a:pt x="1002506" y="1360415"/>
                </a:lnTo>
                <a:lnTo>
                  <a:pt x="1005285" y="1356443"/>
                </a:lnTo>
                <a:lnTo>
                  <a:pt x="1008063" y="1353265"/>
                </a:lnTo>
                <a:lnTo>
                  <a:pt x="1009650" y="1349691"/>
                </a:lnTo>
                <a:lnTo>
                  <a:pt x="1010841" y="1346513"/>
                </a:lnTo>
                <a:lnTo>
                  <a:pt x="1011238" y="1343732"/>
                </a:lnTo>
                <a:lnTo>
                  <a:pt x="1011238" y="1341746"/>
                </a:lnTo>
                <a:lnTo>
                  <a:pt x="1010841" y="1339760"/>
                </a:lnTo>
                <a:lnTo>
                  <a:pt x="1009650" y="1336980"/>
                </a:lnTo>
                <a:lnTo>
                  <a:pt x="1008460" y="1334994"/>
                </a:lnTo>
                <a:lnTo>
                  <a:pt x="1007269" y="1334200"/>
                </a:lnTo>
                <a:lnTo>
                  <a:pt x="972344" y="1296466"/>
                </a:lnTo>
                <a:lnTo>
                  <a:pt x="846138" y="1173333"/>
                </a:lnTo>
                <a:lnTo>
                  <a:pt x="843756" y="1170950"/>
                </a:lnTo>
                <a:lnTo>
                  <a:pt x="841772" y="1168169"/>
                </a:lnTo>
                <a:lnTo>
                  <a:pt x="839788" y="1164992"/>
                </a:lnTo>
                <a:lnTo>
                  <a:pt x="838200" y="1162211"/>
                </a:lnTo>
                <a:lnTo>
                  <a:pt x="837010" y="1158637"/>
                </a:lnTo>
                <a:lnTo>
                  <a:pt x="836216" y="1155856"/>
                </a:lnTo>
                <a:lnTo>
                  <a:pt x="835819" y="1152281"/>
                </a:lnTo>
                <a:lnTo>
                  <a:pt x="835422" y="1149104"/>
                </a:lnTo>
                <a:lnTo>
                  <a:pt x="835819" y="1145529"/>
                </a:lnTo>
                <a:lnTo>
                  <a:pt x="836216" y="1142351"/>
                </a:lnTo>
                <a:lnTo>
                  <a:pt x="836613" y="1138777"/>
                </a:lnTo>
                <a:lnTo>
                  <a:pt x="837803" y="1135996"/>
                </a:lnTo>
                <a:lnTo>
                  <a:pt x="839391" y="1132421"/>
                </a:lnTo>
                <a:lnTo>
                  <a:pt x="840978" y="1129641"/>
                </a:lnTo>
                <a:lnTo>
                  <a:pt x="842963" y="1126861"/>
                </a:lnTo>
                <a:lnTo>
                  <a:pt x="845741" y="1124080"/>
                </a:lnTo>
                <a:lnTo>
                  <a:pt x="848122" y="1121697"/>
                </a:lnTo>
                <a:lnTo>
                  <a:pt x="850900" y="1119314"/>
                </a:lnTo>
                <a:lnTo>
                  <a:pt x="854075" y="1117725"/>
                </a:lnTo>
                <a:lnTo>
                  <a:pt x="856853" y="1116136"/>
                </a:lnTo>
                <a:lnTo>
                  <a:pt x="860028" y="1115342"/>
                </a:lnTo>
                <a:lnTo>
                  <a:pt x="863203" y="1114547"/>
                </a:lnTo>
                <a:lnTo>
                  <a:pt x="866775" y="1113753"/>
                </a:lnTo>
                <a:lnTo>
                  <a:pt x="869950" y="1113753"/>
                </a:lnTo>
                <a:lnTo>
                  <a:pt x="873522" y="1113753"/>
                </a:lnTo>
                <a:lnTo>
                  <a:pt x="876697" y="1114150"/>
                </a:lnTo>
                <a:lnTo>
                  <a:pt x="879872" y="1114944"/>
                </a:lnTo>
                <a:lnTo>
                  <a:pt x="883047" y="1116136"/>
                </a:lnTo>
                <a:lnTo>
                  <a:pt x="886222" y="1117328"/>
                </a:lnTo>
                <a:lnTo>
                  <a:pt x="889000" y="1118916"/>
                </a:lnTo>
                <a:lnTo>
                  <a:pt x="891778" y="1121300"/>
                </a:lnTo>
                <a:lnTo>
                  <a:pt x="894953" y="1123286"/>
                </a:lnTo>
                <a:lnTo>
                  <a:pt x="1063625" y="1287330"/>
                </a:lnTo>
                <a:lnTo>
                  <a:pt x="1063625" y="1286933"/>
                </a:lnTo>
                <a:lnTo>
                  <a:pt x="1071563" y="1294877"/>
                </a:lnTo>
                <a:lnTo>
                  <a:pt x="1073944" y="1298054"/>
                </a:lnTo>
                <a:lnTo>
                  <a:pt x="1092200" y="1315531"/>
                </a:lnTo>
                <a:lnTo>
                  <a:pt x="1110060" y="1332611"/>
                </a:lnTo>
                <a:lnTo>
                  <a:pt x="1117203" y="1339760"/>
                </a:lnTo>
                <a:lnTo>
                  <a:pt x="1123950" y="1345718"/>
                </a:lnTo>
                <a:lnTo>
                  <a:pt x="1130300" y="1350485"/>
                </a:lnTo>
                <a:lnTo>
                  <a:pt x="1135460" y="1354060"/>
                </a:lnTo>
                <a:lnTo>
                  <a:pt x="1141016" y="1356443"/>
                </a:lnTo>
                <a:lnTo>
                  <a:pt x="1145778" y="1358429"/>
                </a:lnTo>
                <a:lnTo>
                  <a:pt x="1150938" y="1359223"/>
                </a:lnTo>
                <a:lnTo>
                  <a:pt x="1155303" y="1358826"/>
                </a:lnTo>
                <a:lnTo>
                  <a:pt x="1160066" y="1357635"/>
                </a:lnTo>
                <a:lnTo>
                  <a:pt x="1164828" y="1354854"/>
                </a:lnTo>
                <a:lnTo>
                  <a:pt x="1169591" y="1351677"/>
                </a:lnTo>
                <a:lnTo>
                  <a:pt x="1175147" y="1347307"/>
                </a:lnTo>
                <a:lnTo>
                  <a:pt x="1181100" y="1341746"/>
                </a:lnTo>
                <a:lnTo>
                  <a:pt x="1187847" y="1335788"/>
                </a:lnTo>
                <a:lnTo>
                  <a:pt x="1193403" y="1330228"/>
                </a:lnTo>
                <a:lnTo>
                  <a:pt x="1198166" y="1324667"/>
                </a:lnTo>
                <a:lnTo>
                  <a:pt x="1201738" y="1319106"/>
                </a:lnTo>
                <a:lnTo>
                  <a:pt x="1205310" y="1313942"/>
                </a:lnTo>
                <a:lnTo>
                  <a:pt x="1207294" y="1309176"/>
                </a:lnTo>
                <a:lnTo>
                  <a:pt x="1209278" y="1304807"/>
                </a:lnTo>
                <a:lnTo>
                  <a:pt x="1210469" y="1300835"/>
                </a:lnTo>
                <a:lnTo>
                  <a:pt x="1211263" y="1297260"/>
                </a:lnTo>
                <a:lnTo>
                  <a:pt x="1211660" y="1293288"/>
                </a:lnTo>
                <a:lnTo>
                  <a:pt x="1211660" y="1290507"/>
                </a:lnTo>
                <a:lnTo>
                  <a:pt x="1211263" y="1287330"/>
                </a:lnTo>
                <a:lnTo>
                  <a:pt x="1210072" y="1284947"/>
                </a:lnTo>
                <a:lnTo>
                  <a:pt x="1208485" y="1280180"/>
                </a:lnTo>
                <a:lnTo>
                  <a:pt x="1206897" y="1277400"/>
                </a:lnTo>
                <a:lnTo>
                  <a:pt x="1161653" y="1233310"/>
                </a:lnTo>
                <a:lnTo>
                  <a:pt x="1159272" y="1230530"/>
                </a:lnTo>
                <a:lnTo>
                  <a:pt x="1156494" y="1227352"/>
                </a:lnTo>
                <a:lnTo>
                  <a:pt x="1154906" y="1224175"/>
                </a:lnTo>
                <a:lnTo>
                  <a:pt x="1153319" y="1220600"/>
                </a:lnTo>
                <a:lnTo>
                  <a:pt x="927894" y="1004920"/>
                </a:lnTo>
                <a:lnTo>
                  <a:pt x="925116" y="1002139"/>
                </a:lnTo>
                <a:lnTo>
                  <a:pt x="923131" y="999359"/>
                </a:lnTo>
                <a:lnTo>
                  <a:pt x="921544" y="996181"/>
                </a:lnTo>
                <a:lnTo>
                  <a:pt x="919560" y="993401"/>
                </a:lnTo>
                <a:lnTo>
                  <a:pt x="918369" y="989826"/>
                </a:lnTo>
                <a:lnTo>
                  <a:pt x="917575" y="986648"/>
                </a:lnTo>
                <a:lnTo>
                  <a:pt x="917178" y="983074"/>
                </a:lnTo>
                <a:lnTo>
                  <a:pt x="916781" y="979896"/>
                </a:lnTo>
                <a:lnTo>
                  <a:pt x="916781" y="976321"/>
                </a:lnTo>
                <a:lnTo>
                  <a:pt x="917178" y="973144"/>
                </a:lnTo>
                <a:lnTo>
                  <a:pt x="917972" y="969569"/>
                </a:lnTo>
                <a:lnTo>
                  <a:pt x="919163" y="966391"/>
                </a:lnTo>
                <a:lnTo>
                  <a:pt x="920750" y="962816"/>
                </a:lnTo>
                <a:lnTo>
                  <a:pt x="922338" y="960036"/>
                </a:lnTo>
                <a:lnTo>
                  <a:pt x="924322" y="956858"/>
                </a:lnTo>
                <a:lnTo>
                  <a:pt x="927100" y="954078"/>
                </a:lnTo>
                <a:lnTo>
                  <a:pt x="929481" y="952092"/>
                </a:lnTo>
                <a:lnTo>
                  <a:pt x="932260" y="949311"/>
                </a:lnTo>
                <a:lnTo>
                  <a:pt x="935435" y="947723"/>
                </a:lnTo>
                <a:lnTo>
                  <a:pt x="938213" y="946134"/>
                </a:lnTo>
                <a:lnTo>
                  <a:pt x="941785" y="944942"/>
                </a:lnTo>
                <a:lnTo>
                  <a:pt x="944960" y="944148"/>
                </a:lnTo>
                <a:lnTo>
                  <a:pt x="948531" y="943353"/>
                </a:lnTo>
                <a:lnTo>
                  <a:pt x="951706" y="942956"/>
                </a:lnTo>
                <a:lnTo>
                  <a:pt x="955278" y="942956"/>
                </a:lnTo>
                <a:lnTo>
                  <a:pt x="958453" y="943353"/>
                </a:lnTo>
                <a:lnTo>
                  <a:pt x="962025" y="944545"/>
                </a:lnTo>
                <a:lnTo>
                  <a:pt x="965200" y="945737"/>
                </a:lnTo>
                <a:lnTo>
                  <a:pt x="968772" y="946928"/>
                </a:lnTo>
                <a:lnTo>
                  <a:pt x="971550" y="948517"/>
                </a:lnTo>
                <a:lnTo>
                  <a:pt x="974725" y="950900"/>
                </a:lnTo>
                <a:lnTo>
                  <a:pt x="977503" y="953284"/>
                </a:lnTo>
                <a:lnTo>
                  <a:pt x="1214041" y="1179291"/>
                </a:lnTo>
                <a:lnTo>
                  <a:pt x="1216819" y="1182469"/>
                </a:lnTo>
                <a:lnTo>
                  <a:pt x="1235472" y="1199946"/>
                </a:lnTo>
                <a:lnTo>
                  <a:pt x="1254125" y="1217422"/>
                </a:lnTo>
                <a:lnTo>
                  <a:pt x="1262063" y="1224572"/>
                </a:lnTo>
                <a:lnTo>
                  <a:pt x="1268810" y="1230530"/>
                </a:lnTo>
                <a:lnTo>
                  <a:pt x="1275556" y="1235694"/>
                </a:lnTo>
                <a:lnTo>
                  <a:pt x="1281510" y="1239269"/>
                </a:lnTo>
                <a:lnTo>
                  <a:pt x="1287066" y="1242049"/>
                </a:lnTo>
                <a:lnTo>
                  <a:pt x="1292622" y="1244035"/>
                </a:lnTo>
                <a:lnTo>
                  <a:pt x="1297385" y="1244432"/>
                </a:lnTo>
                <a:lnTo>
                  <a:pt x="1299766" y="1244432"/>
                </a:lnTo>
                <a:lnTo>
                  <a:pt x="1302147" y="1244035"/>
                </a:lnTo>
                <a:lnTo>
                  <a:pt x="1307306" y="1242843"/>
                </a:lnTo>
                <a:lnTo>
                  <a:pt x="1312863" y="1240063"/>
                </a:lnTo>
                <a:lnTo>
                  <a:pt x="1317625" y="1236885"/>
                </a:lnTo>
                <a:lnTo>
                  <a:pt x="1323578" y="1232516"/>
                </a:lnTo>
                <a:lnTo>
                  <a:pt x="1329928" y="1226955"/>
                </a:lnTo>
                <a:lnTo>
                  <a:pt x="1336675" y="1220600"/>
                </a:lnTo>
                <a:lnTo>
                  <a:pt x="1343422" y="1213848"/>
                </a:lnTo>
                <a:lnTo>
                  <a:pt x="1348978" y="1207492"/>
                </a:lnTo>
                <a:lnTo>
                  <a:pt x="1352947" y="1201932"/>
                </a:lnTo>
                <a:lnTo>
                  <a:pt x="1356122" y="1196371"/>
                </a:lnTo>
                <a:lnTo>
                  <a:pt x="1358503" y="1191207"/>
                </a:lnTo>
                <a:lnTo>
                  <a:pt x="1360488" y="1186044"/>
                </a:lnTo>
                <a:lnTo>
                  <a:pt x="1361281" y="1182072"/>
                </a:lnTo>
                <a:lnTo>
                  <a:pt x="1361678" y="1178099"/>
                </a:lnTo>
                <a:lnTo>
                  <a:pt x="1361281" y="1174922"/>
                </a:lnTo>
                <a:lnTo>
                  <a:pt x="1360885" y="1171744"/>
                </a:lnTo>
                <a:lnTo>
                  <a:pt x="1359694" y="1168964"/>
                </a:lnTo>
                <a:lnTo>
                  <a:pt x="1359297" y="1166581"/>
                </a:lnTo>
                <a:lnTo>
                  <a:pt x="1357710" y="1164197"/>
                </a:lnTo>
                <a:lnTo>
                  <a:pt x="1356916" y="1163006"/>
                </a:lnTo>
                <a:lnTo>
                  <a:pt x="1309688" y="1118519"/>
                </a:lnTo>
                <a:lnTo>
                  <a:pt x="1307703" y="1116533"/>
                </a:lnTo>
                <a:lnTo>
                  <a:pt x="1306116" y="1114150"/>
                </a:lnTo>
                <a:lnTo>
                  <a:pt x="1302544" y="1108986"/>
                </a:lnTo>
                <a:lnTo>
                  <a:pt x="1299369" y="1105412"/>
                </a:lnTo>
                <a:lnTo>
                  <a:pt x="1279128" y="1084757"/>
                </a:lnTo>
                <a:lnTo>
                  <a:pt x="1278335" y="1084360"/>
                </a:lnTo>
                <a:lnTo>
                  <a:pt x="1048941" y="854778"/>
                </a:lnTo>
                <a:lnTo>
                  <a:pt x="1046163" y="851997"/>
                </a:lnTo>
                <a:lnTo>
                  <a:pt x="1044178" y="849217"/>
                </a:lnTo>
                <a:lnTo>
                  <a:pt x="1042591" y="846039"/>
                </a:lnTo>
                <a:lnTo>
                  <a:pt x="1041003" y="843259"/>
                </a:lnTo>
                <a:lnTo>
                  <a:pt x="1039813" y="839684"/>
                </a:lnTo>
                <a:lnTo>
                  <a:pt x="1039019" y="836506"/>
                </a:lnTo>
                <a:lnTo>
                  <a:pt x="1038622" y="832931"/>
                </a:lnTo>
                <a:lnTo>
                  <a:pt x="1038622" y="829754"/>
                </a:lnTo>
                <a:lnTo>
                  <a:pt x="1038622" y="826179"/>
                </a:lnTo>
                <a:lnTo>
                  <a:pt x="1039019" y="823001"/>
                </a:lnTo>
                <a:lnTo>
                  <a:pt x="1039813" y="819427"/>
                </a:lnTo>
                <a:lnTo>
                  <a:pt x="1041003" y="816249"/>
                </a:lnTo>
                <a:lnTo>
                  <a:pt x="1042591" y="813071"/>
                </a:lnTo>
                <a:lnTo>
                  <a:pt x="1044178" y="810291"/>
                </a:lnTo>
                <a:lnTo>
                  <a:pt x="1046163" y="807113"/>
                </a:lnTo>
                <a:lnTo>
                  <a:pt x="1048941" y="804730"/>
                </a:lnTo>
                <a:lnTo>
                  <a:pt x="1051719" y="802347"/>
                </a:lnTo>
                <a:lnTo>
                  <a:pt x="1054100" y="799964"/>
                </a:lnTo>
                <a:lnTo>
                  <a:pt x="1057672" y="798375"/>
                </a:lnTo>
                <a:lnTo>
                  <a:pt x="1060450" y="796786"/>
                </a:lnTo>
                <a:lnTo>
                  <a:pt x="1064022" y="795595"/>
                </a:lnTo>
                <a:lnTo>
                  <a:pt x="1067197" y="794800"/>
                </a:lnTo>
                <a:lnTo>
                  <a:pt x="1070769" y="794006"/>
                </a:lnTo>
                <a:lnTo>
                  <a:pt x="1073944" y="794006"/>
                </a:lnTo>
                <a:lnTo>
                  <a:pt x="1077516" y="794006"/>
                </a:lnTo>
                <a:lnTo>
                  <a:pt x="1080691" y="794800"/>
                </a:lnTo>
                <a:lnTo>
                  <a:pt x="1084263" y="795595"/>
                </a:lnTo>
                <a:lnTo>
                  <a:pt x="1087041" y="796786"/>
                </a:lnTo>
                <a:lnTo>
                  <a:pt x="1090613" y="798375"/>
                </a:lnTo>
                <a:lnTo>
                  <a:pt x="1093391" y="799964"/>
                </a:lnTo>
                <a:lnTo>
                  <a:pt x="1096566" y="802347"/>
                </a:lnTo>
                <a:lnTo>
                  <a:pt x="1098947" y="804730"/>
                </a:lnTo>
                <a:lnTo>
                  <a:pt x="1328738" y="1034313"/>
                </a:lnTo>
                <a:lnTo>
                  <a:pt x="1331119" y="1037093"/>
                </a:lnTo>
                <a:lnTo>
                  <a:pt x="1349375" y="1055364"/>
                </a:lnTo>
                <a:lnTo>
                  <a:pt x="1364456" y="1070061"/>
                </a:lnTo>
                <a:lnTo>
                  <a:pt x="1371600" y="1076813"/>
                </a:lnTo>
                <a:lnTo>
                  <a:pt x="1378347" y="1083168"/>
                </a:lnTo>
                <a:lnTo>
                  <a:pt x="1385094" y="1088729"/>
                </a:lnTo>
                <a:lnTo>
                  <a:pt x="1391444" y="1093496"/>
                </a:lnTo>
                <a:lnTo>
                  <a:pt x="1397397" y="1096673"/>
                </a:lnTo>
                <a:lnTo>
                  <a:pt x="1400175" y="1097865"/>
                </a:lnTo>
                <a:lnTo>
                  <a:pt x="1402953" y="1098659"/>
                </a:lnTo>
                <a:lnTo>
                  <a:pt x="1404541" y="1099056"/>
                </a:lnTo>
                <a:lnTo>
                  <a:pt x="1407716" y="1099851"/>
                </a:lnTo>
                <a:lnTo>
                  <a:pt x="1410891" y="1099056"/>
                </a:lnTo>
                <a:lnTo>
                  <a:pt x="1415653" y="1098262"/>
                </a:lnTo>
                <a:lnTo>
                  <a:pt x="1421210" y="1095879"/>
                </a:lnTo>
                <a:lnTo>
                  <a:pt x="1424385" y="1093893"/>
                </a:lnTo>
                <a:lnTo>
                  <a:pt x="1427956" y="1091112"/>
                </a:lnTo>
                <a:lnTo>
                  <a:pt x="1431528" y="1088729"/>
                </a:lnTo>
                <a:lnTo>
                  <a:pt x="1435894" y="1084757"/>
                </a:lnTo>
                <a:lnTo>
                  <a:pt x="1440260" y="1081182"/>
                </a:lnTo>
                <a:lnTo>
                  <a:pt x="1445419" y="1076019"/>
                </a:lnTo>
                <a:lnTo>
                  <a:pt x="1452166" y="1068869"/>
                </a:lnTo>
                <a:lnTo>
                  <a:pt x="1457325" y="1062514"/>
                </a:lnTo>
                <a:lnTo>
                  <a:pt x="1461294" y="1056159"/>
                </a:lnTo>
                <a:lnTo>
                  <a:pt x="1464866" y="1050201"/>
                </a:lnTo>
                <a:lnTo>
                  <a:pt x="1466850" y="1044640"/>
                </a:lnTo>
                <a:lnTo>
                  <a:pt x="1468835" y="1039873"/>
                </a:lnTo>
                <a:lnTo>
                  <a:pt x="1469628" y="1035504"/>
                </a:lnTo>
                <a:lnTo>
                  <a:pt x="1470025" y="1031135"/>
                </a:lnTo>
                <a:lnTo>
                  <a:pt x="1469628" y="1027560"/>
                </a:lnTo>
                <a:lnTo>
                  <a:pt x="1469231" y="1024383"/>
                </a:lnTo>
                <a:lnTo>
                  <a:pt x="1468041" y="1021602"/>
                </a:lnTo>
                <a:lnTo>
                  <a:pt x="1467247" y="1019616"/>
                </a:lnTo>
                <a:lnTo>
                  <a:pt x="1465660" y="1016041"/>
                </a:lnTo>
                <a:lnTo>
                  <a:pt x="1464866" y="1015247"/>
                </a:lnTo>
                <a:lnTo>
                  <a:pt x="1419225" y="969966"/>
                </a:lnTo>
                <a:lnTo>
                  <a:pt x="1416844" y="967583"/>
                </a:lnTo>
                <a:lnTo>
                  <a:pt x="1414860" y="964802"/>
                </a:lnTo>
                <a:lnTo>
                  <a:pt x="1412478" y="961625"/>
                </a:lnTo>
                <a:lnTo>
                  <a:pt x="1411288" y="958447"/>
                </a:lnTo>
                <a:lnTo>
                  <a:pt x="1410097" y="955270"/>
                </a:lnTo>
                <a:lnTo>
                  <a:pt x="1409303" y="952092"/>
                </a:lnTo>
                <a:lnTo>
                  <a:pt x="1408906" y="948517"/>
                </a:lnTo>
                <a:lnTo>
                  <a:pt x="1408510" y="945339"/>
                </a:lnTo>
                <a:lnTo>
                  <a:pt x="1408906" y="941765"/>
                </a:lnTo>
                <a:lnTo>
                  <a:pt x="1409303" y="938587"/>
                </a:lnTo>
                <a:lnTo>
                  <a:pt x="1410097" y="935012"/>
                </a:lnTo>
                <a:lnTo>
                  <a:pt x="1410891" y="931835"/>
                </a:lnTo>
                <a:lnTo>
                  <a:pt x="1412478" y="928657"/>
                </a:lnTo>
                <a:lnTo>
                  <a:pt x="1414463" y="925479"/>
                </a:lnTo>
                <a:lnTo>
                  <a:pt x="1416447" y="922302"/>
                </a:lnTo>
                <a:lnTo>
                  <a:pt x="1418828" y="919919"/>
                </a:lnTo>
                <a:lnTo>
                  <a:pt x="1421606" y="917535"/>
                </a:lnTo>
                <a:lnTo>
                  <a:pt x="1424385" y="915152"/>
                </a:lnTo>
                <a:lnTo>
                  <a:pt x="1427163" y="913563"/>
                </a:lnTo>
                <a:lnTo>
                  <a:pt x="1430338" y="911975"/>
                </a:lnTo>
                <a:lnTo>
                  <a:pt x="1433513" y="910783"/>
                </a:lnTo>
                <a:lnTo>
                  <a:pt x="1437085" y="909989"/>
                </a:lnTo>
                <a:lnTo>
                  <a:pt x="1440260" y="909194"/>
                </a:lnTo>
                <a:lnTo>
                  <a:pt x="1443831" y="909194"/>
                </a:lnTo>
                <a:lnTo>
                  <a:pt x="1447006" y="909194"/>
                </a:lnTo>
                <a:lnTo>
                  <a:pt x="1450578" y="909989"/>
                </a:lnTo>
                <a:lnTo>
                  <a:pt x="1453753" y="910783"/>
                </a:lnTo>
                <a:lnTo>
                  <a:pt x="1457325" y="911975"/>
                </a:lnTo>
                <a:lnTo>
                  <a:pt x="1460103" y="913166"/>
                </a:lnTo>
                <a:lnTo>
                  <a:pt x="1463278" y="914755"/>
                </a:lnTo>
                <a:lnTo>
                  <a:pt x="1466056" y="917138"/>
                </a:lnTo>
                <a:lnTo>
                  <a:pt x="1469231" y="919521"/>
                </a:lnTo>
                <a:lnTo>
                  <a:pt x="1516460" y="966391"/>
                </a:lnTo>
                <a:lnTo>
                  <a:pt x="1520825" y="971952"/>
                </a:lnTo>
                <a:lnTo>
                  <a:pt x="1525191" y="978307"/>
                </a:lnTo>
                <a:lnTo>
                  <a:pt x="1528763" y="985060"/>
                </a:lnTo>
                <a:lnTo>
                  <a:pt x="1532731" y="993004"/>
                </a:lnTo>
                <a:lnTo>
                  <a:pt x="1535510" y="1001345"/>
                </a:lnTo>
                <a:lnTo>
                  <a:pt x="1538288" y="1010481"/>
                </a:lnTo>
                <a:lnTo>
                  <a:pt x="1539875" y="1020411"/>
                </a:lnTo>
                <a:lnTo>
                  <a:pt x="1540272" y="1025574"/>
                </a:lnTo>
                <a:lnTo>
                  <a:pt x="1540272" y="1030738"/>
                </a:lnTo>
                <a:lnTo>
                  <a:pt x="1540272" y="1035901"/>
                </a:lnTo>
                <a:lnTo>
                  <a:pt x="1539875" y="1041462"/>
                </a:lnTo>
                <a:lnTo>
                  <a:pt x="1539478" y="1047023"/>
                </a:lnTo>
                <a:lnTo>
                  <a:pt x="1538685" y="1052981"/>
                </a:lnTo>
                <a:lnTo>
                  <a:pt x="1537494" y="1058145"/>
                </a:lnTo>
                <a:lnTo>
                  <a:pt x="1535510" y="1064103"/>
                </a:lnTo>
                <a:lnTo>
                  <a:pt x="1533525" y="1070061"/>
                </a:lnTo>
                <a:lnTo>
                  <a:pt x="1531144" y="1076416"/>
                </a:lnTo>
                <a:lnTo>
                  <a:pt x="1527969" y="1082374"/>
                </a:lnTo>
                <a:lnTo>
                  <a:pt x="1525191" y="1088729"/>
                </a:lnTo>
                <a:lnTo>
                  <a:pt x="1521222" y="1094687"/>
                </a:lnTo>
                <a:lnTo>
                  <a:pt x="1517253" y="1101042"/>
                </a:lnTo>
                <a:lnTo>
                  <a:pt x="1512491" y="1107398"/>
                </a:lnTo>
                <a:lnTo>
                  <a:pt x="1507331" y="1113753"/>
                </a:lnTo>
                <a:lnTo>
                  <a:pt x="1501775" y="1120108"/>
                </a:lnTo>
                <a:lnTo>
                  <a:pt x="1495822" y="1126066"/>
                </a:lnTo>
                <a:lnTo>
                  <a:pt x="1485900" y="1135599"/>
                </a:lnTo>
                <a:lnTo>
                  <a:pt x="1479550" y="1141160"/>
                </a:lnTo>
                <a:lnTo>
                  <a:pt x="1472010" y="1147118"/>
                </a:lnTo>
                <a:lnTo>
                  <a:pt x="1463675" y="1152679"/>
                </a:lnTo>
                <a:lnTo>
                  <a:pt x="1453753" y="1158239"/>
                </a:lnTo>
                <a:lnTo>
                  <a:pt x="1448991" y="1161020"/>
                </a:lnTo>
                <a:lnTo>
                  <a:pt x="1443435" y="1163403"/>
                </a:lnTo>
                <a:lnTo>
                  <a:pt x="1437878" y="1165389"/>
                </a:lnTo>
                <a:lnTo>
                  <a:pt x="1432322" y="1166978"/>
                </a:lnTo>
                <a:lnTo>
                  <a:pt x="1432719" y="1172539"/>
                </a:lnTo>
                <a:lnTo>
                  <a:pt x="1432719" y="1178497"/>
                </a:lnTo>
                <a:lnTo>
                  <a:pt x="1432719" y="1184852"/>
                </a:lnTo>
                <a:lnTo>
                  <a:pt x="1432322" y="1190810"/>
                </a:lnTo>
                <a:lnTo>
                  <a:pt x="1431131" y="1197165"/>
                </a:lnTo>
                <a:lnTo>
                  <a:pt x="1429941" y="1203520"/>
                </a:lnTo>
                <a:lnTo>
                  <a:pt x="1427956" y="1210273"/>
                </a:lnTo>
                <a:lnTo>
                  <a:pt x="1425575" y="1217025"/>
                </a:lnTo>
                <a:lnTo>
                  <a:pt x="1422797" y="1223778"/>
                </a:lnTo>
                <a:lnTo>
                  <a:pt x="1419225" y="1230530"/>
                </a:lnTo>
                <a:lnTo>
                  <a:pt x="1415653" y="1237283"/>
                </a:lnTo>
                <a:lnTo>
                  <a:pt x="1410891" y="1244432"/>
                </a:lnTo>
                <a:lnTo>
                  <a:pt x="1405731" y="1251185"/>
                </a:lnTo>
                <a:lnTo>
                  <a:pt x="1399778" y="1258334"/>
                </a:lnTo>
                <a:lnTo>
                  <a:pt x="1393428" y="1265484"/>
                </a:lnTo>
                <a:lnTo>
                  <a:pt x="1386285" y="1272633"/>
                </a:lnTo>
                <a:lnTo>
                  <a:pt x="1379935" y="1278194"/>
                </a:lnTo>
                <a:lnTo>
                  <a:pt x="1374378" y="1283755"/>
                </a:lnTo>
                <a:lnTo>
                  <a:pt x="1368028" y="1288124"/>
                </a:lnTo>
                <a:lnTo>
                  <a:pt x="1362075" y="1292891"/>
                </a:lnTo>
                <a:lnTo>
                  <a:pt x="1356519" y="1296863"/>
                </a:lnTo>
                <a:lnTo>
                  <a:pt x="1350566" y="1300040"/>
                </a:lnTo>
                <a:lnTo>
                  <a:pt x="1345010" y="1303615"/>
                </a:lnTo>
                <a:lnTo>
                  <a:pt x="1339453" y="1305998"/>
                </a:lnTo>
                <a:lnTo>
                  <a:pt x="1334294" y="1308382"/>
                </a:lnTo>
                <a:lnTo>
                  <a:pt x="1328738" y="1310765"/>
                </a:lnTo>
                <a:lnTo>
                  <a:pt x="1323181" y="1312354"/>
                </a:lnTo>
                <a:lnTo>
                  <a:pt x="1318022" y="1313545"/>
                </a:lnTo>
                <a:lnTo>
                  <a:pt x="1312863" y="1314737"/>
                </a:lnTo>
                <a:lnTo>
                  <a:pt x="1307703" y="1315134"/>
                </a:lnTo>
                <a:lnTo>
                  <a:pt x="1302544" y="1315531"/>
                </a:lnTo>
                <a:lnTo>
                  <a:pt x="1297781" y="1315928"/>
                </a:lnTo>
                <a:lnTo>
                  <a:pt x="1293019" y="1315531"/>
                </a:lnTo>
                <a:lnTo>
                  <a:pt x="1288256" y="1315134"/>
                </a:lnTo>
                <a:lnTo>
                  <a:pt x="1279128" y="1313545"/>
                </a:lnTo>
                <a:lnTo>
                  <a:pt x="1276747" y="1322284"/>
                </a:lnTo>
                <a:lnTo>
                  <a:pt x="1273969" y="1331022"/>
                </a:lnTo>
                <a:lnTo>
                  <a:pt x="1270000" y="1339760"/>
                </a:lnTo>
                <a:lnTo>
                  <a:pt x="1265635" y="1348499"/>
                </a:lnTo>
                <a:lnTo>
                  <a:pt x="1260078" y="1358032"/>
                </a:lnTo>
                <a:lnTo>
                  <a:pt x="1253331" y="1366770"/>
                </a:lnTo>
                <a:lnTo>
                  <a:pt x="1245394" y="1375906"/>
                </a:lnTo>
                <a:lnTo>
                  <a:pt x="1236266" y="1385439"/>
                </a:lnTo>
                <a:lnTo>
                  <a:pt x="1230313" y="1391397"/>
                </a:lnTo>
                <a:lnTo>
                  <a:pt x="1224756" y="1396163"/>
                </a:lnTo>
                <a:lnTo>
                  <a:pt x="1219200" y="1401327"/>
                </a:lnTo>
                <a:lnTo>
                  <a:pt x="1213247" y="1405696"/>
                </a:lnTo>
                <a:lnTo>
                  <a:pt x="1207691" y="1409271"/>
                </a:lnTo>
                <a:lnTo>
                  <a:pt x="1202135" y="1413243"/>
                </a:lnTo>
                <a:lnTo>
                  <a:pt x="1196578" y="1416023"/>
                </a:lnTo>
                <a:lnTo>
                  <a:pt x="1191419" y="1419201"/>
                </a:lnTo>
                <a:lnTo>
                  <a:pt x="1185863" y="1421584"/>
                </a:lnTo>
                <a:lnTo>
                  <a:pt x="1180703" y="1423173"/>
                </a:lnTo>
                <a:lnTo>
                  <a:pt x="1175544" y="1425159"/>
                </a:lnTo>
                <a:lnTo>
                  <a:pt x="1170781" y="1426748"/>
                </a:lnTo>
                <a:lnTo>
                  <a:pt x="1165622" y="1427542"/>
                </a:lnTo>
                <a:lnTo>
                  <a:pt x="1160463" y="1428336"/>
                </a:lnTo>
                <a:lnTo>
                  <a:pt x="1155700" y="1428734"/>
                </a:lnTo>
                <a:lnTo>
                  <a:pt x="1150938" y="1428734"/>
                </a:lnTo>
                <a:lnTo>
                  <a:pt x="1144588" y="1428734"/>
                </a:lnTo>
                <a:lnTo>
                  <a:pt x="1137841" y="1427939"/>
                </a:lnTo>
                <a:lnTo>
                  <a:pt x="1131491" y="1426748"/>
                </a:lnTo>
                <a:lnTo>
                  <a:pt x="1125538" y="1425159"/>
                </a:lnTo>
                <a:lnTo>
                  <a:pt x="1119188" y="1422776"/>
                </a:lnTo>
                <a:lnTo>
                  <a:pt x="1113235" y="1420392"/>
                </a:lnTo>
                <a:lnTo>
                  <a:pt x="1107281" y="1417215"/>
                </a:lnTo>
                <a:lnTo>
                  <a:pt x="1101725" y="1414037"/>
                </a:lnTo>
                <a:lnTo>
                  <a:pt x="1096566" y="1410462"/>
                </a:lnTo>
                <a:lnTo>
                  <a:pt x="1090613" y="1406888"/>
                </a:lnTo>
                <a:lnTo>
                  <a:pt x="1079897" y="1398943"/>
                </a:lnTo>
                <a:lnTo>
                  <a:pt x="1069975" y="1390205"/>
                </a:lnTo>
                <a:lnTo>
                  <a:pt x="1059656" y="1381069"/>
                </a:lnTo>
                <a:lnTo>
                  <a:pt x="1056878" y="1385836"/>
                </a:lnTo>
                <a:lnTo>
                  <a:pt x="1053703" y="1390205"/>
                </a:lnTo>
                <a:lnTo>
                  <a:pt x="1050131" y="1394971"/>
                </a:lnTo>
                <a:lnTo>
                  <a:pt x="1046163" y="1399738"/>
                </a:lnTo>
                <a:lnTo>
                  <a:pt x="1042194" y="1404107"/>
                </a:lnTo>
                <a:lnTo>
                  <a:pt x="1037431" y="1408874"/>
                </a:lnTo>
                <a:lnTo>
                  <a:pt x="1032669" y="1413640"/>
                </a:lnTo>
                <a:lnTo>
                  <a:pt x="1027113" y="1417612"/>
                </a:lnTo>
                <a:lnTo>
                  <a:pt x="1016794" y="1425953"/>
                </a:lnTo>
                <a:lnTo>
                  <a:pt x="1006475" y="1432706"/>
                </a:lnTo>
                <a:lnTo>
                  <a:pt x="996553" y="1437869"/>
                </a:lnTo>
                <a:lnTo>
                  <a:pt x="986631" y="1442238"/>
                </a:lnTo>
                <a:lnTo>
                  <a:pt x="977503" y="1445813"/>
                </a:lnTo>
                <a:lnTo>
                  <a:pt x="968772" y="1447799"/>
                </a:lnTo>
                <a:lnTo>
                  <a:pt x="959644" y="1448991"/>
                </a:lnTo>
                <a:lnTo>
                  <a:pt x="950913" y="1449388"/>
                </a:lnTo>
                <a:lnTo>
                  <a:pt x="944166" y="1449388"/>
                </a:lnTo>
                <a:lnTo>
                  <a:pt x="937419" y="1448594"/>
                </a:lnTo>
                <a:lnTo>
                  <a:pt x="930672" y="1447402"/>
                </a:lnTo>
                <a:lnTo>
                  <a:pt x="923925" y="1445416"/>
                </a:lnTo>
                <a:lnTo>
                  <a:pt x="917575" y="1443033"/>
                </a:lnTo>
                <a:lnTo>
                  <a:pt x="911225" y="1440650"/>
                </a:lnTo>
                <a:lnTo>
                  <a:pt x="905272" y="1437472"/>
                </a:lnTo>
                <a:lnTo>
                  <a:pt x="898922" y="1434294"/>
                </a:lnTo>
                <a:lnTo>
                  <a:pt x="893366" y="1430720"/>
                </a:lnTo>
                <a:lnTo>
                  <a:pt x="887810" y="1427145"/>
                </a:lnTo>
                <a:lnTo>
                  <a:pt x="876300" y="1419201"/>
                </a:lnTo>
                <a:lnTo>
                  <a:pt x="865188" y="1410462"/>
                </a:lnTo>
                <a:lnTo>
                  <a:pt x="854472" y="1402121"/>
                </a:lnTo>
                <a:lnTo>
                  <a:pt x="837803" y="1388616"/>
                </a:lnTo>
                <a:lnTo>
                  <a:pt x="835422" y="1386630"/>
                </a:lnTo>
                <a:lnTo>
                  <a:pt x="681435" y="1264689"/>
                </a:lnTo>
                <a:lnTo>
                  <a:pt x="673497" y="1270647"/>
                </a:lnTo>
                <a:lnTo>
                  <a:pt x="665560" y="1275414"/>
                </a:lnTo>
                <a:lnTo>
                  <a:pt x="649685" y="1285741"/>
                </a:lnTo>
                <a:lnTo>
                  <a:pt x="633016" y="1294480"/>
                </a:lnTo>
                <a:lnTo>
                  <a:pt x="617538" y="1302026"/>
                </a:lnTo>
                <a:lnTo>
                  <a:pt x="602456" y="1308382"/>
                </a:lnTo>
                <a:lnTo>
                  <a:pt x="588963" y="1313148"/>
                </a:lnTo>
                <a:lnTo>
                  <a:pt x="576660" y="1317120"/>
                </a:lnTo>
                <a:lnTo>
                  <a:pt x="571103" y="1318312"/>
                </a:lnTo>
                <a:lnTo>
                  <a:pt x="565944" y="1319106"/>
                </a:lnTo>
                <a:lnTo>
                  <a:pt x="561975" y="1319503"/>
                </a:lnTo>
                <a:lnTo>
                  <a:pt x="557610" y="1319503"/>
                </a:lnTo>
                <a:lnTo>
                  <a:pt x="553641" y="1319106"/>
                </a:lnTo>
                <a:lnTo>
                  <a:pt x="550069" y="1318312"/>
                </a:lnTo>
                <a:lnTo>
                  <a:pt x="546497" y="1317517"/>
                </a:lnTo>
                <a:lnTo>
                  <a:pt x="543719" y="1315531"/>
                </a:lnTo>
                <a:lnTo>
                  <a:pt x="540941" y="1313942"/>
                </a:lnTo>
                <a:lnTo>
                  <a:pt x="538163" y="1312354"/>
                </a:lnTo>
                <a:lnTo>
                  <a:pt x="535781" y="1309970"/>
                </a:lnTo>
                <a:lnTo>
                  <a:pt x="533003" y="1307587"/>
                </a:lnTo>
                <a:lnTo>
                  <a:pt x="529431" y="1302026"/>
                </a:lnTo>
                <a:lnTo>
                  <a:pt x="525860" y="1296466"/>
                </a:lnTo>
                <a:lnTo>
                  <a:pt x="523478" y="1290507"/>
                </a:lnTo>
                <a:lnTo>
                  <a:pt x="521891" y="1284152"/>
                </a:lnTo>
                <a:lnTo>
                  <a:pt x="519906" y="1278194"/>
                </a:lnTo>
                <a:lnTo>
                  <a:pt x="518716" y="1272236"/>
                </a:lnTo>
                <a:lnTo>
                  <a:pt x="518319" y="1267073"/>
                </a:lnTo>
                <a:lnTo>
                  <a:pt x="517525" y="1259526"/>
                </a:lnTo>
                <a:lnTo>
                  <a:pt x="517525" y="1256745"/>
                </a:lnTo>
                <a:lnTo>
                  <a:pt x="517525" y="1255554"/>
                </a:lnTo>
                <a:lnTo>
                  <a:pt x="516731" y="1252376"/>
                </a:lnTo>
                <a:lnTo>
                  <a:pt x="515541" y="1248007"/>
                </a:lnTo>
                <a:lnTo>
                  <a:pt x="514350" y="1245624"/>
                </a:lnTo>
                <a:lnTo>
                  <a:pt x="512366" y="1243638"/>
                </a:lnTo>
                <a:lnTo>
                  <a:pt x="509985" y="1240857"/>
                </a:lnTo>
                <a:lnTo>
                  <a:pt x="507603" y="1239269"/>
                </a:lnTo>
                <a:lnTo>
                  <a:pt x="504031" y="1237283"/>
                </a:lnTo>
                <a:lnTo>
                  <a:pt x="499666" y="1236091"/>
                </a:lnTo>
                <a:lnTo>
                  <a:pt x="495300" y="1235296"/>
                </a:lnTo>
                <a:lnTo>
                  <a:pt x="489744" y="1234502"/>
                </a:lnTo>
                <a:lnTo>
                  <a:pt x="483394" y="1234502"/>
                </a:lnTo>
                <a:lnTo>
                  <a:pt x="475853" y="1235694"/>
                </a:lnTo>
                <a:lnTo>
                  <a:pt x="471884" y="1236091"/>
                </a:lnTo>
                <a:lnTo>
                  <a:pt x="467915" y="1235694"/>
                </a:lnTo>
                <a:lnTo>
                  <a:pt x="463947" y="1234105"/>
                </a:lnTo>
                <a:lnTo>
                  <a:pt x="459978" y="1232119"/>
                </a:lnTo>
                <a:lnTo>
                  <a:pt x="455612" y="1229736"/>
                </a:lnTo>
                <a:lnTo>
                  <a:pt x="451247" y="1226558"/>
                </a:lnTo>
                <a:lnTo>
                  <a:pt x="447278" y="1222983"/>
                </a:lnTo>
                <a:lnTo>
                  <a:pt x="442912" y="1219011"/>
                </a:lnTo>
                <a:lnTo>
                  <a:pt x="439340" y="1214245"/>
                </a:lnTo>
                <a:lnTo>
                  <a:pt x="434975" y="1209876"/>
                </a:lnTo>
                <a:lnTo>
                  <a:pt x="427037" y="1199151"/>
                </a:lnTo>
                <a:lnTo>
                  <a:pt x="419100" y="1187235"/>
                </a:lnTo>
                <a:lnTo>
                  <a:pt x="411559" y="1175716"/>
                </a:lnTo>
                <a:lnTo>
                  <a:pt x="404415" y="1163800"/>
                </a:lnTo>
                <a:lnTo>
                  <a:pt x="398065" y="1151884"/>
                </a:lnTo>
                <a:lnTo>
                  <a:pt x="388144" y="1130833"/>
                </a:lnTo>
                <a:lnTo>
                  <a:pt x="381000" y="1116136"/>
                </a:lnTo>
                <a:lnTo>
                  <a:pt x="379015" y="1110575"/>
                </a:lnTo>
                <a:lnTo>
                  <a:pt x="379015" y="1108589"/>
                </a:lnTo>
                <a:lnTo>
                  <a:pt x="379015" y="1102631"/>
                </a:lnTo>
                <a:lnTo>
                  <a:pt x="379015" y="1099056"/>
                </a:lnTo>
                <a:lnTo>
                  <a:pt x="378619" y="1094687"/>
                </a:lnTo>
                <a:lnTo>
                  <a:pt x="377428" y="1089921"/>
                </a:lnTo>
                <a:lnTo>
                  <a:pt x="375840" y="1085154"/>
                </a:lnTo>
                <a:lnTo>
                  <a:pt x="374253" y="1080388"/>
                </a:lnTo>
                <a:lnTo>
                  <a:pt x="371872" y="1075622"/>
                </a:lnTo>
                <a:lnTo>
                  <a:pt x="368300" y="1070855"/>
                </a:lnTo>
                <a:lnTo>
                  <a:pt x="363934" y="1066883"/>
                </a:lnTo>
                <a:lnTo>
                  <a:pt x="361553" y="1064500"/>
                </a:lnTo>
                <a:lnTo>
                  <a:pt x="359172" y="1062514"/>
                </a:lnTo>
                <a:lnTo>
                  <a:pt x="355997" y="1060925"/>
                </a:lnTo>
                <a:lnTo>
                  <a:pt x="352822" y="1059336"/>
                </a:lnTo>
                <a:lnTo>
                  <a:pt x="349250" y="1057747"/>
                </a:lnTo>
                <a:lnTo>
                  <a:pt x="345678" y="1056556"/>
                </a:lnTo>
                <a:lnTo>
                  <a:pt x="341312" y="1055761"/>
                </a:lnTo>
                <a:lnTo>
                  <a:pt x="336947" y="1054967"/>
                </a:lnTo>
                <a:lnTo>
                  <a:pt x="332581" y="1054173"/>
                </a:lnTo>
                <a:lnTo>
                  <a:pt x="328215" y="1052981"/>
                </a:lnTo>
                <a:lnTo>
                  <a:pt x="323453" y="1050598"/>
                </a:lnTo>
                <a:lnTo>
                  <a:pt x="319484" y="1048612"/>
                </a:lnTo>
                <a:lnTo>
                  <a:pt x="315119" y="1046229"/>
                </a:lnTo>
                <a:lnTo>
                  <a:pt x="311150" y="1043051"/>
                </a:lnTo>
                <a:lnTo>
                  <a:pt x="307181" y="1039476"/>
                </a:lnTo>
                <a:lnTo>
                  <a:pt x="303212" y="1035504"/>
                </a:lnTo>
                <a:lnTo>
                  <a:pt x="299640" y="1031532"/>
                </a:lnTo>
                <a:lnTo>
                  <a:pt x="295672" y="1027163"/>
                </a:lnTo>
                <a:lnTo>
                  <a:pt x="288528" y="1017233"/>
                </a:lnTo>
                <a:lnTo>
                  <a:pt x="281781" y="1006906"/>
                </a:lnTo>
                <a:lnTo>
                  <a:pt x="275431" y="994990"/>
                </a:lnTo>
                <a:lnTo>
                  <a:pt x="269081" y="982676"/>
                </a:lnTo>
                <a:lnTo>
                  <a:pt x="263922" y="969569"/>
                </a:lnTo>
                <a:lnTo>
                  <a:pt x="258762" y="956064"/>
                </a:lnTo>
                <a:lnTo>
                  <a:pt x="254000" y="942559"/>
                </a:lnTo>
                <a:lnTo>
                  <a:pt x="250031" y="928657"/>
                </a:lnTo>
                <a:lnTo>
                  <a:pt x="246062" y="914755"/>
                </a:lnTo>
                <a:lnTo>
                  <a:pt x="242887" y="901250"/>
                </a:lnTo>
                <a:lnTo>
                  <a:pt x="239712" y="888142"/>
                </a:lnTo>
                <a:lnTo>
                  <a:pt x="239315" y="884568"/>
                </a:lnTo>
                <a:lnTo>
                  <a:pt x="238919" y="880993"/>
                </a:lnTo>
                <a:lnTo>
                  <a:pt x="239315" y="877418"/>
                </a:lnTo>
                <a:lnTo>
                  <a:pt x="239712" y="873843"/>
                </a:lnTo>
                <a:lnTo>
                  <a:pt x="240109" y="870268"/>
                </a:lnTo>
                <a:lnTo>
                  <a:pt x="240903" y="866296"/>
                </a:lnTo>
                <a:lnTo>
                  <a:pt x="244078" y="859147"/>
                </a:lnTo>
                <a:lnTo>
                  <a:pt x="247253" y="851600"/>
                </a:lnTo>
                <a:lnTo>
                  <a:pt x="252015" y="844053"/>
                </a:lnTo>
                <a:lnTo>
                  <a:pt x="257572" y="836506"/>
                </a:lnTo>
                <a:lnTo>
                  <a:pt x="263525" y="828959"/>
                </a:lnTo>
                <a:lnTo>
                  <a:pt x="270272" y="821015"/>
                </a:lnTo>
                <a:lnTo>
                  <a:pt x="277415" y="813469"/>
                </a:lnTo>
                <a:lnTo>
                  <a:pt x="284956" y="806319"/>
                </a:lnTo>
                <a:lnTo>
                  <a:pt x="292894" y="799169"/>
                </a:lnTo>
                <a:lnTo>
                  <a:pt x="301228" y="792020"/>
                </a:lnTo>
                <a:lnTo>
                  <a:pt x="309562" y="784870"/>
                </a:lnTo>
                <a:lnTo>
                  <a:pt x="327422" y="771762"/>
                </a:lnTo>
                <a:lnTo>
                  <a:pt x="271065" y="641480"/>
                </a:lnTo>
                <a:lnTo>
                  <a:pt x="259953" y="660546"/>
                </a:lnTo>
                <a:lnTo>
                  <a:pt x="252015" y="674448"/>
                </a:lnTo>
                <a:lnTo>
                  <a:pt x="245665" y="687159"/>
                </a:lnTo>
                <a:lnTo>
                  <a:pt x="243681" y="690733"/>
                </a:lnTo>
                <a:lnTo>
                  <a:pt x="240903" y="694308"/>
                </a:lnTo>
                <a:lnTo>
                  <a:pt x="238125" y="697486"/>
                </a:lnTo>
                <a:lnTo>
                  <a:pt x="234950" y="700266"/>
                </a:lnTo>
                <a:lnTo>
                  <a:pt x="231378" y="702649"/>
                </a:lnTo>
                <a:lnTo>
                  <a:pt x="227409" y="704635"/>
                </a:lnTo>
                <a:lnTo>
                  <a:pt x="223837" y="705827"/>
                </a:lnTo>
                <a:lnTo>
                  <a:pt x="219472" y="707019"/>
                </a:lnTo>
                <a:lnTo>
                  <a:pt x="213519" y="707416"/>
                </a:lnTo>
                <a:lnTo>
                  <a:pt x="209947" y="707416"/>
                </a:lnTo>
                <a:lnTo>
                  <a:pt x="206375" y="707019"/>
                </a:lnTo>
                <a:lnTo>
                  <a:pt x="203200" y="705827"/>
                </a:lnTo>
                <a:lnTo>
                  <a:pt x="199628" y="704635"/>
                </a:lnTo>
                <a:lnTo>
                  <a:pt x="196850" y="703047"/>
                </a:lnTo>
                <a:lnTo>
                  <a:pt x="193675" y="701458"/>
                </a:lnTo>
                <a:lnTo>
                  <a:pt x="190897" y="699075"/>
                </a:lnTo>
                <a:lnTo>
                  <a:pt x="188119" y="696691"/>
                </a:lnTo>
                <a:lnTo>
                  <a:pt x="9922" y="515568"/>
                </a:lnTo>
                <a:lnTo>
                  <a:pt x="7937" y="513184"/>
                </a:lnTo>
                <a:lnTo>
                  <a:pt x="5953" y="510801"/>
                </a:lnTo>
                <a:lnTo>
                  <a:pt x="3969" y="508021"/>
                </a:lnTo>
                <a:lnTo>
                  <a:pt x="2778" y="505240"/>
                </a:lnTo>
                <a:lnTo>
                  <a:pt x="1587" y="502063"/>
                </a:lnTo>
                <a:lnTo>
                  <a:pt x="794" y="499282"/>
                </a:lnTo>
                <a:lnTo>
                  <a:pt x="397" y="496105"/>
                </a:lnTo>
                <a:lnTo>
                  <a:pt x="0" y="493324"/>
                </a:lnTo>
                <a:lnTo>
                  <a:pt x="0" y="490147"/>
                </a:lnTo>
                <a:lnTo>
                  <a:pt x="0" y="486969"/>
                </a:lnTo>
                <a:lnTo>
                  <a:pt x="397" y="484189"/>
                </a:lnTo>
                <a:lnTo>
                  <a:pt x="1190" y="481011"/>
                </a:lnTo>
                <a:lnTo>
                  <a:pt x="1984" y="477833"/>
                </a:lnTo>
                <a:lnTo>
                  <a:pt x="3175" y="475053"/>
                </a:lnTo>
                <a:lnTo>
                  <a:pt x="4762" y="472273"/>
                </a:lnTo>
                <a:lnTo>
                  <a:pt x="7144" y="469889"/>
                </a:lnTo>
                <a:lnTo>
                  <a:pt x="12700" y="461548"/>
                </a:lnTo>
                <a:lnTo>
                  <a:pt x="26987" y="444071"/>
                </a:lnTo>
                <a:lnTo>
                  <a:pt x="48419" y="417062"/>
                </a:lnTo>
                <a:lnTo>
                  <a:pt x="76597" y="382902"/>
                </a:lnTo>
                <a:lnTo>
                  <a:pt x="92869" y="363439"/>
                </a:lnTo>
                <a:lnTo>
                  <a:pt x="111125" y="342785"/>
                </a:lnTo>
                <a:lnTo>
                  <a:pt x="130572" y="320939"/>
                </a:lnTo>
                <a:lnTo>
                  <a:pt x="151209" y="297901"/>
                </a:lnTo>
                <a:lnTo>
                  <a:pt x="173037" y="274069"/>
                </a:lnTo>
                <a:lnTo>
                  <a:pt x="196453" y="249840"/>
                </a:lnTo>
                <a:lnTo>
                  <a:pt x="220265" y="224816"/>
                </a:lnTo>
                <a:lnTo>
                  <a:pt x="245269" y="200190"/>
                </a:lnTo>
                <a:lnTo>
                  <a:pt x="258365" y="187479"/>
                </a:lnTo>
                <a:lnTo>
                  <a:pt x="271462" y="175166"/>
                </a:lnTo>
                <a:lnTo>
                  <a:pt x="284162" y="163647"/>
                </a:lnTo>
                <a:lnTo>
                  <a:pt x="297259" y="152525"/>
                </a:lnTo>
                <a:lnTo>
                  <a:pt x="321865" y="131474"/>
                </a:lnTo>
                <a:lnTo>
                  <a:pt x="346472" y="112011"/>
                </a:lnTo>
                <a:lnTo>
                  <a:pt x="369887" y="94137"/>
                </a:lnTo>
                <a:lnTo>
                  <a:pt x="392906" y="78646"/>
                </a:lnTo>
                <a:lnTo>
                  <a:pt x="413940" y="64347"/>
                </a:lnTo>
                <a:lnTo>
                  <a:pt x="434181" y="51239"/>
                </a:lnTo>
                <a:lnTo>
                  <a:pt x="452040" y="40117"/>
                </a:lnTo>
                <a:lnTo>
                  <a:pt x="469106" y="30584"/>
                </a:lnTo>
                <a:lnTo>
                  <a:pt x="483791" y="22640"/>
                </a:lnTo>
                <a:lnTo>
                  <a:pt x="496491" y="15888"/>
                </a:lnTo>
                <a:lnTo>
                  <a:pt x="514747" y="6752"/>
                </a:lnTo>
                <a:lnTo>
                  <a:pt x="522685" y="3178"/>
                </a:lnTo>
                <a:lnTo>
                  <a:pt x="527447" y="1192"/>
                </a:lnTo>
                <a:lnTo>
                  <a:pt x="532606" y="397"/>
                </a:lnTo>
                <a:lnTo>
                  <a:pt x="537766" y="0"/>
                </a:lnTo>
                <a:close/>
              </a:path>
            </a:pathLst>
          </a:custGeom>
          <a:solidFill>
            <a:srgbClr val="405F8F"/>
          </a:solidFill>
          <a:ln>
            <a:noFill/>
          </a:ln>
        </p:spPr>
        <p:txBody>
          <a:bodyPr anchor="ctr">
            <a:scene3d>
              <a:camera prst="orthographicFront"/>
              <a:lightRig rig="threePt" dir="t"/>
            </a:scene3d>
            <a:sp3d>
              <a:contourClr>
                <a:srgbClr val="FFFFFF"/>
              </a:contourClr>
            </a:sp3d>
          </a:bodyPr>
          <a:lstStyle/>
          <a:p>
            <a:pPr algn="ctr">
              <a:defRPr/>
            </a:pPr>
            <a:endParaRPr lang="zh-CN" altLang="en-US" dirty="0">
              <a:solidFill>
                <a:srgbClr val="FFFFF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16" name="组合 15"/>
          <p:cNvGrpSpPr/>
          <p:nvPr/>
        </p:nvGrpSpPr>
        <p:grpSpPr>
          <a:xfrm>
            <a:off x="2425179" y="3717031"/>
            <a:ext cx="2016224" cy="2016224"/>
            <a:chOff x="1705099" y="2564904"/>
            <a:chExt cx="1800200" cy="1800200"/>
          </a:xfrm>
        </p:grpSpPr>
        <p:sp>
          <p:nvSpPr>
            <p:cNvPr id="17" name="椭圆 16"/>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8" name="椭圆 17"/>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19" name="TextBox 18"/>
          <p:cNvSpPr txBox="1"/>
          <p:nvPr/>
        </p:nvSpPr>
        <p:spPr>
          <a:xfrm>
            <a:off x="2710074" y="4326194"/>
            <a:ext cx="1443297" cy="830997"/>
          </a:xfrm>
          <a:prstGeom prst="rect">
            <a:avLst/>
          </a:prstGeom>
          <a:noFill/>
        </p:spPr>
        <p:txBody>
          <a:bodyPr wrap="square" rtlCol="0">
            <a:spAutoFit/>
          </a:bodyPr>
          <a:lstStyle/>
          <a:p>
            <a:pPr algn="ctr"/>
            <a:r>
              <a:rPr lang="zh-CN" altLang="en-US" sz="24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具体工程明细</a:t>
            </a:r>
            <a:endParaRPr lang="en-US" altLang="zh-CN" sz="24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cxnSp>
        <p:nvCxnSpPr>
          <p:cNvPr id="20" name="直接连接符 19"/>
          <p:cNvCxnSpPr/>
          <p:nvPr/>
        </p:nvCxnSpPr>
        <p:spPr>
          <a:xfrm>
            <a:off x="5445971" y="2005768"/>
            <a:ext cx="1610607" cy="2705"/>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4721964" y="1667074"/>
            <a:ext cx="711242" cy="701976"/>
            <a:chOff x="6217935" y="1158425"/>
            <a:chExt cx="527724" cy="520849"/>
          </a:xfrm>
        </p:grpSpPr>
        <p:grpSp>
          <p:nvGrpSpPr>
            <p:cNvPr id="22" name="组合 21"/>
            <p:cNvGrpSpPr/>
            <p:nvPr/>
          </p:nvGrpSpPr>
          <p:grpSpPr>
            <a:xfrm>
              <a:off x="6219351" y="1158425"/>
              <a:ext cx="520849" cy="520849"/>
              <a:chOff x="1705099" y="2564904"/>
              <a:chExt cx="1800200" cy="1800200"/>
            </a:xfrm>
          </p:grpSpPr>
          <p:sp>
            <p:nvSpPr>
              <p:cNvPr id="24" name="椭圆 23"/>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5" name="椭圆 24"/>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23" name="TextBox 22"/>
            <p:cNvSpPr txBox="1"/>
            <p:nvPr/>
          </p:nvSpPr>
          <p:spPr>
            <a:xfrm>
              <a:off x="6217935" y="1271633"/>
              <a:ext cx="527724" cy="296872"/>
            </a:xfrm>
            <a:prstGeom prst="rect">
              <a:avLst/>
            </a:prstGeom>
            <a:noFill/>
          </p:spPr>
          <p:txBody>
            <a:bodyPr wrap="square" rtlCol="0">
              <a:spAutoFit/>
            </a:bodyPr>
            <a:lstStyle/>
            <a:p>
              <a:pPr algn="ctr"/>
              <a:r>
                <a:rPr lang="en-US" altLang="zh-CN"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01</a:t>
              </a:r>
              <a:endParaRPr lang="zh-CN" altLang="en-US"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26" name="矩形 47"/>
          <p:cNvSpPr>
            <a:spLocks noChangeArrowheads="1"/>
          </p:cNvSpPr>
          <p:nvPr/>
        </p:nvSpPr>
        <p:spPr bwMode="auto">
          <a:xfrm>
            <a:off x="7227979" y="1360190"/>
            <a:ext cx="4248472" cy="1772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1.</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上崗證</a:t>
            </a:r>
            <a:r>
              <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E</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化開發相關功能的表設計</a:t>
            </a:r>
            <a:endPar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a:p>
            <a:pPr>
              <a:buNone/>
            </a:pP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2.</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工程權限管控和</a:t>
            </a: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IPQC</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權限管控功能開發</a:t>
            </a:r>
            <a:endPar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a:p>
            <a:pPr>
              <a:buNone/>
            </a:pP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3.</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培訓記錄報表和人力資源庫報表的開發</a:t>
            </a:r>
            <a:endPar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a:p>
            <a:pPr>
              <a:buNone/>
            </a:pP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4.</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上崗</a:t>
            </a:r>
            <a:r>
              <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APP</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待培訓人員明細排程、人力資源庫資料統計排程、同步</a:t>
            </a:r>
            <a:r>
              <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Fuse</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系統線體排程、同步曠世庫員工照片路徑信息排程的建立</a:t>
            </a:r>
            <a:endPar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a:p>
            <a:pPr>
              <a:buNone/>
            </a:pP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5.</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系統的日常維護工作</a:t>
            </a:r>
          </a:p>
        </p:txBody>
      </p:sp>
      <p:cxnSp>
        <p:nvCxnSpPr>
          <p:cNvPr id="27" name="直接连接符 26"/>
          <p:cNvCxnSpPr/>
          <p:nvPr/>
        </p:nvCxnSpPr>
        <p:spPr>
          <a:xfrm>
            <a:off x="5440564" y="3883024"/>
            <a:ext cx="1621422"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28" name="组合 27"/>
          <p:cNvGrpSpPr/>
          <p:nvPr/>
        </p:nvGrpSpPr>
        <p:grpSpPr>
          <a:xfrm>
            <a:off x="4729322" y="3535353"/>
            <a:ext cx="711242" cy="701976"/>
            <a:chOff x="6217935" y="1158425"/>
            <a:chExt cx="527724" cy="520849"/>
          </a:xfrm>
        </p:grpSpPr>
        <p:grpSp>
          <p:nvGrpSpPr>
            <p:cNvPr id="29" name="组合 28"/>
            <p:cNvGrpSpPr/>
            <p:nvPr/>
          </p:nvGrpSpPr>
          <p:grpSpPr>
            <a:xfrm>
              <a:off x="6219351" y="1158425"/>
              <a:ext cx="520849" cy="520849"/>
              <a:chOff x="1705099" y="2564904"/>
              <a:chExt cx="1800200" cy="1800200"/>
            </a:xfrm>
          </p:grpSpPr>
          <p:sp>
            <p:nvSpPr>
              <p:cNvPr id="31" name="椭圆 30"/>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2" name="椭圆 31"/>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30" name="TextBox 29"/>
            <p:cNvSpPr txBox="1"/>
            <p:nvPr/>
          </p:nvSpPr>
          <p:spPr>
            <a:xfrm>
              <a:off x="6217935" y="1271633"/>
              <a:ext cx="527724" cy="296872"/>
            </a:xfrm>
            <a:prstGeom prst="rect">
              <a:avLst/>
            </a:prstGeom>
            <a:noFill/>
          </p:spPr>
          <p:txBody>
            <a:bodyPr wrap="square" rtlCol="0">
              <a:spAutoFit/>
            </a:bodyPr>
            <a:lstStyle/>
            <a:p>
              <a:pPr algn="ctr"/>
              <a:r>
                <a:rPr lang="en-US" altLang="zh-CN"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02</a:t>
              </a:r>
              <a:endParaRPr lang="zh-CN" altLang="en-US"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33" name="矩形 47"/>
          <p:cNvSpPr>
            <a:spLocks noChangeArrowheads="1"/>
          </p:cNvSpPr>
          <p:nvPr/>
        </p:nvSpPr>
        <p:spPr bwMode="auto">
          <a:xfrm>
            <a:off x="7230132" y="3407023"/>
            <a:ext cx="4248472" cy="1083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1.</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為員寶中入職報道單應用設計表</a:t>
            </a:r>
            <a:endPar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a:p>
            <a:pPr>
              <a:buNone/>
            </a:pP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2.</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為入職報到單應用開發</a:t>
            </a:r>
            <a:r>
              <a:rPr lang="en-US" altLang="zh-CN" sz="1400" dirty="0" err="1">
                <a:solidFill>
                  <a:schemeClr val="tx1">
                    <a:lumMod val="50000"/>
                    <a:lumOff val="50000"/>
                  </a:schemeClr>
                </a:solidFill>
                <a:latin typeface="Microsoft YaHei" panose="020B0503020204020204" pitchFamily="34" charset="-122"/>
                <a:ea typeface="Microsoft YaHei" panose="020B0503020204020204" pitchFamily="34" charset="-122"/>
                <a:cs typeface="+mn-ea"/>
              </a:rPr>
              <a:t>WebAPI</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接口</a:t>
            </a:r>
            <a:endPar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a:p>
            <a:pPr>
              <a:buNone/>
            </a:pP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3.PC</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端入職報到單管理相關功能開發</a:t>
            </a:r>
            <a:endPar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a:p>
            <a:pPr>
              <a:buNone/>
            </a:pP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4.</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系統的日常維護工作</a:t>
            </a:r>
          </a:p>
        </p:txBody>
      </p:sp>
      <p:cxnSp>
        <p:nvCxnSpPr>
          <p:cNvPr id="34" name="直接连接符 33"/>
          <p:cNvCxnSpPr/>
          <p:nvPr/>
        </p:nvCxnSpPr>
        <p:spPr>
          <a:xfrm>
            <a:off x="5467677" y="5319495"/>
            <a:ext cx="1556659" cy="5187"/>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35" name="组合 34"/>
          <p:cNvGrpSpPr/>
          <p:nvPr/>
        </p:nvGrpSpPr>
        <p:grpSpPr>
          <a:xfrm>
            <a:off x="4730696" y="4973694"/>
            <a:ext cx="711242" cy="701976"/>
            <a:chOff x="6217935" y="1158425"/>
            <a:chExt cx="527724" cy="520849"/>
          </a:xfrm>
        </p:grpSpPr>
        <p:grpSp>
          <p:nvGrpSpPr>
            <p:cNvPr id="36" name="组合 35"/>
            <p:cNvGrpSpPr/>
            <p:nvPr/>
          </p:nvGrpSpPr>
          <p:grpSpPr>
            <a:xfrm>
              <a:off x="6219351" y="1158425"/>
              <a:ext cx="520849" cy="520849"/>
              <a:chOff x="1705099" y="2564904"/>
              <a:chExt cx="1800200" cy="1800200"/>
            </a:xfrm>
          </p:grpSpPr>
          <p:sp>
            <p:nvSpPr>
              <p:cNvPr id="38" name="椭圆 37"/>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9" name="椭圆 38"/>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37" name="TextBox 36"/>
            <p:cNvSpPr txBox="1"/>
            <p:nvPr/>
          </p:nvSpPr>
          <p:spPr>
            <a:xfrm>
              <a:off x="6217935" y="1271633"/>
              <a:ext cx="527724" cy="296872"/>
            </a:xfrm>
            <a:prstGeom prst="rect">
              <a:avLst/>
            </a:prstGeom>
            <a:noFill/>
          </p:spPr>
          <p:txBody>
            <a:bodyPr wrap="square" rtlCol="0">
              <a:spAutoFit/>
            </a:bodyPr>
            <a:lstStyle/>
            <a:p>
              <a:pPr algn="ctr"/>
              <a:r>
                <a:rPr lang="en-US" altLang="zh-CN"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03</a:t>
              </a:r>
              <a:endParaRPr lang="zh-CN" altLang="en-US"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40" name="矩形 47"/>
          <p:cNvSpPr>
            <a:spLocks noChangeArrowheads="1"/>
          </p:cNvSpPr>
          <p:nvPr/>
        </p:nvSpPr>
        <p:spPr bwMode="auto">
          <a:xfrm>
            <a:off x="7227979" y="4846260"/>
            <a:ext cx="4248472" cy="1040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1.</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更改出勤日報數據統計的週期及每日在職人力和當日人力異動邏輯的變更</a:t>
            </a:r>
            <a:endPar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a:p>
            <a:pPr>
              <a:buNone/>
            </a:pP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2.</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為系統各個</a:t>
            </a: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Job</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添加異常郵件提醒功能</a:t>
            </a:r>
            <a:endPar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a:p>
            <a:pPr>
              <a:buNone/>
            </a:pP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3.</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系統日常維護工作</a:t>
            </a:r>
          </a:p>
        </p:txBody>
      </p:sp>
      <p:sp>
        <p:nvSpPr>
          <p:cNvPr id="2" name="矩形 1"/>
          <p:cNvSpPr/>
          <p:nvPr/>
        </p:nvSpPr>
        <p:spPr>
          <a:xfrm>
            <a:off x="5473979" y="1573211"/>
            <a:ext cx="1569660" cy="369332"/>
          </a:xfrm>
          <a:prstGeom prst="rect">
            <a:avLst/>
          </a:prstGeom>
        </p:spPr>
        <p:txBody>
          <a:bodyPr wrap="none">
            <a:spAutoFit/>
          </a:bodyPr>
          <a:lstStyle/>
          <a:p>
            <a:r>
              <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教育訓練系統</a:t>
            </a:r>
            <a:endParaRPr lang="zh-TW"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Calibri" panose="020F0502020204030204" pitchFamily="34" charset="0"/>
            </a:endParaRPr>
          </a:p>
        </p:txBody>
      </p:sp>
      <p:sp>
        <p:nvSpPr>
          <p:cNvPr id="6" name="矩形 5"/>
          <p:cNvSpPr/>
          <p:nvPr/>
        </p:nvSpPr>
        <p:spPr>
          <a:xfrm>
            <a:off x="5326257" y="3484796"/>
            <a:ext cx="1864613" cy="369332"/>
          </a:xfrm>
          <a:prstGeom prst="rect">
            <a:avLst/>
          </a:prstGeom>
        </p:spPr>
        <p:txBody>
          <a:bodyPr wrap="none">
            <a:spAutoFit/>
          </a:bodyPr>
          <a:lstStyle/>
          <a:p>
            <a:r>
              <a:rPr lang="en-US" altLang="zh-CN"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DL</a:t>
            </a:r>
            <a:r>
              <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招募管理系統</a:t>
            </a:r>
            <a:endParaRPr lang="zh-TW"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p:txBody>
      </p:sp>
      <p:sp>
        <p:nvSpPr>
          <p:cNvPr id="56" name="矩形 55"/>
          <p:cNvSpPr/>
          <p:nvPr/>
        </p:nvSpPr>
        <p:spPr>
          <a:xfrm>
            <a:off x="5454676" y="4854744"/>
            <a:ext cx="1569660" cy="369332"/>
          </a:xfrm>
          <a:prstGeom prst="rect">
            <a:avLst/>
          </a:prstGeom>
        </p:spPr>
        <p:txBody>
          <a:bodyPr wrap="none">
            <a:spAutoFit/>
          </a:bodyPr>
          <a:lstStyle/>
          <a:p>
            <a:r>
              <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自助服務平台</a:t>
            </a:r>
            <a:endParaRPr lang="zh-TW" altLang="en-US" dirty="0"/>
          </a:p>
        </p:txBody>
      </p:sp>
    </p:spTree>
    <p:extLst>
      <p:ext uri="{BB962C8B-B14F-4D97-AF65-F5344CB8AC3E}">
        <p14:creationId xmlns:p14="http://schemas.microsoft.com/office/powerpoint/2010/main" val="38717742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91"/>
                                        </p:tgtEl>
                                        <p:attrNameLst>
                                          <p:attrName>style.visibility</p:attrName>
                                        </p:attrNameLst>
                                      </p:cBhvr>
                                      <p:to>
                                        <p:strVal val="visible"/>
                                      </p:to>
                                    </p:set>
                                    <p:anim calcmode="lin" valueType="num">
                                      <p:cBhvr>
                                        <p:cTn id="7" dur="500" fill="hold"/>
                                        <p:tgtEl>
                                          <p:spTgt spid="9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91"/>
                                        </p:tgtEl>
                                        <p:attrNameLst>
                                          <p:attrName>ppt_y</p:attrName>
                                        </p:attrNameLst>
                                      </p:cBhvr>
                                      <p:tavLst>
                                        <p:tav tm="0">
                                          <p:val>
                                            <p:strVal val="#ppt_y"/>
                                          </p:val>
                                        </p:tav>
                                        <p:tav tm="100000">
                                          <p:val>
                                            <p:strVal val="#ppt_y"/>
                                          </p:val>
                                        </p:tav>
                                      </p:tavLst>
                                    </p:anim>
                                    <p:anim calcmode="lin" valueType="num">
                                      <p:cBhvr>
                                        <p:cTn id="9" dur="500" fill="hold"/>
                                        <p:tgtEl>
                                          <p:spTgt spid="9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9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91"/>
                                        </p:tgtEl>
                                      </p:cBhvr>
                                    </p:animEffect>
                                  </p:childTnLst>
                                </p:cTn>
                              </p:par>
                              <p:par>
                                <p:cTn id="12" presetID="2" presetClass="entr" presetSubtype="8" fill="hold" nodeType="withEffect">
                                  <p:stCondLst>
                                    <p:cond delay="250"/>
                                  </p:stCondLst>
                                  <p:childTnLst>
                                    <p:set>
                                      <p:cBhvr>
                                        <p:cTn id="13" dur="1" fill="hold">
                                          <p:stCondLst>
                                            <p:cond delay="0"/>
                                          </p:stCondLst>
                                        </p:cTn>
                                        <p:tgtEl>
                                          <p:spTgt spid="98"/>
                                        </p:tgtEl>
                                        <p:attrNameLst>
                                          <p:attrName>style.visibility</p:attrName>
                                        </p:attrNameLst>
                                      </p:cBhvr>
                                      <p:to>
                                        <p:strVal val="visible"/>
                                      </p:to>
                                    </p:set>
                                    <p:anim calcmode="lin" valueType="num">
                                      <p:cBhvr additive="base">
                                        <p:cTn id="14" dur="500" fill="hold"/>
                                        <p:tgtEl>
                                          <p:spTgt spid="98"/>
                                        </p:tgtEl>
                                        <p:attrNameLst>
                                          <p:attrName>ppt_x</p:attrName>
                                        </p:attrNameLst>
                                      </p:cBhvr>
                                      <p:tavLst>
                                        <p:tav tm="0">
                                          <p:val>
                                            <p:strVal val="0-#ppt_w/2"/>
                                          </p:val>
                                        </p:tav>
                                        <p:tav tm="100000">
                                          <p:val>
                                            <p:strVal val="#ppt_x"/>
                                          </p:val>
                                        </p:tav>
                                      </p:tavLst>
                                    </p:anim>
                                    <p:anim calcmode="lin" valueType="num">
                                      <p:cBhvr additive="base">
                                        <p:cTn id="15" dur="500" fill="hold"/>
                                        <p:tgtEl>
                                          <p:spTgt spid="98"/>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95"/>
                                        </p:tgtEl>
                                        <p:attrNameLst>
                                          <p:attrName>style.visibility</p:attrName>
                                        </p:attrNameLst>
                                      </p:cBhvr>
                                      <p:to>
                                        <p:strVal val="visible"/>
                                      </p:to>
                                    </p:set>
                                    <p:anim calcmode="lin" valueType="num">
                                      <p:cBhvr additive="base">
                                        <p:cTn id="18" dur="500" fill="hold"/>
                                        <p:tgtEl>
                                          <p:spTgt spid="95"/>
                                        </p:tgtEl>
                                        <p:attrNameLst>
                                          <p:attrName>ppt_x</p:attrName>
                                        </p:attrNameLst>
                                      </p:cBhvr>
                                      <p:tavLst>
                                        <p:tav tm="0">
                                          <p:val>
                                            <p:strVal val="1+#ppt_w/2"/>
                                          </p:val>
                                        </p:tav>
                                        <p:tav tm="100000">
                                          <p:val>
                                            <p:strVal val="#ppt_x"/>
                                          </p:val>
                                        </p:tav>
                                      </p:tavLst>
                                    </p:anim>
                                    <p:anim calcmode="lin" valueType="num">
                                      <p:cBhvr additive="base">
                                        <p:cTn id="19" dur="500" fill="hold"/>
                                        <p:tgtEl>
                                          <p:spTgt spid="95"/>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stCondLst>
                                    <p:cond delay="250"/>
                                  </p:stCondLst>
                                  <p:childTnLst>
                                    <p:set>
                                      <p:cBhvr>
                                        <p:cTn id="21" dur="1" fill="hold">
                                          <p:stCondLst>
                                            <p:cond delay="0"/>
                                          </p:stCondLst>
                                        </p:cTn>
                                        <p:tgtEl>
                                          <p:spTgt spid="102"/>
                                        </p:tgtEl>
                                        <p:attrNameLst>
                                          <p:attrName>style.visibility</p:attrName>
                                        </p:attrNameLst>
                                      </p:cBhvr>
                                      <p:to>
                                        <p:strVal val="visible"/>
                                      </p:to>
                                    </p:set>
                                    <p:anim calcmode="lin" valueType="num">
                                      <p:cBhvr additive="base">
                                        <p:cTn id="22" dur="500" fill="hold"/>
                                        <p:tgtEl>
                                          <p:spTgt spid="102"/>
                                        </p:tgtEl>
                                        <p:attrNameLst>
                                          <p:attrName>ppt_x</p:attrName>
                                        </p:attrNameLst>
                                      </p:cBhvr>
                                      <p:tavLst>
                                        <p:tav tm="0">
                                          <p:val>
                                            <p:strVal val="0-#ppt_w/2"/>
                                          </p:val>
                                        </p:tav>
                                        <p:tav tm="100000">
                                          <p:val>
                                            <p:strVal val="#ppt_x"/>
                                          </p:val>
                                        </p:tav>
                                      </p:tavLst>
                                    </p:anim>
                                    <p:anim calcmode="lin" valueType="num">
                                      <p:cBhvr additive="base">
                                        <p:cTn id="23" dur="500" fill="hold"/>
                                        <p:tgtEl>
                                          <p:spTgt spid="102"/>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250"/>
                                  </p:stCondLst>
                                  <p:childTnLst>
                                    <p:set>
                                      <p:cBhvr>
                                        <p:cTn id="25" dur="1" fill="hold">
                                          <p:stCondLst>
                                            <p:cond delay="0"/>
                                          </p:stCondLst>
                                        </p:cTn>
                                        <p:tgtEl>
                                          <p:spTgt spid="101"/>
                                        </p:tgtEl>
                                        <p:attrNameLst>
                                          <p:attrName>style.visibility</p:attrName>
                                        </p:attrNameLst>
                                      </p:cBhvr>
                                      <p:to>
                                        <p:strVal val="visible"/>
                                      </p:to>
                                    </p:set>
                                    <p:anim calcmode="lin" valueType="num">
                                      <p:cBhvr additive="base">
                                        <p:cTn id="26" dur="500" fill="hold"/>
                                        <p:tgtEl>
                                          <p:spTgt spid="101"/>
                                        </p:tgtEl>
                                        <p:attrNameLst>
                                          <p:attrName>ppt_x</p:attrName>
                                        </p:attrNameLst>
                                      </p:cBhvr>
                                      <p:tavLst>
                                        <p:tav tm="0">
                                          <p:val>
                                            <p:strVal val="1+#ppt_w/2"/>
                                          </p:val>
                                        </p:tav>
                                        <p:tav tm="100000">
                                          <p:val>
                                            <p:strVal val="#ppt_x"/>
                                          </p:val>
                                        </p:tav>
                                      </p:tavLst>
                                    </p:anim>
                                    <p:anim calcmode="lin" valueType="num">
                                      <p:cBhvr additive="base">
                                        <p:cTn id="27" dur="500" fill="hold"/>
                                        <p:tgtEl>
                                          <p:spTgt spid="101"/>
                                        </p:tgtEl>
                                        <p:attrNameLst>
                                          <p:attrName>ppt_y</p:attrName>
                                        </p:attrNameLst>
                                      </p:cBhvr>
                                      <p:tavLst>
                                        <p:tav tm="0">
                                          <p:val>
                                            <p:strVal val="#ppt_y"/>
                                          </p:val>
                                        </p:tav>
                                        <p:tav tm="100000">
                                          <p:val>
                                            <p:strVal val="#ppt_y"/>
                                          </p:val>
                                        </p:tav>
                                      </p:tavLst>
                                    </p:anim>
                                  </p:childTnLst>
                                </p:cTn>
                              </p:par>
                              <p:par>
                                <p:cTn id="28" presetID="45" presetClass="entr" presetSubtype="0" fill="hold" nodeType="withEffect">
                                  <p:stCondLst>
                                    <p:cond delay="50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750"/>
                                        <p:tgtEl>
                                          <p:spTgt spid="12"/>
                                        </p:tgtEl>
                                      </p:cBhvr>
                                    </p:animEffect>
                                    <p:anim calcmode="lin" valueType="num">
                                      <p:cBhvr>
                                        <p:cTn id="31" dur="750" fill="hold"/>
                                        <p:tgtEl>
                                          <p:spTgt spid="12"/>
                                        </p:tgtEl>
                                        <p:attrNameLst>
                                          <p:attrName>ppt_w</p:attrName>
                                        </p:attrNameLst>
                                      </p:cBhvr>
                                      <p:tavLst>
                                        <p:tav tm="0" fmla="#ppt_w*sin(2.5*pi*$)">
                                          <p:val>
                                            <p:fltVal val="0"/>
                                          </p:val>
                                        </p:tav>
                                        <p:tav tm="100000">
                                          <p:val>
                                            <p:fltVal val="1"/>
                                          </p:val>
                                        </p:tav>
                                      </p:tavLst>
                                    </p:anim>
                                    <p:anim calcmode="lin" valueType="num">
                                      <p:cBhvr>
                                        <p:cTn id="32" dur="750" fill="hold"/>
                                        <p:tgtEl>
                                          <p:spTgt spid="12"/>
                                        </p:tgtEl>
                                        <p:attrNameLst>
                                          <p:attrName>ppt_h</p:attrName>
                                        </p:attrNameLst>
                                      </p:cBhvr>
                                      <p:tavLst>
                                        <p:tav tm="0">
                                          <p:val>
                                            <p:strVal val="#ppt_h"/>
                                          </p:val>
                                        </p:tav>
                                        <p:tav tm="100000">
                                          <p:val>
                                            <p:strVal val="#ppt_h"/>
                                          </p:val>
                                        </p:tav>
                                      </p:tavLst>
                                    </p:anim>
                                  </p:childTnLst>
                                </p:cTn>
                              </p:par>
                            </p:childTnLst>
                          </p:cTn>
                        </p:par>
                        <p:par>
                          <p:cTn id="33" fill="hold">
                            <p:stCondLst>
                              <p:cond delay="1250"/>
                            </p:stCondLst>
                            <p:childTnLst>
                              <p:par>
                                <p:cTn id="34" presetID="53" presetClass="entr" presetSubtype="528" fill="hold" grpId="0" nodeType="after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p:cTn id="36" dur="500" fill="hold"/>
                                        <p:tgtEl>
                                          <p:spTgt spid="15"/>
                                        </p:tgtEl>
                                        <p:attrNameLst>
                                          <p:attrName>ppt_w</p:attrName>
                                        </p:attrNameLst>
                                      </p:cBhvr>
                                      <p:tavLst>
                                        <p:tav tm="0">
                                          <p:val>
                                            <p:fltVal val="0"/>
                                          </p:val>
                                        </p:tav>
                                        <p:tav tm="100000">
                                          <p:val>
                                            <p:strVal val="#ppt_w"/>
                                          </p:val>
                                        </p:tav>
                                      </p:tavLst>
                                    </p:anim>
                                    <p:anim calcmode="lin" valueType="num">
                                      <p:cBhvr>
                                        <p:cTn id="37" dur="500" fill="hold"/>
                                        <p:tgtEl>
                                          <p:spTgt spid="15"/>
                                        </p:tgtEl>
                                        <p:attrNameLst>
                                          <p:attrName>ppt_h</p:attrName>
                                        </p:attrNameLst>
                                      </p:cBhvr>
                                      <p:tavLst>
                                        <p:tav tm="0">
                                          <p:val>
                                            <p:fltVal val="0"/>
                                          </p:val>
                                        </p:tav>
                                        <p:tav tm="100000">
                                          <p:val>
                                            <p:strVal val="#ppt_h"/>
                                          </p:val>
                                        </p:tav>
                                      </p:tavLst>
                                    </p:anim>
                                    <p:animEffect transition="in" filter="fade">
                                      <p:cBhvr>
                                        <p:cTn id="38" dur="500"/>
                                        <p:tgtEl>
                                          <p:spTgt spid="15"/>
                                        </p:tgtEl>
                                      </p:cBhvr>
                                    </p:animEffect>
                                    <p:anim calcmode="lin" valueType="num">
                                      <p:cBhvr>
                                        <p:cTn id="39" dur="500" fill="hold"/>
                                        <p:tgtEl>
                                          <p:spTgt spid="15"/>
                                        </p:tgtEl>
                                        <p:attrNameLst>
                                          <p:attrName>ppt_x</p:attrName>
                                        </p:attrNameLst>
                                      </p:cBhvr>
                                      <p:tavLst>
                                        <p:tav tm="0">
                                          <p:val>
                                            <p:fltVal val="0.5"/>
                                          </p:val>
                                        </p:tav>
                                        <p:tav tm="100000">
                                          <p:val>
                                            <p:strVal val="#ppt_x"/>
                                          </p:val>
                                        </p:tav>
                                      </p:tavLst>
                                    </p:anim>
                                    <p:anim calcmode="lin" valueType="num">
                                      <p:cBhvr>
                                        <p:cTn id="40" dur="500" fill="hold"/>
                                        <p:tgtEl>
                                          <p:spTgt spid="15"/>
                                        </p:tgtEl>
                                        <p:attrNameLst>
                                          <p:attrName>ppt_y</p:attrName>
                                        </p:attrNameLst>
                                      </p:cBhvr>
                                      <p:tavLst>
                                        <p:tav tm="0">
                                          <p:val>
                                            <p:fltVal val="0.5"/>
                                          </p:val>
                                        </p:tav>
                                        <p:tav tm="100000">
                                          <p:val>
                                            <p:strVal val="#ppt_y"/>
                                          </p:val>
                                        </p:tav>
                                      </p:tavLst>
                                    </p:anim>
                                  </p:childTnLst>
                                </p:cTn>
                              </p:par>
                              <p:par>
                                <p:cTn id="41" presetID="45" presetClass="entr" presetSubtype="0" fill="hold" nodeType="withEffect">
                                  <p:stCondLst>
                                    <p:cond delay="5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750"/>
                                        <p:tgtEl>
                                          <p:spTgt spid="16"/>
                                        </p:tgtEl>
                                      </p:cBhvr>
                                    </p:animEffect>
                                    <p:anim calcmode="lin" valueType="num">
                                      <p:cBhvr>
                                        <p:cTn id="44" dur="750" fill="hold"/>
                                        <p:tgtEl>
                                          <p:spTgt spid="16"/>
                                        </p:tgtEl>
                                        <p:attrNameLst>
                                          <p:attrName>ppt_w</p:attrName>
                                        </p:attrNameLst>
                                      </p:cBhvr>
                                      <p:tavLst>
                                        <p:tav tm="0" fmla="#ppt_w*sin(2.5*pi*$)">
                                          <p:val>
                                            <p:fltVal val="0"/>
                                          </p:val>
                                        </p:tav>
                                        <p:tav tm="100000">
                                          <p:val>
                                            <p:fltVal val="1"/>
                                          </p:val>
                                        </p:tav>
                                      </p:tavLst>
                                    </p:anim>
                                    <p:anim calcmode="lin" valueType="num">
                                      <p:cBhvr>
                                        <p:cTn id="45" dur="750" fill="hold"/>
                                        <p:tgtEl>
                                          <p:spTgt spid="16"/>
                                        </p:tgtEl>
                                        <p:attrNameLst>
                                          <p:attrName>ppt_h</p:attrName>
                                        </p:attrNameLst>
                                      </p:cBhvr>
                                      <p:tavLst>
                                        <p:tav tm="0">
                                          <p:val>
                                            <p:strVal val="#ppt_h"/>
                                          </p:val>
                                        </p:tav>
                                        <p:tav tm="100000">
                                          <p:val>
                                            <p:strVal val="#ppt_h"/>
                                          </p:val>
                                        </p:tav>
                                      </p:tavLst>
                                    </p:anim>
                                  </p:childTnLst>
                                </p:cTn>
                              </p:par>
                            </p:childTnLst>
                          </p:cTn>
                        </p:par>
                        <p:par>
                          <p:cTn id="46" fill="hold">
                            <p:stCondLst>
                              <p:cond delay="2500"/>
                            </p:stCondLst>
                            <p:childTnLst>
                              <p:par>
                                <p:cTn id="47" presetID="41" presetClass="entr" presetSubtype="0" fill="hold" grpId="0" nodeType="afterEffect">
                                  <p:stCondLst>
                                    <p:cond delay="0"/>
                                  </p:stCondLst>
                                  <p:iterate type="lt">
                                    <p:tmPct val="10000"/>
                                  </p:iterate>
                                  <p:childTnLst>
                                    <p:set>
                                      <p:cBhvr>
                                        <p:cTn id="48" dur="1" fill="hold">
                                          <p:stCondLst>
                                            <p:cond delay="0"/>
                                          </p:stCondLst>
                                        </p:cTn>
                                        <p:tgtEl>
                                          <p:spTgt spid="19"/>
                                        </p:tgtEl>
                                        <p:attrNameLst>
                                          <p:attrName>style.visibility</p:attrName>
                                        </p:attrNameLst>
                                      </p:cBhvr>
                                      <p:to>
                                        <p:strVal val="visible"/>
                                      </p:to>
                                    </p:set>
                                    <p:anim calcmode="lin" valueType="num">
                                      <p:cBhvr>
                                        <p:cTn id="49" dur="10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50" dur="1000" fill="hold"/>
                                        <p:tgtEl>
                                          <p:spTgt spid="19"/>
                                        </p:tgtEl>
                                        <p:attrNameLst>
                                          <p:attrName>ppt_y</p:attrName>
                                        </p:attrNameLst>
                                      </p:cBhvr>
                                      <p:tavLst>
                                        <p:tav tm="0">
                                          <p:val>
                                            <p:strVal val="#ppt_y"/>
                                          </p:val>
                                        </p:tav>
                                        <p:tav tm="100000">
                                          <p:val>
                                            <p:strVal val="#ppt_y"/>
                                          </p:val>
                                        </p:tav>
                                      </p:tavLst>
                                    </p:anim>
                                    <p:anim calcmode="lin" valueType="num">
                                      <p:cBhvr>
                                        <p:cTn id="51" dur="10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52" dur="10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53" dur="1000" tmFilter="0,0; .5, 1; 1, 1"/>
                                        <p:tgtEl>
                                          <p:spTgt spid="19"/>
                                        </p:tgtEl>
                                      </p:cBhvr>
                                    </p:animEffect>
                                  </p:childTnLst>
                                </p:cTn>
                              </p:par>
                            </p:childTnLst>
                          </p:cTn>
                        </p:par>
                        <p:par>
                          <p:cTn id="54" fill="hold">
                            <p:stCondLst>
                              <p:cond delay="4000"/>
                            </p:stCondLst>
                            <p:childTnLst>
                              <p:par>
                                <p:cTn id="55" presetID="45" presetClass="entr" presetSubtype="0" fill="hold"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750"/>
                                        <p:tgtEl>
                                          <p:spTgt spid="21"/>
                                        </p:tgtEl>
                                      </p:cBhvr>
                                    </p:animEffect>
                                    <p:anim calcmode="lin" valueType="num">
                                      <p:cBhvr>
                                        <p:cTn id="58" dur="750" fill="hold"/>
                                        <p:tgtEl>
                                          <p:spTgt spid="21"/>
                                        </p:tgtEl>
                                        <p:attrNameLst>
                                          <p:attrName>ppt_w</p:attrName>
                                        </p:attrNameLst>
                                      </p:cBhvr>
                                      <p:tavLst>
                                        <p:tav tm="0" fmla="#ppt_w*sin(2.5*pi*$)">
                                          <p:val>
                                            <p:fltVal val="0"/>
                                          </p:val>
                                        </p:tav>
                                        <p:tav tm="100000">
                                          <p:val>
                                            <p:fltVal val="1"/>
                                          </p:val>
                                        </p:tav>
                                      </p:tavLst>
                                    </p:anim>
                                    <p:anim calcmode="lin" valueType="num">
                                      <p:cBhvr>
                                        <p:cTn id="59" dur="750" fill="hold"/>
                                        <p:tgtEl>
                                          <p:spTgt spid="21"/>
                                        </p:tgtEl>
                                        <p:attrNameLst>
                                          <p:attrName>ppt_h</p:attrName>
                                        </p:attrNameLst>
                                      </p:cBhvr>
                                      <p:tavLst>
                                        <p:tav tm="0">
                                          <p:val>
                                            <p:strVal val="#ppt_h"/>
                                          </p:val>
                                        </p:tav>
                                        <p:tav tm="100000">
                                          <p:val>
                                            <p:strVal val="#ppt_h"/>
                                          </p:val>
                                        </p:tav>
                                      </p:tavLst>
                                    </p:anim>
                                  </p:childTnLst>
                                </p:cTn>
                              </p:par>
                            </p:childTnLst>
                          </p:cTn>
                        </p:par>
                        <p:par>
                          <p:cTn id="60" fill="hold">
                            <p:stCondLst>
                              <p:cond delay="4750"/>
                            </p:stCondLst>
                            <p:childTnLst>
                              <p:par>
                                <p:cTn id="61" presetID="22" presetClass="entr" presetSubtype="8" fill="hold" nodeType="after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left)">
                                      <p:cBhvr>
                                        <p:cTn id="63" dur="500"/>
                                        <p:tgtEl>
                                          <p:spTgt spid="20"/>
                                        </p:tgtEl>
                                      </p:cBhvr>
                                    </p:animEffect>
                                  </p:childTnLst>
                                </p:cTn>
                              </p:par>
                              <p:par>
                                <p:cTn id="64" presetID="2" presetClass="entr" presetSubtype="2" fill="hold" grpId="0" nodeType="withEffect">
                                  <p:stCondLst>
                                    <p:cond delay="500"/>
                                  </p:stCondLst>
                                  <p:childTnLst>
                                    <p:set>
                                      <p:cBhvr>
                                        <p:cTn id="65" dur="1" fill="hold">
                                          <p:stCondLst>
                                            <p:cond delay="0"/>
                                          </p:stCondLst>
                                        </p:cTn>
                                        <p:tgtEl>
                                          <p:spTgt spid="26"/>
                                        </p:tgtEl>
                                        <p:attrNameLst>
                                          <p:attrName>style.visibility</p:attrName>
                                        </p:attrNameLst>
                                      </p:cBhvr>
                                      <p:to>
                                        <p:strVal val="visible"/>
                                      </p:to>
                                    </p:set>
                                    <p:anim calcmode="lin" valueType="num">
                                      <p:cBhvr additive="base">
                                        <p:cTn id="66" dur="500" fill="hold"/>
                                        <p:tgtEl>
                                          <p:spTgt spid="26"/>
                                        </p:tgtEl>
                                        <p:attrNameLst>
                                          <p:attrName>ppt_x</p:attrName>
                                        </p:attrNameLst>
                                      </p:cBhvr>
                                      <p:tavLst>
                                        <p:tav tm="0">
                                          <p:val>
                                            <p:strVal val="1+#ppt_w/2"/>
                                          </p:val>
                                        </p:tav>
                                        <p:tav tm="100000">
                                          <p:val>
                                            <p:strVal val="#ppt_x"/>
                                          </p:val>
                                        </p:tav>
                                      </p:tavLst>
                                    </p:anim>
                                    <p:anim calcmode="lin" valueType="num">
                                      <p:cBhvr additive="base">
                                        <p:cTn id="67" dur="500" fill="hold"/>
                                        <p:tgtEl>
                                          <p:spTgt spid="26"/>
                                        </p:tgtEl>
                                        <p:attrNameLst>
                                          <p:attrName>ppt_y</p:attrName>
                                        </p:attrNameLst>
                                      </p:cBhvr>
                                      <p:tavLst>
                                        <p:tav tm="0">
                                          <p:val>
                                            <p:strVal val="#ppt_y"/>
                                          </p:val>
                                        </p:tav>
                                        <p:tav tm="100000">
                                          <p:val>
                                            <p:strVal val="#ppt_y"/>
                                          </p:val>
                                        </p:tav>
                                      </p:tavLst>
                                    </p:anim>
                                  </p:childTnLst>
                                </p:cTn>
                              </p:par>
                            </p:childTnLst>
                          </p:cTn>
                        </p:par>
                        <p:par>
                          <p:cTn id="68" fill="hold">
                            <p:stCondLst>
                              <p:cond delay="5750"/>
                            </p:stCondLst>
                            <p:childTnLst>
                              <p:par>
                                <p:cTn id="69" presetID="45" presetClass="entr" presetSubtype="0" fill="hold" nodeType="after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750"/>
                                        <p:tgtEl>
                                          <p:spTgt spid="28"/>
                                        </p:tgtEl>
                                      </p:cBhvr>
                                    </p:animEffect>
                                    <p:anim calcmode="lin" valueType="num">
                                      <p:cBhvr>
                                        <p:cTn id="72" dur="750" fill="hold"/>
                                        <p:tgtEl>
                                          <p:spTgt spid="28"/>
                                        </p:tgtEl>
                                        <p:attrNameLst>
                                          <p:attrName>ppt_w</p:attrName>
                                        </p:attrNameLst>
                                      </p:cBhvr>
                                      <p:tavLst>
                                        <p:tav tm="0" fmla="#ppt_w*sin(2.5*pi*$)">
                                          <p:val>
                                            <p:fltVal val="0"/>
                                          </p:val>
                                        </p:tav>
                                        <p:tav tm="100000">
                                          <p:val>
                                            <p:fltVal val="1"/>
                                          </p:val>
                                        </p:tav>
                                      </p:tavLst>
                                    </p:anim>
                                    <p:anim calcmode="lin" valueType="num">
                                      <p:cBhvr>
                                        <p:cTn id="73" dur="750" fill="hold"/>
                                        <p:tgtEl>
                                          <p:spTgt spid="28"/>
                                        </p:tgtEl>
                                        <p:attrNameLst>
                                          <p:attrName>ppt_h</p:attrName>
                                        </p:attrNameLst>
                                      </p:cBhvr>
                                      <p:tavLst>
                                        <p:tav tm="0">
                                          <p:val>
                                            <p:strVal val="#ppt_h"/>
                                          </p:val>
                                        </p:tav>
                                        <p:tav tm="100000">
                                          <p:val>
                                            <p:strVal val="#ppt_h"/>
                                          </p:val>
                                        </p:tav>
                                      </p:tavLst>
                                    </p:anim>
                                  </p:childTnLst>
                                </p:cTn>
                              </p:par>
                            </p:childTnLst>
                          </p:cTn>
                        </p:par>
                        <p:par>
                          <p:cTn id="74" fill="hold">
                            <p:stCondLst>
                              <p:cond delay="6500"/>
                            </p:stCondLst>
                            <p:childTnLst>
                              <p:par>
                                <p:cTn id="75" presetID="22" presetClass="entr" presetSubtype="8" fill="hold" nodeType="after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wipe(left)">
                                      <p:cBhvr>
                                        <p:cTn id="77" dur="500"/>
                                        <p:tgtEl>
                                          <p:spTgt spid="27"/>
                                        </p:tgtEl>
                                      </p:cBhvr>
                                    </p:animEffect>
                                  </p:childTnLst>
                                </p:cTn>
                              </p:par>
                              <p:par>
                                <p:cTn id="78" presetID="2" presetClass="entr" presetSubtype="2" fill="hold" grpId="0" nodeType="withEffect">
                                  <p:stCondLst>
                                    <p:cond delay="500"/>
                                  </p:stCondLst>
                                  <p:childTnLst>
                                    <p:set>
                                      <p:cBhvr>
                                        <p:cTn id="79" dur="1" fill="hold">
                                          <p:stCondLst>
                                            <p:cond delay="0"/>
                                          </p:stCondLst>
                                        </p:cTn>
                                        <p:tgtEl>
                                          <p:spTgt spid="33"/>
                                        </p:tgtEl>
                                        <p:attrNameLst>
                                          <p:attrName>style.visibility</p:attrName>
                                        </p:attrNameLst>
                                      </p:cBhvr>
                                      <p:to>
                                        <p:strVal val="visible"/>
                                      </p:to>
                                    </p:set>
                                    <p:anim calcmode="lin" valueType="num">
                                      <p:cBhvr additive="base">
                                        <p:cTn id="80" dur="500" fill="hold"/>
                                        <p:tgtEl>
                                          <p:spTgt spid="33"/>
                                        </p:tgtEl>
                                        <p:attrNameLst>
                                          <p:attrName>ppt_x</p:attrName>
                                        </p:attrNameLst>
                                      </p:cBhvr>
                                      <p:tavLst>
                                        <p:tav tm="0">
                                          <p:val>
                                            <p:strVal val="1+#ppt_w/2"/>
                                          </p:val>
                                        </p:tav>
                                        <p:tav tm="100000">
                                          <p:val>
                                            <p:strVal val="#ppt_x"/>
                                          </p:val>
                                        </p:tav>
                                      </p:tavLst>
                                    </p:anim>
                                    <p:anim calcmode="lin" valueType="num">
                                      <p:cBhvr additive="base">
                                        <p:cTn id="81" dur="500" fill="hold"/>
                                        <p:tgtEl>
                                          <p:spTgt spid="33"/>
                                        </p:tgtEl>
                                        <p:attrNameLst>
                                          <p:attrName>ppt_y</p:attrName>
                                        </p:attrNameLst>
                                      </p:cBhvr>
                                      <p:tavLst>
                                        <p:tav tm="0">
                                          <p:val>
                                            <p:strVal val="#ppt_y"/>
                                          </p:val>
                                        </p:tav>
                                        <p:tav tm="100000">
                                          <p:val>
                                            <p:strVal val="#ppt_y"/>
                                          </p:val>
                                        </p:tav>
                                      </p:tavLst>
                                    </p:anim>
                                  </p:childTnLst>
                                </p:cTn>
                              </p:par>
                            </p:childTnLst>
                          </p:cTn>
                        </p:par>
                        <p:par>
                          <p:cTn id="82" fill="hold">
                            <p:stCondLst>
                              <p:cond delay="7500"/>
                            </p:stCondLst>
                            <p:childTnLst>
                              <p:par>
                                <p:cTn id="83" presetID="45" presetClass="entr" presetSubtype="0" fill="hold" nodeType="after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fade">
                                      <p:cBhvr>
                                        <p:cTn id="85" dur="750"/>
                                        <p:tgtEl>
                                          <p:spTgt spid="35"/>
                                        </p:tgtEl>
                                      </p:cBhvr>
                                    </p:animEffect>
                                    <p:anim calcmode="lin" valueType="num">
                                      <p:cBhvr>
                                        <p:cTn id="86" dur="750" fill="hold"/>
                                        <p:tgtEl>
                                          <p:spTgt spid="35"/>
                                        </p:tgtEl>
                                        <p:attrNameLst>
                                          <p:attrName>ppt_w</p:attrName>
                                        </p:attrNameLst>
                                      </p:cBhvr>
                                      <p:tavLst>
                                        <p:tav tm="0" fmla="#ppt_w*sin(2.5*pi*$)">
                                          <p:val>
                                            <p:fltVal val="0"/>
                                          </p:val>
                                        </p:tav>
                                        <p:tav tm="100000">
                                          <p:val>
                                            <p:fltVal val="1"/>
                                          </p:val>
                                        </p:tav>
                                      </p:tavLst>
                                    </p:anim>
                                    <p:anim calcmode="lin" valueType="num">
                                      <p:cBhvr>
                                        <p:cTn id="87" dur="750" fill="hold"/>
                                        <p:tgtEl>
                                          <p:spTgt spid="35"/>
                                        </p:tgtEl>
                                        <p:attrNameLst>
                                          <p:attrName>ppt_h</p:attrName>
                                        </p:attrNameLst>
                                      </p:cBhvr>
                                      <p:tavLst>
                                        <p:tav tm="0">
                                          <p:val>
                                            <p:strVal val="#ppt_h"/>
                                          </p:val>
                                        </p:tav>
                                        <p:tav tm="100000">
                                          <p:val>
                                            <p:strVal val="#ppt_h"/>
                                          </p:val>
                                        </p:tav>
                                      </p:tavLst>
                                    </p:anim>
                                  </p:childTnLst>
                                </p:cTn>
                              </p:par>
                            </p:childTnLst>
                          </p:cTn>
                        </p:par>
                        <p:par>
                          <p:cTn id="88" fill="hold">
                            <p:stCondLst>
                              <p:cond delay="8250"/>
                            </p:stCondLst>
                            <p:childTnLst>
                              <p:par>
                                <p:cTn id="89" presetID="22" presetClass="entr" presetSubtype="8" fill="hold" nodeType="after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wipe(left)">
                                      <p:cBhvr>
                                        <p:cTn id="91" dur="500"/>
                                        <p:tgtEl>
                                          <p:spTgt spid="34"/>
                                        </p:tgtEl>
                                      </p:cBhvr>
                                    </p:animEffect>
                                  </p:childTnLst>
                                </p:cTn>
                              </p:par>
                              <p:par>
                                <p:cTn id="92" presetID="2" presetClass="entr" presetSubtype="2" fill="hold" grpId="0" nodeType="withEffect">
                                  <p:stCondLst>
                                    <p:cond delay="500"/>
                                  </p:stCondLst>
                                  <p:childTnLst>
                                    <p:set>
                                      <p:cBhvr>
                                        <p:cTn id="93" dur="1" fill="hold">
                                          <p:stCondLst>
                                            <p:cond delay="0"/>
                                          </p:stCondLst>
                                        </p:cTn>
                                        <p:tgtEl>
                                          <p:spTgt spid="40"/>
                                        </p:tgtEl>
                                        <p:attrNameLst>
                                          <p:attrName>style.visibility</p:attrName>
                                        </p:attrNameLst>
                                      </p:cBhvr>
                                      <p:to>
                                        <p:strVal val="visible"/>
                                      </p:to>
                                    </p:set>
                                    <p:anim calcmode="lin" valueType="num">
                                      <p:cBhvr additive="base">
                                        <p:cTn id="94" dur="500" fill="hold"/>
                                        <p:tgtEl>
                                          <p:spTgt spid="40"/>
                                        </p:tgtEl>
                                        <p:attrNameLst>
                                          <p:attrName>ppt_x</p:attrName>
                                        </p:attrNameLst>
                                      </p:cBhvr>
                                      <p:tavLst>
                                        <p:tav tm="0">
                                          <p:val>
                                            <p:strVal val="1+#ppt_w/2"/>
                                          </p:val>
                                        </p:tav>
                                        <p:tav tm="100000">
                                          <p:val>
                                            <p:strVal val="#ppt_x"/>
                                          </p:val>
                                        </p:tav>
                                      </p:tavLst>
                                    </p:anim>
                                    <p:anim calcmode="lin" valueType="num">
                                      <p:cBhvr additive="base">
                                        <p:cTn id="95" dur="500" fill="hold"/>
                                        <p:tgtEl>
                                          <p:spTgt spid="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15" grpId="0" animBg="1"/>
      <p:bldP spid="19" grpId="0"/>
      <p:bldP spid="26" grpId="0"/>
      <p:bldP spid="33" grpId="0"/>
      <p:bldP spid="4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Box 90"/>
          <p:cNvSpPr txBox="1"/>
          <p:nvPr/>
        </p:nvSpPr>
        <p:spPr>
          <a:xfrm>
            <a:off x="4770648" y="188640"/>
            <a:ext cx="2623083" cy="461665"/>
          </a:xfrm>
          <a:prstGeom prst="rect">
            <a:avLst/>
          </a:prstGeom>
          <a:noFill/>
        </p:spPr>
        <p:txBody>
          <a:bodyPr wrap="square" rtlCol="0">
            <a:spAutoFit/>
          </a:bodyPr>
          <a:lstStyle/>
          <a:p>
            <a:pPr algn="ctr"/>
            <a:r>
              <a:rPr lang="zh-CN" altLang="en-US" sz="2400" b="1"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具體工作明細</a:t>
            </a:r>
            <a:endParaRPr lang="zh-CN" altLang="en-US" sz="2400" b="1"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cxnSp>
        <p:nvCxnSpPr>
          <p:cNvPr id="95" name="直接连接符 94"/>
          <p:cNvCxnSpPr/>
          <p:nvPr/>
        </p:nvCxnSpPr>
        <p:spPr>
          <a:xfrm>
            <a:off x="7393731" y="419473"/>
            <a:ext cx="446449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a:off x="336947" y="423828"/>
            <a:ext cx="439248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7393731" y="476672"/>
            <a:ext cx="4464496"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336947" y="481027"/>
            <a:ext cx="4392488"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2426295" y="1556792"/>
            <a:ext cx="2016224" cy="2016224"/>
            <a:chOff x="1705099" y="2564904"/>
            <a:chExt cx="1800200" cy="1800200"/>
          </a:xfrm>
        </p:grpSpPr>
        <p:sp>
          <p:nvSpPr>
            <p:cNvPr id="13" name="椭圆 12"/>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4" name="椭圆 13"/>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15" name="KSO_Shape"/>
          <p:cNvSpPr/>
          <p:nvPr/>
        </p:nvSpPr>
        <p:spPr bwMode="auto">
          <a:xfrm>
            <a:off x="2860230" y="2198225"/>
            <a:ext cx="1153220" cy="805332"/>
          </a:xfrm>
          <a:custGeom>
            <a:avLst/>
            <a:gdLst>
              <a:gd name="T0" fmla="*/ 1733867 w 2074863"/>
              <a:gd name="T1" fmla="*/ 579834 h 1449388"/>
              <a:gd name="T2" fmla="*/ 1791884 w 2074863"/>
              <a:gd name="T3" fmla="*/ 600246 h 1449388"/>
              <a:gd name="T4" fmla="*/ 1794804 w 2074863"/>
              <a:gd name="T5" fmla="*/ 538648 h 1449388"/>
              <a:gd name="T6" fmla="*/ 510830 w 2074863"/>
              <a:gd name="T7" fmla="*/ 162256 h 1449388"/>
              <a:gd name="T8" fmla="*/ 492893 w 2074863"/>
              <a:gd name="T9" fmla="*/ 222976 h 1449388"/>
              <a:gd name="T10" fmla="*/ 438718 w 2074863"/>
              <a:gd name="T11" fmla="*/ 188484 h 1449388"/>
              <a:gd name="T12" fmla="*/ 1598128 w 2074863"/>
              <a:gd name="T13" fmla="*/ 142089 h 1449388"/>
              <a:gd name="T14" fmla="*/ 1885296 w 2074863"/>
              <a:gd name="T15" fmla="*/ 549583 h 1449388"/>
              <a:gd name="T16" fmla="*/ 1586087 w 2074863"/>
              <a:gd name="T17" fmla="*/ 450078 h 1449388"/>
              <a:gd name="T18" fmla="*/ 486453 w 2074863"/>
              <a:gd name="T19" fmla="*/ 72185 h 1449388"/>
              <a:gd name="T20" fmla="*/ 151219 w 2074863"/>
              <a:gd name="T21" fmla="*/ 357281 h 1449388"/>
              <a:gd name="T22" fmla="*/ 295879 w 2074863"/>
              <a:gd name="T23" fmla="*/ 407592 h 1449388"/>
              <a:gd name="T24" fmla="*/ 486453 w 2074863"/>
              <a:gd name="T25" fmla="*/ 72185 h 1449388"/>
              <a:gd name="T26" fmla="*/ 681762 w 2074863"/>
              <a:gd name="T27" fmla="*/ 209994 h 1449388"/>
              <a:gd name="T28" fmla="*/ 910960 w 2074863"/>
              <a:gd name="T29" fmla="*/ 275617 h 1449388"/>
              <a:gd name="T30" fmla="*/ 1184248 w 2074863"/>
              <a:gd name="T31" fmla="*/ 351448 h 1449388"/>
              <a:gd name="T32" fmla="*/ 1396319 w 2074863"/>
              <a:gd name="T33" fmla="*/ 332855 h 1449388"/>
              <a:gd name="T34" fmla="*/ 1606205 w 2074863"/>
              <a:gd name="T35" fmla="*/ 562536 h 1449388"/>
              <a:gd name="T36" fmla="*/ 1640821 w 2074863"/>
              <a:gd name="T37" fmla="*/ 739718 h 1449388"/>
              <a:gd name="T38" fmla="*/ 1379558 w 2074863"/>
              <a:gd name="T39" fmla="*/ 843985 h 1449388"/>
              <a:gd name="T40" fmla="*/ 1124853 w 2074863"/>
              <a:gd name="T41" fmla="*/ 641283 h 1449388"/>
              <a:gd name="T42" fmla="*/ 720387 w 2074863"/>
              <a:gd name="T43" fmla="*/ 519516 h 1449388"/>
              <a:gd name="T44" fmla="*/ 653705 w 2074863"/>
              <a:gd name="T45" fmla="*/ 311345 h 1449388"/>
              <a:gd name="T46" fmla="*/ 325395 w 2074863"/>
              <a:gd name="T47" fmla="*/ 480871 h 1449388"/>
              <a:gd name="T48" fmla="*/ 435438 w 2074863"/>
              <a:gd name="T49" fmla="*/ 683574 h 1449388"/>
              <a:gd name="T50" fmla="*/ 530543 w 2074863"/>
              <a:gd name="T51" fmla="*/ 794768 h 1449388"/>
              <a:gd name="T52" fmla="*/ 611436 w 2074863"/>
              <a:gd name="T53" fmla="*/ 890286 h 1449388"/>
              <a:gd name="T54" fmla="*/ 688686 w 2074863"/>
              <a:gd name="T55" fmla="*/ 1001480 h 1449388"/>
              <a:gd name="T56" fmla="*/ 800188 w 2074863"/>
              <a:gd name="T57" fmla="*/ 1230068 h 1449388"/>
              <a:gd name="T58" fmla="*/ 913511 w 2074863"/>
              <a:gd name="T59" fmla="*/ 1255588 h 1449388"/>
              <a:gd name="T60" fmla="*/ 768486 w 2074863"/>
              <a:gd name="T61" fmla="*/ 1063458 h 1449388"/>
              <a:gd name="T62" fmla="*/ 798730 w 2074863"/>
              <a:gd name="T63" fmla="*/ 1022261 h 1449388"/>
              <a:gd name="T64" fmla="*/ 1047604 w 2074863"/>
              <a:gd name="T65" fmla="*/ 1245015 h 1449388"/>
              <a:gd name="T66" fmla="*/ 1112465 w 2074863"/>
              <a:gd name="T67" fmla="*/ 1184496 h 1449388"/>
              <a:gd name="T68" fmla="*/ 841727 w 2074863"/>
              <a:gd name="T69" fmla="*/ 896119 h 1449388"/>
              <a:gd name="T70" fmla="*/ 886182 w 2074863"/>
              <a:gd name="T71" fmla="*/ 868047 h 1449388"/>
              <a:gd name="T72" fmla="*/ 1205383 w 2074863"/>
              <a:gd name="T73" fmla="*/ 1138195 h 1449388"/>
              <a:gd name="T74" fmla="*/ 1202468 w 2074863"/>
              <a:gd name="T75" fmla="*/ 1026636 h 1449388"/>
              <a:gd name="T76" fmla="*/ 955779 w 2074863"/>
              <a:gd name="T77" fmla="*/ 749197 h 1449388"/>
              <a:gd name="T78" fmla="*/ 1006793 w 2074863"/>
              <a:gd name="T79" fmla="*/ 736437 h 1449388"/>
              <a:gd name="T80" fmla="*/ 1311053 w 2074863"/>
              <a:gd name="T81" fmla="*/ 1001480 h 1449388"/>
              <a:gd name="T82" fmla="*/ 1303037 w 2074863"/>
              <a:gd name="T83" fmla="*/ 890286 h 1449388"/>
              <a:gd name="T84" fmla="*/ 1310325 w 2074863"/>
              <a:gd name="T85" fmla="*/ 838516 h 1449388"/>
              <a:gd name="T86" fmla="*/ 1409802 w 2074863"/>
              <a:gd name="T87" fmla="*/ 919087 h 1449388"/>
              <a:gd name="T88" fmla="*/ 1378829 w 2074863"/>
              <a:gd name="T89" fmla="*/ 1028094 h 1449388"/>
              <a:gd name="T90" fmla="*/ 1306317 w 2074863"/>
              <a:gd name="T91" fmla="*/ 1123248 h 1449388"/>
              <a:gd name="T92" fmla="*/ 1210119 w 2074863"/>
              <a:gd name="T93" fmla="*/ 1205641 h 1449388"/>
              <a:gd name="T94" fmla="*/ 1113922 w 2074863"/>
              <a:gd name="T95" fmla="*/ 1290222 h 1449388"/>
              <a:gd name="T96" fmla="*/ 1016631 w 2074863"/>
              <a:gd name="T97" fmla="*/ 1300795 h 1449388"/>
              <a:gd name="T98" fmla="*/ 897478 w 2074863"/>
              <a:gd name="T99" fmla="*/ 1327044 h 1449388"/>
              <a:gd name="T100" fmla="*/ 625648 w 2074863"/>
              <a:gd name="T101" fmla="*/ 1160798 h 1449388"/>
              <a:gd name="T102" fmla="*/ 491918 w 2074863"/>
              <a:gd name="T103" fmla="*/ 1202360 h 1449388"/>
              <a:gd name="T104" fmla="*/ 458760 w 2074863"/>
              <a:gd name="T105" fmla="*/ 1134550 h 1449388"/>
              <a:gd name="T106" fmla="*/ 365477 w 2074863"/>
              <a:gd name="T107" fmla="*/ 1057260 h 1449388"/>
              <a:gd name="T108" fmla="*/ 317378 w 2074863"/>
              <a:gd name="T109" fmla="*/ 969763 h 1449388"/>
              <a:gd name="T110" fmla="*/ 233206 w 2074863"/>
              <a:gd name="T111" fmla="*/ 865131 h 1449388"/>
              <a:gd name="T112" fmla="*/ 268916 w 2074863"/>
              <a:gd name="T113" fmla="*/ 733520 h 1449388"/>
              <a:gd name="T114" fmla="*/ 186565 w 2074863"/>
              <a:gd name="T115" fmla="*/ 647845 h 1449388"/>
              <a:gd name="T116" fmla="*/ 1822 w 2074863"/>
              <a:gd name="T117" fmla="*/ 438580 h 1449388"/>
              <a:gd name="T118" fmla="*/ 272923 w 2074863"/>
              <a:gd name="T119" fmla="*/ 139996 h 144938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074863" h="1449388">
                <a:moveTo>
                  <a:pt x="1923841" y="577723"/>
                </a:moveTo>
                <a:lnTo>
                  <a:pt x="1919867" y="578517"/>
                </a:lnTo>
                <a:lnTo>
                  <a:pt x="1915893" y="579312"/>
                </a:lnTo>
                <a:lnTo>
                  <a:pt x="1911919" y="580503"/>
                </a:lnTo>
                <a:lnTo>
                  <a:pt x="1907944" y="582488"/>
                </a:lnTo>
                <a:lnTo>
                  <a:pt x="1904765" y="584871"/>
                </a:lnTo>
                <a:lnTo>
                  <a:pt x="1901983" y="586857"/>
                </a:lnTo>
                <a:lnTo>
                  <a:pt x="1898804" y="589636"/>
                </a:lnTo>
                <a:lnTo>
                  <a:pt x="1896022" y="592813"/>
                </a:lnTo>
                <a:lnTo>
                  <a:pt x="1893240" y="595593"/>
                </a:lnTo>
                <a:lnTo>
                  <a:pt x="1891253" y="599167"/>
                </a:lnTo>
                <a:lnTo>
                  <a:pt x="1889663" y="602741"/>
                </a:lnTo>
                <a:lnTo>
                  <a:pt x="1888471" y="606712"/>
                </a:lnTo>
                <a:lnTo>
                  <a:pt x="1887278" y="610683"/>
                </a:lnTo>
                <a:lnTo>
                  <a:pt x="1886483" y="615051"/>
                </a:lnTo>
                <a:lnTo>
                  <a:pt x="1886483" y="619419"/>
                </a:lnTo>
                <a:lnTo>
                  <a:pt x="1886483" y="623390"/>
                </a:lnTo>
                <a:lnTo>
                  <a:pt x="1887278" y="627758"/>
                </a:lnTo>
                <a:lnTo>
                  <a:pt x="1888471" y="631729"/>
                </a:lnTo>
                <a:lnTo>
                  <a:pt x="1889663" y="635303"/>
                </a:lnTo>
                <a:lnTo>
                  <a:pt x="1891253" y="639274"/>
                </a:lnTo>
                <a:lnTo>
                  <a:pt x="1893240" y="642451"/>
                </a:lnTo>
                <a:lnTo>
                  <a:pt x="1896022" y="646025"/>
                </a:lnTo>
                <a:lnTo>
                  <a:pt x="1898804" y="648805"/>
                </a:lnTo>
                <a:lnTo>
                  <a:pt x="1901983" y="651188"/>
                </a:lnTo>
                <a:lnTo>
                  <a:pt x="1904765" y="653967"/>
                </a:lnTo>
                <a:lnTo>
                  <a:pt x="1907944" y="655953"/>
                </a:lnTo>
                <a:lnTo>
                  <a:pt x="1911919" y="657541"/>
                </a:lnTo>
                <a:lnTo>
                  <a:pt x="1915893" y="659130"/>
                </a:lnTo>
                <a:lnTo>
                  <a:pt x="1919867" y="660321"/>
                </a:lnTo>
                <a:lnTo>
                  <a:pt x="1923841" y="660718"/>
                </a:lnTo>
                <a:lnTo>
                  <a:pt x="1928213" y="661115"/>
                </a:lnTo>
                <a:lnTo>
                  <a:pt x="1932585" y="660718"/>
                </a:lnTo>
                <a:lnTo>
                  <a:pt x="1936956" y="660321"/>
                </a:lnTo>
                <a:lnTo>
                  <a:pt x="1940533" y="659130"/>
                </a:lnTo>
                <a:lnTo>
                  <a:pt x="1944508" y="657541"/>
                </a:lnTo>
                <a:lnTo>
                  <a:pt x="1948084" y="655953"/>
                </a:lnTo>
                <a:lnTo>
                  <a:pt x="1951661" y="653967"/>
                </a:lnTo>
                <a:lnTo>
                  <a:pt x="1954841" y="651188"/>
                </a:lnTo>
                <a:lnTo>
                  <a:pt x="1958020" y="648805"/>
                </a:lnTo>
                <a:lnTo>
                  <a:pt x="1960405" y="646025"/>
                </a:lnTo>
                <a:lnTo>
                  <a:pt x="1963187" y="642451"/>
                </a:lnTo>
                <a:lnTo>
                  <a:pt x="1965174" y="639274"/>
                </a:lnTo>
                <a:lnTo>
                  <a:pt x="1966763" y="635303"/>
                </a:lnTo>
                <a:lnTo>
                  <a:pt x="1967956" y="631729"/>
                </a:lnTo>
                <a:lnTo>
                  <a:pt x="1969148" y="627758"/>
                </a:lnTo>
                <a:lnTo>
                  <a:pt x="1969943" y="623390"/>
                </a:lnTo>
                <a:lnTo>
                  <a:pt x="1970340" y="619419"/>
                </a:lnTo>
                <a:lnTo>
                  <a:pt x="1969943" y="615051"/>
                </a:lnTo>
                <a:lnTo>
                  <a:pt x="1969148" y="610683"/>
                </a:lnTo>
                <a:lnTo>
                  <a:pt x="1967956" y="606712"/>
                </a:lnTo>
                <a:lnTo>
                  <a:pt x="1966763" y="602741"/>
                </a:lnTo>
                <a:lnTo>
                  <a:pt x="1965174" y="599167"/>
                </a:lnTo>
                <a:lnTo>
                  <a:pt x="1963187" y="595593"/>
                </a:lnTo>
                <a:lnTo>
                  <a:pt x="1960405" y="592813"/>
                </a:lnTo>
                <a:lnTo>
                  <a:pt x="1958020" y="589636"/>
                </a:lnTo>
                <a:lnTo>
                  <a:pt x="1954841" y="586857"/>
                </a:lnTo>
                <a:lnTo>
                  <a:pt x="1951661" y="584871"/>
                </a:lnTo>
                <a:lnTo>
                  <a:pt x="1948084" y="582488"/>
                </a:lnTo>
                <a:lnTo>
                  <a:pt x="1944508" y="580503"/>
                </a:lnTo>
                <a:lnTo>
                  <a:pt x="1940533" y="579312"/>
                </a:lnTo>
                <a:lnTo>
                  <a:pt x="1936956" y="578517"/>
                </a:lnTo>
                <a:lnTo>
                  <a:pt x="1932585" y="577723"/>
                </a:lnTo>
                <a:lnTo>
                  <a:pt x="1928213" y="577723"/>
                </a:lnTo>
                <a:lnTo>
                  <a:pt x="1923841" y="577723"/>
                </a:lnTo>
                <a:close/>
                <a:moveTo>
                  <a:pt x="519301" y="160338"/>
                </a:moveTo>
                <a:lnTo>
                  <a:pt x="523687" y="160338"/>
                </a:lnTo>
                <a:lnTo>
                  <a:pt x="528072" y="160729"/>
                </a:lnTo>
                <a:lnTo>
                  <a:pt x="532059" y="161512"/>
                </a:lnTo>
                <a:lnTo>
                  <a:pt x="536445" y="162687"/>
                </a:lnTo>
                <a:lnTo>
                  <a:pt x="540033" y="163861"/>
                </a:lnTo>
                <a:lnTo>
                  <a:pt x="544020" y="166210"/>
                </a:lnTo>
                <a:lnTo>
                  <a:pt x="547209" y="168558"/>
                </a:lnTo>
                <a:lnTo>
                  <a:pt x="550399" y="170907"/>
                </a:lnTo>
                <a:lnTo>
                  <a:pt x="553588" y="174038"/>
                </a:lnTo>
                <a:lnTo>
                  <a:pt x="556379" y="176778"/>
                </a:lnTo>
                <a:lnTo>
                  <a:pt x="558771" y="180693"/>
                </a:lnTo>
                <a:lnTo>
                  <a:pt x="560366" y="183824"/>
                </a:lnTo>
                <a:lnTo>
                  <a:pt x="562359" y="188130"/>
                </a:lnTo>
                <a:lnTo>
                  <a:pt x="563954" y="192436"/>
                </a:lnTo>
                <a:lnTo>
                  <a:pt x="564752" y="196350"/>
                </a:lnTo>
                <a:lnTo>
                  <a:pt x="565150" y="201048"/>
                </a:lnTo>
                <a:lnTo>
                  <a:pt x="565150" y="205353"/>
                </a:lnTo>
                <a:lnTo>
                  <a:pt x="564752" y="209268"/>
                </a:lnTo>
                <a:lnTo>
                  <a:pt x="563954" y="213574"/>
                </a:lnTo>
                <a:lnTo>
                  <a:pt x="562758" y="217488"/>
                </a:lnTo>
                <a:lnTo>
                  <a:pt x="560765" y="221402"/>
                </a:lnTo>
                <a:lnTo>
                  <a:pt x="558771" y="224925"/>
                </a:lnTo>
                <a:lnTo>
                  <a:pt x="556778" y="228448"/>
                </a:lnTo>
                <a:lnTo>
                  <a:pt x="553987" y="231188"/>
                </a:lnTo>
                <a:lnTo>
                  <a:pt x="551196" y="234711"/>
                </a:lnTo>
                <a:lnTo>
                  <a:pt x="547608" y="237060"/>
                </a:lnTo>
                <a:lnTo>
                  <a:pt x="544418" y="239800"/>
                </a:lnTo>
                <a:lnTo>
                  <a:pt x="540431" y="241366"/>
                </a:lnTo>
                <a:lnTo>
                  <a:pt x="536843" y="242932"/>
                </a:lnTo>
                <a:lnTo>
                  <a:pt x="532458" y="244497"/>
                </a:lnTo>
                <a:lnTo>
                  <a:pt x="528072" y="245672"/>
                </a:lnTo>
                <a:lnTo>
                  <a:pt x="523687" y="246063"/>
                </a:lnTo>
                <a:lnTo>
                  <a:pt x="518902" y="246063"/>
                </a:lnTo>
                <a:lnTo>
                  <a:pt x="514915" y="245672"/>
                </a:lnTo>
                <a:lnTo>
                  <a:pt x="510530" y="244497"/>
                </a:lnTo>
                <a:lnTo>
                  <a:pt x="506543" y="243323"/>
                </a:lnTo>
                <a:lnTo>
                  <a:pt x="502955" y="241757"/>
                </a:lnTo>
                <a:lnTo>
                  <a:pt x="498968" y="239800"/>
                </a:lnTo>
                <a:lnTo>
                  <a:pt x="495778" y="237451"/>
                </a:lnTo>
                <a:lnTo>
                  <a:pt x="492190" y="235103"/>
                </a:lnTo>
                <a:lnTo>
                  <a:pt x="489399" y="232363"/>
                </a:lnTo>
                <a:lnTo>
                  <a:pt x="486210" y="228840"/>
                </a:lnTo>
                <a:lnTo>
                  <a:pt x="484216" y="225708"/>
                </a:lnTo>
                <a:lnTo>
                  <a:pt x="482223" y="221794"/>
                </a:lnTo>
                <a:lnTo>
                  <a:pt x="480628" y="217879"/>
                </a:lnTo>
                <a:lnTo>
                  <a:pt x="479033" y="213965"/>
                </a:lnTo>
                <a:lnTo>
                  <a:pt x="478236" y="209268"/>
                </a:lnTo>
                <a:lnTo>
                  <a:pt x="477837" y="205353"/>
                </a:lnTo>
                <a:lnTo>
                  <a:pt x="477837" y="200656"/>
                </a:lnTo>
                <a:lnTo>
                  <a:pt x="478236" y="196350"/>
                </a:lnTo>
                <a:lnTo>
                  <a:pt x="479033" y="192436"/>
                </a:lnTo>
                <a:lnTo>
                  <a:pt x="480628" y="188522"/>
                </a:lnTo>
                <a:lnTo>
                  <a:pt x="481824" y="184607"/>
                </a:lnTo>
                <a:lnTo>
                  <a:pt x="483818" y="181084"/>
                </a:lnTo>
                <a:lnTo>
                  <a:pt x="486210" y="177561"/>
                </a:lnTo>
                <a:lnTo>
                  <a:pt x="489001" y="174430"/>
                </a:lnTo>
                <a:lnTo>
                  <a:pt x="491791" y="171298"/>
                </a:lnTo>
                <a:lnTo>
                  <a:pt x="494981" y="168558"/>
                </a:lnTo>
                <a:lnTo>
                  <a:pt x="498569" y="166601"/>
                </a:lnTo>
                <a:lnTo>
                  <a:pt x="502157" y="164252"/>
                </a:lnTo>
                <a:lnTo>
                  <a:pt x="506144" y="162687"/>
                </a:lnTo>
                <a:lnTo>
                  <a:pt x="510530" y="161512"/>
                </a:lnTo>
                <a:lnTo>
                  <a:pt x="514915" y="160729"/>
                </a:lnTo>
                <a:lnTo>
                  <a:pt x="519301" y="160338"/>
                </a:lnTo>
                <a:close/>
                <a:moveTo>
                  <a:pt x="1699693" y="111125"/>
                </a:moveTo>
                <a:lnTo>
                  <a:pt x="1718770" y="131377"/>
                </a:lnTo>
                <a:lnTo>
                  <a:pt x="1740628" y="154806"/>
                </a:lnTo>
                <a:lnTo>
                  <a:pt x="1768448" y="186178"/>
                </a:lnTo>
                <a:lnTo>
                  <a:pt x="1784345" y="204842"/>
                </a:lnTo>
                <a:lnTo>
                  <a:pt x="1801832" y="224697"/>
                </a:lnTo>
                <a:lnTo>
                  <a:pt x="1819318" y="246538"/>
                </a:lnTo>
                <a:lnTo>
                  <a:pt x="1838395" y="269173"/>
                </a:lnTo>
                <a:lnTo>
                  <a:pt x="1857471" y="293793"/>
                </a:lnTo>
                <a:lnTo>
                  <a:pt x="1877343" y="318811"/>
                </a:lnTo>
                <a:lnTo>
                  <a:pt x="1897611" y="345417"/>
                </a:lnTo>
                <a:lnTo>
                  <a:pt x="1917483" y="372420"/>
                </a:lnTo>
                <a:lnTo>
                  <a:pt x="1936956" y="400217"/>
                </a:lnTo>
                <a:lnTo>
                  <a:pt x="1954841" y="426823"/>
                </a:lnTo>
                <a:lnTo>
                  <a:pt x="1971930" y="453032"/>
                </a:lnTo>
                <a:lnTo>
                  <a:pt x="1987032" y="478050"/>
                </a:lnTo>
                <a:lnTo>
                  <a:pt x="2001339" y="501479"/>
                </a:lnTo>
                <a:lnTo>
                  <a:pt x="2014057" y="524511"/>
                </a:lnTo>
                <a:lnTo>
                  <a:pt x="2025980" y="545558"/>
                </a:lnTo>
                <a:lnTo>
                  <a:pt x="2036313" y="565016"/>
                </a:lnTo>
                <a:lnTo>
                  <a:pt x="2045454" y="582488"/>
                </a:lnTo>
                <a:lnTo>
                  <a:pt x="2053402" y="598770"/>
                </a:lnTo>
                <a:lnTo>
                  <a:pt x="2065325" y="623787"/>
                </a:lnTo>
                <a:lnTo>
                  <a:pt x="2072479" y="640069"/>
                </a:lnTo>
                <a:lnTo>
                  <a:pt x="2074863" y="646025"/>
                </a:lnTo>
                <a:lnTo>
                  <a:pt x="1870189" y="796925"/>
                </a:lnTo>
                <a:lnTo>
                  <a:pt x="1867407" y="789380"/>
                </a:lnTo>
                <a:lnTo>
                  <a:pt x="1859856" y="767142"/>
                </a:lnTo>
                <a:lnTo>
                  <a:pt x="1854689" y="751258"/>
                </a:lnTo>
                <a:lnTo>
                  <a:pt x="1847933" y="733388"/>
                </a:lnTo>
                <a:lnTo>
                  <a:pt x="1839985" y="712342"/>
                </a:lnTo>
                <a:lnTo>
                  <a:pt x="1830844" y="690104"/>
                </a:lnTo>
                <a:lnTo>
                  <a:pt x="1820908" y="666278"/>
                </a:lnTo>
                <a:lnTo>
                  <a:pt x="1809383" y="640466"/>
                </a:lnTo>
                <a:lnTo>
                  <a:pt x="1797063" y="614257"/>
                </a:lnTo>
                <a:lnTo>
                  <a:pt x="1783550" y="586857"/>
                </a:lnTo>
                <a:lnTo>
                  <a:pt x="1768845" y="559059"/>
                </a:lnTo>
                <a:lnTo>
                  <a:pt x="1753346" y="531262"/>
                </a:lnTo>
                <a:lnTo>
                  <a:pt x="1744602" y="517363"/>
                </a:lnTo>
                <a:lnTo>
                  <a:pt x="1736256" y="503862"/>
                </a:lnTo>
                <a:lnTo>
                  <a:pt x="1727513" y="490360"/>
                </a:lnTo>
                <a:lnTo>
                  <a:pt x="1718770" y="476859"/>
                </a:lnTo>
                <a:lnTo>
                  <a:pt x="1709232" y="463357"/>
                </a:lnTo>
                <a:lnTo>
                  <a:pt x="1700091" y="450650"/>
                </a:lnTo>
                <a:lnTo>
                  <a:pt x="1690552" y="438339"/>
                </a:lnTo>
                <a:lnTo>
                  <a:pt x="1681014" y="426029"/>
                </a:lnTo>
                <a:lnTo>
                  <a:pt x="1661938" y="403394"/>
                </a:lnTo>
                <a:lnTo>
                  <a:pt x="1643259" y="381951"/>
                </a:lnTo>
                <a:lnTo>
                  <a:pt x="1624977" y="362095"/>
                </a:lnTo>
                <a:lnTo>
                  <a:pt x="1606696" y="343431"/>
                </a:lnTo>
                <a:lnTo>
                  <a:pt x="1590004" y="327150"/>
                </a:lnTo>
                <a:lnTo>
                  <a:pt x="1573312" y="311663"/>
                </a:lnTo>
                <a:lnTo>
                  <a:pt x="1558210" y="298559"/>
                </a:lnTo>
                <a:lnTo>
                  <a:pt x="1544697" y="287042"/>
                </a:lnTo>
                <a:lnTo>
                  <a:pt x="1532377" y="276718"/>
                </a:lnTo>
                <a:lnTo>
                  <a:pt x="1522044" y="268776"/>
                </a:lnTo>
                <a:lnTo>
                  <a:pt x="1506942" y="257657"/>
                </a:lnTo>
                <a:lnTo>
                  <a:pt x="1501775" y="254083"/>
                </a:lnTo>
                <a:lnTo>
                  <a:pt x="1699693" y="111125"/>
                </a:lnTo>
                <a:close/>
                <a:moveTo>
                  <a:pt x="529828" y="78646"/>
                </a:moveTo>
                <a:lnTo>
                  <a:pt x="511572" y="88179"/>
                </a:lnTo>
                <a:lnTo>
                  <a:pt x="489347" y="100889"/>
                </a:lnTo>
                <a:lnTo>
                  <a:pt x="476647" y="108436"/>
                </a:lnTo>
                <a:lnTo>
                  <a:pt x="463153" y="116777"/>
                </a:lnTo>
                <a:lnTo>
                  <a:pt x="448865" y="126310"/>
                </a:lnTo>
                <a:lnTo>
                  <a:pt x="433784" y="136240"/>
                </a:lnTo>
                <a:lnTo>
                  <a:pt x="417512" y="147759"/>
                </a:lnTo>
                <a:lnTo>
                  <a:pt x="401637" y="159675"/>
                </a:lnTo>
                <a:lnTo>
                  <a:pt x="384175" y="172783"/>
                </a:lnTo>
                <a:lnTo>
                  <a:pt x="367109" y="186288"/>
                </a:lnTo>
                <a:lnTo>
                  <a:pt x="349250" y="200984"/>
                </a:lnTo>
                <a:lnTo>
                  <a:pt x="331787" y="216475"/>
                </a:lnTo>
                <a:lnTo>
                  <a:pt x="313531" y="233157"/>
                </a:lnTo>
                <a:lnTo>
                  <a:pt x="294878" y="250634"/>
                </a:lnTo>
                <a:lnTo>
                  <a:pt x="277019" y="268905"/>
                </a:lnTo>
                <a:lnTo>
                  <a:pt x="259159" y="287177"/>
                </a:lnTo>
                <a:lnTo>
                  <a:pt x="225028" y="322528"/>
                </a:lnTo>
                <a:lnTo>
                  <a:pt x="193278" y="356687"/>
                </a:lnTo>
                <a:lnTo>
                  <a:pt x="164703" y="389257"/>
                </a:lnTo>
                <a:lnTo>
                  <a:pt x="138906" y="419445"/>
                </a:lnTo>
                <a:lnTo>
                  <a:pt x="116284" y="446057"/>
                </a:lnTo>
                <a:lnTo>
                  <a:pt x="97234" y="469095"/>
                </a:lnTo>
                <a:lnTo>
                  <a:pt x="82550" y="488161"/>
                </a:lnTo>
                <a:lnTo>
                  <a:pt x="205184" y="612882"/>
                </a:lnTo>
                <a:lnTo>
                  <a:pt x="213915" y="597391"/>
                </a:lnTo>
                <a:lnTo>
                  <a:pt x="224631" y="581106"/>
                </a:lnTo>
                <a:lnTo>
                  <a:pt x="236934" y="562437"/>
                </a:lnTo>
                <a:lnTo>
                  <a:pt x="250428" y="542974"/>
                </a:lnTo>
                <a:lnTo>
                  <a:pt x="256381" y="531456"/>
                </a:lnTo>
                <a:lnTo>
                  <a:pt x="260350" y="524306"/>
                </a:lnTo>
                <a:lnTo>
                  <a:pt x="265112" y="515965"/>
                </a:lnTo>
                <a:lnTo>
                  <a:pt x="270669" y="507623"/>
                </a:lnTo>
                <a:lnTo>
                  <a:pt x="277019" y="498885"/>
                </a:lnTo>
                <a:lnTo>
                  <a:pt x="284162" y="488558"/>
                </a:lnTo>
                <a:lnTo>
                  <a:pt x="292100" y="478628"/>
                </a:lnTo>
                <a:lnTo>
                  <a:pt x="301228" y="467506"/>
                </a:lnTo>
                <a:lnTo>
                  <a:pt x="311547" y="456385"/>
                </a:lnTo>
                <a:lnTo>
                  <a:pt x="322262" y="444071"/>
                </a:lnTo>
                <a:lnTo>
                  <a:pt x="334565" y="431758"/>
                </a:lnTo>
                <a:lnTo>
                  <a:pt x="348059" y="418650"/>
                </a:lnTo>
                <a:lnTo>
                  <a:pt x="362347" y="405543"/>
                </a:lnTo>
                <a:lnTo>
                  <a:pt x="378619" y="391641"/>
                </a:lnTo>
                <a:lnTo>
                  <a:pt x="395684" y="377739"/>
                </a:lnTo>
                <a:lnTo>
                  <a:pt x="413147" y="362248"/>
                </a:lnTo>
                <a:lnTo>
                  <a:pt x="430609" y="347154"/>
                </a:lnTo>
                <a:lnTo>
                  <a:pt x="448469" y="332855"/>
                </a:lnTo>
                <a:lnTo>
                  <a:pt x="466328" y="318953"/>
                </a:lnTo>
                <a:lnTo>
                  <a:pt x="484188" y="305448"/>
                </a:lnTo>
                <a:lnTo>
                  <a:pt x="502047" y="292737"/>
                </a:lnTo>
                <a:lnTo>
                  <a:pt x="519510" y="280821"/>
                </a:lnTo>
                <a:lnTo>
                  <a:pt x="536972" y="268905"/>
                </a:lnTo>
                <a:lnTo>
                  <a:pt x="553641" y="257784"/>
                </a:lnTo>
                <a:lnTo>
                  <a:pt x="570310" y="247457"/>
                </a:lnTo>
                <a:lnTo>
                  <a:pt x="601663" y="228391"/>
                </a:lnTo>
                <a:lnTo>
                  <a:pt x="629841" y="212106"/>
                </a:lnTo>
                <a:lnTo>
                  <a:pt x="654050" y="198601"/>
                </a:lnTo>
                <a:lnTo>
                  <a:pt x="529828" y="78646"/>
                </a:lnTo>
                <a:close/>
                <a:moveTo>
                  <a:pt x="537766" y="0"/>
                </a:moveTo>
                <a:lnTo>
                  <a:pt x="542925" y="794"/>
                </a:lnTo>
                <a:lnTo>
                  <a:pt x="548085" y="2383"/>
                </a:lnTo>
                <a:lnTo>
                  <a:pt x="552450" y="4369"/>
                </a:lnTo>
                <a:lnTo>
                  <a:pt x="557213" y="6752"/>
                </a:lnTo>
                <a:lnTo>
                  <a:pt x="561181" y="10327"/>
                </a:lnTo>
                <a:lnTo>
                  <a:pt x="738981" y="181521"/>
                </a:lnTo>
                <a:lnTo>
                  <a:pt x="741760" y="185096"/>
                </a:lnTo>
                <a:lnTo>
                  <a:pt x="744538" y="188274"/>
                </a:lnTo>
                <a:lnTo>
                  <a:pt x="746522" y="192246"/>
                </a:lnTo>
                <a:lnTo>
                  <a:pt x="748110" y="195820"/>
                </a:lnTo>
                <a:lnTo>
                  <a:pt x="748903" y="200190"/>
                </a:lnTo>
                <a:lnTo>
                  <a:pt x="749697" y="204162"/>
                </a:lnTo>
                <a:lnTo>
                  <a:pt x="749697" y="208531"/>
                </a:lnTo>
                <a:lnTo>
                  <a:pt x="749300" y="213297"/>
                </a:lnTo>
                <a:lnTo>
                  <a:pt x="748506" y="217269"/>
                </a:lnTo>
                <a:lnTo>
                  <a:pt x="746919" y="221241"/>
                </a:lnTo>
                <a:lnTo>
                  <a:pt x="745331" y="224816"/>
                </a:lnTo>
                <a:lnTo>
                  <a:pt x="742553" y="228788"/>
                </a:lnTo>
                <a:lnTo>
                  <a:pt x="740172" y="231568"/>
                </a:lnTo>
                <a:lnTo>
                  <a:pt x="736600" y="234746"/>
                </a:lnTo>
                <a:lnTo>
                  <a:pt x="733425" y="237129"/>
                </a:lnTo>
                <a:lnTo>
                  <a:pt x="729456" y="239512"/>
                </a:lnTo>
                <a:lnTo>
                  <a:pt x="722710" y="242690"/>
                </a:lnTo>
                <a:lnTo>
                  <a:pt x="705247" y="251429"/>
                </a:lnTo>
                <a:lnTo>
                  <a:pt x="776685" y="295915"/>
                </a:lnTo>
                <a:lnTo>
                  <a:pt x="813594" y="318953"/>
                </a:lnTo>
                <a:lnTo>
                  <a:pt x="843756" y="338416"/>
                </a:lnTo>
                <a:lnTo>
                  <a:pt x="855266" y="332458"/>
                </a:lnTo>
                <a:lnTo>
                  <a:pt x="867569" y="326500"/>
                </a:lnTo>
                <a:lnTo>
                  <a:pt x="879872" y="321733"/>
                </a:lnTo>
                <a:lnTo>
                  <a:pt x="892175" y="317364"/>
                </a:lnTo>
                <a:lnTo>
                  <a:pt x="905669" y="312995"/>
                </a:lnTo>
                <a:lnTo>
                  <a:pt x="919163" y="309817"/>
                </a:lnTo>
                <a:lnTo>
                  <a:pt x="933847" y="307037"/>
                </a:lnTo>
                <a:lnTo>
                  <a:pt x="948135" y="304256"/>
                </a:lnTo>
                <a:lnTo>
                  <a:pt x="970756" y="301873"/>
                </a:lnTo>
                <a:lnTo>
                  <a:pt x="992188" y="300284"/>
                </a:lnTo>
                <a:lnTo>
                  <a:pt x="1013222" y="299093"/>
                </a:lnTo>
                <a:lnTo>
                  <a:pt x="1033066" y="298696"/>
                </a:lnTo>
                <a:lnTo>
                  <a:pt x="1052513" y="299490"/>
                </a:lnTo>
                <a:lnTo>
                  <a:pt x="1070769" y="301079"/>
                </a:lnTo>
                <a:lnTo>
                  <a:pt x="1088231" y="302668"/>
                </a:lnTo>
                <a:lnTo>
                  <a:pt x="1105297" y="305051"/>
                </a:lnTo>
                <a:lnTo>
                  <a:pt x="1121172" y="308228"/>
                </a:lnTo>
                <a:lnTo>
                  <a:pt x="1137047" y="311803"/>
                </a:lnTo>
                <a:lnTo>
                  <a:pt x="1151731" y="315775"/>
                </a:lnTo>
                <a:lnTo>
                  <a:pt x="1165622" y="320542"/>
                </a:lnTo>
                <a:lnTo>
                  <a:pt x="1179116" y="324911"/>
                </a:lnTo>
                <a:lnTo>
                  <a:pt x="1191816" y="329677"/>
                </a:lnTo>
                <a:lnTo>
                  <a:pt x="1203722" y="335238"/>
                </a:lnTo>
                <a:lnTo>
                  <a:pt x="1215231" y="340004"/>
                </a:lnTo>
                <a:lnTo>
                  <a:pt x="1226741" y="345565"/>
                </a:lnTo>
                <a:lnTo>
                  <a:pt x="1237060" y="351126"/>
                </a:lnTo>
                <a:lnTo>
                  <a:pt x="1256506" y="362645"/>
                </a:lnTo>
                <a:lnTo>
                  <a:pt x="1274366" y="372972"/>
                </a:lnTo>
                <a:lnTo>
                  <a:pt x="1289844" y="382902"/>
                </a:lnTo>
                <a:lnTo>
                  <a:pt x="1304131" y="391641"/>
                </a:lnTo>
                <a:lnTo>
                  <a:pt x="1310878" y="395613"/>
                </a:lnTo>
                <a:lnTo>
                  <a:pt x="1317228" y="398790"/>
                </a:lnTo>
                <a:lnTo>
                  <a:pt x="1323578" y="401968"/>
                </a:lnTo>
                <a:lnTo>
                  <a:pt x="1329135" y="403954"/>
                </a:lnTo>
                <a:lnTo>
                  <a:pt x="1334691" y="405543"/>
                </a:lnTo>
                <a:lnTo>
                  <a:pt x="1340247" y="406337"/>
                </a:lnTo>
                <a:lnTo>
                  <a:pt x="1345406" y="407132"/>
                </a:lnTo>
                <a:lnTo>
                  <a:pt x="1351360" y="407132"/>
                </a:lnTo>
                <a:lnTo>
                  <a:pt x="1358106" y="406734"/>
                </a:lnTo>
                <a:lnTo>
                  <a:pt x="1364853" y="406337"/>
                </a:lnTo>
                <a:lnTo>
                  <a:pt x="1379538" y="404351"/>
                </a:lnTo>
                <a:lnTo>
                  <a:pt x="1395810" y="401173"/>
                </a:lnTo>
                <a:lnTo>
                  <a:pt x="1412081" y="397201"/>
                </a:lnTo>
                <a:lnTo>
                  <a:pt x="1429544" y="392832"/>
                </a:lnTo>
                <a:lnTo>
                  <a:pt x="1446610" y="387669"/>
                </a:lnTo>
                <a:lnTo>
                  <a:pt x="1463675" y="382505"/>
                </a:lnTo>
                <a:lnTo>
                  <a:pt x="1494631" y="371781"/>
                </a:lnTo>
                <a:lnTo>
                  <a:pt x="1520825" y="362645"/>
                </a:lnTo>
                <a:lnTo>
                  <a:pt x="1545035" y="353112"/>
                </a:lnTo>
                <a:lnTo>
                  <a:pt x="1550988" y="357481"/>
                </a:lnTo>
                <a:lnTo>
                  <a:pt x="1557338" y="363439"/>
                </a:lnTo>
                <a:lnTo>
                  <a:pt x="1566069" y="371383"/>
                </a:lnTo>
                <a:lnTo>
                  <a:pt x="1577578" y="382108"/>
                </a:lnTo>
                <a:lnTo>
                  <a:pt x="1589881" y="395215"/>
                </a:lnTo>
                <a:lnTo>
                  <a:pt x="1604963" y="410309"/>
                </a:lnTo>
                <a:lnTo>
                  <a:pt x="1620838" y="428183"/>
                </a:lnTo>
                <a:lnTo>
                  <a:pt x="1638697" y="449235"/>
                </a:lnTo>
                <a:lnTo>
                  <a:pt x="1656953" y="472670"/>
                </a:lnTo>
                <a:lnTo>
                  <a:pt x="1666875" y="485380"/>
                </a:lnTo>
                <a:lnTo>
                  <a:pt x="1676400" y="498885"/>
                </a:lnTo>
                <a:lnTo>
                  <a:pt x="1686719" y="512787"/>
                </a:lnTo>
                <a:lnTo>
                  <a:pt x="1696641" y="527881"/>
                </a:lnTo>
                <a:lnTo>
                  <a:pt x="1707356" y="542974"/>
                </a:lnTo>
                <a:lnTo>
                  <a:pt x="1717675" y="559657"/>
                </a:lnTo>
                <a:lnTo>
                  <a:pt x="1727994" y="576339"/>
                </a:lnTo>
                <a:lnTo>
                  <a:pt x="1738710" y="594213"/>
                </a:lnTo>
                <a:lnTo>
                  <a:pt x="1749425" y="612882"/>
                </a:lnTo>
                <a:lnTo>
                  <a:pt x="1760141" y="632345"/>
                </a:lnTo>
                <a:lnTo>
                  <a:pt x="1770460" y="651808"/>
                </a:lnTo>
                <a:lnTo>
                  <a:pt x="1781175" y="672859"/>
                </a:lnTo>
                <a:lnTo>
                  <a:pt x="1802606" y="715360"/>
                </a:lnTo>
                <a:lnTo>
                  <a:pt x="1810544" y="731645"/>
                </a:lnTo>
                <a:lnTo>
                  <a:pt x="1813322" y="739192"/>
                </a:lnTo>
                <a:lnTo>
                  <a:pt x="1816100" y="745944"/>
                </a:lnTo>
                <a:lnTo>
                  <a:pt x="1817688" y="752300"/>
                </a:lnTo>
                <a:lnTo>
                  <a:pt x="1818878" y="758258"/>
                </a:lnTo>
                <a:lnTo>
                  <a:pt x="1819275" y="764216"/>
                </a:lnTo>
                <a:lnTo>
                  <a:pt x="1819275" y="769379"/>
                </a:lnTo>
                <a:lnTo>
                  <a:pt x="1818481" y="774543"/>
                </a:lnTo>
                <a:lnTo>
                  <a:pt x="1816497" y="778912"/>
                </a:lnTo>
                <a:lnTo>
                  <a:pt x="1814116" y="783679"/>
                </a:lnTo>
                <a:lnTo>
                  <a:pt x="1810544" y="788445"/>
                </a:lnTo>
                <a:lnTo>
                  <a:pt x="1805781" y="792417"/>
                </a:lnTo>
                <a:lnTo>
                  <a:pt x="1801019" y="796786"/>
                </a:lnTo>
                <a:lnTo>
                  <a:pt x="1794272" y="801155"/>
                </a:lnTo>
                <a:lnTo>
                  <a:pt x="1787128" y="805922"/>
                </a:lnTo>
                <a:lnTo>
                  <a:pt x="1778397" y="810688"/>
                </a:lnTo>
                <a:lnTo>
                  <a:pt x="1769269" y="815852"/>
                </a:lnTo>
                <a:lnTo>
                  <a:pt x="1747044" y="826179"/>
                </a:lnTo>
                <a:lnTo>
                  <a:pt x="1720056" y="838492"/>
                </a:lnTo>
                <a:lnTo>
                  <a:pt x="1687910" y="852394"/>
                </a:lnTo>
                <a:lnTo>
                  <a:pt x="1650206" y="868680"/>
                </a:lnTo>
                <a:lnTo>
                  <a:pt x="1607741" y="888142"/>
                </a:lnTo>
                <a:lnTo>
                  <a:pt x="1568450" y="905619"/>
                </a:lnTo>
                <a:lnTo>
                  <a:pt x="1553766" y="911975"/>
                </a:lnTo>
                <a:lnTo>
                  <a:pt x="1541463" y="916344"/>
                </a:lnTo>
                <a:lnTo>
                  <a:pt x="1531144" y="919521"/>
                </a:lnTo>
                <a:lnTo>
                  <a:pt x="1526778" y="920713"/>
                </a:lnTo>
                <a:lnTo>
                  <a:pt x="1522810" y="921507"/>
                </a:lnTo>
                <a:lnTo>
                  <a:pt x="1518841" y="921905"/>
                </a:lnTo>
                <a:lnTo>
                  <a:pt x="1514872" y="921905"/>
                </a:lnTo>
                <a:lnTo>
                  <a:pt x="1511697" y="921507"/>
                </a:lnTo>
                <a:lnTo>
                  <a:pt x="1508522" y="921110"/>
                </a:lnTo>
                <a:lnTo>
                  <a:pt x="1505347" y="920316"/>
                </a:lnTo>
                <a:lnTo>
                  <a:pt x="1502569" y="919521"/>
                </a:lnTo>
                <a:lnTo>
                  <a:pt x="1496219" y="916344"/>
                </a:lnTo>
                <a:lnTo>
                  <a:pt x="1489869" y="912769"/>
                </a:lnTo>
                <a:lnTo>
                  <a:pt x="1482328" y="907605"/>
                </a:lnTo>
                <a:lnTo>
                  <a:pt x="1472803" y="902045"/>
                </a:lnTo>
                <a:lnTo>
                  <a:pt x="1462485" y="895689"/>
                </a:lnTo>
                <a:lnTo>
                  <a:pt x="1449785" y="888540"/>
                </a:lnTo>
                <a:lnTo>
                  <a:pt x="1433910" y="880993"/>
                </a:lnTo>
                <a:lnTo>
                  <a:pt x="1425178" y="876624"/>
                </a:lnTo>
                <a:lnTo>
                  <a:pt x="1415653" y="870666"/>
                </a:lnTo>
                <a:lnTo>
                  <a:pt x="1404541" y="863516"/>
                </a:lnTo>
                <a:lnTo>
                  <a:pt x="1393428" y="854778"/>
                </a:lnTo>
                <a:lnTo>
                  <a:pt x="1381522" y="845642"/>
                </a:lnTo>
                <a:lnTo>
                  <a:pt x="1368822" y="834917"/>
                </a:lnTo>
                <a:lnTo>
                  <a:pt x="1355725" y="823796"/>
                </a:lnTo>
                <a:lnTo>
                  <a:pt x="1342231" y="811483"/>
                </a:lnTo>
                <a:lnTo>
                  <a:pt x="1314053" y="785267"/>
                </a:lnTo>
                <a:lnTo>
                  <a:pt x="1284288" y="757463"/>
                </a:lnTo>
                <a:lnTo>
                  <a:pt x="1254522" y="728468"/>
                </a:lnTo>
                <a:lnTo>
                  <a:pt x="1225153" y="698677"/>
                </a:lnTo>
                <a:lnTo>
                  <a:pt x="1167606" y="642275"/>
                </a:lnTo>
                <a:lnTo>
                  <a:pt x="1141016" y="616457"/>
                </a:lnTo>
                <a:lnTo>
                  <a:pt x="1116806" y="593816"/>
                </a:lnTo>
                <a:lnTo>
                  <a:pt x="1105694" y="583886"/>
                </a:lnTo>
                <a:lnTo>
                  <a:pt x="1094978" y="574751"/>
                </a:lnTo>
                <a:lnTo>
                  <a:pt x="1085453" y="567204"/>
                </a:lnTo>
                <a:lnTo>
                  <a:pt x="1077119" y="560451"/>
                </a:lnTo>
                <a:lnTo>
                  <a:pt x="1069181" y="554890"/>
                </a:lnTo>
                <a:lnTo>
                  <a:pt x="1062435" y="551316"/>
                </a:lnTo>
                <a:lnTo>
                  <a:pt x="1056878" y="548535"/>
                </a:lnTo>
                <a:lnTo>
                  <a:pt x="1054100" y="547741"/>
                </a:lnTo>
                <a:lnTo>
                  <a:pt x="1052116" y="547741"/>
                </a:lnTo>
                <a:lnTo>
                  <a:pt x="1042591" y="547741"/>
                </a:lnTo>
                <a:lnTo>
                  <a:pt x="1028700" y="548535"/>
                </a:lnTo>
                <a:lnTo>
                  <a:pt x="992585" y="550918"/>
                </a:lnTo>
                <a:lnTo>
                  <a:pt x="949325" y="553302"/>
                </a:lnTo>
                <a:lnTo>
                  <a:pt x="902494" y="556479"/>
                </a:lnTo>
                <a:lnTo>
                  <a:pt x="820341" y="562835"/>
                </a:lnTo>
                <a:lnTo>
                  <a:pt x="784622" y="566012"/>
                </a:lnTo>
                <a:lnTo>
                  <a:pt x="760810" y="542180"/>
                </a:lnTo>
                <a:lnTo>
                  <a:pt x="755650" y="532250"/>
                </a:lnTo>
                <a:lnTo>
                  <a:pt x="752078" y="521526"/>
                </a:lnTo>
                <a:lnTo>
                  <a:pt x="748506" y="511596"/>
                </a:lnTo>
                <a:lnTo>
                  <a:pt x="746522" y="500871"/>
                </a:lnTo>
                <a:lnTo>
                  <a:pt x="745331" y="490544"/>
                </a:lnTo>
                <a:lnTo>
                  <a:pt x="744935" y="480217"/>
                </a:lnTo>
                <a:lnTo>
                  <a:pt x="745728" y="470287"/>
                </a:lnTo>
                <a:lnTo>
                  <a:pt x="746919" y="459959"/>
                </a:lnTo>
                <a:lnTo>
                  <a:pt x="748903" y="450029"/>
                </a:lnTo>
                <a:lnTo>
                  <a:pt x="752078" y="440099"/>
                </a:lnTo>
                <a:lnTo>
                  <a:pt x="755650" y="430566"/>
                </a:lnTo>
                <a:lnTo>
                  <a:pt x="760016" y="420636"/>
                </a:lnTo>
                <a:lnTo>
                  <a:pt x="765175" y="411501"/>
                </a:lnTo>
                <a:lnTo>
                  <a:pt x="771128" y="402365"/>
                </a:lnTo>
                <a:lnTo>
                  <a:pt x="777875" y="393229"/>
                </a:lnTo>
                <a:lnTo>
                  <a:pt x="785019" y="384888"/>
                </a:lnTo>
                <a:lnTo>
                  <a:pt x="749697" y="362645"/>
                </a:lnTo>
                <a:lnTo>
                  <a:pt x="711994" y="339210"/>
                </a:lnTo>
                <a:lnTo>
                  <a:pt x="648494" y="300682"/>
                </a:lnTo>
                <a:lnTo>
                  <a:pt x="635000" y="307037"/>
                </a:lnTo>
                <a:lnTo>
                  <a:pt x="617538" y="316172"/>
                </a:lnTo>
                <a:lnTo>
                  <a:pt x="596503" y="327691"/>
                </a:lnTo>
                <a:lnTo>
                  <a:pt x="572294" y="341593"/>
                </a:lnTo>
                <a:lnTo>
                  <a:pt x="545306" y="357879"/>
                </a:lnTo>
                <a:lnTo>
                  <a:pt x="531019" y="367014"/>
                </a:lnTo>
                <a:lnTo>
                  <a:pt x="516335" y="377341"/>
                </a:lnTo>
                <a:lnTo>
                  <a:pt x="500856" y="387669"/>
                </a:lnTo>
                <a:lnTo>
                  <a:pt x="484585" y="399187"/>
                </a:lnTo>
                <a:lnTo>
                  <a:pt x="467915" y="411501"/>
                </a:lnTo>
                <a:lnTo>
                  <a:pt x="450850" y="424211"/>
                </a:lnTo>
                <a:lnTo>
                  <a:pt x="438150" y="434141"/>
                </a:lnTo>
                <a:lnTo>
                  <a:pt x="432990" y="439702"/>
                </a:lnTo>
                <a:lnTo>
                  <a:pt x="415131" y="456782"/>
                </a:lnTo>
                <a:lnTo>
                  <a:pt x="398859" y="473464"/>
                </a:lnTo>
                <a:lnTo>
                  <a:pt x="382984" y="490544"/>
                </a:lnTo>
                <a:lnTo>
                  <a:pt x="368300" y="506829"/>
                </a:lnTo>
                <a:lnTo>
                  <a:pt x="354409" y="523909"/>
                </a:lnTo>
                <a:lnTo>
                  <a:pt x="341312" y="539797"/>
                </a:lnTo>
                <a:lnTo>
                  <a:pt x="329009" y="555685"/>
                </a:lnTo>
                <a:lnTo>
                  <a:pt x="317500" y="570779"/>
                </a:lnTo>
                <a:lnTo>
                  <a:pt x="387350" y="732042"/>
                </a:lnTo>
                <a:lnTo>
                  <a:pt x="401240" y="724098"/>
                </a:lnTo>
                <a:lnTo>
                  <a:pt x="406400" y="721318"/>
                </a:lnTo>
                <a:lnTo>
                  <a:pt x="413147" y="720523"/>
                </a:lnTo>
                <a:lnTo>
                  <a:pt x="419497" y="719729"/>
                </a:lnTo>
                <a:lnTo>
                  <a:pt x="425053" y="719729"/>
                </a:lnTo>
                <a:lnTo>
                  <a:pt x="430609" y="720523"/>
                </a:lnTo>
                <a:lnTo>
                  <a:pt x="436165" y="721715"/>
                </a:lnTo>
                <a:lnTo>
                  <a:pt x="441325" y="722907"/>
                </a:lnTo>
                <a:lnTo>
                  <a:pt x="446484" y="724495"/>
                </a:lnTo>
                <a:lnTo>
                  <a:pt x="450850" y="726482"/>
                </a:lnTo>
                <a:lnTo>
                  <a:pt x="455215" y="729262"/>
                </a:lnTo>
                <a:lnTo>
                  <a:pt x="459581" y="731645"/>
                </a:lnTo>
                <a:lnTo>
                  <a:pt x="463550" y="734823"/>
                </a:lnTo>
                <a:lnTo>
                  <a:pt x="467519" y="738000"/>
                </a:lnTo>
                <a:lnTo>
                  <a:pt x="474265" y="744753"/>
                </a:lnTo>
                <a:lnTo>
                  <a:pt x="481013" y="752300"/>
                </a:lnTo>
                <a:lnTo>
                  <a:pt x="486966" y="759846"/>
                </a:lnTo>
                <a:lnTo>
                  <a:pt x="492125" y="768188"/>
                </a:lnTo>
                <a:lnTo>
                  <a:pt x="502047" y="783281"/>
                </a:lnTo>
                <a:lnTo>
                  <a:pt x="506413" y="790034"/>
                </a:lnTo>
                <a:lnTo>
                  <a:pt x="510778" y="795992"/>
                </a:lnTo>
                <a:lnTo>
                  <a:pt x="515541" y="800361"/>
                </a:lnTo>
                <a:lnTo>
                  <a:pt x="517525" y="802744"/>
                </a:lnTo>
                <a:lnTo>
                  <a:pt x="519510" y="803936"/>
                </a:lnTo>
                <a:lnTo>
                  <a:pt x="525860" y="807511"/>
                </a:lnTo>
                <a:lnTo>
                  <a:pt x="531416" y="811483"/>
                </a:lnTo>
                <a:lnTo>
                  <a:pt x="536972" y="815852"/>
                </a:lnTo>
                <a:lnTo>
                  <a:pt x="541735" y="819427"/>
                </a:lnTo>
                <a:lnTo>
                  <a:pt x="550466" y="827371"/>
                </a:lnTo>
                <a:lnTo>
                  <a:pt x="558006" y="834917"/>
                </a:lnTo>
                <a:lnTo>
                  <a:pt x="564356" y="843259"/>
                </a:lnTo>
                <a:lnTo>
                  <a:pt x="569516" y="850806"/>
                </a:lnTo>
                <a:lnTo>
                  <a:pt x="573881" y="858352"/>
                </a:lnTo>
                <a:lnTo>
                  <a:pt x="577850" y="865899"/>
                </a:lnTo>
                <a:lnTo>
                  <a:pt x="584597" y="879404"/>
                </a:lnTo>
                <a:lnTo>
                  <a:pt x="587375" y="885759"/>
                </a:lnTo>
                <a:lnTo>
                  <a:pt x="590550" y="891717"/>
                </a:lnTo>
                <a:lnTo>
                  <a:pt x="594122" y="896881"/>
                </a:lnTo>
                <a:lnTo>
                  <a:pt x="598091" y="901250"/>
                </a:lnTo>
                <a:lnTo>
                  <a:pt x="602456" y="905619"/>
                </a:lnTo>
                <a:lnTo>
                  <a:pt x="604838" y="907208"/>
                </a:lnTo>
                <a:lnTo>
                  <a:pt x="607616" y="908797"/>
                </a:lnTo>
                <a:lnTo>
                  <a:pt x="613569" y="912372"/>
                </a:lnTo>
                <a:lnTo>
                  <a:pt x="618728" y="915549"/>
                </a:lnTo>
                <a:lnTo>
                  <a:pt x="624285" y="919124"/>
                </a:lnTo>
                <a:lnTo>
                  <a:pt x="629047" y="922699"/>
                </a:lnTo>
                <a:lnTo>
                  <a:pt x="633413" y="926274"/>
                </a:lnTo>
                <a:lnTo>
                  <a:pt x="637778" y="929849"/>
                </a:lnTo>
                <a:lnTo>
                  <a:pt x="645319" y="938190"/>
                </a:lnTo>
                <a:lnTo>
                  <a:pt x="651669" y="946134"/>
                </a:lnTo>
                <a:lnTo>
                  <a:pt x="657622" y="954078"/>
                </a:lnTo>
                <a:lnTo>
                  <a:pt x="661988" y="962022"/>
                </a:lnTo>
                <a:lnTo>
                  <a:pt x="665956" y="969966"/>
                </a:lnTo>
                <a:lnTo>
                  <a:pt x="669528" y="977116"/>
                </a:lnTo>
                <a:lnTo>
                  <a:pt x="671910" y="983868"/>
                </a:lnTo>
                <a:lnTo>
                  <a:pt x="673894" y="990223"/>
                </a:lnTo>
                <a:lnTo>
                  <a:pt x="675085" y="995784"/>
                </a:lnTo>
                <a:lnTo>
                  <a:pt x="677069" y="1003331"/>
                </a:lnTo>
                <a:lnTo>
                  <a:pt x="677466" y="1006509"/>
                </a:lnTo>
                <a:lnTo>
                  <a:pt x="681038" y="1008892"/>
                </a:lnTo>
                <a:lnTo>
                  <a:pt x="691356" y="1016439"/>
                </a:lnTo>
                <a:lnTo>
                  <a:pt x="698103" y="1021999"/>
                </a:lnTo>
                <a:lnTo>
                  <a:pt x="705644" y="1028752"/>
                </a:lnTo>
                <a:lnTo>
                  <a:pt x="713185" y="1036299"/>
                </a:lnTo>
                <a:lnTo>
                  <a:pt x="721519" y="1045037"/>
                </a:lnTo>
                <a:lnTo>
                  <a:pt x="729456" y="1055364"/>
                </a:lnTo>
                <a:lnTo>
                  <a:pt x="733425" y="1060925"/>
                </a:lnTo>
                <a:lnTo>
                  <a:pt x="737394" y="1066486"/>
                </a:lnTo>
                <a:lnTo>
                  <a:pt x="740966" y="1072047"/>
                </a:lnTo>
                <a:lnTo>
                  <a:pt x="744538" y="1078005"/>
                </a:lnTo>
                <a:lnTo>
                  <a:pt x="747316" y="1084757"/>
                </a:lnTo>
                <a:lnTo>
                  <a:pt x="750094" y="1091112"/>
                </a:lnTo>
                <a:lnTo>
                  <a:pt x="753269" y="1097865"/>
                </a:lnTo>
                <a:lnTo>
                  <a:pt x="755253" y="1105014"/>
                </a:lnTo>
                <a:lnTo>
                  <a:pt x="757635" y="1112164"/>
                </a:lnTo>
                <a:lnTo>
                  <a:pt x="759222" y="1120108"/>
                </a:lnTo>
                <a:lnTo>
                  <a:pt x="760016" y="1128052"/>
                </a:lnTo>
                <a:lnTo>
                  <a:pt x="760810" y="1135599"/>
                </a:lnTo>
                <a:lnTo>
                  <a:pt x="760810" y="1143940"/>
                </a:lnTo>
                <a:lnTo>
                  <a:pt x="760413" y="1152281"/>
                </a:lnTo>
                <a:lnTo>
                  <a:pt x="760016" y="1157048"/>
                </a:lnTo>
                <a:lnTo>
                  <a:pt x="759222" y="1162211"/>
                </a:lnTo>
                <a:lnTo>
                  <a:pt x="756841" y="1171347"/>
                </a:lnTo>
                <a:lnTo>
                  <a:pt x="753666" y="1181277"/>
                </a:lnTo>
                <a:lnTo>
                  <a:pt x="749697" y="1190016"/>
                </a:lnTo>
                <a:lnTo>
                  <a:pt x="744935" y="1199151"/>
                </a:lnTo>
                <a:lnTo>
                  <a:pt x="739378" y="1207492"/>
                </a:lnTo>
                <a:lnTo>
                  <a:pt x="733028" y="1216628"/>
                </a:lnTo>
                <a:lnTo>
                  <a:pt x="726281" y="1224572"/>
                </a:lnTo>
                <a:lnTo>
                  <a:pt x="864394" y="1334200"/>
                </a:lnTo>
                <a:lnTo>
                  <a:pt x="871538" y="1340158"/>
                </a:lnTo>
                <a:lnTo>
                  <a:pt x="871935" y="1340555"/>
                </a:lnTo>
                <a:lnTo>
                  <a:pt x="872728" y="1340555"/>
                </a:lnTo>
                <a:lnTo>
                  <a:pt x="891381" y="1356046"/>
                </a:lnTo>
                <a:lnTo>
                  <a:pt x="908050" y="1369153"/>
                </a:lnTo>
                <a:lnTo>
                  <a:pt x="915194" y="1374317"/>
                </a:lnTo>
                <a:lnTo>
                  <a:pt x="921941" y="1379083"/>
                </a:lnTo>
                <a:lnTo>
                  <a:pt x="927894" y="1382658"/>
                </a:lnTo>
                <a:lnTo>
                  <a:pt x="933847" y="1386233"/>
                </a:lnTo>
                <a:lnTo>
                  <a:pt x="939006" y="1388219"/>
                </a:lnTo>
                <a:lnTo>
                  <a:pt x="944563" y="1389808"/>
                </a:lnTo>
                <a:lnTo>
                  <a:pt x="949722" y="1390205"/>
                </a:lnTo>
                <a:lnTo>
                  <a:pt x="954881" y="1390205"/>
                </a:lnTo>
                <a:lnTo>
                  <a:pt x="960041" y="1389411"/>
                </a:lnTo>
                <a:lnTo>
                  <a:pt x="965200" y="1387822"/>
                </a:lnTo>
                <a:lnTo>
                  <a:pt x="971153" y="1385041"/>
                </a:lnTo>
                <a:lnTo>
                  <a:pt x="977106" y="1381467"/>
                </a:lnTo>
                <a:lnTo>
                  <a:pt x="983456" y="1376700"/>
                </a:lnTo>
                <a:lnTo>
                  <a:pt x="990203" y="1371934"/>
                </a:lnTo>
                <a:lnTo>
                  <a:pt x="994966" y="1367962"/>
                </a:lnTo>
                <a:lnTo>
                  <a:pt x="998538" y="1364387"/>
                </a:lnTo>
                <a:lnTo>
                  <a:pt x="1002506" y="1360415"/>
                </a:lnTo>
                <a:lnTo>
                  <a:pt x="1005285" y="1356443"/>
                </a:lnTo>
                <a:lnTo>
                  <a:pt x="1008063" y="1353265"/>
                </a:lnTo>
                <a:lnTo>
                  <a:pt x="1009650" y="1349691"/>
                </a:lnTo>
                <a:lnTo>
                  <a:pt x="1010841" y="1346513"/>
                </a:lnTo>
                <a:lnTo>
                  <a:pt x="1011238" y="1343732"/>
                </a:lnTo>
                <a:lnTo>
                  <a:pt x="1011238" y="1341746"/>
                </a:lnTo>
                <a:lnTo>
                  <a:pt x="1010841" y="1339760"/>
                </a:lnTo>
                <a:lnTo>
                  <a:pt x="1009650" y="1336980"/>
                </a:lnTo>
                <a:lnTo>
                  <a:pt x="1008460" y="1334994"/>
                </a:lnTo>
                <a:lnTo>
                  <a:pt x="1007269" y="1334200"/>
                </a:lnTo>
                <a:lnTo>
                  <a:pt x="972344" y="1296466"/>
                </a:lnTo>
                <a:lnTo>
                  <a:pt x="846138" y="1173333"/>
                </a:lnTo>
                <a:lnTo>
                  <a:pt x="843756" y="1170950"/>
                </a:lnTo>
                <a:lnTo>
                  <a:pt x="841772" y="1168169"/>
                </a:lnTo>
                <a:lnTo>
                  <a:pt x="839788" y="1164992"/>
                </a:lnTo>
                <a:lnTo>
                  <a:pt x="838200" y="1162211"/>
                </a:lnTo>
                <a:lnTo>
                  <a:pt x="837010" y="1158637"/>
                </a:lnTo>
                <a:lnTo>
                  <a:pt x="836216" y="1155856"/>
                </a:lnTo>
                <a:lnTo>
                  <a:pt x="835819" y="1152281"/>
                </a:lnTo>
                <a:lnTo>
                  <a:pt x="835422" y="1149104"/>
                </a:lnTo>
                <a:lnTo>
                  <a:pt x="835819" y="1145529"/>
                </a:lnTo>
                <a:lnTo>
                  <a:pt x="836216" y="1142351"/>
                </a:lnTo>
                <a:lnTo>
                  <a:pt x="836613" y="1138777"/>
                </a:lnTo>
                <a:lnTo>
                  <a:pt x="837803" y="1135996"/>
                </a:lnTo>
                <a:lnTo>
                  <a:pt x="839391" y="1132421"/>
                </a:lnTo>
                <a:lnTo>
                  <a:pt x="840978" y="1129641"/>
                </a:lnTo>
                <a:lnTo>
                  <a:pt x="842963" y="1126861"/>
                </a:lnTo>
                <a:lnTo>
                  <a:pt x="845741" y="1124080"/>
                </a:lnTo>
                <a:lnTo>
                  <a:pt x="848122" y="1121697"/>
                </a:lnTo>
                <a:lnTo>
                  <a:pt x="850900" y="1119314"/>
                </a:lnTo>
                <a:lnTo>
                  <a:pt x="854075" y="1117725"/>
                </a:lnTo>
                <a:lnTo>
                  <a:pt x="856853" y="1116136"/>
                </a:lnTo>
                <a:lnTo>
                  <a:pt x="860028" y="1115342"/>
                </a:lnTo>
                <a:lnTo>
                  <a:pt x="863203" y="1114547"/>
                </a:lnTo>
                <a:lnTo>
                  <a:pt x="866775" y="1113753"/>
                </a:lnTo>
                <a:lnTo>
                  <a:pt x="869950" y="1113753"/>
                </a:lnTo>
                <a:lnTo>
                  <a:pt x="873522" y="1113753"/>
                </a:lnTo>
                <a:lnTo>
                  <a:pt x="876697" y="1114150"/>
                </a:lnTo>
                <a:lnTo>
                  <a:pt x="879872" y="1114944"/>
                </a:lnTo>
                <a:lnTo>
                  <a:pt x="883047" y="1116136"/>
                </a:lnTo>
                <a:lnTo>
                  <a:pt x="886222" y="1117328"/>
                </a:lnTo>
                <a:lnTo>
                  <a:pt x="889000" y="1118916"/>
                </a:lnTo>
                <a:lnTo>
                  <a:pt x="891778" y="1121300"/>
                </a:lnTo>
                <a:lnTo>
                  <a:pt x="894953" y="1123286"/>
                </a:lnTo>
                <a:lnTo>
                  <a:pt x="1063625" y="1287330"/>
                </a:lnTo>
                <a:lnTo>
                  <a:pt x="1063625" y="1286933"/>
                </a:lnTo>
                <a:lnTo>
                  <a:pt x="1071563" y="1294877"/>
                </a:lnTo>
                <a:lnTo>
                  <a:pt x="1073944" y="1298054"/>
                </a:lnTo>
                <a:lnTo>
                  <a:pt x="1092200" y="1315531"/>
                </a:lnTo>
                <a:lnTo>
                  <a:pt x="1110060" y="1332611"/>
                </a:lnTo>
                <a:lnTo>
                  <a:pt x="1117203" y="1339760"/>
                </a:lnTo>
                <a:lnTo>
                  <a:pt x="1123950" y="1345718"/>
                </a:lnTo>
                <a:lnTo>
                  <a:pt x="1130300" y="1350485"/>
                </a:lnTo>
                <a:lnTo>
                  <a:pt x="1135460" y="1354060"/>
                </a:lnTo>
                <a:lnTo>
                  <a:pt x="1141016" y="1356443"/>
                </a:lnTo>
                <a:lnTo>
                  <a:pt x="1145778" y="1358429"/>
                </a:lnTo>
                <a:lnTo>
                  <a:pt x="1150938" y="1359223"/>
                </a:lnTo>
                <a:lnTo>
                  <a:pt x="1155303" y="1358826"/>
                </a:lnTo>
                <a:lnTo>
                  <a:pt x="1160066" y="1357635"/>
                </a:lnTo>
                <a:lnTo>
                  <a:pt x="1164828" y="1354854"/>
                </a:lnTo>
                <a:lnTo>
                  <a:pt x="1169591" y="1351677"/>
                </a:lnTo>
                <a:lnTo>
                  <a:pt x="1175147" y="1347307"/>
                </a:lnTo>
                <a:lnTo>
                  <a:pt x="1181100" y="1341746"/>
                </a:lnTo>
                <a:lnTo>
                  <a:pt x="1187847" y="1335788"/>
                </a:lnTo>
                <a:lnTo>
                  <a:pt x="1193403" y="1330228"/>
                </a:lnTo>
                <a:lnTo>
                  <a:pt x="1198166" y="1324667"/>
                </a:lnTo>
                <a:lnTo>
                  <a:pt x="1201738" y="1319106"/>
                </a:lnTo>
                <a:lnTo>
                  <a:pt x="1205310" y="1313942"/>
                </a:lnTo>
                <a:lnTo>
                  <a:pt x="1207294" y="1309176"/>
                </a:lnTo>
                <a:lnTo>
                  <a:pt x="1209278" y="1304807"/>
                </a:lnTo>
                <a:lnTo>
                  <a:pt x="1210469" y="1300835"/>
                </a:lnTo>
                <a:lnTo>
                  <a:pt x="1211263" y="1297260"/>
                </a:lnTo>
                <a:lnTo>
                  <a:pt x="1211660" y="1293288"/>
                </a:lnTo>
                <a:lnTo>
                  <a:pt x="1211660" y="1290507"/>
                </a:lnTo>
                <a:lnTo>
                  <a:pt x="1211263" y="1287330"/>
                </a:lnTo>
                <a:lnTo>
                  <a:pt x="1210072" y="1284947"/>
                </a:lnTo>
                <a:lnTo>
                  <a:pt x="1208485" y="1280180"/>
                </a:lnTo>
                <a:lnTo>
                  <a:pt x="1206897" y="1277400"/>
                </a:lnTo>
                <a:lnTo>
                  <a:pt x="1161653" y="1233310"/>
                </a:lnTo>
                <a:lnTo>
                  <a:pt x="1159272" y="1230530"/>
                </a:lnTo>
                <a:lnTo>
                  <a:pt x="1156494" y="1227352"/>
                </a:lnTo>
                <a:lnTo>
                  <a:pt x="1154906" y="1224175"/>
                </a:lnTo>
                <a:lnTo>
                  <a:pt x="1153319" y="1220600"/>
                </a:lnTo>
                <a:lnTo>
                  <a:pt x="927894" y="1004920"/>
                </a:lnTo>
                <a:lnTo>
                  <a:pt x="925116" y="1002139"/>
                </a:lnTo>
                <a:lnTo>
                  <a:pt x="923131" y="999359"/>
                </a:lnTo>
                <a:lnTo>
                  <a:pt x="921544" y="996181"/>
                </a:lnTo>
                <a:lnTo>
                  <a:pt x="919560" y="993401"/>
                </a:lnTo>
                <a:lnTo>
                  <a:pt x="918369" y="989826"/>
                </a:lnTo>
                <a:lnTo>
                  <a:pt x="917575" y="986648"/>
                </a:lnTo>
                <a:lnTo>
                  <a:pt x="917178" y="983074"/>
                </a:lnTo>
                <a:lnTo>
                  <a:pt x="916781" y="979896"/>
                </a:lnTo>
                <a:lnTo>
                  <a:pt x="916781" y="976321"/>
                </a:lnTo>
                <a:lnTo>
                  <a:pt x="917178" y="973144"/>
                </a:lnTo>
                <a:lnTo>
                  <a:pt x="917972" y="969569"/>
                </a:lnTo>
                <a:lnTo>
                  <a:pt x="919163" y="966391"/>
                </a:lnTo>
                <a:lnTo>
                  <a:pt x="920750" y="962816"/>
                </a:lnTo>
                <a:lnTo>
                  <a:pt x="922338" y="960036"/>
                </a:lnTo>
                <a:lnTo>
                  <a:pt x="924322" y="956858"/>
                </a:lnTo>
                <a:lnTo>
                  <a:pt x="927100" y="954078"/>
                </a:lnTo>
                <a:lnTo>
                  <a:pt x="929481" y="952092"/>
                </a:lnTo>
                <a:lnTo>
                  <a:pt x="932260" y="949311"/>
                </a:lnTo>
                <a:lnTo>
                  <a:pt x="935435" y="947723"/>
                </a:lnTo>
                <a:lnTo>
                  <a:pt x="938213" y="946134"/>
                </a:lnTo>
                <a:lnTo>
                  <a:pt x="941785" y="944942"/>
                </a:lnTo>
                <a:lnTo>
                  <a:pt x="944960" y="944148"/>
                </a:lnTo>
                <a:lnTo>
                  <a:pt x="948531" y="943353"/>
                </a:lnTo>
                <a:lnTo>
                  <a:pt x="951706" y="942956"/>
                </a:lnTo>
                <a:lnTo>
                  <a:pt x="955278" y="942956"/>
                </a:lnTo>
                <a:lnTo>
                  <a:pt x="958453" y="943353"/>
                </a:lnTo>
                <a:lnTo>
                  <a:pt x="962025" y="944545"/>
                </a:lnTo>
                <a:lnTo>
                  <a:pt x="965200" y="945737"/>
                </a:lnTo>
                <a:lnTo>
                  <a:pt x="968772" y="946928"/>
                </a:lnTo>
                <a:lnTo>
                  <a:pt x="971550" y="948517"/>
                </a:lnTo>
                <a:lnTo>
                  <a:pt x="974725" y="950900"/>
                </a:lnTo>
                <a:lnTo>
                  <a:pt x="977503" y="953284"/>
                </a:lnTo>
                <a:lnTo>
                  <a:pt x="1214041" y="1179291"/>
                </a:lnTo>
                <a:lnTo>
                  <a:pt x="1216819" y="1182469"/>
                </a:lnTo>
                <a:lnTo>
                  <a:pt x="1235472" y="1199946"/>
                </a:lnTo>
                <a:lnTo>
                  <a:pt x="1254125" y="1217422"/>
                </a:lnTo>
                <a:lnTo>
                  <a:pt x="1262063" y="1224572"/>
                </a:lnTo>
                <a:lnTo>
                  <a:pt x="1268810" y="1230530"/>
                </a:lnTo>
                <a:lnTo>
                  <a:pt x="1275556" y="1235694"/>
                </a:lnTo>
                <a:lnTo>
                  <a:pt x="1281510" y="1239269"/>
                </a:lnTo>
                <a:lnTo>
                  <a:pt x="1287066" y="1242049"/>
                </a:lnTo>
                <a:lnTo>
                  <a:pt x="1292622" y="1244035"/>
                </a:lnTo>
                <a:lnTo>
                  <a:pt x="1297385" y="1244432"/>
                </a:lnTo>
                <a:lnTo>
                  <a:pt x="1299766" y="1244432"/>
                </a:lnTo>
                <a:lnTo>
                  <a:pt x="1302147" y="1244035"/>
                </a:lnTo>
                <a:lnTo>
                  <a:pt x="1307306" y="1242843"/>
                </a:lnTo>
                <a:lnTo>
                  <a:pt x="1312863" y="1240063"/>
                </a:lnTo>
                <a:lnTo>
                  <a:pt x="1317625" y="1236885"/>
                </a:lnTo>
                <a:lnTo>
                  <a:pt x="1323578" y="1232516"/>
                </a:lnTo>
                <a:lnTo>
                  <a:pt x="1329928" y="1226955"/>
                </a:lnTo>
                <a:lnTo>
                  <a:pt x="1336675" y="1220600"/>
                </a:lnTo>
                <a:lnTo>
                  <a:pt x="1343422" y="1213848"/>
                </a:lnTo>
                <a:lnTo>
                  <a:pt x="1348978" y="1207492"/>
                </a:lnTo>
                <a:lnTo>
                  <a:pt x="1352947" y="1201932"/>
                </a:lnTo>
                <a:lnTo>
                  <a:pt x="1356122" y="1196371"/>
                </a:lnTo>
                <a:lnTo>
                  <a:pt x="1358503" y="1191207"/>
                </a:lnTo>
                <a:lnTo>
                  <a:pt x="1360488" y="1186044"/>
                </a:lnTo>
                <a:lnTo>
                  <a:pt x="1361281" y="1182072"/>
                </a:lnTo>
                <a:lnTo>
                  <a:pt x="1361678" y="1178099"/>
                </a:lnTo>
                <a:lnTo>
                  <a:pt x="1361281" y="1174922"/>
                </a:lnTo>
                <a:lnTo>
                  <a:pt x="1360885" y="1171744"/>
                </a:lnTo>
                <a:lnTo>
                  <a:pt x="1359694" y="1168964"/>
                </a:lnTo>
                <a:lnTo>
                  <a:pt x="1359297" y="1166581"/>
                </a:lnTo>
                <a:lnTo>
                  <a:pt x="1357710" y="1164197"/>
                </a:lnTo>
                <a:lnTo>
                  <a:pt x="1356916" y="1163006"/>
                </a:lnTo>
                <a:lnTo>
                  <a:pt x="1309688" y="1118519"/>
                </a:lnTo>
                <a:lnTo>
                  <a:pt x="1307703" y="1116533"/>
                </a:lnTo>
                <a:lnTo>
                  <a:pt x="1306116" y="1114150"/>
                </a:lnTo>
                <a:lnTo>
                  <a:pt x="1302544" y="1108986"/>
                </a:lnTo>
                <a:lnTo>
                  <a:pt x="1299369" y="1105412"/>
                </a:lnTo>
                <a:lnTo>
                  <a:pt x="1279128" y="1084757"/>
                </a:lnTo>
                <a:lnTo>
                  <a:pt x="1278335" y="1084360"/>
                </a:lnTo>
                <a:lnTo>
                  <a:pt x="1048941" y="854778"/>
                </a:lnTo>
                <a:lnTo>
                  <a:pt x="1046163" y="851997"/>
                </a:lnTo>
                <a:lnTo>
                  <a:pt x="1044178" y="849217"/>
                </a:lnTo>
                <a:lnTo>
                  <a:pt x="1042591" y="846039"/>
                </a:lnTo>
                <a:lnTo>
                  <a:pt x="1041003" y="843259"/>
                </a:lnTo>
                <a:lnTo>
                  <a:pt x="1039813" y="839684"/>
                </a:lnTo>
                <a:lnTo>
                  <a:pt x="1039019" y="836506"/>
                </a:lnTo>
                <a:lnTo>
                  <a:pt x="1038622" y="832931"/>
                </a:lnTo>
                <a:lnTo>
                  <a:pt x="1038622" y="829754"/>
                </a:lnTo>
                <a:lnTo>
                  <a:pt x="1038622" y="826179"/>
                </a:lnTo>
                <a:lnTo>
                  <a:pt x="1039019" y="823001"/>
                </a:lnTo>
                <a:lnTo>
                  <a:pt x="1039813" y="819427"/>
                </a:lnTo>
                <a:lnTo>
                  <a:pt x="1041003" y="816249"/>
                </a:lnTo>
                <a:lnTo>
                  <a:pt x="1042591" y="813071"/>
                </a:lnTo>
                <a:lnTo>
                  <a:pt x="1044178" y="810291"/>
                </a:lnTo>
                <a:lnTo>
                  <a:pt x="1046163" y="807113"/>
                </a:lnTo>
                <a:lnTo>
                  <a:pt x="1048941" y="804730"/>
                </a:lnTo>
                <a:lnTo>
                  <a:pt x="1051719" y="802347"/>
                </a:lnTo>
                <a:lnTo>
                  <a:pt x="1054100" y="799964"/>
                </a:lnTo>
                <a:lnTo>
                  <a:pt x="1057672" y="798375"/>
                </a:lnTo>
                <a:lnTo>
                  <a:pt x="1060450" y="796786"/>
                </a:lnTo>
                <a:lnTo>
                  <a:pt x="1064022" y="795595"/>
                </a:lnTo>
                <a:lnTo>
                  <a:pt x="1067197" y="794800"/>
                </a:lnTo>
                <a:lnTo>
                  <a:pt x="1070769" y="794006"/>
                </a:lnTo>
                <a:lnTo>
                  <a:pt x="1073944" y="794006"/>
                </a:lnTo>
                <a:lnTo>
                  <a:pt x="1077516" y="794006"/>
                </a:lnTo>
                <a:lnTo>
                  <a:pt x="1080691" y="794800"/>
                </a:lnTo>
                <a:lnTo>
                  <a:pt x="1084263" y="795595"/>
                </a:lnTo>
                <a:lnTo>
                  <a:pt x="1087041" y="796786"/>
                </a:lnTo>
                <a:lnTo>
                  <a:pt x="1090613" y="798375"/>
                </a:lnTo>
                <a:lnTo>
                  <a:pt x="1093391" y="799964"/>
                </a:lnTo>
                <a:lnTo>
                  <a:pt x="1096566" y="802347"/>
                </a:lnTo>
                <a:lnTo>
                  <a:pt x="1098947" y="804730"/>
                </a:lnTo>
                <a:lnTo>
                  <a:pt x="1328738" y="1034313"/>
                </a:lnTo>
                <a:lnTo>
                  <a:pt x="1331119" y="1037093"/>
                </a:lnTo>
                <a:lnTo>
                  <a:pt x="1349375" y="1055364"/>
                </a:lnTo>
                <a:lnTo>
                  <a:pt x="1364456" y="1070061"/>
                </a:lnTo>
                <a:lnTo>
                  <a:pt x="1371600" y="1076813"/>
                </a:lnTo>
                <a:lnTo>
                  <a:pt x="1378347" y="1083168"/>
                </a:lnTo>
                <a:lnTo>
                  <a:pt x="1385094" y="1088729"/>
                </a:lnTo>
                <a:lnTo>
                  <a:pt x="1391444" y="1093496"/>
                </a:lnTo>
                <a:lnTo>
                  <a:pt x="1397397" y="1096673"/>
                </a:lnTo>
                <a:lnTo>
                  <a:pt x="1400175" y="1097865"/>
                </a:lnTo>
                <a:lnTo>
                  <a:pt x="1402953" y="1098659"/>
                </a:lnTo>
                <a:lnTo>
                  <a:pt x="1404541" y="1099056"/>
                </a:lnTo>
                <a:lnTo>
                  <a:pt x="1407716" y="1099851"/>
                </a:lnTo>
                <a:lnTo>
                  <a:pt x="1410891" y="1099056"/>
                </a:lnTo>
                <a:lnTo>
                  <a:pt x="1415653" y="1098262"/>
                </a:lnTo>
                <a:lnTo>
                  <a:pt x="1421210" y="1095879"/>
                </a:lnTo>
                <a:lnTo>
                  <a:pt x="1424385" y="1093893"/>
                </a:lnTo>
                <a:lnTo>
                  <a:pt x="1427956" y="1091112"/>
                </a:lnTo>
                <a:lnTo>
                  <a:pt x="1431528" y="1088729"/>
                </a:lnTo>
                <a:lnTo>
                  <a:pt x="1435894" y="1084757"/>
                </a:lnTo>
                <a:lnTo>
                  <a:pt x="1440260" y="1081182"/>
                </a:lnTo>
                <a:lnTo>
                  <a:pt x="1445419" y="1076019"/>
                </a:lnTo>
                <a:lnTo>
                  <a:pt x="1452166" y="1068869"/>
                </a:lnTo>
                <a:lnTo>
                  <a:pt x="1457325" y="1062514"/>
                </a:lnTo>
                <a:lnTo>
                  <a:pt x="1461294" y="1056159"/>
                </a:lnTo>
                <a:lnTo>
                  <a:pt x="1464866" y="1050201"/>
                </a:lnTo>
                <a:lnTo>
                  <a:pt x="1466850" y="1044640"/>
                </a:lnTo>
                <a:lnTo>
                  <a:pt x="1468835" y="1039873"/>
                </a:lnTo>
                <a:lnTo>
                  <a:pt x="1469628" y="1035504"/>
                </a:lnTo>
                <a:lnTo>
                  <a:pt x="1470025" y="1031135"/>
                </a:lnTo>
                <a:lnTo>
                  <a:pt x="1469628" y="1027560"/>
                </a:lnTo>
                <a:lnTo>
                  <a:pt x="1469231" y="1024383"/>
                </a:lnTo>
                <a:lnTo>
                  <a:pt x="1468041" y="1021602"/>
                </a:lnTo>
                <a:lnTo>
                  <a:pt x="1467247" y="1019616"/>
                </a:lnTo>
                <a:lnTo>
                  <a:pt x="1465660" y="1016041"/>
                </a:lnTo>
                <a:lnTo>
                  <a:pt x="1464866" y="1015247"/>
                </a:lnTo>
                <a:lnTo>
                  <a:pt x="1419225" y="969966"/>
                </a:lnTo>
                <a:lnTo>
                  <a:pt x="1416844" y="967583"/>
                </a:lnTo>
                <a:lnTo>
                  <a:pt x="1414860" y="964802"/>
                </a:lnTo>
                <a:lnTo>
                  <a:pt x="1412478" y="961625"/>
                </a:lnTo>
                <a:lnTo>
                  <a:pt x="1411288" y="958447"/>
                </a:lnTo>
                <a:lnTo>
                  <a:pt x="1410097" y="955270"/>
                </a:lnTo>
                <a:lnTo>
                  <a:pt x="1409303" y="952092"/>
                </a:lnTo>
                <a:lnTo>
                  <a:pt x="1408906" y="948517"/>
                </a:lnTo>
                <a:lnTo>
                  <a:pt x="1408510" y="945339"/>
                </a:lnTo>
                <a:lnTo>
                  <a:pt x="1408906" y="941765"/>
                </a:lnTo>
                <a:lnTo>
                  <a:pt x="1409303" y="938587"/>
                </a:lnTo>
                <a:lnTo>
                  <a:pt x="1410097" y="935012"/>
                </a:lnTo>
                <a:lnTo>
                  <a:pt x="1410891" y="931835"/>
                </a:lnTo>
                <a:lnTo>
                  <a:pt x="1412478" y="928657"/>
                </a:lnTo>
                <a:lnTo>
                  <a:pt x="1414463" y="925479"/>
                </a:lnTo>
                <a:lnTo>
                  <a:pt x="1416447" y="922302"/>
                </a:lnTo>
                <a:lnTo>
                  <a:pt x="1418828" y="919919"/>
                </a:lnTo>
                <a:lnTo>
                  <a:pt x="1421606" y="917535"/>
                </a:lnTo>
                <a:lnTo>
                  <a:pt x="1424385" y="915152"/>
                </a:lnTo>
                <a:lnTo>
                  <a:pt x="1427163" y="913563"/>
                </a:lnTo>
                <a:lnTo>
                  <a:pt x="1430338" y="911975"/>
                </a:lnTo>
                <a:lnTo>
                  <a:pt x="1433513" y="910783"/>
                </a:lnTo>
                <a:lnTo>
                  <a:pt x="1437085" y="909989"/>
                </a:lnTo>
                <a:lnTo>
                  <a:pt x="1440260" y="909194"/>
                </a:lnTo>
                <a:lnTo>
                  <a:pt x="1443831" y="909194"/>
                </a:lnTo>
                <a:lnTo>
                  <a:pt x="1447006" y="909194"/>
                </a:lnTo>
                <a:lnTo>
                  <a:pt x="1450578" y="909989"/>
                </a:lnTo>
                <a:lnTo>
                  <a:pt x="1453753" y="910783"/>
                </a:lnTo>
                <a:lnTo>
                  <a:pt x="1457325" y="911975"/>
                </a:lnTo>
                <a:lnTo>
                  <a:pt x="1460103" y="913166"/>
                </a:lnTo>
                <a:lnTo>
                  <a:pt x="1463278" y="914755"/>
                </a:lnTo>
                <a:lnTo>
                  <a:pt x="1466056" y="917138"/>
                </a:lnTo>
                <a:lnTo>
                  <a:pt x="1469231" y="919521"/>
                </a:lnTo>
                <a:lnTo>
                  <a:pt x="1516460" y="966391"/>
                </a:lnTo>
                <a:lnTo>
                  <a:pt x="1520825" y="971952"/>
                </a:lnTo>
                <a:lnTo>
                  <a:pt x="1525191" y="978307"/>
                </a:lnTo>
                <a:lnTo>
                  <a:pt x="1528763" y="985060"/>
                </a:lnTo>
                <a:lnTo>
                  <a:pt x="1532731" y="993004"/>
                </a:lnTo>
                <a:lnTo>
                  <a:pt x="1535510" y="1001345"/>
                </a:lnTo>
                <a:lnTo>
                  <a:pt x="1538288" y="1010481"/>
                </a:lnTo>
                <a:lnTo>
                  <a:pt x="1539875" y="1020411"/>
                </a:lnTo>
                <a:lnTo>
                  <a:pt x="1540272" y="1025574"/>
                </a:lnTo>
                <a:lnTo>
                  <a:pt x="1540272" y="1030738"/>
                </a:lnTo>
                <a:lnTo>
                  <a:pt x="1540272" y="1035901"/>
                </a:lnTo>
                <a:lnTo>
                  <a:pt x="1539875" y="1041462"/>
                </a:lnTo>
                <a:lnTo>
                  <a:pt x="1539478" y="1047023"/>
                </a:lnTo>
                <a:lnTo>
                  <a:pt x="1538685" y="1052981"/>
                </a:lnTo>
                <a:lnTo>
                  <a:pt x="1537494" y="1058145"/>
                </a:lnTo>
                <a:lnTo>
                  <a:pt x="1535510" y="1064103"/>
                </a:lnTo>
                <a:lnTo>
                  <a:pt x="1533525" y="1070061"/>
                </a:lnTo>
                <a:lnTo>
                  <a:pt x="1531144" y="1076416"/>
                </a:lnTo>
                <a:lnTo>
                  <a:pt x="1527969" y="1082374"/>
                </a:lnTo>
                <a:lnTo>
                  <a:pt x="1525191" y="1088729"/>
                </a:lnTo>
                <a:lnTo>
                  <a:pt x="1521222" y="1094687"/>
                </a:lnTo>
                <a:lnTo>
                  <a:pt x="1517253" y="1101042"/>
                </a:lnTo>
                <a:lnTo>
                  <a:pt x="1512491" y="1107398"/>
                </a:lnTo>
                <a:lnTo>
                  <a:pt x="1507331" y="1113753"/>
                </a:lnTo>
                <a:lnTo>
                  <a:pt x="1501775" y="1120108"/>
                </a:lnTo>
                <a:lnTo>
                  <a:pt x="1495822" y="1126066"/>
                </a:lnTo>
                <a:lnTo>
                  <a:pt x="1485900" y="1135599"/>
                </a:lnTo>
                <a:lnTo>
                  <a:pt x="1479550" y="1141160"/>
                </a:lnTo>
                <a:lnTo>
                  <a:pt x="1472010" y="1147118"/>
                </a:lnTo>
                <a:lnTo>
                  <a:pt x="1463675" y="1152679"/>
                </a:lnTo>
                <a:lnTo>
                  <a:pt x="1453753" y="1158239"/>
                </a:lnTo>
                <a:lnTo>
                  <a:pt x="1448991" y="1161020"/>
                </a:lnTo>
                <a:lnTo>
                  <a:pt x="1443435" y="1163403"/>
                </a:lnTo>
                <a:lnTo>
                  <a:pt x="1437878" y="1165389"/>
                </a:lnTo>
                <a:lnTo>
                  <a:pt x="1432322" y="1166978"/>
                </a:lnTo>
                <a:lnTo>
                  <a:pt x="1432719" y="1172539"/>
                </a:lnTo>
                <a:lnTo>
                  <a:pt x="1432719" y="1178497"/>
                </a:lnTo>
                <a:lnTo>
                  <a:pt x="1432719" y="1184852"/>
                </a:lnTo>
                <a:lnTo>
                  <a:pt x="1432322" y="1190810"/>
                </a:lnTo>
                <a:lnTo>
                  <a:pt x="1431131" y="1197165"/>
                </a:lnTo>
                <a:lnTo>
                  <a:pt x="1429941" y="1203520"/>
                </a:lnTo>
                <a:lnTo>
                  <a:pt x="1427956" y="1210273"/>
                </a:lnTo>
                <a:lnTo>
                  <a:pt x="1425575" y="1217025"/>
                </a:lnTo>
                <a:lnTo>
                  <a:pt x="1422797" y="1223778"/>
                </a:lnTo>
                <a:lnTo>
                  <a:pt x="1419225" y="1230530"/>
                </a:lnTo>
                <a:lnTo>
                  <a:pt x="1415653" y="1237283"/>
                </a:lnTo>
                <a:lnTo>
                  <a:pt x="1410891" y="1244432"/>
                </a:lnTo>
                <a:lnTo>
                  <a:pt x="1405731" y="1251185"/>
                </a:lnTo>
                <a:lnTo>
                  <a:pt x="1399778" y="1258334"/>
                </a:lnTo>
                <a:lnTo>
                  <a:pt x="1393428" y="1265484"/>
                </a:lnTo>
                <a:lnTo>
                  <a:pt x="1386285" y="1272633"/>
                </a:lnTo>
                <a:lnTo>
                  <a:pt x="1379935" y="1278194"/>
                </a:lnTo>
                <a:lnTo>
                  <a:pt x="1374378" y="1283755"/>
                </a:lnTo>
                <a:lnTo>
                  <a:pt x="1368028" y="1288124"/>
                </a:lnTo>
                <a:lnTo>
                  <a:pt x="1362075" y="1292891"/>
                </a:lnTo>
                <a:lnTo>
                  <a:pt x="1356519" y="1296863"/>
                </a:lnTo>
                <a:lnTo>
                  <a:pt x="1350566" y="1300040"/>
                </a:lnTo>
                <a:lnTo>
                  <a:pt x="1345010" y="1303615"/>
                </a:lnTo>
                <a:lnTo>
                  <a:pt x="1339453" y="1305998"/>
                </a:lnTo>
                <a:lnTo>
                  <a:pt x="1334294" y="1308382"/>
                </a:lnTo>
                <a:lnTo>
                  <a:pt x="1328738" y="1310765"/>
                </a:lnTo>
                <a:lnTo>
                  <a:pt x="1323181" y="1312354"/>
                </a:lnTo>
                <a:lnTo>
                  <a:pt x="1318022" y="1313545"/>
                </a:lnTo>
                <a:lnTo>
                  <a:pt x="1312863" y="1314737"/>
                </a:lnTo>
                <a:lnTo>
                  <a:pt x="1307703" y="1315134"/>
                </a:lnTo>
                <a:lnTo>
                  <a:pt x="1302544" y="1315531"/>
                </a:lnTo>
                <a:lnTo>
                  <a:pt x="1297781" y="1315928"/>
                </a:lnTo>
                <a:lnTo>
                  <a:pt x="1293019" y="1315531"/>
                </a:lnTo>
                <a:lnTo>
                  <a:pt x="1288256" y="1315134"/>
                </a:lnTo>
                <a:lnTo>
                  <a:pt x="1279128" y="1313545"/>
                </a:lnTo>
                <a:lnTo>
                  <a:pt x="1276747" y="1322284"/>
                </a:lnTo>
                <a:lnTo>
                  <a:pt x="1273969" y="1331022"/>
                </a:lnTo>
                <a:lnTo>
                  <a:pt x="1270000" y="1339760"/>
                </a:lnTo>
                <a:lnTo>
                  <a:pt x="1265635" y="1348499"/>
                </a:lnTo>
                <a:lnTo>
                  <a:pt x="1260078" y="1358032"/>
                </a:lnTo>
                <a:lnTo>
                  <a:pt x="1253331" y="1366770"/>
                </a:lnTo>
                <a:lnTo>
                  <a:pt x="1245394" y="1375906"/>
                </a:lnTo>
                <a:lnTo>
                  <a:pt x="1236266" y="1385439"/>
                </a:lnTo>
                <a:lnTo>
                  <a:pt x="1230313" y="1391397"/>
                </a:lnTo>
                <a:lnTo>
                  <a:pt x="1224756" y="1396163"/>
                </a:lnTo>
                <a:lnTo>
                  <a:pt x="1219200" y="1401327"/>
                </a:lnTo>
                <a:lnTo>
                  <a:pt x="1213247" y="1405696"/>
                </a:lnTo>
                <a:lnTo>
                  <a:pt x="1207691" y="1409271"/>
                </a:lnTo>
                <a:lnTo>
                  <a:pt x="1202135" y="1413243"/>
                </a:lnTo>
                <a:lnTo>
                  <a:pt x="1196578" y="1416023"/>
                </a:lnTo>
                <a:lnTo>
                  <a:pt x="1191419" y="1419201"/>
                </a:lnTo>
                <a:lnTo>
                  <a:pt x="1185863" y="1421584"/>
                </a:lnTo>
                <a:lnTo>
                  <a:pt x="1180703" y="1423173"/>
                </a:lnTo>
                <a:lnTo>
                  <a:pt x="1175544" y="1425159"/>
                </a:lnTo>
                <a:lnTo>
                  <a:pt x="1170781" y="1426748"/>
                </a:lnTo>
                <a:lnTo>
                  <a:pt x="1165622" y="1427542"/>
                </a:lnTo>
                <a:lnTo>
                  <a:pt x="1160463" y="1428336"/>
                </a:lnTo>
                <a:lnTo>
                  <a:pt x="1155700" y="1428734"/>
                </a:lnTo>
                <a:lnTo>
                  <a:pt x="1150938" y="1428734"/>
                </a:lnTo>
                <a:lnTo>
                  <a:pt x="1144588" y="1428734"/>
                </a:lnTo>
                <a:lnTo>
                  <a:pt x="1137841" y="1427939"/>
                </a:lnTo>
                <a:lnTo>
                  <a:pt x="1131491" y="1426748"/>
                </a:lnTo>
                <a:lnTo>
                  <a:pt x="1125538" y="1425159"/>
                </a:lnTo>
                <a:lnTo>
                  <a:pt x="1119188" y="1422776"/>
                </a:lnTo>
                <a:lnTo>
                  <a:pt x="1113235" y="1420392"/>
                </a:lnTo>
                <a:lnTo>
                  <a:pt x="1107281" y="1417215"/>
                </a:lnTo>
                <a:lnTo>
                  <a:pt x="1101725" y="1414037"/>
                </a:lnTo>
                <a:lnTo>
                  <a:pt x="1096566" y="1410462"/>
                </a:lnTo>
                <a:lnTo>
                  <a:pt x="1090613" y="1406888"/>
                </a:lnTo>
                <a:lnTo>
                  <a:pt x="1079897" y="1398943"/>
                </a:lnTo>
                <a:lnTo>
                  <a:pt x="1069975" y="1390205"/>
                </a:lnTo>
                <a:lnTo>
                  <a:pt x="1059656" y="1381069"/>
                </a:lnTo>
                <a:lnTo>
                  <a:pt x="1056878" y="1385836"/>
                </a:lnTo>
                <a:lnTo>
                  <a:pt x="1053703" y="1390205"/>
                </a:lnTo>
                <a:lnTo>
                  <a:pt x="1050131" y="1394971"/>
                </a:lnTo>
                <a:lnTo>
                  <a:pt x="1046163" y="1399738"/>
                </a:lnTo>
                <a:lnTo>
                  <a:pt x="1042194" y="1404107"/>
                </a:lnTo>
                <a:lnTo>
                  <a:pt x="1037431" y="1408874"/>
                </a:lnTo>
                <a:lnTo>
                  <a:pt x="1032669" y="1413640"/>
                </a:lnTo>
                <a:lnTo>
                  <a:pt x="1027113" y="1417612"/>
                </a:lnTo>
                <a:lnTo>
                  <a:pt x="1016794" y="1425953"/>
                </a:lnTo>
                <a:lnTo>
                  <a:pt x="1006475" y="1432706"/>
                </a:lnTo>
                <a:lnTo>
                  <a:pt x="996553" y="1437869"/>
                </a:lnTo>
                <a:lnTo>
                  <a:pt x="986631" y="1442238"/>
                </a:lnTo>
                <a:lnTo>
                  <a:pt x="977503" y="1445813"/>
                </a:lnTo>
                <a:lnTo>
                  <a:pt x="968772" y="1447799"/>
                </a:lnTo>
                <a:lnTo>
                  <a:pt x="959644" y="1448991"/>
                </a:lnTo>
                <a:lnTo>
                  <a:pt x="950913" y="1449388"/>
                </a:lnTo>
                <a:lnTo>
                  <a:pt x="944166" y="1449388"/>
                </a:lnTo>
                <a:lnTo>
                  <a:pt x="937419" y="1448594"/>
                </a:lnTo>
                <a:lnTo>
                  <a:pt x="930672" y="1447402"/>
                </a:lnTo>
                <a:lnTo>
                  <a:pt x="923925" y="1445416"/>
                </a:lnTo>
                <a:lnTo>
                  <a:pt x="917575" y="1443033"/>
                </a:lnTo>
                <a:lnTo>
                  <a:pt x="911225" y="1440650"/>
                </a:lnTo>
                <a:lnTo>
                  <a:pt x="905272" y="1437472"/>
                </a:lnTo>
                <a:lnTo>
                  <a:pt x="898922" y="1434294"/>
                </a:lnTo>
                <a:lnTo>
                  <a:pt x="893366" y="1430720"/>
                </a:lnTo>
                <a:lnTo>
                  <a:pt x="887810" y="1427145"/>
                </a:lnTo>
                <a:lnTo>
                  <a:pt x="876300" y="1419201"/>
                </a:lnTo>
                <a:lnTo>
                  <a:pt x="865188" y="1410462"/>
                </a:lnTo>
                <a:lnTo>
                  <a:pt x="854472" y="1402121"/>
                </a:lnTo>
                <a:lnTo>
                  <a:pt x="837803" y="1388616"/>
                </a:lnTo>
                <a:lnTo>
                  <a:pt x="835422" y="1386630"/>
                </a:lnTo>
                <a:lnTo>
                  <a:pt x="681435" y="1264689"/>
                </a:lnTo>
                <a:lnTo>
                  <a:pt x="673497" y="1270647"/>
                </a:lnTo>
                <a:lnTo>
                  <a:pt x="665560" y="1275414"/>
                </a:lnTo>
                <a:lnTo>
                  <a:pt x="649685" y="1285741"/>
                </a:lnTo>
                <a:lnTo>
                  <a:pt x="633016" y="1294480"/>
                </a:lnTo>
                <a:lnTo>
                  <a:pt x="617538" y="1302026"/>
                </a:lnTo>
                <a:lnTo>
                  <a:pt x="602456" y="1308382"/>
                </a:lnTo>
                <a:lnTo>
                  <a:pt x="588963" y="1313148"/>
                </a:lnTo>
                <a:lnTo>
                  <a:pt x="576660" y="1317120"/>
                </a:lnTo>
                <a:lnTo>
                  <a:pt x="571103" y="1318312"/>
                </a:lnTo>
                <a:lnTo>
                  <a:pt x="565944" y="1319106"/>
                </a:lnTo>
                <a:lnTo>
                  <a:pt x="561975" y="1319503"/>
                </a:lnTo>
                <a:lnTo>
                  <a:pt x="557610" y="1319503"/>
                </a:lnTo>
                <a:lnTo>
                  <a:pt x="553641" y="1319106"/>
                </a:lnTo>
                <a:lnTo>
                  <a:pt x="550069" y="1318312"/>
                </a:lnTo>
                <a:lnTo>
                  <a:pt x="546497" y="1317517"/>
                </a:lnTo>
                <a:lnTo>
                  <a:pt x="543719" y="1315531"/>
                </a:lnTo>
                <a:lnTo>
                  <a:pt x="540941" y="1313942"/>
                </a:lnTo>
                <a:lnTo>
                  <a:pt x="538163" y="1312354"/>
                </a:lnTo>
                <a:lnTo>
                  <a:pt x="535781" y="1309970"/>
                </a:lnTo>
                <a:lnTo>
                  <a:pt x="533003" y="1307587"/>
                </a:lnTo>
                <a:lnTo>
                  <a:pt x="529431" y="1302026"/>
                </a:lnTo>
                <a:lnTo>
                  <a:pt x="525860" y="1296466"/>
                </a:lnTo>
                <a:lnTo>
                  <a:pt x="523478" y="1290507"/>
                </a:lnTo>
                <a:lnTo>
                  <a:pt x="521891" y="1284152"/>
                </a:lnTo>
                <a:lnTo>
                  <a:pt x="519906" y="1278194"/>
                </a:lnTo>
                <a:lnTo>
                  <a:pt x="518716" y="1272236"/>
                </a:lnTo>
                <a:lnTo>
                  <a:pt x="518319" y="1267073"/>
                </a:lnTo>
                <a:lnTo>
                  <a:pt x="517525" y="1259526"/>
                </a:lnTo>
                <a:lnTo>
                  <a:pt x="517525" y="1256745"/>
                </a:lnTo>
                <a:lnTo>
                  <a:pt x="517525" y="1255554"/>
                </a:lnTo>
                <a:lnTo>
                  <a:pt x="516731" y="1252376"/>
                </a:lnTo>
                <a:lnTo>
                  <a:pt x="515541" y="1248007"/>
                </a:lnTo>
                <a:lnTo>
                  <a:pt x="514350" y="1245624"/>
                </a:lnTo>
                <a:lnTo>
                  <a:pt x="512366" y="1243638"/>
                </a:lnTo>
                <a:lnTo>
                  <a:pt x="509985" y="1240857"/>
                </a:lnTo>
                <a:lnTo>
                  <a:pt x="507603" y="1239269"/>
                </a:lnTo>
                <a:lnTo>
                  <a:pt x="504031" y="1237283"/>
                </a:lnTo>
                <a:lnTo>
                  <a:pt x="499666" y="1236091"/>
                </a:lnTo>
                <a:lnTo>
                  <a:pt x="495300" y="1235296"/>
                </a:lnTo>
                <a:lnTo>
                  <a:pt x="489744" y="1234502"/>
                </a:lnTo>
                <a:lnTo>
                  <a:pt x="483394" y="1234502"/>
                </a:lnTo>
                <a:lnTo>
                  <a:pt x="475853" y="1235694"/>
                </a:lnTo>
                <a:lnTo>
                  <a:pt x="471884" y="1236091"/>
                </a:lnTo>
                <a:lnTo>
                  <a:pt x="467915" y="1235694"/>
                </a:lnTo>
                <a:lnTo>
                  <a:pt x="463947" y="1234105"/>
                </a:lnTo>
                <a:lnTo>
                  <a:pt x="459978" y="1232119"/>
                </a:lnTo>
                <a:lnTo>
                  <a:pt x="455612" y="1229736"/>
                </a:lnTo>
                <a:lnTo>
                  <a:pt x="451247" y="1226558"/>
                </a:lnTo>
                <a:lnTo>
                  <a:pt x="447278" y="1222983"/>
                </a:lnTo>
                <a:lnTo>
                  <a:pt x="442912" y="1219011"/>
                </a:lnTo>
                <a:lnTo>
                  <a:pt x="439340" y="1214245"/>
                </a:lnTo>
                <a:lnTo>
                  <a:pt x="434975" y="1209876"/>
                </a:lnTo>
                <a:lnTo>
                  <a:pt x="427037" y="1199151"/>
                </a:lnTo>
                <a:lnTo>
                  <a:pt x="419100" y="1187235"/>
                </a:lnTo>
                <a:lnTo>
                  <a:pt x="411559" y="1175716"/>
                </a:lnTo>
                <a:lnTo>
                  <a:pt x="404415" y="1163800"/>
                </a:lnTo>
                <a:lnTo>
                  <a:pt x="398065" y="1151884"/>
                </a:lnTo>
                <a:lnTo>
                  <a:pt x="388144" y="1130833"/>
                </a:lnTo>
                <a:lnTo>
                  <a:pt x="381000" y="1116136"/>
                </a:lnTo>
                <a:lnTo>
                  <a:pt x="379015" y="1110575"/>
                </a:lnTo>
                <a:lnTo>
                  <a:pt x="379015" y="1108589"/>
                </a:lnTo>
                <a:lnTo>
                  <a:pt x="379015" y="1102631"/>
                </a:lnTo>
                <a:lnTo>
                  <a:pt x="379015" y="1099056"/>
                </a:lnTo>
                <a:lnTo>
                  <a:pt x="378619" y="1094687"/>
                </a:lnTo>
                <a:lnTo>
                  <a:pt x="377428" y="1089921"/>
                </a:lnTo>
                <a:lnTo>
                  <a:pt x="375840" y="1085154"/>
                </a:lnTo>
                <a:lnTo>
                  <a:pt x="374253" y="1080388"/>
                </a:lnTo>
                <a:lnTo>
                  <a:pt x="371872" y="1075622"/>
                </a:lnTo>
                <a:lnTo>
                  <a:pt x="368300" y="1070855"/>
                </a:lnTo>
                <a:lnTo>
                  <a:pt x="363934" y="1066883"/>
                </a:lnTo>
                <a:lnTo>
                  <a:pt x="361553" y="1064500"/>
                </a:lnTo>
                <a:lnTo>
                  <a:pt x="359172" y="1062514"/>
                </a:lnTo>
                <a:lnTo>
                  <a:pt x="355997" y="1060925"/>
                </a:lnTo>
                <a:lnTo>
                  <a:pt x="352822" y="1059336"/>
                </a:lnTo>
                <a:lnTo>
                  <a:pt x="349250" y="1057747"/>
                </a:lnTo>
                <a:lnTo>
                  <a:pt x="345678" y="1056556"/>
                </a:lnTo>
                <a:lnTo>
                  <a:pt x="341312" y="1055761"/>
                </a:lnTo>
                <a:lnTo>
                  <a:pt x="336947" y="1054967"/>
                </a:lnTo>
                <a:lnTo>
                  <a:pt x="332581" y="1054173"/>
                </a:lnTo>
                <a:lnTo>
                  <a:pt x="328215" y="1052981"/>
                </a:lnTo>
                <a:lnTo>
                  <a:pt x="323453" y="1050598"/>
                </a:lnTo>
                <a:lnTo>
                  <a:pt x="319484" y="1048612"/>
                </a:lnTo>
                <a:lnTo>
                  <a:pt x="315119" y="1046229"/>
                </a:lnTo>
                <a:lnTo>
                  <a:pt x="311150" y="1043051"/>
                </a:lnTo>
                <a:lnTo>
                  <a:pt x="307181" y="1039476"/>
                </a:lnTo>
                <a:lnTo>
                  <a:pt x="303212" y="1035504"/>
                </a:lnTo>
                <a:lnTo>
                  <a:pt x="299640" y="1031532"/>
                </a:lnTo>
                <a:lnTo>
                  <a:pt x="295672" y="1027163"/>
                </a:lnTo>
                <a:lnTo>
                  <a:pt x="288528" y="1017233"/>
                </a:lnTo>
                <a:lnTo>
                  <a:pt x="281781" y="1006906"/>
                </a:lnTo>
                <a:lnTo>
                  <a:pt x="275431" y="994990"/>
                </a:lnTo>
                <a:lnTo>
                  <a:pt x="269081" y="982676"/>
                </a:lnTo>
                <a:lnTo>
                  <a:pt x="263922" y="969569"/>
                </a:lnTo>
                <a:lnTo>
                  <a:pt x="258762" y="956064"/>
                </a:lnTo>
                <a:lnTo>
                  <a:pt x="254000" y="942559"/>
                </a:lnTo>
                <a:lnTo>
                  <a:pt x="250031" y="928657"/>
                </a:lnTo>
                <a:lnTo>
                  <a:pt x="246062" y="914755"/>
                </a:lnTo>
                <a:lnTo>
                  <a:pt x="242887" y="901250"/>
                </a:lnTo>
                <a:lnTo>
                  <a:pt x="239712" y="888142"/>
                </a:lnTo>
                <a:lnTo>
                  <a:pt x="239315" y="884568"/>
                </a:lnTo>
                <a:lnTo>
                  <a:pt x="238919" y="880993"/>
                </a:lnTo>
                <a:lnTo>
                  <a:pt x="239315" y="877418"/>
                </a:lnTo>
                <a:lnTo>
                  <a:pt x="239712" y="873843"/>
                </a:lnTo>
                <a:lnTo>
                  <a:pt x="240109" y="870268"/>
                </a:lnTo>
                <a:lnTo>
                  <a:pt x="240903" y="866296"/>
                </a:lnTo>
                <a:lnTo>
                  <a:pt x="244078" y="859147"/>
                </a:lnTo>
                <a:lnTo>
                  <a:pt x="247253" y="851600"/>
                </a:lnTo>
                <a:lnTo>
                  <a:pt x="252015" y="844053"/>
                </a:lnTo>
                <a:lnTo>
                  <a:pt x="257572" y="836506"/>
                </a:lnTo>
                <a:lnTo>
                  <a:pt x="263525" y="828959"/>
                </a:lnTo>
                <a:lnTo>
                  <a:pt x="270272" y="821015"/>
                </a:lnTo>
                <a:lnTo>
                  <a:pt x="277415" y="813469"/>
                </a:lnTo>
                <a:lnTo>
                  <a:pt x="284956" y="806319"/>
                </a:lnTo>
                <a:lnTo>
                  <a:pt x="292894" y="799169"/>
                </a:lnTo>
                <a:lnTo>
                  <a:pt x="301228" y="792020"/>
                </a:lnTo>
                <a:lnTo>
                  <a:pt x="309562" y="784870"/>
                </a:lnTo>
                <a:lnTo>
                  <a:pt x="327422" y="771762"/>
                </a:lnTo>
                <a:lnTo>
                  <a:pt x="271065" y="641480"/>
                </a:lnTo>
                <a:lnTo>
                  <a:pt x="259953" y="660546"/>
                </a:lnTo>
                <a:lnTo>
                  <a:pt x="252015" y="674448"/>
                </a:lnTo>
                <a:lnTo>
                  <a:pt x="245665" y="687159"/>
                </a:lnTo>
                <a:lnTo>
                  <a:pt x="243681" y="690733"/>
                </a:lnTo>
                <a:lnTo>
                  <a:pt x="240903" y="694308"/>
                </a:lnTo>
                <a:lnTo>
                  <a:pt x="238125" y="697486"/>
                </a:lnTo>
                <a:lnTo>
                  <a:pt x="234950" y="700266"/>
                </a:lnTo>
                <a:lnTo>
                  <a:pt x="231378" y="702649"/>
                </a:lnTo>
                <a:lnTo>
                  <a:pt x="227409" y="704635"/>
                </a:lnTo>
                <a:lnTo>
                  <a:pt x="223837" y="705827"/>
                </a:lnTo>
                <a:lnTo>
                  <a:pt x="219472" y="707019"/>
                </a:lnTo>
                <a:lnTo>
                  <a:pt x="213519" y="707416"/>
                </a:lnTo>
                <a:lnTo>
                  <a:pt x="209947" y="707416"/>
                </a:lnTo>
                <a:lnTo>
                  <a:pt x="206375" y="707019"/>
                </a:lnTo>
                <a:lnTo>
                  <a:pt x="203200" y="705827"/>
                </a:lnTo>
                <a:lnTo>
                  <a:pt x="199628" y="704635"/>
                </a:lnTo>
                <a:lnTo>
                  <a:pt x="196850" y="703047"/>
                </a:lnTo>
                <a:lnTo>
                  <a:pt x="193675" y="701458"/>
                </a:lnTo>
                <a:lnTo>
                  <a:pt x="190897" y="699075"/>
                </a:lnTo>
                <a:lnTo>
                  <a:pt x="188119" y="696691"/>
                </a:lnTo>
                <a:lnTo>
                  <a:pt x="9922" y="515568"/>
                </a:lnTo>
                <a:lnTo>
                  <a:pt x="7937" y="513184"/>
                </a:lnTo>
                <a:lnTo>
                  <a:pt x="5953" y="510801"/>
                </a:lnTo>
                <a:lnTo>
                  <a:pt x="3969" y="508021"/>
                </a:lnTo>
                <a:lnTo>
                  <a:pt x="2778" y="505240"/>
                </a:lnTo>
                <a:lnTo>
                  <a:pt x="1587" y="502063"/>
                </a:lnTo>
                <a:lnTo>
                  <a:pt x="794" y="499282"/>
                </a:lnTo>
                <a:lnTo>
                  <a:pt x="397" y="496105"/>
                </a:lnTo>
                <a:lnTo>
                  <a:pt x="0" y="493324"/>
                </a:lnTo>
                <a:lnTo>
                  <a:pt x="0" y="490147"/>
                </a:lnTo>
                <a:lnTo>
                  <a:pt x="0" y="486969"/>
                </a:lnTo>
                <a:lnTo>
                  <a:pt x="397" y="484189"/>
                </a:lnTo>
                <a:lnTo>
                  <a:pt x="1190" y="481011"/>
                </a:lnTo>
                <a:lnTo>
                  <a:pt x="1984" y="477833"/>
                </a:lnTo>
                <a:lnTo>
                  <a:pt x="3175" y="475053"/>
                </a:lnTo>
                <a:lnTo>
                  <a:pt x="4762" y="472273"/>
                </a:lnTo>
                <a:lnTo>
                  <a:pt x="7144" y="469889"/>
                </a:lnTo>
                <a:lnTo>
                  <a:pt x="12700" y="461548"/>
                </a:lnTo>
                <a:lnTo>
                  <a:pt x="26987" y="444071"/>
                </a:lnTo>
                <a:lnTo>
                  <a:pt x="48419" y="417062"/>
                </a:lnTo>
                <a:lnTo>
                  <a:pt x="76597" y="382902"/>
                </a:lnTo>
                <a:lnTo>
                  <a:pt x="92869" y="363439"/>
                </a:lnTo>
                <a:lnTo>
                  <a:pt x="111125" y="342785"/>
                </a:lnTo>
                <a:lnTo>
                  <a:pt x="130572" y="320939"/>
                </a:lnTo>
                <a:lnTo>
                  <a:pt x="151209" y="297901"/>
                </a:lnTo>
                <a:lnTo>
                  <a:pt x="173037" y="274069"/>
                </a:lnTo>
                <a:lnTo>
                  <a:pt x="196453" y="249840"/>
                </a:lnTo>
                <a:lnTo>
                  <a:pt x="220265" y="224816"/>
                </a:lnTo>
                <a:lnTo>
                  <a:pt x="245269" y="200190"/>
                </a:lnTo>
                <a:lnTo>
                  <a:pt x="258365" y="187479"/>
                </a:lnTo>
                <a:lnTo>
                  <a:pt x="271462" y="175166"/>
                </a:lnTo>
                <a:lnTo>
                  <a:pt x="284162" y="163647"/>
                </a:lnTo>
                <a:lnTo>
                  <a:pt x="297259" y="152525"/>
                </a:lnTo>
                <a:lnTo>
                  <a:pt x="321865" y="131474"/>
                </a:lnTo>
                <a:lnTo>
                  <a:pt x="346472" y="112011"/>
                </a:lnTo>
                <a:lnTo>
                  <a:pt x="369887" y="94137"/>
                </a:lnTo>
                <a:lnTo>
                  <a:pt x="392906" y="78646"/>
                </a:lnTo>
                <a:lnTo>
                  <a:pt x="413940" y="64347"/>
                </a:lnTo>
                <a:lnTo>
                  <a:pt x="434181" y="51239"/>
                </a:lnTo>
                <a:lnTo>
                  <a:pt x="452040" y="40117"/>
                </a:lnTo>
                <a:lnTo>
                  <a:pt x="469106" y="30584"/>
                </a:lnTo>
                <a:lnTo>
                  <a:pt x="483791" y="22640"/>
                </a:lnTo>
                <a:lnTo>
                  <a:pt x="496491" y="15888"/>
                </a:lnTo>
                <a:lnTo>
                  <a:pt x="514747" y="6752"/>
                </a:lnTo>
                <a:lnTo>
                  <a:pt x="522685" y="3178"/>
                </a:lnTo>
                <a:lnTo>
                  <a:pt x="527447" y="1192"/>
                </a:lnTo>
                <a:lnTo>
                  <a:pt x="532606" y="397"/>
                </a:lnTo>
                <a:lnTo>
                  <a:pt x="537766" y="0"/>
                </a:lnTo>
                <a:close/>
              </a:path>
            </a:pathLst>
          </a:custGeom>
          <a:solidFill>
            <a:srgbClr val="405F8F"/>
          </a:solidFill>
          <a:ln>
            <a:noFill/>
          </a:ln>
        </p:spPr>
        <p:txBody>
          <a:bodyPr anchor="ctr">
            <a:scene3d>
              <a:camera prst="orthographicFront"/>
              <a:lightRig rig="threePt" dir="t"/>
            </a:scene3d>
            <a:sp3d>
              <a:contourClr>
                <a:srgbClr val="FFFFFF"/>
              </a:contourClr>
            </a:sp3d>
          </a:bodyPr>
          <a:lstStyle/>
          <a:p>
            <a:pPr algn="ctr">
              <a:defRPr/>
            </a:pPr>
            <a:endParaRPr lang="zh-CN" altLang="en-US" dirty="0">
              <a:solidFill>
                <a:srgbClr val="FFFFF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16" name="组合 15"/>
          <p:cNvGrpSpPr/>
          <p:nvPr/>
        </p:nvGrpSpPr>
        <p:grpSpPr>
          <a:xfrm>
            <a:off x="2425179" y="3717031"/>
            <a:ext cx="2016224" cy="2016224"/>
            <a:chOff x="1705099" y="2564904"/>
            <a:chExt cx="1800200" cy="1800200"/>
          </a:xfrm>
        </p:grpSpPr>
        <p:sp>
          <p:nvSpPr>
            <p:cNvPr id="17" name="椭圆 16"/>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8" name="椭圆 17"/>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19" name="TextBox 18"/>
          <p:cNvSpPr txBox="1"/>
          <p:nvPr/>
        </p:nvSpPr>
        <p:spPr>
          <a:xfrm>
            <a:off x="2710074" y="4326194"/>
            <a:ext cx="1443297" cy="830997"/>
          </a:xfrm>
          <a:prstGeom prst="rect">
            <a:avLst/>
          </a:prstGeom>
          <a:noFill/>
        </p:spPr>
        <p:txBody>
          <a:bodyPr wrap="square" rtlCol="0">
            <a:spAutoFit/>
          </a:bodyPr>
          <a:lstStyle/>
          <a:p>
            <a:pPr algn="ctr"/>
            <a:r>
              <a:rPr lang="zh-CN" altLang="en-US" sz="24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具体工程明细</a:t>
            </a:r>
            <a:endParaRPr lang="en-US" altLang="zh-CN" sz="24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cxnSp>
        <p:nvCxnSpPr>
          <p:cNvPr id="20" name="直接连接符 19"/>
          <p:cNvCxnSpPr/>
          <p:nvPr/>
        </p:nvCxnSpPr>
        <p:spPr>
          <a:xfrm flipV="1">
            <a:off x="5451379" y="2004864"/>
            <a:ext cx="1874310" cy="6674"/>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4801443" y="1652233"/>
            <a:ext cx="711242" cy="701976"/>
            <a:chOff x="6217935" y="1158425"/>
            <a:chExt cx="527724" cy="520849"/>
          </a:xfrm>
        </p:grpSpPr>
        <p:grpSp>
          <p:nvGrpSpPr>
            <p:cNvPr id="22" name="组合 21"/>
            <p:cNvGrpSpPr/>
            <p:nvPr/>
          </p:nvGrpSpPr>
          <p:grpSpPr>
            <a:xfrm>
              <a:off x="6219351" y="1158425"/>
              <a:ext cx="520849" cy="520849"/>
              <a:chOff x="1705099" y="2564904"/>
              <a:chExt cx="1800200" cy="1800200"/>
            </a:xfrm>
          </p:grpSpPr>
          <p:sp>
            <p:nvSpPr>
              <p:cNvPr id="24" name="椭圆 23"/>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5" name="椭圆 24"/>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23" name="TextBox 22"/>
            <p:cNvSpPr txBox="1"/>
            <p:nvPr/>
          </p:nvSpPr>
          <p:spPr>
            <a:xfrm>
              <a:off x="6217935" y="1271633"/>
              <a:ext cx="527724" cy="296872"/>
            </a:xfrm>
            <a:prstGeom prst="rect">
              <a:avLst/>
            </a:prstGeom>
            <a:noFill/>
          </p:spPr>
          <p:txBody>
            <a:bodyPr wrap="square" rtlCol="0">
              <a:spAutoFit/>
            </a:bodyPr>
            <a:lstStyle/>
            <a:p>
              <a:pPr algn="ctr"/>
              <a:r>
                <a:rPr lang="en-US" altLang="zh-CN" sz="20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04</a:t>
              </a:r>
              <a:endParaRPr lang="zh-CN" altLang="en-US"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26" name="矩形 47"/>
          <p:cNvSpPr>
            <a:spLocks noChangeArrowheads="1"/>
          </p:cNvSpPr>
          <p:nvPr/>
        </p:nvSpPr>
        <p:spPr bwMode="auto">
          <a:xfrm>
            <a:off x="7586431" y="1320773"/>
            <a:ext cx="4248472" cy="975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30000"/>
              </a:lnSpc>
              <a:buNone/>
            </a:pPr>
            <a:r>
              <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1.</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整合</a:t>
            </a:r>
            <a:r>
              <a:rPr lang="en-US" altLang="zh-TW" sz="1400" dirty="0" err="1">
                <a:solidFill>
                  <a:schemeClr val="tx1">
                    <a:lumMod val="50000"/>
                    <a:lumOff val="50000"/>
                  </a:schemeClr>
                </a:solidFill>
                <a:latin typeface="Microsoft YaHei" panose="020B0503020204020204" pitchFamily="34" charset="-122"/>
                <a:ea typeface="Microsoft YaHei" panose="020B0503020204020204" pitchFamily="34" charset="-122"/>
                <a:cs typeface="+mn-ea"/>
              </a:rPr>
              <a:t>EmailService</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服務中外發供應商郵件和生成郵件附件</a:t>
            </a:r>
            <a:r>
              <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PDF</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檔等功能</a:t>
            </a:r>
            <a:r>
              <a:rPr lang="zh-TW"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rPr>
              <a:t>到</a:t>
            </a:r>
            <a:r>
              <a:rPr lang="en-US" altLang="zh-CN"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rPr>
              <a:t>ERPROS</a:t>
            </a:r>
            <a:r>
              <a:rPr lang="zh-TW"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rPr>
              <a:t>系統</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系統內部</a:t>
            </a:r>
            <a:endPar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a:p>
            <a:pPr>
              <a:lnSpc>
                <a:spcPct val="130000"/>
              </a:lnSpc>
              <a:buNone/>
            </a:pP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2.</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系統日常維護工作</a:t>
            </a:r>
          </a:p>
        </p:txBody>
      </p:sp>
      <p:cxnSp>
        <p:nvCxnSpPr>
          <p:cNvPr id="27" name="直接连接符 26"/>
          <p:cNvCxnSpPr>
            <a:stCxn id="31" idx="6"/>
          </p:cNvCxnSpPr>
          <p:nvPr/>
        </p:nvCxnSpPr>
        <p:spPr>
          <a:xfrm flipV="1">
            <a:off x="5505327" y="2843844"/>
            <a:ext cx="1885512" cy="39"/>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28" name="组合 27"/>
          <p:cNvGrpSpPr/>
          <p:nvPr/>
        </p:nvGrpSpPr>
        <p:grpSpPr>
          <a:xfrm>
            <a:off x="4801443" y="2492895"/>
            <a:ext cx="711242" cy="701976"/>
            <a:chOff x="6217935" y="1158425"/>
            <a:chExt cx="527724" cy="520849"/>
          </a:xfrm>
        </p:grpSpPr>
        <p:grpSp>
          <p:nvGrpSpPr>
            <p:cNvPr id="29" name="组合 28"/>
            <p:cNvGrpSpPr/>
            <p:nvPr/>
          </p:nvGrpSpPr>
          <p:grpSpPr>
            <a:xfrm>
              <a:off x="6219351" y="1158425"/>
              <a:ext cx="520849" cy="520849"/>
              <a:chOff x="1705099" y="2564904"/>
              <a:chExt cx="1800200" cy="1800200"/>
            </a:xfrm>
          </p:grpSpPr>
          <p:sp>
            <p:nvSpPr>
              <p:cNvPr id="31" name="椭圆 30"/>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2" name="椭圆 31"/>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30" name="TextBox 29"/>
            <p:cNvSpPr txBox="1"/>
            <p:nvPr/>
          </p:nvSpPr>
          <p:spPr>
            <a:xfrm>
              <a:off x="6217935" y="1271633"/>
              <a:ext cx="527724" cy="296872"/>
            </a:xfrm>
            <a:prstGeom prst="rect">
              <a:avLst/>
            </a:prstGeom>
            <a:noFill/>
          </p:spPr>
          <p:txBody>
            <a:bodyPr wrap="square" rtlCol="0">
              <a:spAutoFit/>
            </a:bodyPr>
            <a:lstStyle/>
            <a:p>
              <a:pPr algn="ctr"/>
              <a:r>
                <a:rPr lang="en-US" altLang="zh-CN" sz="20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05</a:t>
              </a:r>
              <a:endParaRPr lang="zh-CN" altLang="en-US"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33" name="矩形 47"/>
          <p:cNvSpPr>
            <a:spLocks noChangeArrowheads="1"/>
          </p:cNvSpPr>
          <p:nvPr/>
        </p:nvSpPr>
        <p:spPr bwMode="auto">
          <a:xfrm>
            <a:off x="7609755" y="2420418"/>
            <a:ext cx="4248472" cy="52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添加越南富山法人</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并處理用戶在富山法人下轉嫁出現的問題</a:t>
            </a:r>
            <a:endPar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p:txBody>
      </p:sp>
      <p:cxnSp>
        <p:nvCxnSpPr>
          <p:cNvPr id="34" name="直接连接符 33"/>
          <p:cNvCxnSpPr/>
          <p:nvPr/>
        </p:nvCxnSpPr>
        <p:spPr>
          <a:xfrm>
            <a:off x="5512685" y="3715396"/>
            <a:ext cx="1878154" cy="37"/>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35" name="组合 34"/>
          <p:cNvGrpSpPr/>
          <p:nvPr/>
        </p:nvGrpSpPr>
        <p:grpSpPr>
          <a:xfrm>
            <a:off x="4801443" y="3344625"/>
            <a:ext cx="711242" cy="701976"/>
            <a:chOff x="6217935" y="1158425"/>
            <a:chExt cx="527724" cy="520849"/>
          </a:xfrm>
        </p:grpSpPr>
        <p:grpSp>
          <p:nvGrpSpPr>
            <p:cNvPr id="36" name="组合 35"/>
            <p:cNvGrpSpPr/>
            <p:nvPr/>
          </p:nvGrpSpPr>
          <p:grpSpPr>
            <a:xfrm>
              <a:off x="6219351" y="1158425"/>
              <a:ext cx="520849" cy="520849"/>
              <a:chOff x="1705099" y="2564904"/>
              <a:chExt cx="1800200" cy="1800200"/>
            </a:xfrm>
          </p:grpSpPr>
          <p:sp>
            <p:nvSpPr>
              <p:cNvPr id="38" name="椭圆 37"/>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9" name="椭圆 38"/>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37" name="TextBox 36"/>
            <p:cNvSpPr txBox="1"/>
            <p:nvPr/>
          </p:nvSpPr>
          <p:spPr>
            <a:xfrm>
              <a:off x="6217935" y="1271633"/>
              <a:ext cx="527724" cy="296872"/>
            </a:xfrm>
            <a:prstGeom prst="rect">
              <a:avLst/>
            </a:prstGeom>
            <a:noFill/>
          </p:spPr>
          <p:txBody>
            <a:bodyPr wrap="square" rtlCol="0">
              <a:spAutoFit/>
            </a:bodyPr>
            <a:lstStyle/>
            <a:p>
              <a:pPr algn="ctr"/>
              <a:r>
                <a:rPr lang="en-US" altLang="zh-CN" sz="20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06</a:t>
              </a:r>
              <a:endParaRPr lang="zh-CN" altLang="en-US"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40" name="矩形 47"/>
          <p:cNvSpPr>
            <a:spLocks noChangeArrowheads="1"/>
          </p:cNvSpPr>
          <p:nvPr/>
        </p:nvSpPr>
        <p:spPr bwMode="auto">
          <a:xfrm>
            <a:off x="7573507" y="3378778"/>
            <a:ext cx="4248472" cy="566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1.LX</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搬遷需求</a:t>
            </a:r>
            <a:r>
              <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E</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化工作</a:t>
            </a:r>
            <a:endPar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a:p>
            <a:pPr>
              <a:buNone/>
            </a:pP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2.</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系統日常維護工作</a:t>
            </a:r>
          </a:p>
        </p:txBody>
      </p:sp>
      <p:cxnSp>
        <p:nvCxnSpPr>
          <p:cNvPr id="41" name="直接连接符 40"/>
          <p:cNvCxnSpPr/>
          <p:nvPr/>
        </p:nvCxnSpPr>
        <p:spPr>
          <a:xfrm flipV="1">
            <a:off x="5518214" y="4473044"/>
            <a:ext cx="1872625" cy="15798"/>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42" name="组合 41"/>
          <p:cNvGrpSpPr/>
          <p:nvPr/>
        </p:nvGrpSpPr>
        <p:grpSpPr>
          <a:xfrm>
            <a:off x="4801443" y="4167183"/>
            <a:ext cx="711242" cy="701976"/>
            <a:chOff x="6217935" y="1158425"/>
            <a:chExt cx="527724" cy="520849"/>
          </a:xfrm>
        </p:grpSpPr>
        <p:grpSp>
          <p:nvGrpSpPr>
            <p:cNvPr id="43" name="组合 42"/>
            <p:cNvGrpSpPr/>
            <p:nvPr/>
          </p:nvGrpSpPr>
          <p:grpSpPr>
            <a:xfrm>
              <a:off x="6219351" y="1158425"/>
              <a:ext cx="520849" cy="520849"/>
              <a:chOff x="1705099" y="2564904"/>
              <a:chExt cx="1800200" cy="1800200"/>
            </a:xfrm>
          </p:grpSpPr>
          <p:sp>
            <p:nvSpPr>
              <p:cNvPr id="45" name="椭圆 44"/>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46" name="椭圆 45"/>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44" name="TextBox 43"/>
            <p:cNvSpPr txBox="1"/>
            <p:nvPr/>
          </p:nvSpPr>
          <p:spPr>
            <a:xfrm>
              <a:off x="6217935" y="1271633"/>
              <a:ext cx="527724" cy="296872"/>
            </a:xfrm>
            <a:prstGeom prst="rect">
              <a:avLst/>
            </a:prstGeom>
            <a:noFill/>
          </p:spPr>
          <p:txBody>
            <a:bodyPr wrap="square" rtlCol="0">
              <a:spAutoFit/>
            </a:bodyPr>
            <a:lstStyle/>
            <a:p>
              <a:pPr algn="ctr"/>
              <a:r>
                <a:rPr lang="en-US" altLang="zh-CN" sz="20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07</a:t>
              </a:r>
              <a:endParaRPr lang="zh-CN" altLang="en-US"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47" name="矩形 47"/>
          <p:cNvSpPr>
            <a:spLocks noChangeArrowheads="1"/>
          </p:cNvSpPr>
          <p:nvPr/>
        </p:nvSpPr>
        <p:spPr bwMode="auto">
          <a:xfrm>
            <a:off x="7586431" y="4127299"/>
            <a:ext cx="4248472" cy="781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1.</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采購組織下創建</a:t>
            </a:r>
            <a:r>
              <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修改供應商功能添加一個經管</a:t>
            </a:r>
            <a:r>
              <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BU</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并配置流程</a:t>
            </a:r>
            <a:endPar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a:p>
            <a:pPr>
              <a:buNone/>
            </a:pP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2.</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系統日常維護工作</a:t>
            </a:r>
          </a:p>
        </p:txBody>
      </p:sp>
      <p:cxnSp>
        <p:nvCxnSpPr>
          <p:cNvPr id="48" name="直接连接符 47"/>
          <p:cNvCxnSpPr/>
          <p:nvPr/>
        </p:nvCxnSpPr>
        <p:spPr>
          <a:xfrm>
            <a:off x="5496371" y="5364549"/>
            <a:ext cx="2077136" cy="23861"/>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49" name="组合 48"/>
          <p:cNvGrpSpPr/>
          <p:nvPr/>
        </p:nvGrpSpPr>
        <p:grpSpPr>
          <a:xfrm>
            <a:off x="4801443" y="4959271"/>
            <a:ext cx="711242" cy="701976"/>
            <a:chOff x="6217935" y="1158425"/>
            <a:chExt cx="527724" cy="520849"/>
          </a:xfrm>
        </p:grpSpPr>
        <p:grpSp>
          <p:nvGrpSpPr>
            <p:cNvPr id="50" name="组合 49"/>
            <p:cNvGrpSpPr/>
            <p:nvPr/>
          </p:nvGrpSpPr>
          <p:grpSpPr>
            <a:xfrm>
              <a:off x="6219351" y="1158425"/>
              <a:ext cx="520849" cy="520849"/>
              <a:chOff x="1705099" y="2564904"/>
              <a:chExt cx="1800200" cy="1800200"/>
            </a:xfrm>
          </p:grpSpPr>
          <p:sp>
            <p:nvSpPr>
              <p:cNvPr id="52" name="椭圆 51"/>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3" name="椭圆 52"/>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51" name="TextBox 50"/>
            <p:cNvSpPr txBox="1"/>
            <p:nvPr/>
          </p:nvSpPr>
          <p:spPr>
            <a:xfrm>
              <a:off x="6217935" y="1271633"/>
              <a:ext cx="527724" cy="296872"/>
            </a:xfrm>
            <a:prstGeom prst="rect">
              <a:avLst/>
            </a:prstGeom>
            <a:noFill/>
          </p:spPr>
          <p:txBody>
            <a:bodyPr wrap="square" rtlCol="0">
              <a:spAutoFit/>
            </a:bodyPr>
            <a:lstStyle/>
            <a:p>
              <a:pPr algn="ctr"/>
              <a:r>
                <a:rPr lang="en-US" altLang="zh-CN" sz="20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08</a:t>
              </a:r>
              <a:endParaRPr lang="zh-CN" altLang="en-US"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54" name="矩形 47"/>
          <p:cNvSpPr>
            <a:spLocks noChangeArrowheads="1"/>
          </p:cNvSpPr>
          <p:nvPr/>
        </p:nvSpPr>
        <p:spPr bwMode="auto">
          <a:xfrm>
            <a:off x="7645420" y="4980600"/>
            <a:ext cx="4248472" cy="781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zh-TW"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rPr>
              <a:t>根據</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費用性請購</a:t>
            </a:r>
            <a:r>
              <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采購系統建置富佳費用性請購</a:t>
            </a:r>
            <a:r>
              <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a:t>
            </a:r>
            <a:r>
              <a:rPr lang="zh-TW"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采購系統</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，配合相關人員完成數據對接和測試工作</a:t>
            </a:r>
          </a:p>
          <a:p>
            <a:pPr>
              <a:buNone/>
            </a:pPr>
            <a:endParaRPr lang="en-US" altLang="zh-TW"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p:txBody>
      </p:sp>
      <p:sp>
        <p:nvSpPr>
          <p:cNvPr id="56" name="矩形 47"/>
          <p:cNvSpPr>
            <a:spLocks noChangeArrowheads="1"/>
          </p:cNvSpPr>
          <p:nvPr/>
        </p:nvSpPr>
        <p:spPr bwMode="auto">
          <a:xfrm>
            <a:off x="5583870" y="1549203"/>
            <a:ext cx="1609328" cy="45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30000"/>
              </a:lnSpc>
              <a:buNone/>
              <a:defRPr/>
            </a:pPr>
            <a:r>
              <a:rPr lang="en-US" altLang="zh-CN" sz="18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ERPROS</a:t>
            </a:r>
            <a:r>
              <a:rPr lang="zh-TW" altLang="en-US" sz="18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系統</a:t>
            </a:r>
            <a:endParaRPr lang="en-US" altLang="zh-CN" sz="18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p:txBody>
      </p:sp>
      <p:sp>
        <p:nvSpPr>
          <p:cNvPr id="58" name="矩形 47"/>
          <p:cNvSpPr>
            <a:spLocks noChangeArrowheads="1"/>
          </p:cNvSpPr>
          <p:nvPr/>
        </p:nvSpPr>
        <p:spPr bwMode="auto">
          <a:xfrm>
            <a:off x="5616225" y="2385103"/>
            <a:ext cx="1677290" cy="45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30000"/>
              </a:lnSpc>
              <a:buNone/>
              <a:defRPr/>
            </a:pPr>
            <a:r>
              <a:rPr lang="zh-CN" altLang="en-US" sz="18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rPr>
              <a:t>費用轉嫁系統</a:t>
            </a:r>
            <a:endParaRPr lang="en-US" altLang="zh-CN" sz="18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p:txBody>
      </p:sp>
      <p:sp>
        <p:nvSpPr>
          <p:cNvPr id="59" name="矩形 47"/>
          <p:cNvSpPr>
            <a:spLocks noChangeArrowheads="1"/>
          </p:cNvSpPr>
          <p:nvPr/>
        </p:nvSpPr>
        <p:spPr bwMode="auto">
          <a:xfrm>
            <a:off x="5647098" y="3232970"/>
            <a:ext cx="1609328" cy="41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30000"/>
              </a:lnSpc>
              <a:buNone/>
              <a:defRPr/>
            </a:pPr>
            <a:r>
              <a:rPr lang="zh-CN" altLang="en-US" sz="18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搬遷</a:t>
            </a:r>
            <a:r>
              <a:rPr lang="zh-TW" altLang="en-US" sz="18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rPr>
              <a:t>系統</a:t>
            </a:r>
            <a:endParaRPr lang="en-US" altLang="zh-CN" sz="18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p:txBody>
      </p:sp>
      <p:sp>
        <p:nvSpPr>
          <p:cNvPr id="60" name="矩形 47"/>
          <p:cNvSpPr>
            <a:spLocks noChangeArrowheads="1"/>
          </p:cNvSpPr>
          <p:nvPr/>
        </p:nvSpPr>
        <p:spPr bwMode="auto">
          <a:xfrm>
            <a:off x="5616225" y="4033342"/>
            <a:ext cx="1609328" cy="41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30000"/>
              </a:lnSpc>
              <a:buNone/>
              <a:defRPr/>
            </a:pPr>
            <a:r>
              <a:rPr lang="zh-CN" altLang="en-US" sz="18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rPr>
              <a:t>會計行政表單</a:t>
            </a:r>
            <a:endParaRPr lang="en-US" altLang="zh-CN" sz="18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p:txBody>
      </p:sp>
      <p:sp>
        <p:nvSpPr>
          <p:cNvPr id="61" name="矩形 47"/>
          <p:cNvSpPr>
            <a:spLocks noChangeArrowheads="1"/>
          </p:cNvSpPr>
          <p:nvPr/>
        </p:nvSpPr>
        <p:spPr bwMode="auto">
          <a:xfrm>
            <a:off x="5581149" y="4894262"/>
            <a:ext cx="2006479" cy="45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30000"/>
              </a:lnSpc>
              <a:buNone/>
              <a:defRPr/>
            </a:pPr>
            <a:r>
              <a:rPr lang="zh-CN" altLang="en-US" sz="18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富佳</a:t>
            </a:r>
            <a:r>
              <a:rPr lang="en-US" altLang="zh-CN" sz="18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ERPROS</a:t>
            </a:r>
            <a:r>
              <a:rPr lang="zh-TW" altLang="en-US" sz="18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系統</a:t>
            </a:r>
            <a:endParaRPr lang="en-US" altLang="zh-CN" sz="1800" dirty="0">
              <a:solidFill>
                <a:schemeClr val="tx1">
                  <a:lumMod val="50000"/>
                  <a:lumOff val="50000"/>
                </a:schemeClr>
              </a:solidFill>
              <a:latin typeface="Microsoft YaHei" panose="020B0503020204020204" pitchFamily="34" charset="-122"/>
              <a:ea typeface="Microsoft YaHei"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91"/>
                                        </p:tgtEl>
                                        <p:attrNameLst>
                                          <p:attrName>style.visibility</p:attrName>
                                        </p:attrNameLst>
                                      </p:cBhvr>
                                      <p:to>
                                        <p:strVal val="visible"/>
                                      </p:to>
                                    </p:set>
                                    <p:anim calcmode="lin" valueType="num">
                                      <p:cBhvr>
                                        <p:cTn id="7" dur="500" fill="hold"/>
                                        <p:tgtEl>
                                          <p:spTgt spid="9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91"/>
                                        </p:tgtEl>
                                        <p:attrNameLst>
                                          <p:attrName>ppt_y</p:attrName>
                                        </p:attrNameLst>
                                      </p:cBhvr>
                                      <p:tavLst>
                                        <p:tav tm="0">
                                          <p:val>
                                            <p:strVal val="#ppt_y"/>
                                          </p:val>
                                        </p:tav>
                                        <p:tav tm="100000">
                                          <p:val>
                                            <p:strVal val="#ppt_y"/>
                                          </p:val>
                                        </p:tav>
                                      </p:tavLst>
                                    </p:anim>
                                    <p:anim calcmode="lin" valueType="num">
                                      <p:cBhvr>
                                        <p:cTn id="9" dur="500" fill="hold"/>
                                        <p:tgtEl>
                                          <p:spTgt spid="9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9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91"/>
                                        </p:tgtEl>
                                      </p:cBhvr>
                                    </p:animEffect>
                                  </p:childTnLst>
                                </p:cTn>
                              </p:par>
                              <p:par>
                                <p:cTn id="12" presetID="2" presetClass="entr" presetSubtype="8" fill="hold" nodeType="withEffect">
                                  <p:stCondLst>
                                    <p:cond delay="250"/>
                                  </p:stCondLst>
                                  <p:childTnLst>
                                    <p:set>
                                      <p:cBhvr>
                                        <p:cTn id="13" dur="1" fill="hold">
                                          <p:stCondLst>
                                            <p:cond delay="0"/>
                                          </p:stCondLst>
                                        </p:cTn>
                                        <p:tgtEl>
                                          <p:spTgt spid="98"/>
                                        </p:tgtEl>
                                        <p:attrNameLst>
                                          <p:attrName>style.visibility</p:attrName>
                                        </p:attrNameLst>
                                      </p:cBhvr>
                                      <p:to>
                                        <p:strVal val="visible"/>
                                      </p:to>
                                    </p:set>
                                    <p:anim calcmode="lin" valueType="num">
                                      <p:cBhvr additive="base">
                                        <p:cTn id="14" dur="500" fill="hold"/>
                                        <p:tgtEl>
                                          <p:spTgt spid="98"/>
                                        </p:tgtEl>
                                        <p:attrNameLst>
                                          <p:attrName>ppt_x</p:attrName>
                                        </p:attrNameLst>
                                      </p:cBhvr>
                                      <p:tavLst>
                                        <p:tav tm="0">
                                          <p:val>
                                            <p:strVal val="0-#ppt_w/2"/>
                                          </p:val>
                                        </p:tav>
                                        <p:tav tm="100000">
                                          <p:val>
                                            <p:strVal val="#ppt_x"/>
                                          </p:val>
                                        </p:tav>
                                      </p:tavLst>
                                    </p:anim>
                                    <p:anim calcmode="lin" valueType="num">
                                      <p:cBhvr additive="base">
                                        <p:cTn id="15" dur="500" fill="hold"/>
                                        <p:tgtEl>
                                          <p:spTgt spid="98"/>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95"/>
                                        </p:tgtEl>
                                        <p:attrNameLst>
                                          <p:attrName>style.visibility</p:attrName>
                                        </p:attrNameLst>
                                      </p:cBhvr>
                                      <p:to>
                                        <p:strVal val="visible"/>
                                      </p:to>
                                    </p:set>
                                    <p:anim calcmode="lin" valueType="num">
                                      <p:cBhvr additive="base">
                                        <p:cTn id="18" dur="500" fill="hold"/>
                                        <p:tgtEl>
                                          <p:spTgt spid="95"/>
                                        </p:tgtEl>
                                        <p:attrNameLst>
                                          <p:attrName>ppt_x</p:attrName>
                                        </p:attrNameLst>
                                      </p:cBhvr>
                                      <p:tavLst>
                                        <p:tav tm="0">
                                          <p:val>
                                            <p:strVal val="1+#ppt_w/2"/>
                                          </p:val>
                                        </p:tav>
                                        <p:tav tm="100000">
                                          <p:val>
                                            <p:strVal val="#ppt_x"/>
                                          </p:val>
                                        </p:tav>
                                      </p:tavLst>
                                    </p:anim>
                                    <p:anim calcmode="lin" valueType="num">
                                      <p:cBhvr additive="base">
                                        <p:cTn id="19" dur="500" fill="hold"/>
                                        <p:tgtEl>
                                          <p:spTgt spid="95"/>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stCondLst>
                                    <p:cond delay="250"/>
                                  </p:stCondLst>
                                  <p:childTnLst>
                                    <p:set>
                                      <p:cBhvr>
                                        <p:cTn id="21" dur="1" fill="hold">
                                          <p:stCondLst>
                                            <p:cond delay="0"/>
                                          </p:stCondLst>
                                        </p:cTn>
                                        <p:tgtEl>
                                          <p:spTgt spid="102"/>
                                        </p:tgtEl>
                                        <p:attrNameLst>
                                          <p:attrName>style.visibility</p:attrName>
                                        </p:attrNameLst>
                                      </p:cBhvr>
                                      <p:to>
                                        <p:strVal val="visible"/>
                                      </p:to>
                                    </p:set>
                                    <p:anim calcmode="lin" valueType="num">
                                      <p:cBhvr additive="base">
                                        <p:cTn id="22" dur="500" fill="hold"/>
                                        <p:tgtEl>
                                          <p:spTgt spid="102"/>
                                        </p:tgtEl>
                                        <p:attrNameLst>
                                          <p:attrName>ppt_x</p:attrName>
                                        </p:attrNameLst>
                                      </p:cBhvr>
                                      <p:tavLst>
                                        <p:tav tm="0">
                                          <p:val>
                                            <p:strVal val="0-#ppt_w/2"/>
                                          </p:val>
                                        </p:tav>
                                        <p:tav tm="100000">
                                          <p:val>
                                            <p:strVal val="#ppt_x"/>
                                          </p:val>
                                        </p:tav>
                                      </p:tavLst>
                                    </p:anim>
                                    <p:anim calcmode="lin" valueType="num">
                                      <p:cBhvr additive="base">
                                        <p:cTn id="23" dur="500" fill="hold"/>
                                        <p:tgtEl>
                                          <p:spTgt spid="102"/>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250"/>
                                  </p:stCondLst>
                                  <p:childTnLst>
                                    <p:set>
                                      <p:cBhvr>
                                        <p:cTn id="25" dur="1" fill="hold">
                                          <p:stCondLst>
                                            <p:cond delay="0"/>
                                          </p:stCondLst>
                                        </p:cTn>
                                        <p:tgtEl>
                                          <p:spTgt spid="101"/>
                                        </p:tgtEl>
                                        <p:attrNameLst>
                                          <p:attrName>style.visibility</p:attrName>
                                        </p:attrNameLst>
                                      </p:cBhvr>
                                      <p:to>
                                        <p:strVal val="visible"/>
                                      </p:to>
                                    </p:set>
                                    <p:anim calcmode="lin" valueType="num">
                                      <p:cBhvr additive="base">
                                        <p:cTn id="26" dur="500" fill="hold"/>
                                        <p:tgtEl>
                                          <p:spTgt spid="101"/>
                                        </p:tgtEl>
                                        <p:attrNameLst>
                                          <p:attrName>ppt_x</p:attrName>
                                        </p:attrNameLst>
                                      </p:cBhvr>
                                      <p:tavLst>
                                        <p:tav tm="0">
                                          <p:val>
                                            <p:strVal val="1+#ppt_w/2"/>
                                          </p:val>
                                        </p:tav>
                                        <p:tav tm="100000">
                                          <p:val>
                                            <p:strVal val="#ppt_x"/>
                                          </p:val>
                                        </p:tav>
                                      </p:tavLst>
                                    </p:anim>
                                    <p:anim calcmode="lin" valueType="num">
                                      <p:cBhvr additive="base">
                                        <p:cTn id="27" dur="500" fill="hold"/>
                                        <p:tgtEl>
                                          <p:spTgt spid="101"/>
                                        </p:tgtEl>
                                        <p:attrNameLst>
                                          <p:attrName>ppt_y</p:attrName>
                                        </p:attrNameLst>
                                      </p:cBhvr>
                                      <p:tavLst>
                                        <p:tav tm="0">
                                          <p:val>
                                            <p:strVal val="#ppt_y"/>
                                          </p:val>
                                        </p:tav>
                                        <p:tav tm="100000">
                                          <p:val>
                                            <p:strVal val="#ppt_y"/>
                                          </p:val>
                                        </p:tav>
                                      </p:tavLst>
                                    </p:anim>
                                  </p:childTnLst>
                                </p:cTn>
                              </p:par>
                              <p:par>
                                <p:cTn id="28" presetID="45" presetClass="entr" presetSubtype="0" fill="hold" nodeType="withEffect">
                                  <p:stCondLst>
                                    <p:cond delay="50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750"/>
                                        <p:tgtEl>
                                          <p:spTgt spid="12"/>
                                        </p:tgtEl>
                                      </p:cBhvr>
                                    </p:animEffect>
                                    <p:anim calcmode="lin" valueType="num">
                                      <p:cBhvr>
                                        <p:cTn id="31" dur="750" fill="hold"/>
                                        <p:tgtEl>
                                          <p:spTgt spid="12"/>
                                        </p:tgtEl>
                                        <p:attrNameLst>
                                          <p:attrName>ppt_w</p:attrName>
                                        </p:attrNameLst>
                                      </p:cBhvr>
                                      <p:tavLst>
                                        <p:tav tm="0" fmla="#ppt_w*sin(2.5*pi*$)">
                                          <p:val>
                                            <p:fltVal val="0"/>
                                          </p:val>
                                        </p:tav>
                                        <p:tav tm="100000">
                                          <p:val>
                                            <p:fltVal val="1"/>
                                          </p:val>
                                        </p:tav>
                                      </p:tavLst>
                                    </p:anim>
                                    <p:anim calcmode="lin" valueType="num">
                                      <p:cBhvr>
                                        <p:cTn id="32" dur="750" fill="hold"/>
                                        <p:tgtEl>
                                          <p:spTgt spid="12"/>
                                        </p:tgtEl>
                                        <p:attrNameLst>
                                          <p:attrName>ppt_h</p:attrName>
                                        </p:attrNameLst>
                                      </p:cBhvr>
                                      <p:tavLst>
                                        <p:tav tm="0">
                                          <p:val>
                                            <p:strVal val="#ppt_h"/>
                                          </p:val>
                                        </p:tav>
                                        <p:tav tm="100000">
                                          <p:val>
                                            <p:strVal val="#ppt_h"/>
                                          </p:val>
                                        </p:tav>
                                      </p:tavLst>
                                    </p:anim>
                                  </p:childTnLst>
                                </p:cTn>
                              </p:par>
                            </p:childTnLst>
                          </p:cTn>
                        </p:par>
                        <p:par>
                          <p:cTn id="33" fill="hold">
                            <p:stCondLst>
                              <p:cond delay="1250"/>
                            </p:stCondLst>
                            <p:childTnLst>
                              <p:par>
                                <p:cTn id="34" presetID="53" presetClass="entr" presetSubtype="528" fill="hold" grpId="0" nodeType="after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p:cTn id="36" dur="500" fill="hold"/>
                                        <p:tgtEl>
                                          <p:spTgt spid="15"/>
                                        </p:tgtEl>
                                        <p:attrNameLst>
                                          <p:attrName>ppt_w</p:attrName>
                                        </p:attrNameLst>
                                      </p:cBhvr>
                                      <p:tavLst>
                                        <p:tav tm="0">
                                          <p:val>
                                            <p:fltVal val="0"/>
                                          </p:val>
                                        </p:tav>
                                        <p:tav tm="100000">
                                          <p:val>
                                            <p:strVal val="#ppt_w"/>
                                          </p:val>
                                        </p:tav>
                                      </p:tavLst>
                                    </p:anim>
                                    <p:anim calcmode="lin" valueType="num">
                                      <p:cBhvr>
                                        <p:cTn id="37" dur="500" fill="hold"/>
                                        <p:tgtEl>
                                          <p:spTgt spid="15"/>
                                        </p:tgtEl>
                                        <p:attrNameLst>
                                          <p:attrName>ppt_h</p:attrName>
                                        </p:attrNameLst>
                                      </p:cBhvr>
                                      <p:tavLst>
                                        <p:tav tm="0">
                                          <p:val>
                                            <p:fltVal val="0"/>
                                          </p:val>
                                        </p:tav>
                                        <p:tav tm="100000">
                                          <p:val>
                                            <p:strVal val="#ppt_h"/>
                                          </p:val>
                                        </p:tav>
                                      </p:tavLst>
                                    </p:anim>
                                    <p:animEffect transition="in" filter="fade">
                                      <p:cBhvr>
                                        <p:cTn id="38" dur="500"/>
                                        <p:tgtEl>
                                          <p:spTgt spid="15"/>
                                        </p:tgtEl>
                                      </p:cBhvr>
                                    </p:animEffect>
                                    <p:anim calcmode="lin" valueType="num">
                                      <p:cBhvr>
                                        <p:cTn id="39" dur="500" fill="hold"/>
                                        <p:tgtEl>
                                          <p:spTgt spid="15"/>
                                        </p:tgtEl>
                                        <p:attrNameLst>
                                          <p:attrName>ppt_x</p:attrName>
                                        </p:attrNameLst>
                                      </p:cBhvr>
                                      <p:tavLst>
                                        <p:tav tm="0">
                                          <p:val>
                                            <p:fltVal val="0.5"/>
                                          </p:val>
                                        </p:tav>
                                        <p:tav tm="100000">
                                          <p:val>
                                            <p:strVal val="#ppt_x"/>
                                          </p:val>
                                        </p:tav>
                                      </p:tavLst>
                                    </p:anim>
                                    <p:anim calcmode="lin" valueType="num">
                                      <p:cBhvr>
                                        <p:cTn id="40" dur="500" fill="hold"/>
                                        <p:tgtEl>
                                          <p:spTgt spid="15"/>
                                        </p:tgtEl>
                                        <p:attrNameLst>
                                          <p:attrName>ppt_y</p:attrName>
                                        </p:attrNameLst>
                                      </p:cBhvr>
                                      <p:tavLst>
                                        <p:tav tm="0">
                                          <p:val>
                                            <p:fltVal val="0.5"/>
                                          </p:val>
                                        </p:tav>
                                        <p:tav tm="100000">
                                          <p:val>
                                            <p:strVal val="#ppt_y"/>
                                          </p:val>
                                        </p:tav>
                                      </p:tavLst>
                                    </p:anim>
                                  </p:childTnLst>
                                </p:cTn>
                              </p:par>
                              <p:par>
                                <p:cTn id="41" presetID="45" presetClass="entr" presetSubtype="0" fill="hold" nodeType="withEffect">
                                  <p:stCondLst>
                                    <p:cond delay="5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750"/>
                                        <p:tgtEl>
                                          <p:spTgt spid="16"/>
                                        </p:tgtEl>
                                      </p:cBhvr>
                                    </p:animEffect>
                                    <p:anim calcmode="lin" valueType="num">
                                      <p:cBhvr>
                                        <p:cTn id="44" dur="750" fill="hold"/>
                                        <p:tgtEl>
                                          <p:spTgt spid="16"/>
                                        </p:tgtEl>
                                        <p:attrNameLst>
                                          <p:attrName>ppt_w</p:attrName>
                                        </p:attrNameLst>
                                      </p:cBhvr>
                                      <p:tavLst>
                                        <p:tav tm="0" fmla="#ppt_w*sin(2.5*pi*$)">
                                          <p:val>
                                            <p:fltVal val="0"/>
                                          </p:val>
                                        </p:tav>
                                        <p:tav tm="100000">
                                          <p:val>
                                            <p:fltVal val="1"/>
                                          </p:val>
                                        </p:tav>
                                      </p:tavLst>
                                    </p:anim>
                                    <p:anim calcmode="lin" valueType="num">
                                      <p:cBhvr>
                                        <p:cTn id="45" dur="750" fill="hold"/>
                                        <p:tgtEl>
                                          <p:spTgt spid="16"/>
                                        </p:tgtEl>
                                        <p:attrNameLst>
                                          <p:attrName>ppt_h</p:attrName>
                                        </p:attrNameLst>
                                      </p:cBhvr>
                                      <p:tavLst>
                                        <p:tav tm="0">
                                          <p:val>
                                            <p:strVal val="#ppt_h"/>
                                          </p:val>
                                        </p:tav>
                                        <p:tav tm="100000">
                                          <p:val>
                                            <p:strVal val="#ppt_h"/>
                                          </p:val>
                                        </p:tav>
                                      </p:tavLst>
                                    </p:anim>
                                  </p:childTnLst>
                                </p:cTn>
                              </p:par>
                            </p:childTnLst>
                          </p:cTn>
                        </p:par>
                        <p:par>
                          <p:cTn id="46" fill="hold">
                            <p:stCondLst>
                              <p:cond delay="2500"/>
                            </p:stCondLst>
                            <p:childTnLst>
                              <p:par>
                                <p:cTn id="47" presetID="41" presetClass="entr" presetSubtype="0" fill="hold" grpId="0" nodeType="afterEffect">
                                  <p:stCondLst>
                                    <p:cond delay="0"/>
                                  </p:stCondLst>
                                  <p:iterate type="lt">
                                    <p:tmPct val="10000"/>
                                  </p:iterate>
                                  <p:childTnLst>
                                    <p:set>
                                      <p:cBhvr>
                                        <p:cTn id="48" dur="1" fill="hold">
                                          <p:stCondLst>
                                            <p:cond delay="0"/>
                                          </p:stCondLst>
                                        </p:cTn>
                                        <p:tgtEl>
                                          <p:spTgt spid="19"/>
                                        </p:tgtEl>
                                        <p:attrNameLst>
                                          <p:attrName>style.visibility</p:attrName>
                                        </p:attrNameLst>
                                      </p:cBhvr>
                                      <p:to>
                                        <p:strVal val="visible"/>
                                      </p:to>
                                    </p:set>
                                    <p:anim calcmode="lin" valueType="num">
                                      <p:cBhvr>
                                        <p:cTn id="49" dur="10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50" dur="1000" fill="hold"/>
                                        <p:tgtEl>
                                          <p:spTgt spid="19"/>
                                        </p:tgtEl>
                                        <p:attrNameLst>
                                          <p:attrName>ppt_y</p:attrName>
                                        </p:attrNameLst>
                                      </p:cBhvr>
                                      <p:tavLst>
                                        <p:tav tm="0">
                                          <p:val>
                                            <p:strVal val="#ppt_y"/>
                                          </p:val>
                                        </p:tav>
                                        <p:tav tm="100000">
                                          <p:val>
                                            <p:strVal val="#ppt_y"/>
                                          </p:val>
                                        </p:tav>
                                      </p:tavLst>
                                    </p:anim>
                                    <p:anim calcmode="lin" valueType="num">
                                      <p:cBhvr>
                                        <p:cTn id="51" dur="10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52" dur="10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53" dur="1000" tmFilter="0,0; .5, 1; 1, 1"/>
                                        <p:tgtEl>
                                          <p:spTgt spid="19"/>
                                        </p:tgtEl>
                                      </p:cBhvr>
                                    </p:animEffect>
                                  </p:childTnLst>
                                </p:cTn>
                              </p:par>
                            </p:childTnLst>
                          </p:cTn>
                        </p:par>
                        <p:par>
                          <p:cTn id="54" fill="hold">
                            <p:stCondLst>
                              <p:cond delay="4000"/>
                            </p:stCondLst>
                            <p:childTnLst>
                              <p:par>
                                <p:cTn id="55" presetID="45" presetClass="entr" presetSubtype="0" fill="hold"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750"/>
                                        <p:tgtEl>
                                          <p:spTgt spid="21"/>
                                        </p:tgtEl>
                                      </p:cBhvr>
                                    </p:animEffect>
                                    <p:anim calcmode="lin" valueType="num">
                                      <p:cBhvr>
                                        <p:cTn id="58" dur="750" fill="hold"/>
                                        <p:tgtEl>
                                          <p:spTgt spid="21"/>
                                        </p:tgtEl>
                                        <p:attrNameLst>
                                          <p:attrName>ppt_w</p:attrName>
                                        </p:attrNameLst>
                                      </p:cBhvr>
                                      <p:tavLst>
                                        <p:tav tm="0" fmla="#ppt_w*sin(2.5*pi*$)">
                                          <p:val>
                                            <p:fltVal val="0"/>
                                          </p:val>
                                        </p:tav>
                                        <p:tav tm="100000">
                                          <p:val>
                                            <p:fltVal val="1"/>
                                          </p:val>
                                        </p:tav>
                                      </p:tavLst>
                                    </p:anim>
                                    <p:anim calcmode="lin" valueType="num">
                                      <p:cBhvr>
                                        <p:cTn id="59" dur="750" fill="hold"/>
                                        <p:tgtEl>
                                          <p:spTgt spid="21"/>
                                        </p:tgtEl>
                                        <p:attrNameLst>
                                          <p:attrName>ppt_h</p:attrName>
                                        </p:attrNameLst>
                                      </p:cBhvr>
                                      <p:tavLst>
                                        <p:tav tm="0">
                                          <p:val>
                                            <p:strVal val="#ppt_h"/>
                                          </p:val>
                                        </p:tav>
                                        <p:tav tm="100000">
                                          <p:val>
                                            <p:strVal val="#ppt_h"/>
                                          </p:val>
                                        </p:tav>
                                      </p:tavLst>
                                    </p:anim>
                                  </p:childTnLst>
                                </p:cTn>
                              </p:par>
                            </p:childTnLst>
                          </p:cTn>
                        </p:par>
                        <p:par>
                          <p:cTn id="60" fill="hold">
                            <p:stCondLst>
                              <p:cond delay="4750"/>
                            </p:stCondLst>
                            <p:childTnLst>
                              <p:par>
                                <p:cTn id="61" presetID="22" presetClass="entr" presetSubtype="8" fill="hold" nodeType="after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left)">
                                      <p:cBhvr>
                                        <p:cTn id="63" dur="500"/>
                                        <p:tgtEl>
                                          <p:spTgt spid="20"/>
                                        </p:tgtEl>
                                      </p:cBhvr>
                                    </p:animEffect>
                                  </p:childTnLst>
                                </p:cTn>
                              </p:par>
                              <p:par>
                                <p:cTn id="64" presetID="2" presetClass="entr" presetSubtype="2" fill="hold" grpId="0" nodeType="withEffect">
                                  <p:stCondLst>
                                    <p:cond delay="500"/>
                                  </p:stCondLst>
                                  <p:childTnLst>
                                    <p:set>
                                      <p:cBhvr>
                                        <p:cTn id="65" dur="1" fill="hold">
                                          <p:stCondLst>
                                            <p:cond delay="0"/>
                                          </p:stCondLst>
                                        </p:cTn>
                                        <p:tgtEl>
                                          <p:spTgt spid="26"/>
                                        </p:tgtEl>
                                        <p:attrNameLst>
                                          <p:attrName>style.visibility</p:attrName>
                                        </p:attrNameLst>
                                      </p:cBhvr>
                                      <p:to>
                                        <p:strVal val="visible"/>
                                      </p:to>
                                    </p:set>
                                    <p:anim calcmode="lin" valueType="num">
                                      <p:cBhvr additive="base">
                                        <p:cTn id="66" dur="500" fill="hold"/>
                                        <p:tgtEl>
                                          <p:spTgt spid="26"/>
                                        </p:tgtEl>
                                        <p:attrNameLst>
                                          <p:attrName>ppt_x</p:attrName>
                                        </p:attrNameLst>
                                      </p:cBhvr>
                                      <p:tavLst>
                                        <p:tav tm="0">
                                          <p:val>
                                            <p:strVal val="1+#ppt_w/2"/>
                                          </p:val>
                                        </p:tav>
                                        <p:tav tm="100000">
                                          <p:val>
                                            <p:strVal val="#ppt_x"/>
                                          </p:val>
                                        </p:tav>
                                      </p:tavLst>
                                    </p:anim>
                                    <p:anim calcmode="lin" valueType="num">
                                      <p:cBhvr additive="base">
                                        <p:cTn id="67" dur="500" fill="hold"/>
                                        <p:tgtEl>
                                          <p:spTgt spid="26"/>
                                        </p:tgtEl>
                                        <p:attrNameLst>
                                          <p:attrName>ppt_y</p:attrName>
                                        </p:attrNameLst>
                                      </p:cBhvr>
                                      <p:tavLst>
                                        <p:tav tm="0">
                                          <p:val>
                                            <p:strVal val="#ppt_y"/>
                                          </p:val>
                                        </p:tav>
                                        <p:tav tm="100000">
                                          <p:val>
                                            <p:strVal val="#ppt_y"/>
                                          </p:val>
                                        </p:tav>
                                      </p:tavLst>
                                    </p:anim>
                                  </p:childTnLst>
                                </p:cTn>
                              </p:par>
                            </p:childTnLst>
                          </p:cTn>
                        </p:par>
                        <p:par>
                          <p:cTn id="68" fill="hold">
                            <p:stCondLst>
                              <p:cond delay="5750"/>
                            </p:stCondLst>
                            <p:childTnLst>
                              <p:par>
                                <p:cTn id="69" presetID="45" presetClass="entr" presetSubtype="0" fill="hold" nodeType="after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750"/>
                                        <p:tgtEl>
                                          <p:spTgt spid="28"/>
                                        </p:tgtEl>
                                      </p:cBhvr>
                                    </p:animEffect>
                                    <p:anim calcmode="lin" valueType="num">
                                      <p:cBhvr>
                                        <p:cTn id="72" dur="750" fill="hold"/>
                                        <p:tgtEl>
                                          <p:spTgt spid="28"/>
                                        </p:tgtEl>
                                        <p:attrNameLst>
                                          <p:attrName>ppt_w</p:attrName>
                                        </p:attrNameLst>
                                      </p:cBhvr>
                                      <p:tavLst>
                                        <p:tav tm="0" fmla="#ppt_w*sin(2.5*pi*$)">
                                          <p:val>
                                            <p:fltVal val="0"/>
                                          </p:val>
                                        </p:tav>
                                        <p:tav tm="100000">
                                          <p:val>
                                            <p:fltVal val="1"/>
                                          </p:val>
                                        </p:tav>
                                      </p:tavLst>
                                    </p:anim>
                                    <p:anim calcmode="lin" valueType="num">
                                      <p:cBhvr>
                                        <p:cTn id="73" dur="750" fill="hold"/>
                                        <p:tgtEl>
                                          <p:spTgt spid="28"/>
                                        </p:tgtEl>
                                        <p:attrNameLst>
                                          <p:attrName>ppt_h</p:attrName>
                                        </p:attrNameLst>
                                      </p:cBhvr>
                                      <p:tavLst>
                                        <p:tav tm="0">
                                          <p:val>
                                            <p:strVal val="#ppt_h"/>
                                          </p:val>
                                        </p:tav>
                                        <p:tav tm="100000">
                                          <p:val>
                                            <p:strVal val="#ppt_h"/>
                                          </p:val>
                                        </p:tav>
                                      </p:tavLst>
                                    </p:anim>
                                  </p:childTnLst>
                                </p:cTn>
                              </p:par>
                            </p:childTnLst>
                          </p:cTn>
                        </p:par>
                        <p:par>
                          <p:cTn id="74" fill="hold">
                            <p:stCondLst>
                              <p:cond delay="6500"/>
                            </p:stCondLst>
                            <p:childTnLst>
                              <p:par>
                                <p:cTn id="75" presetID="22" presetClass="entr" presetSubtype="8" fill="hold" nodeType="after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wipe(left)">
                                      <p:cBhvr>
                                        <p:cTn id="77" dur="500"/>
                                        <p:tgtEl>
                                          <p:spTgt spid="27"/>
                                        </p:tgtEl>
                                      </p:cBhvr>
                                    </p:animEffect>
                                  </p:childTnLst>
                                </p:cTn>
                              </p:par>
                              <p:par>
                                <p:cTn id="78" presetID="2" presetClass="entr" presetSubtype="2" fill="hold" grpId="0" nodeType="withEffect">
                                  <p:stCondLst>
                                    <p:cond delay="500"/>
                                  </p:stCondLst>
                                  <p:childTnLst>
                                    <p:set>
                                      <p:cBhvr>
                                        <p:cTn id="79" dur="1" fill="hold">
                                          <p:stCondLst>
                                            <p:cond delay="0"/>
                                          </p:stCondLst>
                                        </p:cTn>
                                        <p:tgtEl>
                                          <p:spTgt spid="33"/>
                                        </p:tgtEl>
                                        <p:attrNameLst>
                                          <p:attrName>style.visibility</p:attrName>
                                        </p:attrNameLst>
                                      </p:cBhvr>
                                      <p:to>
                                        <p:strVal val="visible"/>
                                      </p:to>
                                    </p:set>
                                    <p:anim calcmode="lin" valueType="num">
                                      <p:cBhvr additive="base">
                                        <p:cTn id="80" dur="500" fill="hold"/>
                                        <p:tgtEl>
                                          <p:spTgt spid="33"/>
                                        </p:tgtEl>
                                        <p:attrNameLst>
                                          <p:attrName>ppt_x</p:attrName>
                                        </p:attrNameLst>
                                      </p:cBhvr>
                                      <p:tavLst>
                                        <p:tav tm="0">
                                          <p:val>
                                            <p:strVal val="1+#ppt_w/2"/>
                                          </p:val>
                                        </p:tav>
                                        <p:tav tm="100000">
                                          <p:val>
                                            <p:strVal val="#ppt_x"/>
                                          </p:val>
                                        </p:tav>
                                      </p:tavLst>
                                    </p:anim>
                                    <p:anim calcmode="lin" valueType="num">
                                      <p:cBhvr additive="base">
                                        <p:cTn id="81" dur="500" fill="hold"/>
                                        <p:tgtEl>
                                          <p:spTgt spid="33"/>
                                        </p:tgtEl>
                                        <p:attrNameLst>
                                          <p:attrName>ppt_y</p:attrName>
                                        </p:attrNameLst>
                                      </p:cBhvr>
                                      <p:tavLst>
                                        <p:tav tm="0">
                                          <p:val>
                                            <p:strVal val="#ppt_y"/>
                                          </p:val>
                                        </p:tav>
                                        <p:tav tm="100000">
                                          <p:val>
                                            <p:strVal val="#ppt_y"/>
                                          </p:val>
                                        </p:tav>
                                      </p:tavLst>
                                    </p:anim>
                                  </p:childTnLst>
                                </p:cTn>
                              </p:par>
                            </p:childTnLst>
                          </p:cTn>
                        </p:par>
                        <p:par>
                          <p:cTn id="82" fill="hold">
                            <p:stCondLst>
                              <p:cond delay="7500"/>
                            </p:stCondLst>
                            <p:childTnLst>
                              <p:par>
                                <p:cTn id="83" presetID="45" presetClass="entr" presetSubtype="0" fill="hold" nodeType="after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fade">
                                      <p:cBhvr>
                                        <p:cTn id="85" dur="750"/>
                                        <p:tgtEl>
                                          <p:spTgt spid="35"/>
                                        </p:tgtEl>
                                      </p:cBhvr>
                                    </p:animEffect>
                                    <p:anim calcmode="lin" valueType="num">
                                      <p:cBhvr>
                                        <p:cTn id="86" dur="750" fill="hold"/>
                                        <p:tgtEl>
                                          <p:spTgt spid="35"/>
                                        </p:tgtEl>
                                        <p:attrNameLst>
                                          <p:attrName>ppt_w</p:attrName>
                                        </p:attrNameLst>
                                      </p:cBhvr>
                                      <p:tavLst>
                                        <p:tav tm="0" fmla="#ppt_w*sin(2.5*pi*$)">
                                          <p:val>
                                            <p:fltVal val="0"/>
                                          </p:val>
                                        </p:tav>
                                        <p:tav tm="100000">
                                          <p:val>
                                            <p:fltVal val="1"/>
                                          </p:val>
                                        </p:tav>
                                      </p:tavLst>
                                    </p:anim>
                                    <p:anim calcmode="lin" valueType="num">
                                      <p:cBhvr>
                                        <p:cTn id="87" dur="750" fill="hold"/>
                                        <p:tgtEl>
                                          <p:spTgt spid="35"/>
                                        </p:tgtEl>
                                        <p:attrNameLst>
                                          <p:attrName>ppt_h</p:attrName>
                                        </p:attrNameLst>
                                      </p:cBhvr>
                                      <p:tavLst>
                                        <p:tav tm="0">
                                          <p:val>
                                            <p:strVal val="#ppt_h"/>
                                          </p:val>
                                        </p:tav>
                                        <p:tav tm="100000">
                                          <p:val>
                                            <p:strVal val="#ppt_h"/>
                                          </p:val>
                                        </p:tav>
                                      </p:tavLst>
                                    </p:anim>
                                  </p:childTnLst>
                                </p:cTn>
                              </p:par>
                            </p:childTnLst>
                          </p:cTn>
                        </p:par>
                        <p:par>
                          <p:cTn id="88" fill="hold">
                            <p:stCondLst>
                              <p:cond delay="8250"/>
                            </p:stCondLst>
                            <p:childTnLst>
                              <p:par>
                                <p:cTn id="89" presetID="22" presetClass="entr" presetSubtype="8" fill="hold" nodeType="after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wipe(left)">
                                      <p:cBhvr>
                                        <p:cTn id="91" dur="500"/>
                                        <p:tgtEl>
                                          <p:spTgt spid="34"/>
                                        </p:tgtEl>
                                      </p:cBhvr>
                                    </p:animEffect>
                                  </p:childTnLst>
                                </p:cTn>
                              </p:par>
                              <p:par>
                                <p:cTn id="92" presetID="2" presetClass="entr" presetSubtype="2" fill="hold" grpId="0" nodeType="withEffect">
                                  <p:stCondLst>
                                    <p:cond delay="500"/>
                                  </p:stCondLst>
                                  <p:childTnLst>
                                    <p:set>
                                      <p:cBhvr>
                                        <p:cTn id="93" dur="1" fill="hold">
                                          <p:stCondLst>
                                            <p:cond delay="0"/>
                                          </p:stCondLst>
                                        </p:cTn>
                                        <p:tgtEl>
                                          <p:spTgt spid="40"/>
                                        </p:tgtEl>
                                        <p:attrNameLst>
                                          <p:attrName>style.visibility</p:attrName>
                                        </p:attrNameLst>
                                      </p:cBhvr>
                                      <p:to>
                                        <p:strVal val="visible"/>
                                      </p:to>
                                    </p:set>
                                    <p:anim calcmode="lin" valueType="num">
                                      <p:cBhvr additive="base">
                                        <p:cTn id="94" dur="500" fill="hold"/>
                                        <p:tgtEl>
                                          <p:spTgt spid="40"/>
                                        </p:tgtEl>
                                        <p:attrNameLst>
                                          <p:attrName>ppt_x</p:attrName>
                                        </p:attrNameLst>
                                      </p:cBhvr>
                                      <p:tavLst>
                                        <p:tav tm="0">
                                          <p:val>
                                            <p:strVal val="1+#ppt_w/2"/>
                                          </p:val>
                                        </p:tav>
                                        <p:tav tm="100000">
                                          <p:val>
                                            <p:strVal val="#ppt_x"/>
                                          </p:val>
                                        </p:tav>
                                      </p:tavLst>
                                    </p:anim>
                                    <p:anim calcmode="lin" valueType="num">
                                      <p:cBhvr additive="base">
                                        <p:cTn id="95" dur="500" fill="hold"/>
                                        <p:tgtEl>
                                          <p:spTgt spid="40"/>
                                        </p:tgtEl>
                                        <p:attrNameLst>
                                          <p:attrName>ppt_y</p:attrName>
                                        </p:attrNameLst>
                                      </p:cBhvr>
                                      <p:tavLst>
                                        <p:tav tm="0">
                                          <p:val>
                                            <p:strVal val="#ppt_y"/>
                                          </p:val>
                                        </p:tav>
                                        <p:tav tm="100000">
                                          <p:val>
                                            <p:strVal val="#ppt_y"/>
                                          </p:val>
                                        </p:tav>
                                      </p:tavLst>
                                    </p:anim>
                                  </p:childTnLst>
                                </p:cTn>
                              </p:par>
                            </p:childTnLst>
                          </p:cTn>
                        </p:par>
                        <p:par>
                          <p:cTn id="96" fill="hold">
                            <p:stCondLst>
                              <p:cond delay="9250"/>
                            </p:stCondLst>
                            <p:childTnLst>
                              <p:par>
                                <p:cTn id="97" presetID="45" presetClass="entr" presetSubtype="0" fill="hold" nodeType="afterEffect">
                                  <p:stCondLst>
                                    <p:cond delay="0"/>
                                  </p:stCondLst>
                                  <p:childTnLst>
                                    <p:set>
                                      <p:cBhvr>
                                        <p:cTn id="98" dur="1" fill="hold">
                                          <p:stCondLst>
                                            <p:cond delay="0"/>
                                          </p:stCondLst>
                                        </p:cTn>
                                        <p:tgtEl>
                                          <p:spTgt spid="42"/>
                                        </p:tgtEl>
                                        <p:attrNameLst>
                                          <p:attrName>style.visibility</p:attrName>
                                        </p:attrNameLst>
                                      </p:cBhvr>
                                      <p:to>
                                        <p:strVal val="visible"/>
                                      </p:to>
                                    </p:set>
                                    <p:animEffect transition="in" filter="fade">
                                      <p:cBhvr>
                                        <p:cTn id="99" dur="750"/>
                                        <p:tgtEl>
                                          <p:spTgt spid="42"/>
                                        </p:tgtEl>
                                      </p:cBhvr>
                                    </p:animEffect>
                                    <p:anim calcmode="lin" valueType="num">
                                      <p:cBhvr>
                                        <p:cTn id="100" dur="750" fill="hold"/>
                                        <p:tgtEl>
                                          <p:spTgt spid="42"/>
                                        </p:tgtEl>
                                        <p:attrNameLst>
                                          <p:attrName>ppt_w</p:attrName>
                                        </p:attrNameLst>
                                      </p:cBhvr>
                                      <p:tavLst>
                                        <p:tav tm="0" fmla="#ppt_w*sin(2.5*pi*$)">
                                          <p:val>
                                            <p:fltVal val="0"/>
                                          </p:val>
                                        </p:tav>
                                        <p:tav tm="100000">
                                          <p:val>
                                            <p:fltVal val="1"/>
                                          </p:val>
                                        </p:tav>
                                      </p:tavLst>
                                    </p:anim>
                                    <p:anim calcmode="lin" valueType="num">
                                      <p:cBhvr>
                                        <p:cTn id="101" dur="750" fill="hold"/>
                                        <p:tgtEl>
                                          <p:spTgt spid="42"/>
                                        </p:tgtEl>
                                        <p:attrNameLst>
                                          <p:attrName>ppt_h</p:attrName>
                                        </p:attrNameLst>
                                      </p:cBhvr>
                                      <p:tavLst>
                                        <p:tav tm="0">
                                          <p:val>
                                            <p:strVal val="#ppt_h"/>
                                          </p:val>
                                        </p:tav>
                                        <p:tav tm="100000">
                                          <p:val>
                                            <p:strVal val="#ppt_h"/>
                                          </p:val>
                                        </p:tav>
                                      </p:tavLst>
                                    </p:anim>
                                  </p:childTnLst>
                                </p:cTn>
                              </p:par>
                            </p:childTnLst>
                          </p:cTn>
                        </p:par>
                        <p:par>
                          <p:cTn id="102" fill="hold">
                            <p:stCondLst>
                              <p:cond delay="10000"/>
                            </p:stCondLst>
                            <p:childTnLst>
                              <p:par>
                                <p:cTn id="103" presetID="22" presetClass="entr" presetSubtype="8" fill="hold" nodeType="afterEffect">
                                  <p:stCondLst>
                                    <p:cond delay="0"/>
                                  </p:stCondLst>
                                  <p:childTnLst>
                                    <p:set>
                                      <p:cBhvr>
                                        <p:cTn id="104" dur="1" fill="hold">
                                          <p:stCondLst>
                                            <p:cond delay="0"/>
                                          </p:stCondLst>
                                        </p:cTn>
                                        <p:tgtEl>
                                          <p:spTgt spid="41"/>
                                        </p:tgtEl>
                                        <p:attrNameLst>
                                          <p:attrName>style.visibility</p:attrName>
                                        </p:attrNameLst>
                                      </p:cBhvr>
                                      <p:to>
                                        <p:strVal val="visible"/>
                                      </p:to>
                                    </p:set>
                                    <p:animEffect transition="in" filter="wipe(left)">
                                      <p:cBhvr>
                                        <p:cTn id="105" dur="500"/>
                                        <p:tgtEl>
                                          <p:spTgt spid="41"/>
                                        </p:tgtEl>
                                      </p:cBhvr>
                                    </p:animEffect>
                                  </p:childTnLst>
                                </p:cTn>
                              </p:par>
                              <p:par>
                                <p:cTn id="106" presetID="2" presetClass="entr" presetSubtype="2" fill="hold" grpId="0" nodeType="withEffect">
                                  <p:stCondLst>
                                    <p:cond delay="500"/>
                                  </p:stCondLst>
                                  <p:childTnLst>
                                    <p:set>
                                      <p:cBhvr>
                                        <p:cTn id="107" dur="1" fill="hold">
                                          <p:stCondLst>
                                            <p:cond delay="0"/>
                                          </p:stCondLst>
                                        </p:cTn>
                                        <p:tgtEl>
                                          <p:spTgt spid="47"/>
                                        </p:tgtEl>
                                        <p:attrNameLst>
                                          <p:attrName>style.visibility</p:attrName>
                                        </p:attrNameLst>
                                      </p:cBhvr>
                                      <p:to>
                                        <p:strVal val="visible"/>
                                      </p:to>
                                    </p:set>
                                    <p:anim calcmode="lin" valueType="num">
                                      <p:cBhvr additive="base">
                                        <p:cTn id="108" dur="500" fill="hold"/>
                                        <p:tgtEl>
                                          <p:spTgt spid="47"/>
                                        </p:tgtEl>
                                        <p:attrNameLst>
                                          <p:attrName>ppt_x</p:attrName>
                                        </p:attrNameLst>
                                      </p:cBhvr>
                                      <p:tavLst>
                                        <p:tav tm="0">
                                          <p:val>
                                            <p:strVal val="1+#ppt_w/2"/>
                                          </p:val>
                                        </p:tav>
                                        <p:tav tm="100000">
                                          <p:val>
                                            <p:strVal val="#ppt_x"/>
                                          </p:val>
                                        </p:tav>
                                      </p:tavLst>
                                    </p:anim>
                                    <p:anim calcmode="lin" valueType="num">
                                      <p:cBhvr additive="base">
                                        <p:cTn id="109" dur="500" fill="hold"/>
                                        <p:tgtEl>
                                          <p:spTgt spid="47"/>
                                        </p:tgtEl>
                                        <p:attrNameLst>
                                          <p:attrName>ppt_y</p:attrName>
                                        </p:attrNameLst>
                                      </p:cBhvr>
                                      <p:tavLst>
                                        <p:tav tm="0">
                                          <p:val>
                                            <p:strVal val="#ppt_y"/>
                                          </p:val>
                                        </p:tav>
                                        <p:tav tm="100000">
                                          <p:val>
                                            <p:strVal val="#ppt_y"/>
                                          </p:val>
                                        </p:tav>
                                      </p:tavLst>
                                    </p:anim>
                                  </p:childTnLst>
                                </p:cTn>
                              </p:par>
                            </p:childTnLst>
                          </p:cTn>
                        </p:par>
                        <p:par>
                          <p:cTn id="110" fill="hold">
                            <p:stCondLst>
                              <p:cond delay="11000"/>
                            </p:stCondLst>
                            <p:childTnLst>
                              <p:par>
                                <p:cTn id="111" presetID="45" presetClass="entr" presetSubtype="0" fill="hold" nodeType="afterEffect">
                                  <p:stCondLst>
                                    <p:cond delay="0"/>
                                  </p:stCondLst>
                                  <p:childTnLst>
                                    <p:set>
                                      <p:cBhvr>
                                        <p:cTn id="112" dur="1" fill="hold">
                                          <p:stCondLst>
                                            <p:cond delay="0"/>
                                          </p:stCondLst>
                                        </p:cTn>
                                        <p:tgtEl>
                                          <p:spTgt spid="49"/>
                                        </p:tgtEl>
                                        <p:attrNameLst>
                                          <p:attrName>style.visibility</p:attrName>
                                        </p:attrNameLst>
                                      </p:cBhvr>
                                      <p:to>
                                        <p:strVal val="visible"/>
                                      </p:to>
                                    </p:set>
                                    <p:animEffect transition="in" filter="fade">
                                      <p:cBhvr>
                                        <p:cTn id="113" dur="750"/>
                                        <p:tgtEl>
                                          <p:spTgt spid="49"/>
                                        </p:tgtEl>
                                      </p:cBhvr>
                                    </p:animEffect>
                                    <p:anim calcmode="lin" valueType="num">
                                      <p:cBhvr>
                                        <p:cTn id="114" dur="750" fill="hold"/>
                                        <p:tgtEl>
                                          <p:spTgt spid="49"/>
                                        </p:tgtEl>
                                        <p:attrNameLst>
                                          <p:attrName>ppt_w</p:attrName>
                                        </p:attrNameLst>
                                      </p:cBhvr>
                                      <p:tavLst>
                                        <p:tav tm="0" fmla="#ppt_w*sin(2.5*pi*$)">
                                          <p:val>
                                            <p:fltVal val="0"/>
                                          </p:val>
                                        </p:tav>
                                        <p:tav tm="100000">
                                          <p:val>
                                            <p:fltVal val="1"/>
                                          </p:val>
                                        </p:tav>
                                      </p:tavLst>
                                    </p:anim>
                                    <p:anim calcmode="lin" valueType="num">
                                      <p:cBhvr>
                                        <p:cTn id="115" dur="750" fill="hold"/>
                                        <p:tgtEl>
                                          <p:spTgt spid="49"/>
                                        </p:tgtEl>
                                        <p:attrNameLst>
                                          <p:attrName>ppt_h</p:attrName>
                                        </p:attrNameLst>
                                      </p:cBhvr>
                                      <p:tavLst>
                                        <p:tav tm="0">
                                          <p:val>
                                            <p:strVal val="#ppt_h"/>
                                          </p:val>
                                        </p:tav>
                                        <p:tav tm="100000">
                                          <p:val>
                                            <p:strVal val="#ppt_h"/>
                                          </p:val>
                                        </p:tav>
                                      </p:tavLst>
                                    </p:anim>
                                  </p:childTnLst>
                                </p:cTn>
                              </p:par>
                            </p:childTnLst>
                          </p:cTn>
                        </p:par>
                        <p:par>
                          <p:cTn id="116" fill="hold">
                            <p:stCondLst>
                              <p:cond delay="11750"/>
                            </p:stCondLst>
                            <p:childTnLst>
                              <p:par>
                                <p:cTn id="117" presetID="22" presetClass="entr" presetSubtype="8" fill="hold" nodeType="afterEffect">
                                  <p:stCondLst>
                                    <p:cond delay="0"/>
                                  </p:stCondLst>
                                  <p:childTnLst>
                                    <p:set>
                                      <p:cBhvr>
                                        <p:cTn id="118" dur="1" fill="hold">
                                          <p:stCondLst>
                                            <p:cond delay="0"/>
                                          </p:stCondLst>
                                        </p:cTn>
                                        <p:tgtEl>
                                          <p:spTgt spid="48"/>
                                        </p:tgtEl>
                                        <p:attrNameLst>
                                          <p:attrName>style.visibility</p:attrName>
                                        </p:attrNameLst>
                                      </p:cBhvr>
                                      <p:to>
                                        <p:strVal val="visible"/>
                                      </p:to>
                                    </p:set>
                                    <p:animEffect transition="in" filter="wipe(left)">
                                      <p:cBhvr>
                                        <p:cTn id="119" dur="500"/>
                                        <p:tgtEl>
                                          <p:spTgt spid="48"/>
                                        </p:tgtEl>
                                      </p:cBhvr>
                                    </p:animEffect>
                                  </p:childTnLst>
                                </p:cTn>
                              </p:par>
                              <p:par>
                                <p:cTn id="120" presetID="2" presetClass="entr" presetSubtype="2" fill="hold" grpId="0" nodeType="withEffect">
                                  <p:stCondLst>
                                    <p:cond delay="500"/>
                                  </p:stCondLst>
                                  <p:childTnLst>
                                    <p:set>
                                      <p:cBhvr>
                                        <p:cTn id="121" dur="1" fill="hold">
                                          <p:stCondLst>
                                            <p:cond delay="0"/>
                                          </p:stCondLst>
                                        </p:cTn>
                                        <p:tgtEl>
                                          <p:spTgt spid="54"/>
                                        </p:tgtEl>
                                        <p:attrNameLst>
                                          <p:attrName>style.visibility</p:attrName>
                                        </p:attrNameLst>
                                      </p:cBhvr>
                                      <p:to>
                                        <p:strVal val="visible"/>
                                      </p:to>
                                    </p:set>
                                    <p:anim calcmode="lin" valueType="num">
                                      <p:cBhvr additive="base">
                                        <p:cTn id="122" dur="500" fill="hold"/>
                                        <p:tgtEl>
                                          <p:spTgt spid="54"/>
                                        </p:tgtEl>
                                        <p:attrNameLst>
                                          <p:attrName>ppt_x</p:attrName>
                                        </p:attrNameLst>
                                      </p:cBhvr>
                                      <p:tavLst>
                                        <p:tav tm="0">
                                          <p:val>
                                            <p:strVal val="1+#ppt_w/2"/>
                                          </p:val>
                                        </p:tav>
                                        <p:tav tm="100000">
                                          <p:val>
                                            <p:strVal val="#ppt_x"/>
                                          </p:val>
                                        </p:tav>
                                      </p:tavLst>
                                    </p:anim>
                                    <p:anim calcmode="lin" valueType="num">
                                      <p:cBhvr additive="base">
                                        <p:cTn id="123" dur="500" fill="hold"/>
                                        <p:tgtEl>
                                          <p:spTgt spid="54"/>
                                        </p:tgtEl>
                                        <p:attrNameLst>
                                          <p:attrName>ppt_y</p:attrName>
                                        </p:attrNameLst>
                                      </p:cBhvr>
                                      <p:tavLst>
                                        <p:tav tm="0">
                                          <p:val>
                                            <p:strVal val="#ppt_y"/>
                                          </p:val>
                                        </p:tav>
                                        <p:tav tm="100000">
                                          <p:val>
                                            <p:strVal val="#ppt_y"/>
                                          </p:val>
                                        </p:tav>
                                      </p:tavLst>
                                    </p:anim>
                                  </p:childTnLst>
                                </p:cTn>
                              </p:par>
                              <p:par>
                                <p:cTn id="124" presetID="2" presetClass="entr" presetSubtype="2" fill="hold" grpId="0" nodeType="withEffect">
                                  <p:stCondLst>
                                    <p:cond delay="500"/>
                                  </p:stCondLst>
                                  <p:childTnLst>
                                    <p:set>
                                      <p:cBhvr>
                                        <p:cTn id="125" dur="1" fill="hold">
                                          <p:stCondLst>
                                            <p:cond delay="0"/>
                                          </p:stCondLst>
                                        </p:cTn>
                                        <p:tgtEl>
                                          <p:spTgt spid="56"/>
                                        </p:tgtEl>
                                        <p:attrNameLst>
                                          <p:attrName>style.visibility</p:attrName>
                                        </p:attrNameLst>
                                      </p:cBhvr>
                                      <p:to>
                                        <p:strVal val="visible"/>
                                      </p:to>
                                    </p:set>
                                    <p:anim calcmode="lin" valueType="num">
                                      <p:cBhvr additive="base">
                                        <p:cTn id="126" dur="500" fill="hold"/>
                                        <p:tgtEl>
                                          <p:spTgt spid="56"/>
                                        </p:tgtEl>
                                        <p:attrNameLst>
                                          <p:attrName>ppt_x</p:attrName>
                                        </p:attrNameLst>
                                      </p:cBhvr>
                                      <p:tavLst>
                                        <p:tav tm="0">
                                          <p:val>
                                            <p:strVal val="1+#ppt_w/2"/>
                                          </p:val>
                                        </p:tav>
                                        <p:tav tm="100000">
                                          <p:val>
                                            <p:strVal val="#ppt_x"/>
                                          </p:val>
                                        </p:tav>
                                      </p:tavLst>
                                    </p:anim>
                                    <p:anim calcmode="lin" valueType="num">
                                      <p:cBhvr additive="base">
                                        <p:cTn id="127" dur="500" fill="hold"/>
                                        <p:tgtEl>
                                          <p:spTgt spid="56"/>
                                        </p:tgtEl>
                                        <p:attrNameLst>
                                          <p:attrName>ppt_y</p:attrName>
                                        </p:attrNameLst>
                                      </p:cBhvr>
                                      <p:tavLst>
                                        <p:tav tm="0">
                                          <p:val>
                                            <p:strVal val="#ppt_y"/>
                                          </p:val>
                                        </p:tav>
                                        <p:tav tm="100000">
                                          <p:val>
                                            <p:strVal val="#ppt_y"/>
                                          </p:val>
                                        </p:tav>
                                      </p:tavLst>
                                    </p:anim>
                                  </p:childTnLst>
                                </p:cTn>
                              </p:par>
                              <p:par>
                                <p:cTn id="128" presetID="2" presetClass="entr" presetSubtype="2" fill="hold" grpId="0" nodeType="withEffect">
                                  <p:stCondLst>
                                    <p:cond delay="500"/>
                                  </p:stCondLst>
                                  <p:childTnLst>
                                    <p:set>
                                      <p:cBhvr>
                                        <p:cTn id="129" dur="1" fill="hold">
                                          <p:stCondLst>
                                            <p:cond delay="0"/>
                                          </p:stCondLst>
                                        </p:cTn>
                                        <p:tgtEl>
                                          <p:spTgt spid="58"/>
                                        </p:tgtEl>
                                        <p:attrNameLst>
                                          <p:attrName>style.visibility</p:attrName>
                                        </p:attrNameLst>
                                      </p:cBhvr>
                                      <p:to>
                                        <p:strVal val="visible"/>
                                      </p:to>
                                    </p:set>
                                    <p:anim calcmode="lin" valueType="num">
                                      <p:cBhvr additive="base">
                                        <p:cTn id="130" dur="500" fill="hold"/>
                                        <p:tgtEl>
                                          <p:spTgt spid="58"/>
                                        </p:tgtEl>
                                        <p:attrNameLst>
                                          <p:attrName>ppt_x</p:attrName>
                                        </p:attrNameLst>
                                      </p:cBhvr>
                                      <p:tavLst>
                                        <p:tav tm="0">
                                          <p:val>
                                            <p:strVal val="1+#ppt_w/2"/>
                                          </p:val>
                                        </p:tav>
                                        <p:tav tm="100000">
                                          <p:val>
                                            <p:strVal val="#ppt_x"/>
                                          </p:val>
                                        </p:tav>
                                      </p:tavLst>
                                    </p:anim>
                                    <p:anim calcmode="lin" valueType="num">
                                      <p:cBhvr additive="base">
                                        <p:cTn id="131" dur="500" fill="hold"/>
                                        <p:tgtEl>
                                          <p:spTgt spid="58"/>
                                        </p:tgtEl>
                                        <p:attrNameLst>
                                          <p:attrName>ppt_y</p:attrName>
                                        </p:attrNameLst>
                                      </p:cBhvr>
                                      <p:tavLst>
                                        <p:tav tm="0">
                                          <p:val>
                                            <p:strVal val="#ppt_y"/>
                                          </p:val>
                                        </p:tav>
                                        <p:tav tm="100000">
                                          <p:val>
                                            <p:strVal val="#ppt_y"/>
                                          </p:val>
                                        </p:tav>
                                      </p:tavLst>
                                    </p:anim>
                                  </p:childTnLst>
                                </p:cTn>
                              </p:par>
                              <p:par>
                                <p:cTn id="132" presetID="2" presetClass="entr" presetSubtype="2" fill="hold" grpId="0" nodeType="withEffect">
                                  <p:stCondLst>
                                    <p:cond delay="500"/>
                                  </p:stCondLst>
                                  <p:childTnLst>
                                    <p:set>
                                      <p:cBhvr>
                                        <p:cTn id="133" dur="1" fill="hold">
                                          <p:stCondLst>
                                            <p:cond delay="0"/>
                                          </p:stCondLst>
                                        </p:cTn>
                                        <p:tgtEl>
                                          <p:spTgt spid="59"/>
                                        </p:tgtEl>
                                        <p:attrNameLst>
                                          <p:attrName>style.visibility</p:attrName>
                                        </p:attrNameLst>
                                      </p:cBhvr>
                                      <p:to>
                                        <p:strVal val="visible"/>
                                      </p:to>
                                    </p:set>
                                    <p:anim calcmode="lin" valueType="num">
                                      <p:cBhvr additive="base">
                                        <p:cTn id="134" dur="500" fill="hold"/>
                                        <p:tgtEl>
                                          <p:spTgt spid="59"/>
                                        </p:tgtEl>
                                        <p:attrNameLst>
                                          <p:attrName>ppt_x</p:attrName>
                                        </p:attrNameLst>
                                      </p:cBhvr>
                                      <p:tavLst>
                                        <p:tav tm="0">
                                          <p:val>
                                            <p:strVal val="1+#ppt_w/2"/>
                                          </p:val>
                                        </p:tav>
                                        <p:tav tm="100000">
                                          <p:val>
                                            <p:strVal val="#ppt_x"/>
                                          </p:val>
                                        </p:tav>
                                      </p:tavLst>
                                    </p:anim>
                                    <p:anim calcmode="lin" valueType="num">
                                      <p:cBhvr additive="base">
                                        <p:cTn id="135" dur="500" fill="hold"/>
                                        <p:tgtEl>
                                          <p:spTgt spid="59"/>
                                        </p:tgtEl>
                                        <p:attrNameLst>
                                          <p:attrName>ppt_y</p:attrName>
                                        </p:attrNameLst>
                                      </p:cBhvr>
                                      <p:tavLst>
                                        <p:tav tm="0">
                                          <p:val>
                                            <p:strVal val="#ppt_y"/>
                                          </p:val>
                                        </p:tav>
                                        <p:tav tm="100000">
                                          <p:val>
                                            <p:strVal val="#ppt_y"/>
                                          </p:val>
                                        </p:tav>
                                      </p:tavLst>
                                    </p:anim>
                                  </p:childTnLst>
                                </p:cTn>
                              </p:par>
                              <p:par>
                                <p:cTn id="136" presetID="2" presetClass="entr" presetSubtype="2" fill="hold" grpId="0" nodeType="withEffect">
                                  <p:stCondLst>
                                    <p:cond delay="500"/>
                                  </p:stCondLst>
                                  <p:childTnLst>
                                    <p:set>
                                      <p:cBhvr>
                                        <p:cTn id="137" dur="1" fill="hold">
                                          <p:stCondLst>
                                            <p:cond delay="0"/>
                                          </p:stCondLst>
                                        </p:cTn>
                                        <p:tgtEl>
                                          <p:spTgt spid="60"/>
                                        </p:tgtEl>
                                        <p:attrNameLst>
                                          <p:attrName>style.visibility</p:attrName>
                                        </p:attrNameLst>
                                      </p:cBhvr>
                                      <p:to>
                                        <p:strVal val="visible"/>
                                      </p:to>
                                    </p:set>
                                    <p:anim calcmode="lin" valueType="num">
                                      <p:cBhvr additive="base">
                                        <p:cTn id="138" dur="500" fill="hold"/>
                                        <p:tgtEl>
                                          <p:spTgt spid="60"/>
                                        </p:tgtEl>
                                        <p:attrNameLst>
                                          <p:attrName>ppt_x</p:attrName>
                                        </p:attrNameLst>
                                      </p:cBhvr>
                                      <p:tavLst>
                                        <p:tav tm="0">
                                          <p:val>
                                            <p:strVal val="1+#ppt_w/2"/>
                                          </p:val>
                                        </p:tav>
                                        <p:tav tm="100000">
                                          <p:val>
                                            <p:strVal val="#ppt_x"/>
                                          </p:val>
                                        </p:tav>
                                      </p:tavLst>
                                    </p:anim>
                                    <p:anim calcmode="lin" valueType="num">
                                      <p:cBhvr additive="base">
                                        <p:cTn id="139" dur="500" fill="hold"/>
                                        <p:tgtEl>
                                          <p:spTgt spid="60"/>
                                        </p:tgtEl>
                                        <p:attrNameLst>
                                          <p:attrName>ppt_y</p:attrName>
                                        </p:attrNameLst>
                                      </p:cBhvr>
                                      <p:tavLst>
                                        <p:tav tm="0">
                                          <p:val>
                                            <p:strVal val="#ppt_y"/>
                                          </p:val>
                                        </p:tav>
                                        <p:tav tm="100000">
                                          <p:val>
                                            <p:strVal val="#ppt_y"/>
                                          </p:val>
                                        </p:tav>
                                      </p:tavLst>
                                    </p:anim>
                                  </p:childTnLst>
                                </p:cTn>
                              </p:par>
                              <p:par>
                                <p:cTn id="140" presetID="2" presetClass="entr" presetSubtype="2" fill="hold" grpId="0" nodeType="withEffect">
                                  <p:stCondLst>
                                    <p:cond delay="500"/>
                                  </p:stCondLst>
                                  <p:childTnLst>
                                    <p:set>
                                      <p:cBhvr>
                                        <p:cTn id="141" dur="1" fill="hold">
                                          <p:stCondLst>
                                            <p:cond delay="0"/>
                                          </p:stCondLst>
                                        </p:cTn>
                                        <p:tgtEl>
                                          <p:spTgt spid="61"/>
                                        </p:tgtEl>
                                        <p:attrNameLst>
                                          <p:attrName>style.visibility</p:attrName>
                                        </p:attrNameLst>
                                      </p:cBhvr>
                                      <p:to>
                                        <p:strVal val="visible"/>
                                      </p:to>
                                    </p:set>
                                    <p:anim calcmode="lin" valueType="num">
                                      <p:cBhvr additive="base">
                                        <p:cTn id="142" dur="500" fill="hold"/>
                                        <p:tgtEl>
                                          <p:spTgt spid="61"/>
                                        </p:tgtEl>
                                        <p:attrNameLst>
                                          <p:attrName>ppt_x</p:attrName>
                                        </p:attrNameLst>
                                      </p:cBhvr>
                                      <p:tavLst>
                                        <p:tav tm="0">
                                          <p:val>
                                            <p:strVal val="1+#ppt_w/2"/>
                                          </p:val>
                                        </p:tav>
                                        <p:tav tm="100000">
                                          <p:val>
                                            <p:strVal val="#ppt_x"/>
                                          </p:val>
                                        </p:tav>
                                      </p:tavLst>
                                    </p:anim>
                                    <p:anim calcmode="lin" valueType="num">
                                      <p:cBhvr additive="base">
                                        <p:cTn id="143" dur="500" fill="hold"/>
                                        <p:tgtEl>
                                          <p:spTgt spid="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15" grpId="0" animBg="1"/>
      <p:bldP spid="19" grpId="0"/>
      <p:bldP spid="26" grpId="0"/>
      <p:bldP spid="33" grpId="0"/>
      <p:bldP spid="40" grpId="0"/>
      <p:bldP spid="47" grpId="0"/>
      <p:bldP spid="54" grpId="0"/>
      <p:bldP spid="56" grpId="0"/>
      <p:bldP spid="58" grpId="0"/>
      <p:bldP spid="59" grpId="0"/>
      <p:bldP spid="60" grpId="0"/>
      <p:bldP spid="6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椭圆 54"/>
          <p:cNvSpPr/>
          <p:nvPr/>
        </p:nvSpPr>
        <p:spPr>
          <a:xfrm flipH="1">
            <a:off x="5270762" y="2852936"/>
            <a:ext cx="410758" cy="410760"/>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81" name="椭圆 80"/>
          <p:cNvSpPr/>
          <p:nvPr/>
        </p:nvSpPr>
        <p:spPr>
          <a:xfrm flipH="1">
            <a:off x="4980676" y="1791303"/>
            <a:ext cx="364559" cy="364559"/>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82" name="椭圆 81"/>
          <p:cNvSpPr/>
          <p:nvPr/>
        </p:nvSpPr>
        <p:spPr>
          <a:xfrm flipH="1">
            <a:off x="6724638" y="1380648"/>
            <a:ext cx="250975" cy="250975"/>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83" name="椭圆 82"/>
          <p:cNvSpPr/>
          <p:nvPr/>
        </p:nvSpPr>
        <p:spPr>
          <a:xfrm flipH="1">
            <a:off x="6719835" y="2208193"/>
            <a:ext cx="564888" cy="564890"/>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84" name="文本框 52"/>
          <p:cNvSpPr txBox="1"/>
          <p:nvPr/>
        </p:nvSpPr>
        <p:spPr>
          <a:xfrm>
            <a:off x="3974856" y="3717032"/>
            <a:ext cx="4585997" cy="769441"/>
          </a:xfrm>
          <a:prstGeom prst="rect">
            <a:avLst/>
          </a:prstGeom>
          <a:noFill/>
        </p:spPr>
        <p:txBody>
          <a:bodyPr wrap="square" rtlCol="0">
            <a:spAutoFit/>
          </a:bodyPr>
          <a:lstStyle/>
          <a:p>
            <a:pPr algn="ctr"/>
            <a:r>
              <a:rPr lang="zh-CN" altLang="en-US" sz="4400" b="1" spc="300"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工作完成情况</a:t>
            </a:r>
            <a:endParaRPr lang="zh-CN" altLang="en-US" sz="4400" b="1" spc="3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90" name="组合 89"/>
          <p:cNvGrpSpPr/>
          <p:nvPr/>
        </p:nvGrpSpPr>
        <p:grpSpPr>
          <a:xfrm>
            <a:off x="4091485" y="4900605"/>
            <a:ext cx="1436675" cy="215444"/>
            <a:chOff x="4369395" y="3284984"/>
            <a:chExt cx="1436675" cy="215444"/>
          </a:xfrm>
        </p:grpSpPr>
        <p:sp>
          <p:nvSpPr>
            <p:cNvPr id="91" name="文本框 9"/>
            <p:cNvSpPr txBox="1"/>
            <p:nvPr/>
          </p:nvSpPr>
          <p:spPr>
            <a:xfrm>
              <a:off x="4581935" y="3284984"/>
              <a:ext cx="1224135" cy="215444"/>
            </a:xfrm>
            <a:prstGeom prst="rect">
              <a:avLst/>
            </a:prstGeom>
            <a:noFill/>
          </p:spPr>
          <p:txBody>
            <a:bodyPr wrap="square" lIns="0" tIns="0" rIns="0" bIns="0" rtlCol="0">
              <a:spAutoFit/>
            </a:bodyPr>
            <a:lstStyle/>
            <a:p>
              <a:pPr marL="0" lvl="1"/>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四項主要工作</a:t>
              </a:r>
              <a:endPar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92" name="组合 91"/>
            <p:cNvGrpSpPr/>
            <p:nvPr/>
          </p:nvGrpSpPr>
          <p:grpSpPr>
            <a:xfrm>
              <a:off x="4369395" y="3316401"/>
              <a:ext cx="168551" cy="168551"/>
              <a:chOff x="5005199" y="3717032"/>
              <a:chExt cx="168551" cy="168551"/>
            </a:xfrm>
          </p:grpSpPr>
          <p:sp>
            <p:nvSpPr>
              <p:cNvPr id="93" name="椭圆 92"/>
              <p:cNvSpPr/>
              <p:nvPr/>
            </p:nvSpPr>
            <p:spPr>
              <a:xfrm>
                <a:off x="5005199" y="3717032"/>
                <a:ext cx="168551" cy="168551"/>
              </a:xfrm>
              <a:prstGeom prst="ellipse">
                <a:avLst/>
              </a:prstGeom>
              <a:solidFill>
                <a:srgbClr val="405F8F"/>
              </a:solidFill>
              <a:ln>
                <a:solidFill>
                  <a:srgbClr val="405F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94" name="等腰三角形 93"/>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grpSp>
        <p:nvGrpSpPr>
          <p:cNvPr id="95" name="组合 94"/>
          <p:cNvGrpSpPr/>
          <p:nvPr/>
        </p:nvGrpSpPr>
        <p:grpSpPr>
          <a:xfrm>
            <a:off x="6719835" y="4951568"/>
            <a:ext cx="1436675" cy="215444"/>
            <a:chOff x="4369395" y="3284984"/>
            <a:chExt cx="1436675" cy="215444"/>
          </a:xfrm>
        </p:grpSpPr>
        <p:sp>
          <p:nvSpPr>
            <p:cNvPr id="96" name="文本框 9"/>
            <p:cNvSpPr txBox="1"/>
            <p:nvPr/>
          </p:nvSpPr>
          <p:spPr>
            <a:xfrm>
              <a:off x="4581935" y="3284984"/>
              <a:ext cx="1224135" cy="215444"/>
            </a:xfrm>
            <a:prstGeom prst="rect">
              <a:avLst/>
            </a:prstGeom>
            <a:noFill/>
          </p:spPr>
          <p:txBody>
            <a:bodyPr wrap="square" lIns="0" tIns="0" rIns="0" bIns="0" rtlCol="0">
              <a:spAutoFit/>
            </a:bodyPr>
            <a:lstStyle/>
            <a:p>
              <a:pPr marL="0" lvl="1"/>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工作達標情況</a:t>
              </a:r>
              <a:endPar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97" name="组合 96"/>
            <p:cNvGrpSpPr/>
            <p:nvPr/>
          </p:nvGrpSpPr>
          <p:grpSpPr>
            <a:xfrm>
              <a:off x="4369395" y="3316401"/>
              <a:ext cx="168551" cy="168551"/>
              <a:chOff x="5005199" y="3717032"/>
              <a:chExt cx="168551" cy="168551"/>
            </a:xfrm>
          </p:grpSpPr>
          <p:sp>
            <p:nvSpPr>
              <p:cNvPr id="98" name="椭圆 97"/>
              <p:cNvSpPr/>
              <p:nvPr/>
            </p:nvSpPr>
            <p:spPr>
              <a:xfrm>
                <a:off x="5005199" y="3717032"/>
                <a:ext cx="168551" cy="168551"/>
              </a:xfrm>
              <a:prstGeom prst="ellipse">
                <a:avLst/>
              </a:prstGeom>
              <a:solidFill>
                <a:srgbClr val="405F8F"/>
              </a:solidFill>
              <a:ln>
                <a:solidFill>
                  <a:srgbClr val="405F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99" name="等腰三角形 98"/>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grpSp>
        <p:nvGrpSpPr>
          <p:cNvPr id="115" name="组合 114"/>
          <p:cNvGrpSpPr/>
          <p:nvPr/>
        </p:nvGrpSpPr>
        <p:grpSpPr>
          <a:xfrm>
            <a:off x="5345236" y="1764471"/>
            <a:ext cx="1610824" cy="1452335"/>
            <a:chOff x="2713211" y="1988840"/>
            <a:chExt cx="1610824" cy="1452335"/>
          </a:xfrm>
        </p:grpSpPr>
        <p:sp>
          <p:nvSpPr>
            <p:cNvPr id="116" name="Freeform 5"/>
            <p:cNvSpPr/>
            <p:nvPr/>
          </p:nvSpPr>
          <p:spPr bwMode="auto">
            <a:xfrm>
              <a:off x="2713211" y="1988840"/>
              <a:ext cx="1610824" cy="145233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5F8F"/>
            </a:solidFill>
            <a:ln w="9525" cap="flat">
              <a:noFill/>
              <a:prstDash val="solid"/>
              <a:miter lim="800000"/>
            </a:ln>
            <a:effectLst>
              <a:outerShdw blurRad="431800" dist="889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17" name="Freeform 5"/>
            <p:cNvSpPr/>
            <p:nvPr/>
          </p:nvSpPr>
          <p:spPr bwMode="auto">
            <a:xfrm>
              <a:off x="2838739" y="2087520"/>
              <a:ext cx="1359768" cy="125497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blipFill>
              <a:blip r:embed="rId3" cstate="screen">
                <a:extLst>
                  <a:ext uri="{28A0092B-C50C-407E-A947-70E740481C1C}">
                    <a14:useLocalDpi xmlns:a14="http://schemas.microsoft.com/office/drawing/2010/main"/>
                  </a:ext>
                </a:extLst>
              </a:blip>
              <a:stretch>
                <a:fillRect l="-167158" t="-31921" r="-198372" b="-151558"/>
              </a:stretch>
            </a:blipFill>
            <a:ln w="9525" cap="flat">
              <a:noFill/>
              <a:prstDash val="solid"/>
              <a:miter lim="800000"/>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118" name="TextBox 156"/>
          <p:cNvSpPr txBox="1"/>
          <p:nvPr/>
        </p:nvSpPr>
        <p:spPr>
          <a:xfrm>
            <a:off x="5563202" y="2052503"/>
            <a:ext cx="1174892" cy="830997"/>
          </a:xfrm>
          <a:prstGeom prst="rect">
            <a:avLst/>
          </a:prstGeom>
          <a:noFill/>
        </p:spPr>
        <p:txBody>
          <a:bodyPr wrap="square" rtlCol="0">
            <a:spAutoFit/>
          </a:bodyPr>
          <a:lstStyle/>
          <a:p>
            <a:pPr algn="ctr"/>
            <a:r>
              <a:rPr lang="en-US" altLang="zh-CN" sz="48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02</a:t>
            </a:r>
            <a:endParaRPr lang="zh-CN" altLang="en-US" sz="48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cxnSp>
        <p:nvCxnSpPr>
          <p:cNvPr id="119" name="直接连接符 118"/>
          <p:cNvCxnSpPr/>
          <p:nvPr/>
        </p:nvCxnSpPr>
        <p:spPr>
          <a:xfrm>
            <a:off x="3845833" y="4653136"/>
            <a:ext cx="484404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750"/>
                                        <p:tgtEl>
                                          <p:spTgt spid="115"/>
                                        </p:tgtEl>
                                      </p:cBhvr>
                                    </p:animEffect>
                                    <p:anim calcmode="lin" valueType="num">
                                      <p:cBhvr>
                                        <p:cTn id="8" dur="750" fill="hold"/>
                                        <p:tgtEl>
                                          <p:spTgt spid="115"/>
                                        </p:tgtEl>
                                        <p:attrNameLst>
                                          <p:attrName>ppt_w</p:attrName>
                                        </p:attrNameLst>
                                      </p:cBhvr>
                                      <p:tavLst>
                                        <p:tav tm="0" fmla="#ppt_w*sin(2.5*pi*$)">
                                          <p:val>
                                            <p:fltVal val="0"/>
                                          </p:val>
                                        </p:tav>
                                        <p:tav tm="100000">
                                          <p:val>
                                            <p:fltVal val="1"/>
                                          </p:val>
                                        </p:tav>
                                      </p:tavLst>
                                    </p:anim>
                                    <p:anim calcmode="lin" valueType="num">
                                      <p:cBhvr>
                                        <p:cTn id="9" dur="750" fill="hold"/>
                                        <p:tgtEl>
                                          <p:spTgt spid="115"/>
                                        </p:tgtEl>
                                        <p:attrNameLst>
                                          <p:attrName>ppt_h</p:attrName>
                                        </p:attrNameLst>
                                      </p:cBhvr>
                                      <p:tavLst>
                                        <p:tav tm="0">
                                          <p:val>
                                            <p:strVal val="#ppt_h"/>
                                          </p:val>
                                        </p:tav>
                                        <p:tav tm="100000">
                                          <p:val>
                                            <p:strVal val="#ppt_h"/>
                                          </p:val>
                                        </p:tav>
                                      </p:tavLst>
                                    </p:anim>
                                  </p:childTnLst>
                                </p:cTn>
                              </p:par>
                              <p:par>
                                <p:cTn id="10" presetID="53" presetClass="entr" presetSubtype="16" fill="hold" grpId="0" nodeType="withEffect">
                                  <p:stCondLst>
                                    <p:cond delay="500"/>
                                  </p:stCondLst>
                                  <p:childTnLst>
                                    <p:set>
                                      <p:cBhvr>
                                        <p:cTn id="11" dur="1" fill="hold">
                                          <p:stCondLst>
                                            <p:cond delay="0"/>
                                          </p:stCondLst>
                                        </p:cTn>
                                        <p:tgtEl>
                                          <p:spTgt spid="118"/>
                                        </p:tgtEl>
                                        <p:attrNameLst>
                                          <p:attrName>style.visibility</p:attrName>
                                        </p:attrNameLst>
                                      </p:cBhvr>
                                      <p:to>
                                        <p:strVal val="visible"/>
                                      </p:to>
                                    </p:set>
                                    <p:anim calcmode="lin" valueType="num">
                                      <p:cBhvr>
                                        <p:cTn id="12" dur="500" fill="hold"/>
                                        <p:tgtEl>
                                          <p:spTgt spid="118"/>
                                        </p:tgtEl>
                                        <p:attrNameLst>
                                          <p:attrName>ppt_w</p:attrName>
                                        </p:attrNameLst>
                                      </p:cBhvr>
                                      <p:tavLst>
                                        <p:tav tm="0">
                                          <p:val>
                                            <p:fltVal val="0"/>
                                          </p:val>
                                        </p:tav>
                                        <p:tav tm="100000">
                                          <p:val>
                                            <p:strVal val="#ppt_w"/>
                                          </p:val>
                                        </p:tav>
                                      </p:tavLst>
                                    </p:anim>
                                    <p:anim calcmode="lin" valueType="num">
                                      <p:cBhvr>
                                        <p:cTn id="13" dur="500" fill="hold"/>
                                        <p:tgtEl>
                                          <p:spTgt spid="118"/>
                                        </p:tgtEl>
                                        <p:attrNameLst>
                                          <p:attrName>ppt_h</p:attrName>
                                        </p:attrNameLst>
                                      </p:cBhvr>
                                      <p:tavLst>
                                        <p:tav tm="0">
                                          <p:val>
                                            <p:fltVal val="0"/>
                                          </p:val>
                                        </p:tav>
                                        <p:tav tm="100000">
                                          <p:val>
                                            <p:strVal val="#ppt_h"/>
                                          </p:val>
                                        </p:tav>
                                      </p:tavLst>
                                    </p:anim>
                                    <p:animEffect transition="in" filter="fade">
                                      <p:cBhvr>
                                        <p:cTn id="14" dur="500"/>
                                        <p:tgtEl>
                                          <p:spTgt spid="11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2"/>
                                        </p:tgtEl>
                                        <p:attrNameLst>
                                          <p:attrName>style.visibility</p:attrName>
                                        </p:attrNameLst>
                                      </p:cBhvr>
                                      <p:to>
                                        <p:strVal val="visible"/>
                                      </p:to>
                                    </p:set>
                                    <p:animEffect transition="in" filter="fade">
                                      <p:cBhvr>
                                        <p:cTn id="17" dur="500"/>
                                        <p:tgtEl>
                                          <p:spTgt spid="82"/>
                                        </p:tgtEl>
                                      </p:cBhvr>
                                    </p:animEffect>
                                  </p:childTnLst>
                                </p:cTn>
                              </p:par>
                              <p:par>
                                <p:cTn id="18" presetID="10" presetClass="entr" presetSubtype="0" fill="hold" grpId="0" nodeType="withEffect">
                                  <p:stCondLst>
                                    <p:cond delay="250"/>
                                  </p:stCondLst>
                                  <p:childTnLst>
                                    <p:set>
                                      <p:cBhvr>
                                        <p:cTn id="19" dur="1" fill="hold">
                                          <p:stCondLst>
                                            <p:cond delay="0"/>
                                          </p:stCondLst>
                                        </p:cTn>
                                        <p:tgtEl>
                                          <p:spTgt spid="55"/>
                                        </p:tgtEl>
                                        <p:attrNameLst>
                                          <p:attrName>style.visibility</p:attrName>
                                        </p:attrNameLst>
                                      </p:cBhvr>
                                      <p:to>
                                        <p:strVal val="visible"/>
                                      </p:to>
                                    </p:set>
                                    <p:animEffect transition="in" filter="fade">
                                      <p:cBhvr>
                                        <p:cTn id="20" dur="500"/>
                                        <p:tgtEl>
                                          <p:spTgt spid="55"/>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81"/>
                                        </p:tgtEl>
                                        <p:attrNameLst>
                                          <p:attrName>style.visibility</p:attrName>
                                        </p:attrNameLst>
                                      </p:cBhvr>
                                      <p:to>
                                        <p:strVal val="visible"/>
                                      </p:to>
                                    </p:set>
                                    <p:animEffect transition="in" filter="fade">
                                      <p:cBhvr>
                                        <p:cTn id="23" dur="500"/>
                                        <p:tgtEl>
                                          <p:spTgt spid="81"/>
                                        </p:tgtEl>
                                      </p:cBhvr>
                                    </p:animEffect>
                                  </p:childTnLst>
                                </p:cTn>
                              </p:par>
                              <p:par>
                                <p:cTn id="24" presetID="10" presetClass="entr" presetSubtype="0" fill="hold" grpId="0" nodeType="withEffect">
                                  <p:stCondLst>
                                    <p:cond delay="750"/>
                                  </p:stCondLst>
                                  <p:childTnLst>
                                    <p:set>
                                      <p:cBhvr>
                                        <p:cTn id="25" dur="1" fill="hold">
                                          <p:stCondLst>
                                            <p:cond delay="0"/>
                                          </p:stCondLst>
                                        </p:cTn>
                                        <p:tgtEl>
                                          <p:spTgt spid="83"/>
                                        </p:tgtEl>
                                        <p:attrNameLst>
                                          <p:attrName>style.visibility</p:attrName>
                                        </p:attrNameLst>
                                      </p:cBhvr>
                                      <p:to>
                                        <p:strVal val="visible"/>
                                      </p:to>
                                    </p:set>
                                    <p:animEffect transition="in" filter="fade">
                                      <p:cBhvr>
                                        <p:cTn id="26" dur="500"/>
                                        <p:tgtEl>
                                          <p:spTgt spid="83"/>
                                        </p:tgtEl>
                                      </p:cBhvr>
                                    </p:animEffect>
                                  </p:childTnLst>
                                </p:cTn>
                              </p:par>
                              <p:par>
                                <p:cTn id="27" presetID="41" presetClass="entr" presetSubtype="0" fill="hold" grpId="0" nodeType="withEffect">
                                  <p:stCondLst>
                                    <p:cond delay="750"/>
                                  </p:stCondLst>
                                  <p:iterate type="lt">
                                    <p:tmPct val="10000"/>
                                  </p:iterate>
                                  <p:childTnLst>
                                    <p:set>
                                      <p:cBhvr>
                                        <p:cTn id="28" dur="1" fill="hold">
                                          <p:stCondLst>
                                            <p:cond delay="0"/>
                                          </p:stCondLst>
                                        </p:cTn>
                                        <p:tgtEl>
                                          <p:spTgt spid="84"/>
                                        </p:tgtEl>
                                        <p:attrNameLst>
                                          <p:attrName>style.visibility</p:attrName>
                                        </p:attrNameLst>
                                      </p:cBhvr>
                                      <p:to>
                                        <p:strVal val="visible"/>
                                      </p:to>
                                    </p:set>
                                    <p:anim calcmode="lin" valueType="num">
                                      <p:cBhvr>
                                        <p:cTn id="29" dur="500" fill="hold"/>
                                        <p:tgtEl>
                                          <p:spTgt spid="84"/>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84"/>
                                        </p:tgtEl>
                                        <p:attrNameLst>
                                          <p:attrName>ppt_y</p:attrName>
                                        </p:attrNameLst>
                                      </p:cBhvr>
                                      <p:tavLst>
                                        <p:tav tm="0">
                                          <p:val>
                                            <p:strVal val="#ppt_y"/>
                                          </p:val>
                                        </p:tav>
                                        <p:tav tm="100000">
                                          <p:val>
                                            <p:strVal val="#ppt_y"/>
                                          </p:val>
                                        </p:tav>
                                      </p:tavLst>
                                    </p:anim>
                                    <p:anim calcmode="lin" valueType="num">
                                      <p:cBhvr>
                                        <p:cTn id="31" dur="500" fill="hold"/>
                                        <p:tgtEl>
                                          <p:spTgt spid="84"/>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84"/>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84"/>
                                        </p:tgtEl>
                                      </p:cBhvr>
                                    </p:animEffect>
                                  </p:childTnLst>
                                </p:cTn>
                              </p:par>
                            </p:childTnLst>
                          </p:cTn>
                        </p:par>
                        <p:par>
                          <p:cTn id="34" fill="hold">
                            <p:stCondLst>
                              <p:cond delay="1500"/>
                            </p:stCondLst>
                            <p:childTnLst>
                              <p:par>
                                <p:cTn id="35" presetID="22" presetClass="entr" presetSubtype="8" fill="hold" nodeType="afterEffect">
                                  <p:stCondLst>
                                    <p:cond delay="0"/>
                                  </p:stCondLst>
                                  <p:childTnLst>
                                    <p:set>
                                      <p:cBhvr>
                                        <p:cTn id="36" dur="1" fill="hold">
                                          <p:stCondLst>
                                            <p:cond delay="0"/>
                                          </p:stCondLst>
                                        </p:cTn>
                                        <p:tgtEl>
                                          <p:spTgt spid="119"/>
                                        </p:tgtEl>
                                        <p:attrNameLst>
                                          <p:attrName>style.visibility</p:attrName>
                                        </p:attrNameLst>
                                      </p:cBhvr>
                                      <p:to>
                                        <p:strVal val="visible"/>
                                      </p:to>
                                    </p:set>
                                    <p:animEffect transition="in" filter="wipe(left)">
                                      <p:cBhvr>
                                        <p:cTn id="37" dur="500"/>
                                        <p:tgtEl>
                                          <p:spTgt spid="119"/>
                                        </p:tgtEl>
                                      </p:cBhvr>
                                    </p:animEffect>
                                  </p:childTnLst>
                                </p:cTn>
                              </p:par>
                            </p:childTnLst>
                          </p:cTn>
                        </p:par>
                        <p:par>
                          <p:cTn id="38" fill="hold">
                            <p:stCondLst>
                              <p:cond delay="2000"/>
                            </p:stCondLst>
                            <p:childTnLst>
                              <p:par>
                                <p:cTn id="39" presetID="2" presetClass="entr" presetSubtype="4" fill="hold" nodeType="afterEffect">
                                  <p:stCondLst>
                                    <p:cond delay="0"/>
                                  </p:stCondLst>
                                  <p:childTnLst>
                                    <p:set>
                                      <p:cBhvr>
                                        <p:cTn id="40" dur="1" fill="hold">
                                          <p:stCondLst>
                                            <p:cond delay="0"/>
                                          </p:stCondLst>
                                        </p:cTn>
                                        <p:tgtEl>
                                          <p:spTgt spid="90"/>
                                        </p:tgtEl>
                                        <p:attrNameLst>
                                          <p:attrName>style.visibility</p:attrName>
                                        </p:attrNameLst>
                                      </p:cBhvr>
                                      <p:to>
                                        <p:strVal val="visible"/>
                                      </p:to>
                                    </p:set>
                                    <p:anim calcmode="lin" valueType="num">
                                      <p:cBhvr additive="base">
                                        <p:cTn id="41" dur="500" fill="hold"/>
                                        <p:tgtEl>
                                          <p:spTgt spid="90"/>
                                        </p:tgtEl>
                                        <p:attrNameLst>
                                          <p:attrName>ppt_x</p:attrName>
                                        </p:attrNameLst>
                                      </p:cBhvr>
                                      <p:tavLst>
                                        <p:tav tm="0">
                                          <p:val>
                                            <p:strVal val="#ppt_x"/>
                                          </p:val>
                                        </p:tav>
                                        <p:tav tm="100000">
                                          <p:val>
                                            <p:strVal val="#ppt_x"/>
                                          </p:val>
                                        </p:tav>
                                      </p:tavLst>
                                    </p:anim>
                                    <p:anim calcmode="lin" valueType="num">
                                      <p:cBhvr additive="base">
                                        <p:cTn id="42" dur="500" fill="hold"/>
                                        <p:tgtEl>
                                          <p:spTgt spid="90"/>
                                        </p:tgtEl>
                                        <p:attrNameLst>
                                          <p:attrName>ppt_y</p:attrName>
                                        </p:attrNameLst>
                                      </p:cBhvr>
                                      <p:tavLst>
                                        <p:tav tm="0">
                                          <p:val>
                                            <p:strVal val="1+#ppt_h/2"/>
                                          </p:val>
                                        </p:tav>
                                        <p:tav tm="100000">
                                          <p:val>
                                            <p:strVal val="#ppt_y"/>
                                          </p:val>
                                        </p:tav>
                                      </p:tavLst>
                                    </p:anim>
                                  </p:childTnLst>
                                </p:cTn>
                              </p:par>
                            </p:childTnLst>
                          </p:cTn>
                        </p:par>
                        <p:par>
                          <p:cTn id="43" fill="hold">
                            <p:stCondLst>
                              <p:cond delay="2500"/>
                            </p:stCondLst>
                            <p:childTnLst>
                              <p:par>
                                <p:cTn id="44" presetID="2" presetClass="entr" presetSubtype="4" fill="hold" nodeType="afterEffect">
                                  <p:stCondLst>
                                    <p:cond delay="0"/>
                                  </p:stCondLst>
                                  <p:childTnLst>
                                    <p:set>
                                      <p:cBhvr>
                                        <p:cTn id="45" dur="1" fill="hold">
                                          <p:stCondLst>
                                            <p:cond delay="0"/>
                                          </p:stCondLst>
                                        </p:cTn>
                                        <p:tgtEl>
                                          <p:spTgt spid="95"/>
                                        </p:tgtEl>
                                        <p:attrNameLst>
                                          <p:attrName>style.visibility</p:attrName>
                                        </p:attrNameLst>
                                      </p:cBhvr>
                                      <p:to>
                                        <p:strVal val="visible"/>
                                      </p:to>
                                    </p:set>
                                    <p:anim calcmode="lin" valueType="num">
                                      <p:cBhvr additive="base">
                                        <p:cTn id="46" dur="500" fill="hold"/>
                                        <p:tgtEl>
                                          <p:spTgt spid="95"/>
                                        </p:tgtEl>
                                        <p:attrNameLst>
                                          <p:attrName>ppt_x</p:attrName>
                                        </p:attrNameLst>
                                      </p:cBhvr>
                                      <p:tavLst>
                                        <p:tav tm="0">
                                          <p:val>
                                            <p:strVal val="#ppt_x"/>
                                          </p:val>
                                        </p:tav>
                                        <p:tav tm="100000">
                                          <p:val>
                                            <p:strVal val="#ppt_x"/>
                                          </p:val>
                                        </p:tav>
                                      </p:tavLst>
                                    </p:anim>
                                    <p:anim calcmode="lin" valueType="num">
                                      <p:cBhvr additive="base">
                                        <p:cTn id="47" dur="500" fill="hold"/>
                                        <p:tgtEl>
                                          <p:spTgt spid="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81" grpId="0" animBg="1"/>
      <p:bldP spid="82" grpId="0" animBg="1"/>
      <p:bldP spid="83" grpId="0" animBg="1"/>
      <p:bldP spid="84" grpId="0"/>
      <p:bldP spid="1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Box 90"/>
          <p:cNvSpPr txBox="1"/>
          <p:nvPr/>
        </p:nvSpPr>
        <p:spPr>
          <a:xfrm>
            <a:off x="4770648" y="188640"/>
            <a:ext cx="2623083" cy="461665"/>
          </a:xfrm>
          <a:prstGeom prst="rect">
            <a:avLst/>
          </a:prstGeom>
          <a:noFill/>
        </p:spPr>
        <p:txBody>
          <a:bodyPr wrap="square" rtlCol="0">
            <a:spAutoFit/>
          </a:bodyPr>
          <a:lstStyle/>
          <a:p>
            <a:pPr algn="ctr"/>
            <a:r>
              <a:rPr lang="zh-CN" altLang="en-US" sz="2400" b="1"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四項主要工作</a:t>
            </a:r>
            <a:endParaRPr lang="zh-CN" altLang="en-US" sz="2400" b="1"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cxnSp>
        <p:nvCxnSpPr>
          <p:cNvPr id="95" name="直接连接符 94"/>
          <p:cNvCxnSpPr/>
          <p:nvPr/>
        </p:nvCxnSpPr>
        <p:spPr>
          <a:xfrm>
            <a:off x="7393731" y="419473"/>
            <a:ext cx="446449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a:off x="336947" y="423828"/>
            <a:ext cx="439248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7393731" y="476672"/>
            <a:ext cx="4464496"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336947" y="481027"/>
            <a:ext cx="4392488"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4736468" y="1362793"/>
            <a:ext cx="1613372" cy="1827513"/>
            <a:chOff x="4394113" y="1705998"/>
            <a:chExt cx="1613372" cy="1827513"/>
          </a:xfrm>
        </p:grpSpPr>
        <p:sp>
          <p:nvSpPr>
            <p:cNvPr id="13" name="Freeform 5"/>
            <p:cNvSpPr/>
            <p:nvPr/>
          </p:nvSpPr>
          <p:spPr bwMode="auto">
            <a:xfrm>
              <a:off x="4394113" y="1705998"/>
              <a:ext cx="1613372" cy="1827513"/>
            </a:xfrm>
            <a:custGeom>
              <a:avLst/>
              <a:gdLst>
                <a:gd name="T0" fmla="*/ 932 w 932"/>
                <a:gd name="T1" fmla="*/ 466 h 1056"/>
                <a:gd name="T2" fmla="*/ 466 w 932"/>
                <a:gd name="T3" fmla="*/ 0 h 1056"/>
                <a:gd name="T4" fmla="*/ 0 w 932"/>
                <a:gd name="T5" fmla="*/ 466 h 1056"/>
                <a:gd name="T6" fmla="*/ 466 w 932"/>
                <a:gd name="T7" fmla="*/ 931 h 1056"/>
                <a:gd name="T8" fmla="*/ 560 w 932"/>
                <a:gd name="T9" fmla="*/ 922 h 1056"/>
                <a:gd name="T10" fmla="*/ 557 w 932"/>
                <a:gd name="T11" fmla="*/ 1056 h 1056"/>
                <a:gd name="T12" fmla="*/ 899 w 932"/>
                <a:gd name="T13" fmla="*/ 644 h 1056"/>
                <a:gd name="T14" fmla="*/ 932 w 932"/>
                <a:gd name="T15" fmla="*/ 466 h 10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2" h="1056">
                  <a:moveTo>
                    <a:pt x="932" y="466"/>
                  </a:moveTo>
                  <a:cubicBezTo>
                    <a:pt x="932" y="208"/>
                    <a:pt x="723" y="0"/>
                    <a:pt x="466" y="0"/>
                  </a:cubicBezTo>
                  <a:cubicBezTo>
                    <a:pt x="209" y="0"/>
                    <a:pt x="0" y="208"/>
                    <a:pt x="0" y="466"/>
                  </a:cubicBezTo>
                  <a:cubicBezTo>
                    <a:pt x="0" y="723"/>
                    <a:pt x="209" y="931"/>
                    <a:pt x="466" y="931"/>
                  </a:cubicBezTo>
                  <a:cubicBezTo>
                    <a:pt x="498" y="931"/>
                    <a:pt x="529" y="928"/>
                    <a:pt x="560" y="922"/>
                  </a:cubicBezTo>
                  <a:cubicBezTo>
                    <a:pt x="557" y="1056"/>
                    <a:pt x="557" y="1056"/>
                    <a:pt x="557" y="1056"/>
                  </a:cubicBezTo>
                  <a:cubicBezTo>
                    <a:pt x="788" y="907"/>
                    <a:pt x="875" y="713"/>
                    <a:pt x="899" y="644"/>
                  </a:cubicBezTo>
                  <a:cubicBezTo>
                    <a:pt x="920" y="591"/>
                    <a:pt x="932" y="526"/>
                    <a:pt x="932" y="466"/>
                  </a:cubicBezTo>
                </a:path>
              </a:pathLst>
            </a:custGeom>
            <a:solidFill>
              <a:srgbClr val="405F8F"/>
            </a:solidFill>
            <a:ln>
              <a:noFill/>
            </a:ln>
            <a:effectLst>
              <a:outerShdw blurRad="431800" dist="889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4" name="Freeform 5"/>
            <p:cNvSpPr/>
            <p:nvPr/>
          </p:nvSpPr>
          <p:spPr bwMode="auto">
            <a:xfrm rot="21299021">
              <a:off x="4546513" y="1858398"/>
              <a:ext cx="1322994" cy="1498593"/>
            </a:xfrm>
            <a:custGeom>
              <a:avLst/>
              <a:gdLst>
                <a:gd name="T0" fmla="*/ 932 w 932"/>
                <a:gd name="T1" fmla="*/ 466 h 1056"/>
                <a:gd name="T2" fmla="*/ 466 w 932"/>
                <a:gd name="T3" fmla="*/ 0 h 1056"/>
                <a:gd name="T4" fmla="*/ 0 w 932"/>
                <a:gd name="T5" fmla="*/ 466 h 1056"/>
                <a:gd name="T6" fmla="*/ 466 w 932"/>
                <a:gd name="T7" fmla="*/ 931 h 1056"/>
                <a:gd name="T8" fmla="*/ 560 w 932"/>
                <a:gd name="T9" fmla="*/ 922 h 1056"/>
                <a:gd name="T10" fmla="*/ 557 w 932"/>
                <a:gd name="T11" fmla="*/ 1056 h 1056"/>
                <a:gd name="T12" fmla="*/ 899 w 932"/>
                <a:gd name="T13" fmla="*/ 644 h 1056"/>
                <a:gd name="T14" fmla="*/ 932 w 932"/>
                <a:gd name="T15" fmla="*/ 466 h 10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2" h="1056">
                  <a:moveTo>
                    <a:pt x="932" y="466"/>
                  </a:moveTo>
                  <a:cubicBezTo>
                    <a:pt x="932" y="208"/>
                    <a:pt x="723" y="0"/>
                    <a:pt x="466" y="0"/>
                  </a:cubicBezTo>
                  <a:cubicBezTo>
                    <a:pt x="209" y="0"/>
                    <a:pt x="0" y="208"/>
                    <a:pt x="0" y="466"/>
                  </a:cubicBezTo>
                  <a:cubicBezTo>
                    <a:pt x="0" y="723"/>
                    <a:pt x="209" y="931"/>
                    <a:pt x="466" y="931"/>
                  </a:cubicBezTo>
                  <a:cubicBezTo>
                    <a:pt x="498" y="931"/>
                    <a:pt x="529" y="928"/>
                    <a:pt x="560" y="922"/>
                  </a:cubicBezTo>
                  <a:cubicBezTo>
                    <a:pt x="557" y="1056"/>
                    <a:pt x="557" y="1056"/>
                    <a:pt x="557" y="1056"/>
                  </a:cubicBezTo>
                  <a:cubicBezTo>
                    <a:pt x="788" y="907"/>
                    <a:pt x="875" y="713"/>
                    <a:pt x="899" y="644"/>
                  </a:cubicBezTo>
                  <a:cubicBezTo>
                    <a:pt x="920" y="591"/>
                    <a:pt x="932" y="526"/>
                    <a:pt x="932" y="466"/>
                  </a:cubicBezTo>
                </a:path>
              </a:pathLst>
            </a:custGeom>
            <a:blipFill>
              <a:blip r:embed="rId3" cstate="screen">
                <a:extLst>
                  <a:ext uri="{28A0092B-C50C-407E-A947-70E740481C1C}">
                    <a14:useLocalDpi xmlns:a14="http://schemas.microsoft.com/office/drawing/2010/main"/>
                  </a:ext>
                </a:extLst>
              </a:blip>
              <a:stretch>
                <a:fillRect l="-167158" t="-31921" r="-198372" b="-151558"/>
              </a:stretch>
            </a:blip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15" name="组合 14"/>
          <p:cNvGrpSpPr/>
          <p:nvPr/>
        </p:nvGrpSpPr>
        <p:grpSpPr>
          <a:xfrm>
            <a:off x="5047663" y="1777284"/>
            <a:ext cx="1005403" cy="873900"/>
            <a:chOff x="4621799" y="1778517"/>
            <a:chExt cx="1005403" cy="873900"/>
          </a:xfrm>
        </p:grpSpPr>
        <p:grpSp>
          <p:nvGrpSpPr>
            <p:cNvPr id="16" name="组合 15"/>
            <p:cNvGrpSpPr/>
            <p:nvPr/>
          </p:nvGrpSpPr>
          <p:grpSpPr>
            <a:xfrm>
              <a:off x="4921406" y="1778517"/>
              <a:ext cx="390724" cy="386695"/>
              <a:chOff x="6967126" y="4092464"/>
              <a:chExt cx="453105" cy="448433"/>
            </a:xfrm>
            <a:solidFill>
              <a:schemeClr val="bg1"/>
            </a:solidFill>
            <a:effectLst/>
          </p:grpSpPr>
          <p:sp>
            <p:nvSpPr>
              <p:cNvPr id="18" name="Freeform 136"/>
              <p:cNvSpPr/>
              <p:nvPr/>
            </p:nvSpPr>
            <p:spPr bwMode="auto">
              <a:xfrm>
                <a:off x="6967126" y="4343773"/>
                <a:ext cx="453105" cy="197124"/>
              </a:xfrm>
              <a:custGeom>
                <a:avLst/>
                <a:gdLst>
                  <a:gd name="T0" fmla="*/ 103 w 205"/>
                  <a:gd name="T1" fmla="*/ 19 h 89"/>
                  <a:gd name="T2" fmla="*/ 47 w 205"/>
                  <a:gd name="T3" fmla="*/ 0 h 89"/>
                  <a:gd name="T4" fmla="*/ 0 w 205"/>
                  <a:gd name="T5" fmla="*/ 0 h 89"/>
                  <a:gd name="T6" fmla="*/ 0 w 205"/>
                  <a:gd name="T7" fmla="*/ 67 h 89"/>
                  <a:gd name="T8" fmla="*/ 22 w 205"/>
                  <a:gd name="T9" fmla="*/ 89 h 89"/>
                  <a:gd name="T10" fmla="*/ 183 w 205"/>
                  <a:gd name="T11" fmla="*/ 89 h 89"/>
                  <a:gd name="T12" fmla="*/ 205 w 205"/>
                  <a:gd name="T13" fmla="*/ 67 h 89"/>
                  <a:gd name="T14" fmla="*/ 205 w 205"/>
                  <a:gd name="T15" fmla="*/ 0 h 89"/>
                  <a:gd name="T16" fmla="*/ 158 w 205"/>
                  <a:gd name="T17" fmla="*/ 0 h 89"/>
                  <a:gd name="T18" fmla="*/ 103 w 205"/>
                  <a:gd name="T19" fmla="*/ 1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9" name="Freeform 137"/>
              <p:cNvSpPr>
                <a:spLocks noEditPoints="1"/>
              </p:cNvSpPr>
              <p:nvPr/>
            </p:nvSpPr>
            <p:spPr bwMode="auto">
              <a:xfrm>
                <a:off x="6967126" y="4092464"/>
                <a:ext cx="453105" cy="260652"/>
              </a:xfrm>
              <a:custGeom>
                <a:avLst/>
                <a:gdLst>
                  <a:gd name="T0" fmla="*/ 183 w 205"/>
                  <a:gd name="T1" fmla="*/ 42 h 118"/>
                  <a:gd name="T2" fmla="*/ 180 w 205"/>
                  <a:gd name="T3" fmla="*/ 42 h 118"/>
                  <a:gd name="T4" fmla="*/ 154 w 205"/>
                  <a:gd name="T5" fmla="*/ 42 h 118"/>
                  <a:gd name="T6" fmla="*/ 154 w 205"/>
                  <a:gd name="T7" fmla="*/ 22 h 118"/>
                  <a:gd name="T8" fmla="*/ 132 w 205"/>
                  <a:gd name="T9" fmla="*/ 0 h 118"/>
                  <a:gd name="T10" fmla="*/ 73 w 205"/>
                  <a:gd name="T11" fmla="*/ 0 h 118"/>
                  <a:gd name="T12" fmla="*/ 51 w 205"/>
                  <a:gd name="T13" fmla="*/ 22 h 118"/>
                  <a:gd name="T14" fmla="*/ 51 w 205"/>
                  <a:gd name="T15" fmla="*/ 42 h 118"/>
                  <a:gd name="T16" fmla="*/ 25 w 205"/>
                  <a:gd name="T17" fmla="*/ 42 h 118"/>
                  <a:gd name="T18" fmla="*/ 22 w 205"/>
                  <a:gd name="T19" fmla="*/ 42 h 118"/>
                  <a:gd name="T20" fmla="*/ 0 w 205"/>
                  <a:gd name="T21" fmla="*/ 64 h 118"/>
                  <a:gd name="T22" fmla="*/ 0 w 205"/>
                  <a:gd name="T23" fmla="*/ 101 h 118"/>
                  <a:gd name="T24" fmla="*/ 54 w 205"/>
                  <a:gd name="T25" fmla="*/ 101 h 118"/>
                  <a:gd name="T26" fmla="*/ 103 w 205"/>
                  <a:gd name="T27" fmla="*/ 118 h 118"/>
                  <a:gd name="T28" fmla="*/ 151 w 205"/>
                  <a:gd name="T29" fmla="*/ 101 h 118"/>
                  <a:gd name="T30" fmla="*/ 205 w 205"/>
                  <a:gd name="T31" fmla="*/ 101 h 118"/>
                  <a:gd name="T32" fmla="*/ 205 w 205"/>
                  <a:gd name="T33" fmla="*/ 64 h 118"/>
                  <a:gd name="T34" fmla="*/ 183 w 205"/>
                  <a:gd name="T35" fmla="*/ 42 h 118"/>
                  <a:gd name="T36" fmla="*/ 67 w 205"/>
                  <a:gd name="T37" fmla="*/ 26 h 118"/>
                  <a:gd name="T38" fmla="*/ 67 w 205"/>
                  <a:gd name="T39" fmla="*/ 22 h 118"/>
                  <a:gd name="T40" fmla="*/ 73 w 205"/>
                  <a:gd name="T41" fmla="*/ 17 h 118"/>
                  <a:gd name="T42" fmla="*/ 132 w 205"/>
                  <a:gd name="T43" fmla="*/ 17 h 118"/>
                  <a:gd name="T44" fmla="*/ 138 w 205"/>
                  <a:gd name="T45" fmla="*/ 22 h 118"/>
                  <a:gd name="T46" fmla="*/ 138 w 205"/>
                  <a:gd name="T47" fmla="*/ 26 h 118"/>
                  <a:gd name="T48" fmla="*/ 138 w 205"/>
                  <a:gd name="T49" fmla="*/ 42 h 118"/>
                  <a:gd name="T50" fmla="*/ 67 w 205"/>
                  <a:gd name="T51" fmla="*/ 42 h 118"/>
                  <a:gd name="T52" fmla="*/ 67 w 205"/>
                  <a:gd name="T53" fmla="*/ 26 h 118"/>
                  <a:gd name="T54" fmla="*/ 101 w 205"/>
                  <a:gd name="T55" fmla="*/ 101 h 118"/>
                  <a:gd name="T56" fmla="*/ 85 w 205"/>
                  <a:gd name="T57" fmla="*/ 86 h 118"/>
                  <a:gd name="T58" fmla="*/ 101 w 205"/>
                  <a:gd name="T59" fmla="*/ 70 h 118"/>
                  <a:gd name="T60" fmla="*/ 117 w 205"/>
                  <a:gd name="T61" fmla="*/ 86 h 118"/>
                  <a:gd name="T62" fmla="*/ 101 w 205"/>
                  <a:gd name="T63" fmla="*/ 10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17" name="矩形 16"/>
            <p:cNvSpPr/>
            <p:nvPr/>
          </p:nvSpPr>
          <p:spPr>
            <a:xfrm>
              <a:off x="4621799" y="2313863"/>
              <a:ext cx="1005403" cy="338554"/>
            </a:xfrm>
            <a:prstGeom prst="rect">
              <a:avLst/>
            </a:prstGeom>
          </p:spPr>
          <p:txBody>
            <a:bodyPr wrap="none">
              <a:spAutoFit/>
            </a:bodyPr>
            <a:lstStyle/>
            <a:p>
              <a:r>
                <a:rPr lang="zh-CN" altLang="en-US" sz="16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工</a:t>
              </a:r>
              <a:r>
                <a:rPr lang="zh-CN" altLang="en-US" sz="16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單處理</a:t>
              </a:r>
              <a:endParaRPr lang="zh-CN" altLang="en-US" sz="16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20" name="组合 19"/>
          <p:cNvGrpSpPr/>
          <p:nvPr/>
        </p:nvGrpSpPr>
        <p:grpSpPr>
          <a:xfrm flipH="1">
            <a:off x="6053066" y="2359312"/>
            <a:ext cx="1584176" cy="1827513"/>
            <a:chOff x="4394113" y="1705998"/>
            <a:chExt cx="1613372" cy="1827513"/>
          </a:xfrm>
        </p:grpSpPr>
        <p:sp>
          <p:nvSpPr>
            <p:cNvPr id="21" name="Freeform 5"/>
            <p:cNvSpPr/>
            <p:nvPr/>
          </p:nvSpPr>
          <p:spPr bwMode="auto">
            <a:xfrm>
              <a:off x="4394113" y="1705998"/>
              <a:ext cx="1613372" cy="1827513"/>
            </a:xfrm>
            <a:custGeom>
              <a:avLst/>
              <a:gdLst>
                <a:gd name="T0" fmla="*/ 932 w 932"/>
                <a:gd name="T1" fmla="*/ 466 h 1056"/>
                <a:gd name="T2" fmla="*/ 466 w 932"/>
                <a:gd name="T3" fmla="*/ 0 h 1056"/>
                <a:gd name="T4" fmla="*/ 0 w 932"/>
                <a:gd name="T5" fmla="*/ 466 h 1056"/>
                <a:gd name="T6" fmla="*/ 466 w 932"/>
                <a:gd name="T7" fmla="*/ 931 h 1056"/>
                <a:gd name="T8" fmla="*/ 560 w 932"/>
                <a:gd name="T9" fmla="*/ 922 h 1056"/>
                <a:gd name="T10" fmla="*/ 557 w 932"/>
                <a:gd name="T11" fmla="*/ 1056 h 1056"/>
                <a:gd name="T12" fmla="*/ 899 w 932"/>
                <a:gd name="T13" fmla="*/ 644 h 1056"/>
                <a:gd name="T14" fmla="*/ 932 w 932"/>
                <a:gd name="T15" fmla="*/ 466 h 10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2" h="1056">
                  <a:moveTo>
                    <a:pt x="932" y="466"/>
                  </a:moveTo>
                  <a:cubicBezTo>
                    <a:pt x="932" y="208"/>
                    <a:pt x="723" y="0"/>
                    <a:pt x="466" y="0"/>
                  </a:cubicBezTo>
                  <a:cubicBezTo>
                    <a:pt x="209" y="0"/>
                    <a:pt x="0" y="208"/>
                    <a:pt x="0" y="466"/>
                  </a:cubicBezTo>
                  <a:cubicBezTo>
                    <a:pt x="0" y="723"/>
                    <a:pt x="209" y="931"/>
                    <a:pt x="466" y="931"/>
                  </a:cubicBezTo>
                  <a:cubicBezTo>
                    <a:pt x="498" y="931"/>
                    <a:pt x="529" y="928"/>
                    <a:pt x="560" y="922"/>
                  </a:cubicBezTo>
                  <a:cubicBezTo>
                    <a:pt x="557" y="1056"/>
                    <a:pt x="557" y="1056"/>
                    <a:pt x="557" y="1056"/>
                  </a:cubicBezTo>
                  <a:cubicBezTo>
                    <a:pt x="788" y="907"/>
                    <a:pt x="875" y="713"/>
                    <a:pt x="899" y="644"/>
                  </a:cubicBezTo>
                  <a:cubicBezTo>
                    <a:pt x="920" y="591"/>
                    <a:pt x="932" y="526"/>
                    <a:pt x="932" y="466"/>
                  </a:cubicBezTo>
                </a:path>
              </a:pathLst>
            </a:custGeom>
            <a:solidFill>
              <a:srgbClr val="405F8F"/>
            </a:solidFill>
            <a:ln>
              <a:noFill/>
            </a:ln>
            <a:effectLst>
              <a:outerShdw blurRad="431800" dist="889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2" name="Freeform 5"/>
            <p:cNvSpPr/>
            <p:nvPr/>
          </p:nvSpPr>
          <p:spPr bwMode="auto">
            <a:xfrm rot="21299021">
              <a:off x="4546513" y="1858398"/>
              <a:ext cx="1322994" cy="1498593"/>
            </a:xfrm>
            <a:custGeom>
              <a:avLst/>
              <a:gdLst>
                <a:gd name="T0" fmla="*/ 932 w 932"/>
                <a:gd name="T1" fmla="*/ 466 h 1056"/>
                <a:gd name="T2" fmla="*/ 466 w 932"/>
                <a:gd name="T3" fmla="*/ 0 h 1056"/>
                <a:gd name="T4" fmla="*/ 0 w 932"/>
                <a:gd name="T5" fmla="*/ 466 h 1056"/>
                <a:gd name="T6" fmla="*/ 466 w 932"/>
                <a:gd name="T7" fmla="*/ 931 h 1056"/>
                <a:gd name="T8" fmla="*/ 560 w 932"/>
                <a:gd name="T9" fmla="*/ 922 h 1056"/>
                <a:gd name="T10" fmla="*/ 557 w 932"/>
                <a:gd name="T11" fmla="*/ 1056 h 1056"/>
                <a:gd name="T12" fmla="*/ 899 w 932"/>
                <a:gd name="T13" fmla="*/ 644 h 1056"/>
                <a:gd name="T14" fmla="*/ 932 w 932"/>
                <a:gd name="T15" fmla="*/ 466 h 10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2" h="1056">
                  <a:moveTo>
                    <a:pt x="932" y="466"/>
                  </a:moveTo>
                  <a:cubicBezTo>
                    <a:pt x="932" y="208"/>
                    <a:pt x="723" y="0"/>
                    <a:pt x="466" y="0"/>
                  </a:cubicBezTo>
                  <a:cubicBezTo>
                    <a:pt x="209" y="0"/>
                    <a:pt x="0" y="208"/>
                    <a:pt x="0" y="466"/>
                  </a:cubicBezTo>
                  <a:cubicBezTo>
                    <a:pt x="0" y="723"/>
                    <a:pt x="209" y="931"/>
                    <a:pt x="466" y="931"/>
                  </a:cubicBezTo>
                  <a:cubicBezTo>
                    <a:pt x="498" y="931"/>
                    <a:pt x="529" y="928"/>
                    <a:pt x="560" y="922"/>
                  </a:cubicBezTo>
                  <a:cubicBezTo>
                    <a:pt x="557" y="1056"/>
                    <a:pt x="557" y="1056"/>
                    <a:pt x="557" y="1056"/>
                  </a:cubicBezTo>
                  <a:cubicBezTo>
                    <a:pt x="788" y="907"/>
                    <a:pt x="875" y="713"/>
                    <a:pt x="899" y="644"/>
                  </a:cubicBezTo>
                  <a:cubicBezTo>
                    <a:pt x="920" y="591"/>
                    <a:pt x="932" y="526"/>
                    <a:pt x="932" y="466"/>
                  </a:cubicBezTo>
                </a:path>
              </a:pathLst>
            </a:custGeom>
            <a:blipFill>
              <a:blip r:embed="rId3" cstate="screen">
                <a:extLst>
                  <a:ext uri="{28A0092B-C50C-407E-A947-70E740481C1C}">
                    <a14:useLocalDpi xmlns:a14="http://schemas.microsoft.com/office/drawing/2010/main"/>
                  </a:ext>
                </a:extLst>
              </a:blip>
              <a:stretch>
                <a:fillRect l="-167158" t="-31921" r="-198372" b="-151558"/>
              </a:stretch>
            </a:blip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23" name="组合 22"/>
          <p:cNvGrpSpPr/>
          <p:nvPr/>
        </p:nvGrpSpPr>
        <p:grpSpPr>
          <a:xfrm>
            <a:off x="6367967" y="2799613"/>
            <a:ext cx="1010213" cy="781385"/>
            <a:chOff x="6099245" y="2439326"/>
            <a:chExt cx="1010213" cy="781385"/>
          </a:xfrm>
        </p:grpSpPr>
        <p:grpSp>
          <p:nvGrpSpPr>
            <p:cNvPr id="24" name="组合 23"/>
            <p:cNvGrpSpPr/>
            <p:nvPr/>
          </p:nvGrpSpPr>
          <p:grpSpPr>
            <a:xfrm>
              <a:off x="6438208" y="2439326"/>
              <a:ext cx="373402" cy="357114"/>
              <a:chOff x="6042259" y="5362013"/>
              <a:chExt cx="464982" cy="444699"/>
            </a:xfrm>
            <a:solidFill>
              <a:schemeClr val="bg1"/>
            </a:solidFill>
          </p:grpSpPr>
          <p:sp>
            <p:nvSpPr>
              <p:cNvPr id="26" name="Freeform 25"/>
              <p:cNvSpPr/>
              <p:nvPr/>
            </p:nvSpPr>
            <p:spPr bwMode="auto">
              <a:xfrm>
                <a:off x="6212692" y="5681688"/>
                <a:ext cx="125025" cy="125024"/>
              </a:xfrm>
              <a:custGeom>
                <a:avLst/>
                <a:gdLst>
                  <a:gd name="T0" fmla="*/ 206 w 413"/>
                  <a:gd name="T1" fmla="*/ 413 h 413"/>
                  <a:gd name="T2" fmla="*/ 0 w 413"/>
                  <a:gd name="T3" fmla="*/ 0 h 413"/>
                  <a:gd name="T4" fmla="*/ 413 w 413"/>
                  <a:gd name="T5" fmla="*/ 0 h 413"/>
                  <a:gd name="T6" fmla="*/ 206 w 413"/>
                  <a:gd name="T7" fmla="*/ 413 h 413"/>
                </a:gdLst>
                <a:ahLst/>
                <a:cxnLst>
                  <a:cxn ang="0">
                    <a:pos x="T0" y="T1"/>
                  </a:cxn>
                  <a:cxn ang="0">
                    <a:pos x="T2" y="T3"/>
                  </a:cxn>
                  <a:cxn ang="0">
                    <a:pos x="T4" y="T5"/>
                  </a:cxn>
                  <a:cxn ang="0">
                    <a:pos x="T6" y="T7"/>
                  </a:cxn>
                </a:cxnLst>
                <a:rect l="0" t="0" r="r" b="b"/>
                <a:pathLst>
                  <a:path w="413" h="413">
                    <a:moveTo>
                      <a:pt x="206" y="413"/>
                    </a:moveTo>
                    <a:lnTo>
                      <a:pt x="0" y="0"/>
                    </a:lnTo>
                    <a:lnTo>
                      <a:pt x="413" y="0"/>
                    </a:lnTo>
                    <a:lnTo>
                      <a:pt x="206" y="41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7" name="任意多边形 26"/>
              <p:cNvSpPr>
                <a:spLocks noChangeArrowheads="1"/>
              </p:cNvSpPr>
              <p:nvPr/>
            </p:nvSpPr>
            <p:spPr bwMode="auto">
              <a:xfrm>
                <a:off x="6042259" y="5362013"/>
                <a:ext cx="464982" cy="338443"/>
              </a:xfrm>
              <a:custGeom>
                <a:avLst/>
                <a:gdLst>
                  <a:gd name="connsiteX0" fmla="*/ 290196 w 2438400"/>
                  <a:gd name="connsiteY0" fmla="*/ 0 h 1774825"/>
                  <a:gd name="connsiteX1" fmla="*/ 2151973 w 2438400"/>
                  <a:gd name="connsiteY1" fmla="*/ 0 h 1774825"/>
                  <a:gd name="connsiteX2" fmla="*/ 2438400 w 2438400"/>
                  <a:gd name="connsiteY2" fmla="*/ 286384 h 1774825"/>
                  <a:gd name="connsiteX3" fmla="*/ 2438400 w 2438400"/>
                  <a:gd name="connsiteY3" fmla="*/ 1484673 h 1774825"/>
                  <a:gd name="connsiteX4" fmla="*/ 2151973 w 2438400"/>
                  <a:gd name="connsiteY4" fmla="*/ 1774825 h 1774825"/>
                  <a:gd name="connsiteX5" fmla="*/ 290196 w 2438400"/>
                  <a:gd name="connsiteY5" fmla="*/ 1774825 h 1774825"/>
                  <a:gd name="connsiteX6" fmla="*/ 0 w 2438400"/>
                  <a:gd name="connsiteY6" fmla="*/ 1484673 h 1774825"/>
                  <a:gd name="connsiteX7" fmla="*/ 0 w 2438400"/>
                  <a:gd name="connsiteY7" fmla="*/ 286384 h 1774825"/>
                  <a:gd name="connsiteX8" fmla="*/ 290196 w 2438400"/>
                  <a:gd name="connsiteY8" fmla="*/ 0 h 1774825"/>
                  <a:gd name="connsiteX9" fmla="*/ 471488 w 2438400"/>
                  <a:gd name="connsiteY9" fmla="*/ 425450 h 1774825"/>
                  <a:gd name="connsiteX10" fmla="*/ 471488 w 2438400"/>
                  <a:gd name="connsiteY10" fmla="*/ 598488 h 1774825"/>
                  <a:gd name="connsiteX11" fmla="*/ 1971676 w 2438400"/>
                  <a:gd name="connsiteY11" fmla="*/ 598488 h 1774825"/>
                  <a:gd name="connsiteX12" fmla="*/ 1971676 w 2438400"/>
                  <a:gd name="connsiteY12" fmla="*/ 425450 h 1774825"/>
                  <a:gd name="connsiteX13" fmla="*/ 471488 w 2438400"/>
                  <a:gd name="connsiteY13" fmla="*/ 425450 h 1774825"/>
                  <a:gd name="connsiteX14" fmla="*/ 471488 w 2438400"/>
                  <a:gd name="connsiteY14" fmla="*/ 801688 h 1774825"/>
                  <a:gd name="connsiteX15" fmla="*/ 471488 w 2438400"/>
                  <a:gd name="connsiteY15" fmla="*/ 971551 h 1774825"/>
                  <a:gd name="connsiteX16" fmla="*/ 1971676 w 2438400"/>
                  <a:gd name="connsiteY16" fmla="*/ 971551 h 1774825"/>
                  <a:gd name="connsiteX17" fmla="*/ 1971676 w 2438400"/>
                  <a:gd name="connsiteY17" fmla="*/ 801688 h 1774825"/>
                  <a:gd name="connsiteX18" fmla="*/ 471488 w 2438400"/>
                  <a:gd name="connsiteY18" fmla="*/ 801688 h 1774825"/>
                  <a:gd name="connsiteX19" fmla="*/ 471488 w 2438400"/>
                  <a:gd name="connsiteY19" fmla="*/ 1174750 h 1774825"/>
                  <a:gd name="connsiteX20" fmla="*/ 471488 w 2438400"/>
                  <a:gd name="connsiteY20" fmla="*/ 1347788 h 1774825"/>
                  <a:gd name="connsiteX21" fmla="*/ 1971676 w 2438400"/>
                  <a:gd name="connsiteY21" fmla="*/ 1347788 h 1774825"/>
                  <a:gd name="connsiteX22" fmla="*/ 1971676 w 2438400"/>
                  <a:gd name="connsiteY22" fmla="*/ 1174750 h 1774825"/>
                  <a:gd name="connsiteX23" fmla="*/ 471488 w 2438400"/>
                  <a:gd name="connsiteY23" fmla="*/ 1174750 h 177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38400" h="1774825">
                    <a:moveTo>
                      <a:pt x="290196" y="0"/>
                    </a:moveTo>
                    <a:cubicBezTo>
                      <a:pt x="2151973" y="0"/>
                      <a:pt x="2151973" y="0"/>
                      <a:pt x="2151973" y="0"/>
                    </a:cubicBezTo>
                    <a:cubicBezTo>
                      <a:pt x="2310262" y="0"/>
                      <a:pt x="2438400" y="128119"/>
                      <a:pt x="2438400" y="286384"/>
                    </a:cubicBezTo>
                    <a:lnTo>
                      <a:pt x="2438400" y="1484673"/>
                    </a:lnTo>
                    <a:cubicBezTo>
                      <a:pt x="2438400" y="1646706"/>
                      <a:pt x="2310262" y="1774825"/>
                      <a:pt x="2151973" y="1774825"/>
                    </a:cubicBezTo>
                    <a:cubicBezTo>
                      <a:pt x="290196" y="1774825"/>
                      <a:pt x="290196" y="1774825"/>
                      <a:pt x="290196" y="1774825"/>
                    </a:cubicBezTo>
                    <a:cubicBezTo>
                      <a:pt x="131907" y="1774825"/>
                      <a:pt x="0" y="1646706"/>
                      <a:pt x="0" y="1484673"/>
                    </a:cubicBezTo>
                    <a:cubicBezTo>
                      <a:pt x="0" y="286384"/>
                      <a:pt x="0" y="286384"/>
                      <a:pt x="0" y="286384"/>
                    </a:cubicBezTo>
                    <a:cubicBezTo>
                      <a:pt x="0" y="128119"/>
                      <a:pt x="131907" y="0"/>
                      <a:pt x="290196" y="0"/>
                    </a:cubicBezTo>
                    <a:close/>
                    <a:moveTo>
                      <a:pt x="471488" y="425450"/>
                    </a:moveTo>
                    <a:lnTo>
                      <a:pt x="471488" y="598488"/>
                    </a:lnTo>
                    <a:lnTo>
                      <a:pt x="1971676" y="598488"/>
                    </a:lnTo>
                    <a:lnTo>
                      <a:pt x="1971676" y="425450"/>
                    </a:lnTo>
                    <a:lnTo>
                      <a:pt x="471488" y="425450"/>
                    </a:lnTo>
                    <a:close/>
                    <a:moveTo>
                      <a:pt x="471488" y="801688"/>
                    </a:moveTo>
                    <a:lnTo>
                      <a:pt x="471488" y="971551"/>
                    </a:lnTo>
                    <a:lnTo>
                      <a:pt x="1971676" y="971551"/>
                    </a:lnTo>
                    <a:lnTo>
                      <a:pt x="1971676" y="801688"/>
                    </a:lnTo>
                    <a:lnTo>
                      <a:pt x="471488" y="801688"/>
                    </a:lnTo>
                    <a:close/>
                    <a:moveTo>
                      <a:pt x="471488" y="1174750"/>
                    </a:moveTo>
                    <a:lnTo>
                      <a:pt x="471488" y="1347788"/>
                    </a:lnTo>
                    <a:lnTo>
                      <a:pt x="1971676" y="1347788"/>
                    </a:lnTo>
                    <a:lnTo>
                      <a:pt x="1971676" y="1174750"/>
                    </a:lnTo>
                    <a:lnTo>
                      <a:pt x="471488" y="1174750"/>
                    </a:lnTo>
                    <a:close/>
                  </a:path>
                </a:pathLst>
              </a:custGeom>
              <a:solidFill>
                <a:srgbClr val="405F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p>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25" name="矩形 24"/>
            <p:cNvSpPr/>
            <p:nvPr/>
          </p:nvSpPr>
          <p:spPr>
            <a:xfrm>
              <a:off x="6099245" y="2882157"/>
              <a:ext cx="1010213" cy="338554"/>
            </a:xfrm>
            <a:prstGeom prst="rect">
              <a:avLst/>
            </a:prstGeom>
          </p:spPr>
          <p:txBody>
            <a:bodyPr wrap="none">
              <a:spAutoFit/>
            </a:bodyPr>
            <a:lstStyle/>
            <a:p>
              <a:r>
                <a:rPr lang="en-US" altLang="zh-CN" sz="16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PCR</a:t>
              </a:r>
              <a:r>
                <a:rPr lang="zh-CN" altLang="en-US" sz="16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處理</a:t>
              </a:r>
              <a:endParaRPr lang="zh-CN" altLang="en-US" sz="16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28" name="组合 27"/>
          <p:cNvGrpSpPr/>
          <p:nvPr/>
        </p:nvGrpSpPr>
        <p:grpSpPr>
          <a:xfrm>
            <a:off x="4639742" y="3135680"/>
            <a:ext cx="1613372" cy="1827513"/>
            <a:chOff x="4394113" y="1705998"/>
            <a:chExt cx="1613372" cy="1827513"/>
          </a:xfrm>
        </p:grpSpPr>
        <p:sp>
          <p:nvSpPr>
            <p:cNvPr id="29" name="Freeform 5"/>
            <p:cNvSpPr/>
            <p:nvPr/>
          </p:nvSpPr>
          <p:spPr bwMode="auto">
            <a:xfrm>
              <a:off x="4394113" y="1705998"/>
              <a:ext cx="1613372" cy="1827513"/>
            </a:xfrm>
            <a:custGeom>
              <a:avLst/>
              <a:gdLst>
                <a:gd name="T0" fmla="*/ 932 w 932"/>
                <a:gd name="T1" fmla="*/ 466 h 1056"/>
                <a:gd name="T2" fmla="*/ 466 w 932"/>
                <a:gd name="T3" fmla="*/ 0 h 1056"/>
                <a:gd name="T4" fmla="*/ 0 w 932"/>
                <a:gd name="T5" fmla="*/ 466 h 1056"/>
                <a:gd name="T6" fmla="*/ 466 w 932"/>
                <a:gd name="T7" fmla="*/ 931 h 1056"/>
                <a:gd name="T8" fmla="*/ 560 w 932"/>
                <a:gd name="T9" fmla="*/ 922 h 1056"/>
                <a:gd name="T10" fmla="*/ 557 w 932"/>
                <a:gd name="T11" fmla="*/ 1056 h 1056"/>
                <a:gd name="T12" fmla="*/ 899 w 932"/>
                <a:gd name="T13" fmla="*/ 644 h 1056"/>
                <a:gd name="T14" fmla="*/ 932 w 932"/>
                <a:gd name="T15" fmla="*/ 466 h 10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2" h="1056">
                  <a:moveTo>
                    <a:pt x="932" y="466"/>
                  </a:moveTo>
                  <a:cubicBezTo>
                    <a:pt x="932" y="208"/>
                    <a:pt x="723" y="0"/>
                    <a:pt x="466" y="0"/>
                  </a:cubicBezTo>
                  <a:cubicBezTo>
                    <a:pt x="209" y="0"/>
                    <a:pt x="0" y="208"/>
                    <a:pt x="0" y="466"/>
                  </a:cubicBezTo>
                  <a:cubicBezTo>
                    <a:pt x="0" y="723"/>
                    <a:pt x="209" y="931"/>
                    <a:pt x="466" y="931"/>
                  </a:cubicBezTo>
                  <a:cubicBezTo>
                    <a:pt x="498" y="931"/>
                    <a:pt x="529" y="928"/>
                    <a:pt x="560" y="922"/>
                  </a:cubicBezTo>
                  <a:cubicBezTo>
                    <a:pt x="557" y="1056"/>
                    <a:pt x="557" y="1056"/>
                    <a:pt x="557" y="1056"/>
                  </a:cubicBezTo>
                  <a:cubicBezTo>
                    <a:pt x="788" y="907"/>
                    <a:pt x="875" y="713"/>
                    <a:pt x="899" y="644"/>
                  </a:cubicBezTo>
                  <a:cubicBezTo>
                    <a:pt x="920" y="591"/>
                    <a:pt x="932" y="526"/>
                    <a:pt x="932" y="466"/>
                  </a:cubicBezTo>
                </a:path>
              </a:pathLst>
            </a:custGeom>
            <a:solidFill>
              <a:srgbClr val="405F8F"/>
            </a:solidFill>
            <a:ln>
              <a:noFill/>
            </a:ln>
            <a:effectLst>
              <a:outerShdw blurRad="431800" dist="889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0" name="Freeform 5"/>
            <p:cNvSpPr/>
            <p:nvPr/>
          </p:nvSpPr>
          <p:spPr bwMode="auto">
            <a:xfrm rot="21299021">
              <a:off x="4546513" y="1858398"/>
              <a:ext cx="1322994" cy="1498593"/>
            </a:xfrm>
            <a:custGeom>
              <a:avLst/>
              <a:gdLst>
                <a:gd name="T0" fmla="*/ 932 w 932"/>
                <a:gd name="T1" fmla="*/ 466 h 1056"/>
                <a:gd name="T2" fmla="*/ 466 w 932"/>
                <a:gd name="T3" fmla="*/ 0 h 1056"/>
                <a:gd name="T4" fmla="*/ 0 w 932"/>
                <a:gd name="T5" fmla="*/ 466 h 1056"/>
                <a:gd name="T6" fmla="*/ 466 w 932"/>
                <a:gd name="T7" fmla="*/ 931 h 1056"/>
                <a:gd name="T8" fmla="*/ 560 w 932"/>
                <a:gd name="T9" fmla="*/ 922 h 1056"/>
                <a:gd name="T10" fmla="*/ 557 w 932"/>
                <a:gd name="T11" fmla="*/ 1056 h 1056"/>
                <a:gd name="T12" fmla="*/ 899 w 932"/>
                <a:gd name="T13" fmla="*/ 644 h 1056"/>
                <a:gd name="T14" fmla="*/ 932 w 932"/>
                <a:gd name="T15" fmla="*/ 466 h 10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2" h="1056">
                  <a:moveTo>
                    <a:pt x="932" y="466"/>
                  </a:moveTo>
                  <a:cubicBezTo>
                    <a:pt x="932" y="208"/>
                    <a:pt x="723" y="0"/>
                    <a:pt x="466" y="0"/>
                  </a:cubicBezTo>
                  <a:cubicBezTo>
                    <a:pt x="209" y="0"/>
                    <a:pt x="0" y="208"/>
                    <a:pt x="0" y="466"/>
                  </a:cubicBezTo>
                  <a:cubicBezTo>
                    <a:pt x="0" y="723"/>
                    <a:pt x="209" y="931"/>
                    <a:pt x="466" y="931"/>
                  </a:cubicBezTo>
                  <a:cubicBezTo>
                    <a:pt x="498" y="931"/>
                    <a:pt x="529" y="928"/>
                    <a:pt x="560" y="922"/>
                  </a:cubicBezTo>
                  <a:cubicBezTo>
                    <a:pt x="557" y="1056"/>
                    <a:pt x="557" y="1056"/>
                    <a:pt x="557" y="1056"/>
                  </a:cubicBezTo>
                  <a:cubicBezTo>
                    <a:pt x="788" y="907"/>
                    <a:pt x="875" y="713"/>
                    <a:pt x="899" y="644"/>
                  </a:cubicBezTo>
                  <a:cubicBezTo>
                    <a:pt x="920" y="591"/>
                    <a:pt x="932" y="526"/>
                    <a:pt x="932" y="466"/>
                  </a:cubicBezTo>
                </a:path>
              </a:pathLst>
            </a:custGeom>
            <a:blipFill>
              <a:blip r:embed="rId3" cstate="screen">
                <a:extLst>
                  <a:ext uri="{28A0092B-C50C-407E-A947-70E740481C1C}">
                    <a14:useLocalDpi xmlns:a14="http://schemas.microsoft.com/office/drawing/2010/main"/>
                  </a:ext>
                </a:extLst>
              </a:blip>
              <a:stretch>
                <a:fillRect l="-167158" t="-31921" r="-198372" b="-151558"/>
              </a:stretch>
            </a:blip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31" name="组合 30"/>
          <p:cNvGrpSpPr/>
          <p:nvPr/>
        </p:nvGrpSpPr>
        <p:grpSpPr>
          <a:xfrm>
            <a:off x="5031523" y="3411723"/>
            <a:ext cx="934932" cy="1104835"/>
            <a:chOff x="5182714" y="3625488"/>
            <a:chExt cx="883413" cy="871906"/>
          </a:xfrm>
        </p:grpSpPr>
        <p:grpSp>
          <p:nvGrpSpPr>
            <p:cNvPr id="32" name="Group 18"/>
            <p:cNvGrpSpPr>
              <a:grpSpLocks noChangeAspect="1"/>
            </p:cNvGrpSpPr>
            <p:nvPr/>
          </p:nvGrpSpPr>
          <p:grpSpPr bwMode="auto">
            <a:xfrm>
              <a:off x="5355142" y="3625488"/>
              <a:ext cx="385124" cy="333775"/>
              <a:chOff x="3525" y="1887"/>
              <a:chExt cx="630" cy="546"/>
            </a:xfrm>
            <a:solidFill>
              <a:schemeClr val="bg1"/>
            </a:solidFill>
            <a:effectLst/>
          </p:grpSpPr>
          <p:sp>
            <p:nvSpPr>
              <p:cNvPr id="34" name="Freeform 19"/>
              <p:cNvSpPr/>
              <p:nvPr/>
            </p:nvSpPr>
            <p:spPr bwMode="auto">
              <a:xfrm>
                <a:off x="3623" y="2117"/>
                <a:ext cx="129" cy="227"/>
              </a:xfrm>
              <a:custGeom>
                <a:avLst/>
                <a:gdLst>
                  <a:gd name="T0" fmla="*/ 4 w 54"/>
                  <a:gd name="T1" fmla="*/ 95 h 95"/>
                  <a:gd name="T2" fmla="*/ 49 w 54"/>
                  <a:gd name="T3" fmla="*/ 95 h 95"/>
                  <a:gd name="T4" fmla="*/ 54 w 54"/>
                  <a:gd name="T5" fmla="*/ 90 h 95"/>
                  <a:gd name="T6" fmla="*/ 54 w 54"/>
                  <a:gd name="T7" fmla="*/ 4 h 95"/>
                  <a:gd name="T8" fmla="*/ 49 w 54"/>
                  <a:gd name="T9" fmla="*/ 0 h 95"/>
                  <a:gd name="T10" fmla="*/ 4 w 54"/>
                  <a:gd name="T11" fmla="*/ 0 h 95"/>
                  <a:gd name="T12" fmla="*/ 0 w 54"/>
                  <a:gd name="T13" fmla="*/ 4 h 95"/>
                  <a:gd name="T14" fmla="*/ 0 w 54"/>
                  <a:gd name="T15" fmla="*/ 90 h 95"/>
                  <a:gd name="T16" fmla="*/ 4 w 54"/>
                  <a:gd name="T1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95">
                    <a:moveTo>
                      <a:pt x="4" y="95"/>
                    </a:moveTo>
                    <a:cubicBezTo>
                      <a:pt x="49" y="95"/>
                      <a:pt x="49" y="95"/>
                      <a:pt x="49" y="95"/>
                    </a:cubicBezTo>
                    <a:cubicBezTo>
                      <a:pt x="52" y="95"/>
                      <a:pt x="54" y="93"/>
                      <a:pt x="54" y="90"/>
                    </a:cubicBezTo>
                    <a:cubicBezTo>
                      <a:pt x="54" y="4"/>
                      <a:pt x="54" y="4"/>
                      <a:pt x="54" y="4"/>
                    </a:cubicBezTo>
                    <a:cubicBezTo>
                      <a:pt x="54" y="2"/>
                      <a:pt x="52" y="0"/>
                      <a:pt x="49" y="0"/>
                    </a:cubicBezTo>
                    <a:cubicBezTo>
                      <a:pt x="4" y="0"/>
                      <a:pt x="4" y="0"/>
                      <a:pt x="4" y="0"/>
                    </a:cubicBezTo>
                    <a:cubicBezTo>
                      <a:pt x="2" y="0"/>
                      <a:pt x="0" y="2"/>
                      <a:pt x="0" y="4"/>
                    </a:cubicBezTo>
                    <a:cubicBezTo>
                      <a:pt x="0" y="90"/>
                      <a:pt x="0" y="90"/>
                      <a:pt x="0" y="90"/>
                    </a:cubicBezTo>
                    <a:cubicBezTo>
                      <a:pt x="0" y="93"/>
                      <a:pt x="2" y="95"/>
                      <a:pt x="4" y="95"/>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5" name="Freeform 20"/>
              <p:cNvSpPr/>
              <p:nvPr/>
            </p:nvSpPr>
            <p:spPr bwMode="auto">
              <a:xfrm>
                <a:off x="3809" y="2033"/>
                <a:ext cx="129" cy="311"/>
              </a:xfrm>
              <a:custGeom>
                <a:avLst/>
                <a:gdLst>
                  <a:gd name="T0" fmla="*/ 5 w 54"/>
                  <a:gd name="T1" fmla="*/ 130 h 130"/>
                  <a:gd name="T2" fmla="*/ 50 w 54"/>
                  <a:gd name="T3" fmla="*/ 130 h 130"/>
                  <a:gd name="T4" fmla="*/ 54 w 54"/>
                  <a:gd name="T5" fmla="*/ 125 h 130"/>
                  <a:gd name="T6" fmla="*/ 54 w 54"/>
                  <a:gd name="T7" fmla="*/ 5 h 130"/>
                  <a:gd name="T8" fmla="*/ 50 w 54"/>
                  <a:gd name="T9" fmla="*/ 0 h 130"/>
                  <a:gd name="T10" fmla="*/ 5 w 54"/>
                  <a:gd name="T11" fmla="*/ 0 h 130"/>
                  <a:gd name="T12" fmla="*/ 0 w 54"/>
                  <a:gd name="T13" fmla="*/ 5 h 130"/>
                  <a:gd name="T14" fmla="*/ 0 w 54"/>
                  <a:gd name="T15" fmla="*/ 125 h 130"/>
                  <a:gd name="T16" fmla="*/ 5 w 54"/>
                  <a:gd name="T1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130">
                    <a:moveTo>
                      <a:pt x="5" y="130"/>
                    </a:moveTo>
                    <a:cubicBezTo>
                      <a:pt x="50" y="130"/>
                      <a:pt x="50" y="130"/>
                      <a:pt x="50" y="130"/>
                    </a:cubicBezTo>
                    <a:cubicBezTo>
                      <a:pt x="52" y="130"/>
                      <a:pt x="54" y="128"/>
                      <a:pt x="54" y="125"/>
                    </a:cubicBezTo>
                    <a:cubicBezTo>
                      <a:pt x="54" y="5"/>
                      <a:pt x="54" y="5"/>
                      <a:pt x="54" y="5"/>
                    </a:cubicBezTo>
                    <a:cubicBezTo>
                      <a:pt x="54" y="2"/>
                      <a:pt x="52" y="0"/>
                      <a:pt x="50" y="0"/>
                    </a:cubicBezTo>
                    <a:cubicBezTo>
                      <a:pt x="5" y="0"/>
                      <a:pt x="5" y="0"/>
                      <a:pt x="5" y="0"/>
                    </a:cubicBezTo>
                    <a:cubicBezTo>
                      <a:pt x="2" y="0"/>
                      <a:pt x="0" y="2"/>
                      <a:pt x="0" y="5"/>
                    </a:cubicBezTo>
                    <a:cubicBezTo>
                      <a:pt x="0" y="125"/>
                      <a:pt x="0" y="125"/>
                      <a:pt x="0" y="125"/>
                    </a:cubicBezTo>
                    <a:cubicBezTo>
                      <a:pt x="0" y="128"/>
                      <a:pt x="2" y="130"/>
                      <a:pt x="5" y="130"/>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6" name="Freeform 21"/>
              <p:cNvSpPr/>
              <p:nvPr/>
            </p:nvSpPr>
            <p:spPr bwMode="auto">
              <a:xfrm>
                <a:off x="3997" y="1964"/>
                <a:ext cx="129" cy="380"/>
              </a:xfrm>
              <a:custGeom>
                <a:avLst/>
                <a:gdLst>
                  <a:gd name="T0" fmla="*/ 4 w 54"/>
                  <a:gd name="T1" fmla="*/ 159 h 159"/>
                  <a:gd name="T2" fmla="*/ 49 w 54"/>
                  <a:gd name="T3" fmla="*/ 159 h 159"/>
                  <a:gd name="T4" fmla="*/ 54 w 54"/>
                  <a:gd name="T5" fmla="*/ 154 h 159"/>
                  <a:gd name="T6" fmla="*/ 54 w 54"/>
                  <a:gd name="T7" fmla="*/ 5 h 159"/>
                  <a:gd name="T8" fmla="*/ 49 w 54"/>
                  <a:gd name="T9" fmla="*/ 0 h 159"/>
                  <a:gd name="T10" fmla="*/ 4 w 54"/>
                  <a:gd name="T11" fmla="*/ 0 h 159"/>
                  <a:gd name="T12" fmla="*/ 0 w 54"/>
                  <a:gd name="T13" fmla="*/ 5 h 159"/>
                  <a:gd name="T14" fmla="*/ 0 w 54"/>
                  <a:gd name="T15" fmla="*/ 154 h 159"/>
                  <a:gd name="T16" fmla="*/ 4 w 54"/>
                  <a:gd name="T17"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159">
                    <a:moveTo>
                      <a:pt x="4" y="159"/>
                    </a:moveTo>
                    <a:cubicBezTo>
                      <a:pt x="49" y="159"/>
                      <a:pt x="49" y="159"/>
                      <a:pt x="49" y="159"/>
                    </a:cubicBezTo>
                    <a:cubicBezTo>
                      <a:pt x="52" y="159"/>
                      <a:pt x="54" y="157"/>
                      <a:pt x="54" y="154"/>
                    </a:cubicBezTo>
                    <a:cubicBezTo>
                      <a:pt x="54" y="5"/>
                      <a:pt x="54" y="5"/>
                      <a:pt x="54" y="5"/>
                    </a:cubicBezTo>
                    <a:cubicBezTo>
                      <a:pt x="54" y="2"/>
                      <a:pt x="52" y="0"/>
                      <a:pt x="49" y="0"/>
                    </a:cubicBezTo>
                    <a:cubicBezTo>
                      <a:pt x="4" y="0"/>
                      <a:pt x="4" y="0"/>
                      <a:pt x="4" y="0"/>
                    </a:cubicBezTo>
                    <a:cubicBezTo>
                      <a:pt x="2" y="0"/>
                      <a:pt x="0" y="2"/>
                      <a:pt x="0" y="5"/>
                    </a:cubicBezTo>
                    <a:cubicBezTo>
                      <a:pt x="0" y="154"/>
                      <a:pt x="0" y="154"/>
                      <a:pt x="0" y="154"/>
                    </a:cubicBezTo>
                    <a:cubicBezTo>
                      <a:pt x="0" y="157"/>
                      <a:pt x="2" y="159"/>
                      <a:pt x="4" y="159"/>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7" name="Freeform 22"/>
              <p:cNvSpPr/>
              <p:nvPr/>
            </p:nvSpPr>
            <p:spPr bwMode="auto">
              <a:xfrm>
                <a:off x="3525" y="1887"/>
                <a:ext cx="630" cy="546"/>
              </a:xfrm>
              <a:custGeom>
                <a:avLst/>
                <a:gdLst>
                  <a:gd name="T0" fmla="*/ 253 w 264"/>
                  <a:gd name="T1" fmla="*/ 206 h 228"/>
                  <a:gd name="T2" fmla="*/ 23 w 264"/>
                  <a:gd name="T3" fmla="*/ 206 h 228"/>
                  <a:gd name="T4" fmla="*/ 22 w 264"/>
                  <a:gd name="T5" fmla="*/ 206 h 228"/>
                  <a:gd name="T6" fmla="*/ 22 w 264"/>
                  <a:gd name="T7" fmla="*/ 11 h 228"/>
                  <a:gd name="T8" fmla="*/ 11 w 264"/>
                  <a:gd name="T9" fmla="*/ 0 h 228"/>
                  <a:gd name="T10" fmla="*/ 0 w 264"/>
                  <a:gd name="T11" fmla="*/ 11 h 228"/>
                  <a:gd name="T12" fmla="*/ 0 w 264"/>
                  <a:gd name="T13" fmla="*/ 206 h 228"/>
                  <a:gd name="T14" fmla="*/ 23 w 264"/>
                  <a:gd name="T15" fmla="*/ 228 h 228"/>
                  <a:gd name="T16" fmla="*/ 253 w 264"/>
                  <a:gd name="T17" fmla="*/ 228 h 228"/>
                  <a:gd name="T18" fmla="*/ 264 w 264"/>
                  <a:gd name="T19" fmla="*/ 217 h 228"/>
                  <a:gd name="T20" fmla="*/ 253 w 264"/>
                  <a:gd name="T21" fmla="*/ 206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4" h="228">
                    <a:moveTo>
                      <a:pt x="253" y="206"/>
                    </a:moveTo>
                    <a:cubicBezTo>
                      <a:pt x="23" y="206"/>
                      <a:pt x="23" y="206"/>
                      <a:pt x="23" y="206"/>
                    </a:cubicBezTo>
                    <a:cubicBezTo>
                      <a:pt x="22" y="206"/>
                      <a:pt x="22" y="206"/>
                      <a:pt x="22" y="206"/>
                    </a:cubicBezTo>
                    <a:cubicBezTo>
                      <a:pt x="22" y="11"/>
                      <a:pt x="22" y="11"/>
                      <a:pt x="22" y="11"/>
                    </a:cubicBezTo>
                    <a:cubicBezTo>
                      <a:pt x="22" y="5"/>
                      <a:pt x="17" y="0"/>
                      <a:pt x="11" y="0"/>
                    </a:cubicBezTo>
                    <a:cubicBezTo>
                      <a:pt x="5" y="0"/>
                      <a:pt x="0" y="5"/>
                      <a:pt x="0" y="11"/>
                    </a:cubicBezTo>
                    <a:cubicBezTo>
                      <a:pt x="0" y="206"/>
                      <a:pt x="0" y="206"/>
                      <a:pt x="0" y="206"/>
                    </a:cubicBezTo>
                    <a:cubicBezTo>
                      <a:pt x="0" y="218"/>
                      <a:pt x="10" y="228"/>
                      <a:pt x="23" y="228"/>
                    </a:cubicBezTo>
                    <a:cubicBezTo>
                      <a:pt x="253" y="228"/>
                      <a:pt x="253" y="228"/>
                      <a:pt x="253" y="228"/>
                    </a:cubicBezTo>
                    <a:cubicBezTo>
                      <a:pt x="259" y="228"/>
                      <a:pt x="264" y="223"/>
                      <a:pt x="264" y="217"/>
                    </a:cubicBezTo>
                    <a:cubicBezTo>
                      <a:pt x="264" y="211"/>
                      <a:pt x="259" y="206"/>
                      <a:pt x="253" y="206"/>
                    </a:cubicBezTo>
                    <a:close/>
                  </a:path>
                </a:pathLst>
              </a:custGeom>
              <a:solidFill>
                <a:srgbClr val="405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33" name="矩形 32"/>
            <p:cNvSpPr/>
            <p:nvPr/>
          </p:nvSpPr>
          <p:spPr>
            <a:xfrm>
              <a:off x="5182714" y="4035905"/>
              <a:ext cx="883413" cy="461489"/>
            </a:xfrm>
            <a:prstGeom prst="rect">
              <a:avLst/>
            </a:prstGeom>
          </p:spPr>
          <p:txBody>
            <a:bodyPr wrap="square">
              <a:spAutoFit/>
            </a:bodyPr>
            <a:lstStyle/>
            <a:p>
              <a:r>
                <a:rPr lang="zh-CN" altLang="en-US" sz="16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系統異常修復</a:t>
              </a:r>
              <a:endParaRPr lang="zh-CN" altLang="en-US" sz="16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38" name="组合 37"/>
          <p:cNvGrpSpPr/>
          <p:nvPr/>
        </p:nvGrpSpPr>
        <p:grpSpPr>
          <a:xfrm flipH="1">
            <a:off x="5870064" y="4176088"/>
            <a:ext cx="1584176" cy="1827513"/>
            <a:chOff x="4394113" y="1705998"/>
            <a:chExt cx="1613372" cy="1827513"/>
          </a:xfrm>
        </p:grpSpPr>
        <p:sp>
          <p:nvSpPr>
            <p:cNvPr id="39" name="Freeform 5"/>
            <p:cNvSpPr/>
            <p:nvPr/>
          </p:nvSpPr>
          <p:spPr bwMode="auto">
            <a:xfrm>
              <a:off x="4394113" y="1705998"/>
              <a:ext cx="1613372" cy="1827513"/>
            </a:xfrm>
            <a:custGeom>
              <a:avLst/>
              <a:gdLst>
                <a:gd name="T0" fmla="*/ 932 w 932"/>
                <a:gd name="T1" fmla="*/ 466 h 1056"/>
                <a:gd name="T2" fmla="*/ 466 w 932"/>
                <a:gd name="T3" fmla="*/ 0 h 1056"/>
                <a:gd name="T4" fmla="*/ 0 w 932"/>
                <a:gd name="T5" fmla="*/ 466 h 1056"/>
                <a:gd name="T6" fmla="*/ 466 w 932"/>
                <a:gd name="T7" fmla="*/ 931 h 1056"/>
                <a:gd name="T8" fmla="*/ 560 w 932"/>
                <a:gd name="T9" fmla="*/ 922 h 1056"/>
                <a:gd name="T10" fmla="*/ 557 w 932"/>
                <a:gd name="T11" fmla="*/ 1056 h 1056"/>
                <a:gd name="T12" fmla="*/ 899 w 932"/>
                <a:gd name="T13" fmla="*/ 644 h 1056"/>
                <a:gd name="T14" fmla="*/ 932 w 932"/>
                <a:gd name="T15" fmla="*/ 466 h 10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2" h="1056">
                  <a:moveTo>
                    <a:pt x="932" y="466"/>
                  </a:moveTo>
                  <a:cubicBezTo>
                    <a:pt x="932" y="208"/>
                    <a:pt x="723" y="0"/>
                    <a:pt x="466" y="0"/>
                  </a:cubicBezTo>
                  <a:cubicBezTo>
                    <a:pt x="209" y="0"/>
                    <a:pt x="0" y="208"/>
                    <a:pt x="0" y="466"/>
                  </a:cubicBezTo>
                  <a:cubicBezTo>
                    <a:pt x="0" y="723"/>
                    <a:pt x="209" y="931"/>
                    <a:pt x="466" y="931"/>
                  </a:cubicBezTo>
                  <a:cubicBezTo>
                    <a:pt x="498" y="931"/>
                    <a:pt x="529" y="928"/>
                    <a:pt x="560" y="922"/>
                  </a:cubicBezTo>
                  <a:cubicBezTo>
                    <a:pt x="557" y="1056"/>
                    <a:pt x="557" y="1056"/>
                    <a:pt x="557" y="1056"/>
                  </a:cubicBezTo>
                  <a:cubicBezTo>
                    <a:pt x="788" y="907"/>
                    <a:pt x="875" y="713"/>
                    <a:pt x="899" y="644"/>
                  </a:cubicBezTo>
                  <a:cubicBezTo>
                    <a:pt x="920" y="591"/>
                    <a:pt x="932" y="526"/>
                    <a:pt x="932" y="466"/>
                  </a:cubicBezTo>
                </a:path>
              </a:pathLst>
            </a:custGeom>
            <a:solidFill>
              <a:srgbClr val="405F8F"/>
            </a:solidFill>
            <a:ln>
              <a:noFill/>
            </a:ln>
            <a:effectLst>
              <a:outerShdw blurRad="431800" dist="889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40" name="Freeform 5"/>
            <p:cNvSpPr/>
            <p:nvPr/>
          </p:nvSpPr>
          <p:spPr bwMode="auto">
            <a:xfrm rot="21299021">
              <a:off x="4546513" y="1858398"/>
              <a:ext cx="1322994" cy="1498593"/>
            </a:xfrm>
            <a:custGeom>
              <a:avLst/>
              <a:gdLst>
                <a:gd name="T0" fmla="*/ 932 w 932"/>
                <a:gd name="T1" fmla="*/ 466 h 1056"/>
                <a:gd name="T2" fmla="*/ 466 w 932"/>
                <a:gd name="T3" fmla="*/ 0 h 1056"/>
                <a:gd name="T4" fmla="*/ 0 w 932"/>
                <a:gd name="T5" fmla="*/ 466 h 1056"/>
                <a:gd name="T6" fmla="*/ 466 w 932"/>
                <a:gd name="T7" fmla="*/ 931 h 1056"/>
                <a:gd name="T8" fmla="*/ 560 w 932"/>
                <a:gd name="T9" fmla="*/ 922 h 1056"/>
                <a:gd name="T10" fmla="*/ 557 w 932"/>
                <a:gd name="T11" fmla="*/ 1056 h 1056"/>
                <a:gd name="T12" fmla="*/ 899 w 932"/>
                <a:gd name="T13" fmla="*/ 644 h 1056"/>
                <a:gd name="T14" fmla="*/ 932 w 932"/>
                <a:gd name="T15" fmla="*/ 466 h 10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2" h="1056">
                  <a:moveTo>
                    <a:pt x="932" y="466"/>
                  </a:moveTo>
                  <a:cubicBezTo>
                    <a:pt x="932" y="208"/>
                    <a:pt x="723" y="0"/>
                    <a:pt x="466" y="0"/>
                  </a:cubicBezTo>
                  <a:cubicBezTo>
                    <a:pt x="209" y="0"/>
                    <a:pt x="0" y="208"/>
                    <a:pt x="0" y="466"/>
                  </a:cubicBezTo>
                  <a:cubicBezTo>
                    <a:pt x="0" y="723"/>
                    <a:pt x="209" y="931"/>
                    <a:pt x="466" y="931"/>
                  </a:cubicBezTo>
                  <a:cubicBezTo>
                    <a:pt x="498" y="931"/>
                    <a:pt x="529" y="928"/>
                    <a:pt x="560" y="922"/>
                  </a:cubicBezTo>
                  <a:cubicBezTo>
                    <a:pt x="557" y="1056"/>
                    <a:pt x="557" y="1056"/>
                    <a:pt x="557" y="1056"/>
                  </a:cubicBezTo>
                  <a:cubicBezTo>
                    <a:pt x="788" y="907"/>
                    <a:pt x="875" y="713"/>
                    <a:pt x="899" y="644"/>
                  </a:cubicBezTo>
                  <a:cubicBezTo>
                    <a:pt x="920" y="591"/>
                    <a:pt x="932" y="526"/>
                    <a:pt x="932" y="466"/>
                  </a:cubicBezTo>
                </a:path>
              </a:pathLst>
            </a:custGeom>
            <a:blipFill>
              <a:blip r:embed="rId3" cstate="screen">
                <a:extLst>
                  <a:ext uri="{28A0092B-C50C-407E-A947-70E740481C1C}">
                    <a14:useLocalDpi xmlns:a14="http://schemas.microsoft.com/office/drawing/2010/main"/>
                  </a:ext>
                </a:extLst>
              </a:blip>
              <a:stretch>
                <a:fillRect l="-167158" t="-31921" r="-198372" b="-151558"/>
              </a:stretch>
            </a:blip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41" name="组合 40"/>
          <p:cNvGrpSpPr/>
          <p:nvPr/>
        </p:nvGrpSpPr>
        <p:grpSpPr>
          <a:xfrm>
            <a:off x="6198348" y="4518393"/>
            <a:ext cx="881984" cy="949865"/>
            <a:chOff x="6462301" y="4399738"/>
            <a:chExt cx="881984" cy="949865"/>
          </a:xfrm>
        </p:grpSpPr>
        <p:sp>
          <p:nvSpPr>
            <p:cNvPr id="42" name="Freeform 18"/>
            <p:cNvSpPr>
              <a:spLocks noEditPoints="1"/>
            </p:cNvSpPr>
            <p:nvPr/>
          </p:nvSpPr>
          <p:spPr bwMode="auto">
            <a:xfrm>
              <a:off x="6739622" y="4399738"/>
              <a:ext cx="371762" cy="370579"/>
            </a:xfrm>
            <a:custGeom>
              <a:avLst/>
              <a:gdLst>
                <a:gd name="T0" fmla="*/ 52 w 341"/>
                <a:gd name="T1" fmla="*/ 0 h 340"/>
                <a:gd name="T2" fmla="*/ 289 w 341"/>
                <a:gd name="T3" fmla="*/ 0 h 340"/>
                <a:gd name="T4" fmla="*/ 341 w 341"/>
                <a:gd name="T5" fmla="*/ 51 h 340"/>
                <a:gd name="T6" fmla="*/ 341 w 341"/>
                <a:gd name="T7" fmla="*/ 289 h 340"/>
                <a:gd name="T8" fmla="*/ 289 w 341"/>
                <a:gd name="T9" fmla="*/ 340 h 340"/>
                <a:gd name="T10" fmla="*/ 52 w 341"/>
                <a:gd name="T11" fmla="*/ 340 h 340"/>
                <a:gd name="T12" fmla="*/ 0 w 341"/>
                <a:gd name="T13" fmla="*/ 289 h 340"/>
                <a:gd name="T14" fmla="*/ 0 w 341"/>
                <a:gd name="T15" fmla="*/ 51 h 340"/>
                <a:gd name="T16" fmla="*/ 52 w 341"/>
                <a:gd name="T17" fmla="*/ 0 h 340"/>
                <a:gd name="T18" fmla="*/ 71 w 341"/>
                <a:gd name="T19" fmla="*/ 37 h 340"/>
                <a:gd name="T20" fmla="*/ 38 w 341"/>
                <a:gd name="T21" fmla="*/ 70 h 340"/>
                <a:gd name="T22" fmla="*/ 38 w 341"/>
                <a:gd name="T23" fmla="*/ 269 h 340"/>
                <a:gd name="T24" fmla="*/ 71 w 341"/>
                <a:gd name="T25" fmla="*/ 302 h 340"/>
                <a:gd name="T26" fmla="*/ 270 w 341"/>
                <a:gd name="T27" fmla="*/ 302 h 340"/>
                <a:gd name="T28" fmla="*/ 303 w 341"/>
                <a:gd name="T29" fmla="*/ 269 h 340"/>
                <a:gd name="T30" fmla="*/ 303 w 341"/>
                <a:gd name="T31" fmla="*/ 70 h 340"/>
                <a:gd name="T32" fmla="*/ 270 w 341"/>
                <a:gd name="T33" fmla="*/ 37 h 340"/>
                <a:gd name="T34" fmla="*/ 71 w 341"/>
                <a:gd name="T35" fmla="*/ 37 h 340"/>
                <a:gd name="T36" fmla="*/ 170 w 341"/>
                <a:gd name="T37" fmla="*/ 244 h 340"/>
                <a:gd name="T38" fmla="*/ 157 w 341"/>
                <a:gd name="T39" fmla="*/ 258 h 340"/>
                <a:gd name="T40" fmla="*/ 157 w 341"/>
                <a:gd name="T41" fmla="*/ 283 h 340"/>
                <a:gd name="T42" fmla="*/ 170 w 341"/>
                <a:gd name="T43" fmla="*/ 296 h 340"/>
                <a:gd name="T44" fmla="*/ 184 w 341"/>
                <a:gd name="T45" fmla="*/ 283 h 340"/>
                <a:gd name="T46" fmla="*/ 184 w 341"/>
                <a:gd name="T47" fmla="*/ 258 h 340"/>
                <a:gd name="T48" fmla="*/ 170 w 341"/>
                <a:gd name="T49" fmla="*/ 244 h 340"/>
                <a:gd name="T50" fmla="*/ 245 w 341"/>
                <a:gd name="T51" fmla="*/ 170 h 340"/>
                <a:gd name="T52" fmla="*/ 259 w 341"/>
                <a:gd name="T53" fmla="*/ 183 h 340"/>
                <a:gd name="T54" fmla="*/ 284 w 341"/>
                <a:gd name="T55" fmla="*/ 183 h 340"/>
                <a:gd name="T56" fmla="*/ 297 w 341"/>
                <a:gd name="T57" fmla="*/ 170 h 340"/>
                <a:gd name="T58" fmla="*/ 284 w 341"/>
                <a:gd name="T59" fmla="*/ 156 h 340"/>
                <a:gd name="T60" fmla="*/ 259 w 341"/>
                <a:gd name="T61" fmla="*/ 156 h 340"/>
                <a:gd name="T62" fmla="*/ 245 w 341"/>
                <a:gd name="T63" fmla="*/ 170 h 340"/>
                <a:gd name="T64" fmla="*/ 170 w 341"/>
                <a:gd name="T65" fmla="*/ 43 h 340"/>
                <a:gd name="T66" fmla="*/ 157 w 341"/>
                <a:gd name="T67" fmla="*/ 57 h 340"/>
                <a:gd name="T68" fmla="*/ 157 w 341"/>
                <a:gd name="T69" fmla="*/ 82 h 340"/>
                <a:gd name="T70" fmla="*/ 170 w 341"/>
                <a:gd name="T71" fmla="*/ 95 h 340"/>
                <a:gd name="T72" fmla="*/ 184 w 341"/>
                <a:gd name="T73" fmla="*/ 82 h 340"/>
                <a:gd name="T74" fmla="*/ 184 w 341"/>
                <a:gd name="T75" fmla="*/ 57 h 340"/>
                <a:gd name="T76" fmla="*/ 170 w 341"/>
                <a:gd name="T77" fmla="*/ 43 h 340"/>
                <a:gd name="T78" fmla="*/ 189 w 341"/>
                <a:gd name="T79" fmla="*/ 172 h 340"/>
                <a:gd name="T80" fmla="*/ 217 w 341"/>
                <a:gd name="T81" fmla="*/ 143 h 340"/>
                <a:gd name="T82" fmla="*/ 217 w 341"/>
                <a:gd name="T83" fmla="*/ 125 h 340"/>
                <a:gd name="T84" fmla="*/ 199 w 341"/>
                <a:gd name="T85" fmla="*/ 125 h 340"/>
                <a:gd name="T86" fmla="*/ 173 w 341"/>
                <a:gd name="T87" fmla="*/ 152 h 340"/>
                <a:gd name="T88" fmla="*/ 170 w 341"/>
                <a:gd name="T89" fmla="*/ 152 h 340"/>
                <a:gd name="T90" fmla="*/ 166 w 341"/>
                <a:gd name="T91" fmla="*/ 152 h 340"/>
                <a:gd name="T92" fmla="*/ 114 w 341"/>
                <a:gd name="T93" fmla="*/ 98 h 340"/>
                <a:gd name="T94" fmla="*/ 101 w 341"/>
                <a:gd name="T95" fmla="*/ 98 h 340"/>
                <a:gd name="T96" fmla="*/ 100 w 341"/>
                <a:gd name="T97" fmla="*/ 111 h 340"/>
                <a:gd name="T98" fmla="*/ 153 w 341"/>
                <a:gd name="T99" fmla="*/ 165 h 340"/>
                <a:gd name="T100" fmla="*/ 152 w 341"/>
                <a:gd name="T101" fmla="*/ 170 h 340"/>
                <a:gd name="T102" fmla="*/ 170 w 341"/>
                <a:gd name="T103" fmla="*/ 188 h 340"/>
                <a:gd name="T104" fmla="*/ 189 w 341"/>
                <a:gd name="T105" fmla="*/ 172 h 340"/>
                <a:gd name="T106" fmla="*/ 44 w 341"/>
                <a:gd name="T107" fmla="*/ 170 h 340"/>
                <a:gd name="T108" fmla="*/ 57 w 341"/>
                <a:gd name="T109" fmla="*/ 183 h 340"/>
                <a:gd name="T110" fmla="*/ 82 w 341"/>
                <a:gd name="T111" fmla="*/ 183 h 340"/>
                <a:gd name="T112" fmla="*/ 96 w 341"/>
                <a:gd name="T113" fmla="*/ 170 h 340"/>
                <a:gd name="T114" fmla="*/ 82 w 341"/>
                <a:gd name="T115" fmla="*/ 156 h 340"/>
                <a:gd name="T116" fmla="*/ 57 w 341"/>
                <a:gd name="T117" fmla="*/ 156 h 340"/>
                <a:gd name="T118" fmla="*/ 44 w 341"/>
                <a:gd name="T119" fmla="*/ 17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41" h="340">
                  <a:moveTo>
                    <a:pt x="52" y="0"/>
                  </a:moveTo>
                  <a:cubicBezTo>
                    <a:pt x="289" y="0"/>
                    <a:pt x="289" y="0"/>
                    <a:pt x="289" y="0"/>
                  </a:cubicBezTo>
                  <a:cubicBezTo>
                    <a:pt x="318" y="0"/>
                    <a:pt x="341" y="23"/>
                    <a:pt x="341" y="51"/>
                  </a:cubicBezTo>
                  <a:cubicBezTo>
                    <a:pt x="341" y="289"/>
                    <a:pt x="341" y="289"/>
                    <a:pt x="341" y="289"/>
                  </a:cubicBezTo>
                  <a:cubicBezTo>
                    <a:pt x="341" y="317"/>
                    <a:pt x="318" y="340"/>
                    <a:pt x="289" y="340"/>
                  </a:cubicBezTo>
                  <a:cubicBezTo>
                    <a:pt x="52" y="340"/>
                    <a:pt x="52" y="340"/>
                    <a:pt x="52" y="340"/>
                  </a:cubicBezTo>
                  <a:cubicBezTo>
                    <a:pt x="23" y="340"/>
                    <a:pt x="0" y="317"/>
                    <a:pt x="0" y="289"/>
                  </a:cubicBezTo>
                  <a:cubicBezTo>
                    <a:pt x="0" y="51"/>
                    <a:pt x="0" y="51"/>
                    <a:pt x="0" y="51"/>
                  </a:cubicBezTo>
                  <a:cubicBezTo>
                    <a:pt x="0" y="23"/>
                    <a:pt x="23" y="0"/>
                    <a:pt x="52" y="0"/>
                  </a:cubicBezTo>
                  <a:close/>
                  <a:moveTo>
                    <a:pt x="71" y="37"/>
                  </a:moveTo>
                  <a:cubicBezTo>
                    <a:pt x="53" y="37"/>
                    <a:pt x="38" y="52"/>
                    <a:pt x="38" y="70"/>
                  </a:cubicBezTo>
                  <a:cubicBezTo>
                    <a:pt x="38" y="269"/>
                    <a:pt x="38" y="269"/>
                    <a:pt x="38" y="269"/>
                  </a:cubicBezTo>
                  <a:cubicBezTo>
                    <a:pt x="38" y="288"/>
                    <a:pt x="53" y="302"/>
                    <a:pt x="71" y="302"/>
                  </a:cubicBezTo>
                  <a:cubicBezTo>
                    <a:pt x="270" y="302"/>
                    <a:pt x="270" y="302"/>
                    <a:pt x="270" y="302"/>
                  </a:cubicBezTo>
                  <a:cubicBezTo>
                    <a:pt x="288" y="302"/>
                    <a:pt x="303" y="288"/>
                    <a:pt x="303" y="269"/>
                  </a:cubicBezTo>
                  <a:cubicBezTo>
                    <a:pt x="303" y="70"/>
                    <a:pt x="303" y="70"/>
                    <a:pt x="303" y="70"/>
                  </a:cubicBezTo>
                  <a:cubicBezTo>
                    <a:pt x="303" y="52"/>
                    <a:pt x="288" y="37"/>
                    <a:pt x="270" y="37"/>
                  </a:cubicBezTo>
                  <a:cubicBezTo>
                    <a:pt x="71" y="37"/>
                    <a:pt x="71" y="37"/>
                    <a:pt x="71" y="37"/>
                  </a:cubicBezTo>
                  <a:close/>
                  <a:moveTo>
                    <a:pt x="170" y="244"/>
                  </a:moveTo>
                  <a:cubicBezTo>
                    <a:pt x="163" y="244"/>
                    <a:pt x="157" y="251"/>
                    <a:pt x="157" y="258"/>
                  </a:cubicBezTo>
                  <a:cubicBezTo>
                    <a:pt x="157" y="283"/>
                    <a:pt x="157" y="283"/>
                    <a:pt x="157" y="283"/>
                  </a:cubicBezTo>
                  <a:cubicBezTo>
                    <a:pt x="157" y="290"/>
                    <a:pt x="163" y="296"/>
                    <a:pt x="170" y="296"/>
                  </a:cubicBezTo>
                  <a:cubicBezTo>
                    <a:pt x="178" y="296"/>
                    <a:pt x="184" y="290"/>
                    <a:pt x="184" y="283"/>
                  </a:cubicBezTo>
                  <a:cubicBezTo>
                    <a:pt x="184" y="258"/>
                    <a:pt x="184" y="258"/>
                    <a:pt x="184" y="258"/>
                  </a:cubicBezTo>
                  <a:cubicBezTo>
                    <a:pt x="184" y="251"/>
                    <a:pt x="178" y="244"/>
                    <a:pt x="170" y="244"/>
                  </a:cubicBezTo>
                  <a:close/>
                  <a:moveTo>
                    <a:pt x="245" y="170"/>
                  </a:moveTo>
                  <a:cubicBezTo>
                    <a:pt x="245" y="177"/>
                    <a:pt x="251" y="183"/>
                    <a:pt x="259" y="183"/>
                  </a:cubicBezTo>
                  <a:cubicBezTo>
                    <a:pt x="284" y="183"/>
                    <a:pt x="284" y="183"/>
                    <a:pt x="284" y="183"/>
                  </a:cubicBezTo>
                  <a:cubicBezTo>
                    <a:pt x="291" y="183"/>
                    <a:pt x="297" y="177"/>
                    <a:pt x="297" y="170"/>
                  </a:cubicBezTo>
                  <a:cubicBezTo>
                    <a:pt x="297" y="162"/>
                    <a:pt x="291" y="156"/>
                    <a:pt x="284" y="156"/>
                  </a:cubicBezTo>
                  <a:cubicBezTo>
                    <a:pt x="259" y="156"/>
                    <a:pt x="259" y="156"/>
                    <a:pt x="259" y="156"/>
                  </a:cubicBezTo>
                  <a:cubicBezTo>
                    <a:pt x="251" y="156"/>
                    <a:pt x="245" y="162"/>
                    <a:pt x="245" y="170"/>
                  </a:cubicBezTo>
                  <a:close/>
                  <a:moveTo>
                    <a:pt x="170" y="43"/>
                  </a:moveTo>
                  <a:cubicBezTo>
                    <a:pt x="163" y="43"/>
                    <a:pt x="157" y="49"/>
                    <a:pt x="157" y="57"/>
                  </a:cubicBezTo>
                  <a:cubicBezTo>
                    <a:pt x="157" y="82"/>
                    <a:pt x="157" y="82"/>
                    <a:pt x="157" y="82"/>
                  </a:cubicBezTo>
                  <a:cubicBezTo>
                    <a:pt x="157" y="89"/>
                    <a:pt x="163" y="95"/>
                    <a:pt x="170" y="95"/>
                  </a:cubicBezTo>
                  <a:cubicBezTo>
                    <a:pt x="178" y="95"/>
                    <a:pt x="184" y="89"/>
                    <a:pt x="184" y="82"/>
                  </a:cubicBezTo>
                  <a:cubicBezTo>
                    <a:pt x="184" y="57"/>
                    <a:pt x="184" y="57"/>
                    <a:pt x="184" y="57"/>
                  </a:cubicBezTo>
                  <a:cubicBezTo>
                    <a:pt x="184" y="49"/>
                    <a:pt x="178" y="43"/>
                    <a:pt x="170" y="43"/>
                  </a:cubicBezTo>
                  <a:close/>
                  <a:moveTo>
                    <a:pt x="189" y="172"/>
                  </a:moveTo>
                  <a:cubicBezTo>
                    <a:pt x="217" y="143"/>
                    <a:pt x="217" y="143"/>
                    <a:pt x="217" y="143"/>
                  </a:cubicBezTo>
                  <a:cubicBezTo>
                    <a:pt x="222" y="138"/>
                    <a:pt x="222" y="130"/>
                    <a:pt x="217" y="125"/>
                  </a:cubicBezTo>
                  <a:cubicBezTo>
                    <a:pt x="212" y="120"/>
                    <a:pt x="204" y="120"/>
                    <a:pt x="199" y="125"/>
                  </a:cubicBezTo>
                  <a:cubicBezTo>
                    <a:pt x="173" y="152"/>
                    <a:pt x="173" y="152"/>
                    <a:pt x="173" y="152"/>
                  </a:cubicBezTo>
                  <a:cubicBezTo>
                    <a:pt x="172" y="152"/>
                    <a:pt x="171" y="152"/>
                    <a:pt x="170" y="152"/>
                  </a:cubicBezTo>
                  <a:cubicBezTo>
                    <a:pt x="169" y="152"/>
                    <a:pt x="168" y="152"/>
                    <a:pt x="166" y="152"/>
                  </a:cubicBezTo>
                  <a:cubicBezTo>
                    <a:pt x="114" y="98"/>
                    <a:pt x="114" y="98"/>
                    <a:pt x="114" y="98"/>
                  </a:cubicBezTo>
                  <a:cubicBezTo>
                    <a:pt x="110" y="94"/>
                    <a:pt x="104" y="94"/>
                    <a:pt x="101" y="98"/>
                  </a:cubicBezTo>
                  <a:cubicBezTo>
                    <a:pt x="97" y="101"/>
                    <a:pt x="97" y="107"/>
                    <a:pt x="100" y="111"/>
                  </a:cubicBezTo>
                  <a:cubicBezTo>
                    <a:pt x="153" y="165"/>
                    <a:pt x="153" y="165"/>
                    <a:pt x="153" y="165"/>
                  </a:cubicBezTo>
                  <a:cubicBezTo>
                    <a:pt x="152" y="167"/>
                    <a:pt x="152" y="168"/>
                    <a:pt x="152" y="170"/>
                  </a:cubicBezTo>
                  <a:cubicBezTo>
                    <a:pt x="152" y="180"/>
                    <a:pt x="160" y="188"/>
                    <a:pt x="170" y="188"/>
                  </a:cubicBezTo>
                  <a:cubicBezTo>
                    <a:pt x="180" y="188"/>
                    <a:pt x="188" y="181"/>
                    <a:pt x="189" y="172"/>
                  </a:cubicBezTo>
                  <a:close/>
                  <a:moveTo>
                    <a:pt x="44" y="170"/>
                  </a:moveTo>
                  <a:cubicBezTo>
                    <a:pt x="44" y="177"/>
                    <a:pt x="50" y="183"/>
                    <a:pt x="57" y="183"/>
                  </a:cubicBezTo>
                  <a:cubicBezTo>
                    <a:pt x="82" y="183"/>
                    <a:pt x="82" y="183"/>
                    <a:pt x="82" y="183"/>
                  </a:cubicBezTo>
                  <a:cubicBezTo>
                    <a:pt x="90" y="183"/>
                    <a:pt x="96" y="177"/>
                    <a:pt x="96" y="170"/>
                  </a:cubicBezTo>
                  <a:cubicBezTo>
                    <a:pt x="96" y="162"/>
                    <a:pt x="90" y="156"/>
                    <a:pt x="82" y="156"/>
                  </a:cubicBezTo>
                  <a:cubicBezTo>
                    <a:pt x="57" y="156"/>
                    <a:pt x="57" y="156"/>
                    <a:pt x="57" y="156"/>
                  </a:cubicBezTo>
                  <a:cubicBezTo>
                    <a:pt x="50" y="156"/>
                    <a:pt x="44" y="162"/>
                    <a:pt x="44" y="170"/>
                  </a:cubicBezTo>
                  <a:close/>
                </a:path>
              </a:pathLst>
            </a:custGeom>
            <a:solidFill>
              <a:srgbClr val="405F8F"/>
            </a:solidFill>
            <a:ln>
              <a:noFill/>
            </a:ln>
            <a:effectLst/>
          </p:spPr>
          <p:txBody>
            <a:bodyPr vert="horz" wrap="square" lIns="91440" tIns="45720" rIns="91440" bIns="45720" numCol="1" anchor="t" anchorCtr="0" compatLnSpc="1"/>
            <a:lstStyle/>
            <a:p>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43" name="矩形 42"/>
            <p:cNvSpPr/>
            <p:nvPr/>
          </p:nvSpPr>
          <p:spPr>
            <a:xfrm>
              <a:off x="6462301" y="4764828"/>
              <a:ext cx="881984" cy="584775"/>
            </a:xfrm>
            <a:prstGeom prst="rect">
              <a:avLst/>
            </a:prstGeom>
          </p:spPr>
          <p:txBody>
            <a:bodyPr wrap="square">
              <a:spAutoFit/>
            </a:bodyPr>
            <a:lstStyle/>
            <a:p>
              <a:r>
                <a:rPr lang="zh-CN" altLang="en-US" sz="16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系統</a:t>
              </a:r>
              <a:r>
                <a:rPr lang="zh-CN" altLang="en-US" sz="16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整合開發</a:t>
              </a:r>
              <a:endParaRPr lang="zh-CN" altLang="en-US" sz="16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44" name="组合 43"/>
          <p:cNvGrpSpPr/>
          <p:nvPr/>
        </p:nvGrpSpPr>
        <p:grpSpPr>
          <a:xfrm>
            <a:off x="4373536" y="2370905"/>
            <a:ext cx="711242" cy="701976"/>
            <a:chOff x="6217935" y="1158425"/>
            <a:chExt cx="527724" cy="520849"/>
          </a:xfrm>
        </p:grpSpPr>
        <p:grpSp>
          <p:nvGrpSpPr>
            <p:cNvPr id="45" name="组合 44"/>
            <p:cNvGrpSpPr/>
            <p:nvPr/>
          </p:nvGrpSpPr>
          <p:grpSpPr>
            <a:xfrm>
              <a:off x="6219351" y="1158425"/>
              <a:ext cx="520849" cy="520849"/>
              <a:chOff x="1705099" y="2564904"/>
              <a:chExt cx="1800200" cy="1800200"/>
            </a:xfrm>
          </p:grpSpPr>
          <p:sp>
            <p:nvSpPr>
              <p:cNvPr id="47" name="椭圆 46"/>
              <p:cNvSpPr/>
              <p:nvPr/>
            </p:nvSpPr>
            <p:spPr>
              <a:xfrm>
                <a:off x="1705099" y="2564904"/>
                <a:ext cx="1800200" cy="1800200"/>
              </a:xfrm>
              <a:prstGeom prst="ellipse">
                <a:avLst/>
              </a:prstGeom>
              <a:solidFill>
                <a:srgbClr val="0E647C"/>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48" name="椭圆 47"/>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46" name="TextBox 45"/>
            <p:cNvSpPr txBox="1"/>
            <p:nvPr/>
          </p:nvSpPr>
          <p:spPr>
            <a:xfrm>
              <a:off x="6217935" y="1271633"/>
              <a:ext cx="527724" cy="296872"/>
            </a:xfrm>
            <a:prstGeom prst="rect">
              <a:avLst/>
            </a:prstGeom>
            <a:noFill/>
          </p:spPr>
          <p:txBody>
            <a:bodyPr wrap="square" rtlCol="0">
              <a:spAutoFit/>
            </a:bodyPr>
            <a:lstStyle/>
            <a:p>
              <a:pPr algn="ctr"/>
              <a:r>
                <a:rPr lang="en-US" altLang="zh-CN"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01</a:t>
              </a:r>
              <a:endParaRPr lang="zh-CN" altLang="en-US"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49" name="组合 48"/>
          <p:cNvGrpSpPr/>
          <p:nvPr/>
        </p:nvGrpSpPr>
        <p:grpSpPr>
          <a:xfrm>
            <a:off x="1454789" y="2298793"/>
            <a:ext cx="2884910" cy="864780"/>
            <a:chOff x="8149535" y="1459078"/>
            <a:chExt cx="2884910" cy="864780"/>
          </a:xfrm>
        </p:grpSpPr>
        <p:sp>
          <p:nvSpPr>
            <p:cNvPr id="50" name="矩形 49"/>
            <p:cNvSpPr/>
            <p:nvPr/>
          </p:nvSpPr>
          <p:spPr>
            <a:xfrm>
              <a:off x="8149535" y="1800638"/>
              <a:ext cx="2884910" cy="523220"/>
            </a:xfrm>
            <a:prstGeom prst="rect">
              <a:avLst/>
            </a:prstGeom>
          </p:spPr>
          <p:txBody>
            <a:bodyPr wrap="square">
              <a:spAutoFit/>
            </a:bodyPr>
            <a:lstStyle/>
            <a:p>
              <a:pPr algn="r"/>
              <a:r>
                <a:rPr lang="zh-CN" altLang="en-US" sz="1400" dirty="0" smtClean="0">
                  <a:solidFill>
                    <a:schemeClr val="bg1">
                      <a:lumMod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用戶通過</a:t>
              </a:r>
              <a:r>
                <a:rPr lang="en-US" altLang="zh-CN" sz="1400" dirty="0" smtClean="0">
                  <a:solidFill>
                    <a:schemeClr val="bg1">
                      <a:lumMod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106</a:t>
              </a:r>
              <a:r>
                <a:rPr lang="zh-CN" altLang="en-US" sz="1400" dirty="0" smtClean="0">
                  <a:solidFill>
                    <a:schemeClr val="bg1">
                      <a:lumMod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平台報修的系統問題，第一時間聯繫用戶處理</a:t>
              </a:r>
              <a:endParaRPr lang="en-US" altLang="zh-CN" sz="1400" dirty="0">
                <a:solidFill>
                  <a:schemeClr val="tx1">
                    <a:lumMod val="65000"/>
                    <a:lumOff val="35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1" name="矩形 50"/>
            <p:cNvSpPr/>
            <p:nvPr/>
          </p:nvSpPr>
          <p:spPr>
            <a:xfrm>
              <a:off x="8543861" y="1459078"/>
              <a:ext cx="2490584" cy="369332"/>
            </a:xfrm>
            <a:prstGeom prst="rect">
              <a:avLst/>
            </a:prstGeom>
          </p:spPr>
          <p:txBody>
            <a:bodyPr wrap="square">
              <a:spAutoFit/>
            </a:bodyPr>
            <a:lstStyle/>
            <a:p>
              <a:pPr algn="r"/>
              <a:r>
                <a:rPr lang="zh-CN" altLang="en-US"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用戶</a:t>
              </a:r>
              <a:r>
                <a:rPr lang="en-US" altLang="zh-CN"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106</a:t>
              </a:r>
              <a:r>
                <a:rPr lang="zh-CN" altLang="en-US"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報修的工單</a:t>
              </a:r>
              <a:endParaRPr lang="zh-CN" altLang="en-US"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52" name="组合 51"/>
          <p:cNvGrpSpPr/>
          <p:nvPr/>
        </p:nvGrpSpPr>
        <p:grpSpPr>
          <a:xfrm>
            <a:off x="7240868" y="3379017"/>
            <a:ext cx="711242" cy="701976"/>
            <a:chOff x="6217935" y="1158425"/>
            <a:chExt cx="527724" cy="520849"/>
          </a:xfrm>
        </p:grpSpPr>
        <p:grpSp>
          <p:nvGrpSpPr>
            <p:cNvPr id="53" name="组合 52"/>
            <p:cNvGrpSpPr/>
            <p:nvPr/>
          </p:nvGrpSpPr>
          <p:grpSpPr>
            <a:xfrm>
              <a:off x="6219351" y="1158425"/>
              <a:ext cx="520849" cy="520849"/>
              <a:chOff x="1705099" y="2564904"/>
              <a:chExt cx="1800200" cy="1800200"/>
            </a:xfrm>
          </p:grpSpPr>
          <p:sp>
            <p:nvSpPr>
              <p:cNvPr id="55" name="椭圆 54"/>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6" name="椭圆 55"/>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54" name="TextBox 53"/>
            <p:cNvSpPr txBox="1"/>
            <p:nvPr/>
          </p:nvSpPr>
          <p:spPr>
            <a:xfrm>
              <a:off x="6217935" y="1271633"/>
              <a:ext cx="527724" cy="296872"/>
            </a:xfrm>
            <a:prstGeom prst="rect">
              <a:avLst/>
            </a:prstGeom>
            <a:noFill/>
          </p:spPr>
          <p:txBody>
            <a:bodyPr wrap="square" rtlCol="0">
              <a:spAutoFit/>
            </a:bodyPr>
            <a:lstStyle/>
            <a:p>
              <a:pPr algn="ctr"/>
              <a:r>
                <a:rPr lang="en-US" altLang="zh-CN"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02</a:t>
              </a:r>
              <a:endParaRPr lang="zh-CN" altLang="en-US"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57" name="组合 56"/>
          <p:cNvGrpSpPr/>
          <p:nvPr/>
        </p:nvGrpSpPr>
        <p:grpSpPr>
          <a:xfrm>
            <a:off x="7952110" y="3329034"/>
            <a:ext cx="3186037" cy="1345546"/>
            <a:chOff x="8548024" y="1459078"/>
            <a:chExt cx="3186037" cy="1345546"/>
          </a:xfrm>
        </p:grpSpPr>
        <p:sp>
          <p:nvSpPr>
            <p:cNvPr id="58" name="矩形 57"/>
            <p:cNvSpPr/>
            <p:nvPr/>
          </p:nvSpPr>
          <p:spPr>
            <a:xfrm>
              <a:off x="8548024" y="1850517"/>
              <a:ext cx="2898005" cy="954107"/>
            </a:xfrm>
            <a:prstGeom prst="rect">
              <a:avLst/>
            </a:prstGeom>
          </p:spPr>
          <p:txBody>
            <a:bodyPr wrap="square">
              <a:spAutoFit/>
            </a:bodyPr>
            <a:lstStyle/>
            <a:p>
              <a:r>
                <a:rPr lang="zh-CN" altLang="en-US" sz="1400" dirty="0" smtClean="0">
                  <a:solidFill>
                    <a:schemeClr val="bg1">
                      <a:lumMod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用戶提為滿足工作需要提出的新需求或者系統現有邏輯</a:t>
              </a:r>
              <a:r>
                <a:rPr lang="en-US" altLang="zh-CN" sz="1400" dirty="0" smtClean="0">
                  <a:solidFill>
                    <a:schemeClr val="bg1">
                      <a:lumMod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a:t>
              </a:r>
              <a:r>
                <a:rPr lang="zh-CN" altLang="en-US" sz="1400" dirty="0" smtClean="0">
                  <a:solidFill>
                    <a:schemeClr val="bg1">
                      <a:lumMod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流程變更等，能在盡量短的時間開發完成，并配合用戶做好測試工作。</a:t>
              </a:r>
              <a:endParaRPr lang="en-US" altLang="zh-CN" sz="1400" dirty="0">
                <a:solidFill>
                  <a:schemeClr val="tx1">
                    <a:lumMod val="65000"/>
                    <a:lumOff val="35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9" name="矩形 58"/>
            <p:cNvSpPr/>
            <p:nvPr/>
          </p:nvSpPr>
          <p:spPr>
            <a:xfrm>
              <a:off x="8548024" y="1459078"/>
              <a:ext cx="3186037" cy="369332"/>
            </a:xfrm>
            <a:prstGeom prst="rect">
              <a:avLst/>
            </a:prstGeom>
          </p:spPr>
          <p:txBody>
            <a:bodyPr wrap="square">
              <a:spAutoFit/>
            </a:bodyPr>
            <a:lstStyle/>
            <a:p>
              <a:r>
                <a:rPr lang="zh-CN" altLang="en-US"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用戶新需求開發</a:t>
              </a:r>
              <a:endParaRPr lang="zh-CN" altLang="en-US"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60" name="组合 59"/>
          <p:cNvGrpSpPr/>
          <p:nvPr/>
        </p:nvGrpSpPr>
        <p:grpSpPr>
          <a:xfrm>
            <a:off x="4373536" y="4243113"/>
            <a:ext cx="711242" cy="701976"/>
            <a:chOff x="6217935" y="1158425"/>
            <a:chExt cx="527724" cy="520849"/>
          </a:xfrm>
        </p:grpSpPr>
        <p:grpSp>
          <p:nvGrpSpPr>
            <p:cNvPr id="61" name="组合 60"/>
            <p:cNvGrpSpPr/>
            <p:nvPr/>
          </p:nvGrpSpPr>
          <p:grpSpPr>
            <a:xfrm>
              <a:off x="6219351" y="1158425"/>
              <a:ext cx="520849" cy="520849"/>
              <a:chOff x="1705099" y="2564904"/>
              <a:chExt cx="1800200" cy="1800200"/>
            </a:xfrm>
          </p:grpSpPr>
          <p:sp>
            <p:nvSpPr>
              <p:cNvPr id="63" name="椭圆 62"/>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64" name="椭圆 63"/>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62" name="TextBox 61"/>
            <p:cNvSpPr txBox="1"/>
            <p:nvPr/>
          </p:nvSpPr>
          <p:spPr>
            <a:xfrm>
              <a:off x="6217935" y="1271633"/>
              <a:ext cx="527724" cy="296872"/>
            </a:xfrm>
            <a:prstGeom prst="rect">
              <a:avLst/>
            </a:prstGeom>
            <a:noFill/>
          </p:spPr>
          <p:txBody>
            <a:bodyPr wrap="square" rtlCol="0">
              <a:spAutoFit/>
            </a:bodyPr>
            <a:lstStyle/>
            <a:p>
              <a:pPr algn="ctr"/>
              <a:r>
                <a:rPr lang="en-US" altLang="zh-CN"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03</a:t>
              </a:r>
              <a:endParaRPr lang="zh-CN" altLang="en-US"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65" name="组合 64"/>
          <p:cNvGrpSpPr/>
          <p:nvPr/>
        </p:nvGrpSpPr>
        <p:grpSpPr>
          <a:xfrm>
            <a:off x="1471390" y="4099097"/>
            <a:ext cx="2884910" cy="864780"/>
            <a:chOff x="8149535" y="1459078"/>
            <a:chExt cx="2884910" cy="864780"/>
          </a:xfrm>
        </p:grpSpPr>
        <p:sp>
          <p:nvSpPr>
            <p:cNvPr id="66" name="矩形 65"/>
            <p:cNvSpPr/>
            <p:nvPr/>
          </p:nvSpPr>
          <p:spPr>
            <a:xfrm>
              <a:off x="8149535" y="1800638"/>
              <a:ext cx="2884910" cy="523220"/>
            </a:xfrm>
            <a:prstGeom prst="rect">
              <a:avLst/>
            </a:prstGeom>
          </p:spPr>
          <p:txBody>
            <a:bodyPr wrap="square">
              <a:spAutoFit/>
            </a:bodyPr>
            <a:lstStyle/>
            <a:p>
              <a:pPr algn="r"/>
              <a:r>
                <a:rPr lang="zh-CN" altLang="en-US" sz="1400" dirty="0" smtClean="0">
                  <a:solidFill>
                    <a:schemeClr val="tx1">
                      <a:lumMod val="65000"/>
                      <a:lumOff val="35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用戶提出或者自主發現的系統問題能迅速定位異常原因并修改完成。</a:t>
              </a:r>
              <a:endParaRPr lang="en-US" altLang="zh-CN" sz="1400" dirty="0">
                <a:solidFill>
                  <a:schemeClr val="tx1">
                    <a:lumMod val="65000"/>
                    <a:lumOff val="35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67" name="矩形 66"/>
            <p:cNvSpPr/>
            <p:nvPr/>
          </p:nvSpPr>
          <p:spPr>
            <a:xfrm>
              <a:off x="8149535" y="1459078"/>
              <a:ext cx="2884910" cy="369332"/>
            </a:xfrm>
            <a:prstGeom prst="rect">
              <a:avLst/>
            </a:prstGeom>
          </p:spPr>
          <p:txBody>
            <a:bodyPr wrap="square">
              <a:spAutoFit/>
            </a:bodyPr>
            <a:lstStyle/>
            <a:p>
              <a:pPr algn="r"/>
              <a:r>
                <a:rPr lang="zh-CN" altLang="en-US"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修復系統</a:t>
              </a:r>
              <a:r>
                <a:rPr lang="en-US" altLang="zh-CN"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BUG</a:t>
              </a:r>
              <a:endParaRPr lang="zh-CN" altLang="en-US"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68" name="组合 67"/>
          <p:cNvGrpSpPr/>
          <p:nvPr/>
        </p:nvGrpSpPr>
        <p:grpSpPr>
          <a:xfrm>
            <a:off x="7232030" y="4981297"/>
            <a:ext cx="711242" cy="701976"/>
            <a:chOff x="6217935" y="1158425"/>
            <a:chExt cx="527724" cy="520849"/>
          </a:xfrm>
        </p:grpSpPr>
        <p:grpSp>
          <p:nvGrpSpPr>
            <p:cNvPr id="69" name="组合 68"/>
            <p:cNvGrpSpPr/>
            <p:nvPr/>
          </p:nvGrpSpPr>
          <p:grpSpPr>
            <a:xfrm>
              <a:off x="6219351" y="1158425"/>
              <a:ext cx="520849" cy="520849"/>
              <a:chOff x="1705099" y="2564904"/>
              <a:chExt cx="1800200" cy="1800200"/>
            </a:xfrm>
          </p:grpSpPr>
          <p:sp>
            <p:nvSpPr>
              <p:cNvPr id="71" name="椭圆 70"/>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72" name="椭圆 71"/>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70" name="TextBox 69"/>
            <p:cNvSpPr txBox="1"/>
            <p:nvPr/>
          </p:nvSpPr>
          <p:spPr>
            <a:xfrm>
              <a:off x="6217935" y="1271633"/>
              <a:ext cx="527724" cy="296872"/>
            </a:xfrm>
            <a:prstGeom prst="rect">
              <a:avLst/>
            </a:prstGeom>
            <a:noFill/>
          </p:spPr>
          <p:txBody>
            <a:bodyPr wrap="square" rtlCol="0">
              <a:spAutoFit/>
            </a:bodyPr>
            <a:lstStyle/>
            <a:p>
              <a:pPr algn="ctr"/>
              <a:r>
                <a:rPr lang="en-US" altLang="zh-CN"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04</a:t>
              </a:r>
              <a:endParaRPr lang="zh-CN" altLang="en-US" sz="20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nvGrpSpPr>
          <p:cNvPr id="73" name="组合 72"/>
          <p:cNvGrpSpPr/>
          <p:nvPr/>
        </p:nvGrpSpPr>
        <p:grpSpPr>
          <a:xfrm>
            <a:off x="7952110" y="4891185"/>
            <a:ext cx="2898005" cy="1130103"/>
            <a:chOff x="8548024" y="1459078"/>
            <a:chExt cx="2898005" cy="1130103"/>
          </a:xfrm>
        </p:grpSpPr>
        <p:sp>
          <p:nvSpPr>
            <p:cNvPr id="74" name="矩形 73"/>
            <p:cNvSpPr/>
            <p:nvPr/>
          </p:nvSpPr>
          <p:spPr>
            <a:xfrm>
              <a:off x="8548024" y="1850517"/>
              <a:ext cx="2898005" cy="738664"/>
            </a:xfrm>
            <a:prstGeom prst="rect">
              <a:avLst/>
            </a:prstGeom>
          </p:spPr>
          <p:txBody>
            <a:bodyPr wrap="square">
              <a:spAutoFit/>
            </a:bodyPr>
            <a:lstStyle/>
            <a:p>
              <a:r>
                <a:rPr lang="zh-CN" altLang="en-US" sz="1400" dirty="0" smtClean="0">
                  <a:solidFill>
                    <a:schemeClr val="tx1">
                      <a:lumMod val="65000"/>
                      <a:lumOff val="35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部門同事共同完成新系統的開發，或者多個系統管理員參與完成系統的對接工作。</a:t>
              </a:r>
              <a:endParaRPr lang="en-US" altLang="zh-CN" sz="1400" dirty="0">
                <a:solidFill>
                  <a:schemeClr val="tx1">
                    <a:lumMod val="65000"/>
                    <a:lumOff val="35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75" name="矩形 74"/>
            <p:cNvSpPr/>
            <p:nvPr/>
          </p:nvSpPr>
          <p:spPr>
            <a:xfrm>
              <a:off x="8548024" y="1459078"/>
              <a:ext cx="2177925" cy="369332"/>
            </a:xfrm>
            <a:prstGeom prst="rect">
              <a:avLst/>
            </a:prstGeom>
          </p:spPr>
          <p:txBody>
            <a:bodyPr wrap="square">
              <a:spAutoFit/>
            </a:bodyPr>
            <a:lstStyle/>
            <a:p>
              <a:r>
                <a:rPr lang="zh-CN" altLang="en-US"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團隊協作開發</a:t>
              </a:r>
              <a:endParaRPr lang="zh-CN" altLang="en-US"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91"/>
                                        </p:tgtEl>
                                        <p:attrNameLst>
                                          <p:attrName>style.visibility</p:attrName>
                                        </p:attrNameLst>
                                      </p:cBhvr>
                                      <p:to>
                                        <p:strVal val="visible"/>
                                      </p:to>
                                    </p:set>
                                    <p:anim calcmode="lin" valueType="num">
                                      <p:cBhvr>
                                        <p:cTn id="7" dur="500" fill="hold"/>
                                        <p:tgtEl>
                                          <p:spTgt spid="9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91"/>
                                        </p:tgtEl>
                                        <p:attrNameLst>
                                          <p:attrName>ppt_y</p:attrName>
                                        </p:attrNameLst>
                                      </p:cBhvr>
                                      <p:tavLst>
                                        <p:tav tm="0">
                                          <p:val>
                                            <p:strVal val="#ppt_y"/>
                                          </p:val>
                                        </p:tav>
                                        <p:tav tm="100000">
                                          <p:val>
                                            <p:strVal val="#ppt_y"/>
                                          </p:val>
                                        </p:tav>
                                      </p:tavLst>
                                    </p:anim>
                                    <p:anim calcmode="lin" valueType="num">
                                      <p:cBhvr>
                                        <p:cTn id="9" dur="500" fill="hold"/>
                                        <p:tgtEl>
                                          <p:spTgt spid="9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9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91"/>
                                        </p:tgtEl>
                                      </p:cBhvr>
                                    </p:animEffect>
                                  </p:childTnLst>
                                </p:cTn>
                              </p:par>
                              <p:par>
                                <p:cTn id="12" presetID="2" presetClass="entr" presetSubtype="8" fill="hold" nodeType="withEffect">
                                  <p:stCondLst>
                                    <p:cond delay="250"/>
                                  </p:stCondLst>
                                  <p:childTnLst>
                                    <p:set>
                                      <p:cBhvr>
                                        <p:cTn id="13" dur="1" fill="hold">
                                          <p:stCondLst>
                                            <p:cond delay="0"/>
                                          </p:stCondLst>
                                        </p:cTn>
                                        <p:tgtEl>
                                          <p:spTgt spid="98"/>
                                        </p:tgtEl>
                                        <p:attrNameLst>
                                          <p:attrName>style.visibility</p:attrName>
                                        </p:attrNameLst>
                                      </p:cBhvr>
                                      <p:to>
                                        <p:strVal val="visible"/>
                                      </p:to>
                                    </p:set>
                                    <p:anim calcmode="lin" valueType="num">
                                      <p:cBhvr additive="base">
                                        <p:cTn id="14" dur="500" fill="hold"/>
                                        <p:tgtEl>
                                          <p:spTgt spid="98"/>
                                        </p:tgtEl>
                                        <p:attrNameLst>
                                          <p:attrName>ppt_x</p:attrName>
                                        </p:attrNameLst>
                                      </p:cBhvr>
                                      <p:tavLst>
                                        <p:tav tm="0">
                                          <p:val>
                                            <p:strVal val="0-#ppt_w/2"/>
                                          </p:val>
                                        </p:tav>
                                        <p:tav tm="100000">
                                          <p:val>
                                            <p:strVal val="#ppt_x"/>
                                          </p:val>
                                        </p:tav>
                                      </p:tavLst>
                                    </p:anim>
                                    <p:anim calcmode="lin" valueType="num">
                                      <p:cBhvr additive="base">
                                        <p:cTn id="15" dur="500" fill="hold"/>
                                        <p:tgtEl>
                                          <p:spTgt spid="98"/>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95"/>
                                        </p:tgtEl>
                                        <p:attrNameLst>
                                          <p:attrName>style.visibility</p:attrName>
                                        </p:attrNameLst>
                                      </p:cBhvr>
                                      <p:to>
                                        <p:strVal val="visible"/>
                                      </p:to>
                                    </p:set>
                                    <p:anim calcmode="lin" valueType="num">
                                      <p:cBhvr additive="base">
                                        <p:cTn id="18" dur="500" fill="hold"/>
                                        <p:tgtEl>
                                          <p:spTgt spid="95"/>
                                        </p:tgtEl>
                                        <p:attrNameLst>
                                          <p:attrName>ppt_x</p:attrName>
                                        </p:attrNameLst>
                                      </p:cBhvr>
                                      <p:tavLst>
                                        <p:tav tm="0">
                                          <p:val>
                                            <p:strVal val="1+#ppt_w/2"/>
                                          </p:val>
                                        </p:tav>
                                        <p:tav tm="100000">
                                          <p:val>
                                            <p:strVal val="#ppt_x"/>
                                          </p:val>
                                        </p:tav>
                                      </p:tavLst>
                                    </p:anim>
                                    <p:anim calcmode="lin" valueType="num">
                                      <p:cBhvr additive="base">
                                        <p:cTn id="19" dur="500" fill="hold"/>
                                        <p:tgtEl>
                                          <p:spTgt spid="95"/>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stCondLst>
                                    <p:cond delay="250"/>
                                  </p:stCondLst>
                                  <p:childTnLst>
                                    <p:set>
                                      <p:cBhvr>
                                        <p:cTn id="21" dur="1" fill="hold">
                                          <p:stCondLst>
                                            <p:cond delay="0"/>
                                          </p:stCondLst>
                                        </p:cTn>
                                        <p:tgtEl>
                                          <p:spTgt spid="102"/>
                                        </p:tgtEl>
                                        <p:attrNameLst>
                                          <p:attrName>style.visibility</p:attrName>
                                        </p:attrNameLst>
                                      </p:cBhvr>
                                      <p:to>
                                        <p:strVal val="visible"/>
                                      </p:to>
                                    </p:set>
                                    <p:anim calcmode="lin" valueType="num">
                                      <p:cBhvr additive="base">
                                        <p:cTn id="22" dur="500" fill="hold"/>
                                        <p:tgtEl>
                                          <p:spTgt spid="102"/>
                                        </p:tgtEl>
                                        <p:attrNameLst>
                                          <p:attrName>ppt_x</p:attrName>
                                        </p:attrNameLst>
                                      </p:cBhvr>
                                      <p:tavLst>
                                        <p:tav tm="0">
                                          <p:val>
                                            <p:strVal val="0-#ppt_w/2"/>
                                          </p:val>
                                        </p:tav>
                                        <p:tav tm="100000">
                                          <p:val>
                                            <p:strVal val="#ppt_x"/>
                                          </p:val>
                                        </p:tav>
                                      </p:tavLst>
                                    </p:anim>
                                    <p:anim calcmode="lin" valueType="num">
                                      <p:cBhvr additive="base">
                                        <p:cTn id="23" dur="500" fill="hold"/>
                                        <p:tgtEl>
                                          <p:spTgt spid="102"/>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250"/>
                                  </p:stCondLst>
                                  <p:childTnLst>
                                    <p:set>
                                      <p:cBhvr>
                                        <p:cTn id="25" dur="1" fill="hold">
                                          <p:stCondLst>
                                            <p:cond delay="0"/>
                                          </p:stCondLst>
                                        </p:cTn>
                                        <p:tgtEl>
                                          <p:spTgt spid="101"/>
                                        </p:tgtEl>
                                        <p:attrNameLst>
                                          <p:attrName>style.visibility</p:attrName>
                                        </p:attrNameLst>
                                      </p:cBhvr>
                                      <p:to>
                                        <p:strVal val="visible"/>
                                      </p:to>
                                    </p:set>
                                    <p:anim calcmode="lin" valueType="num">
                                      <p:cBhvr additive="base">
                                        <p:cTn id="26" dur="500" fill="hold"/>
                                        <p:tgtEl>
                                          <p:spTgt spid="101"/>
                                        </p:tgtEl>
                                        <p:attrNameLst>
                                          <p:attrName>ppt_x</p:attrName>
                                        </p:attrNameLst>
                                      </p:cBhvr>
                                      <p:tavLst>
                                        <p:tav tm="0">
                                          <p:val>
                                            <p:strVal val="1+#ppt_w/2"/>
                                          </p:val>
                                        </p:tav>
                                        <p:tav tm="100000">
                                          <p:val>
                                            <p:strVal val="#ppt_x"/>
                                          </p:val>
                                        </p:tav>
                                      </p:tavLst>
                                    </p:anim>
                                    <p:anim calcmode="lin" valueType="num">
                                      <p:cBhvr additive="base">
                                        <p:cTn id="27" dur="500" fill="hold"/>
                                        <p:tgtEl>
                                          <p:spTgt spid="101"/>
                                        </p:tgtEl>
                                        <p:attrNameLst>
                                          <p:attrName>ppt_y</p:attrName>
                                        </p:attrNameLst>
                                      </p:cBhvr>
                                      <p:tavLst>
                                        <p:tav tm="0">
                                          <p:val>
                                            <p:strVal val="#ppt_y"/>
                                          </p:val>
                                        </p:tav>
                                        <p:tav tm="100000">
                                          <p:val>
                                            <p:strVal val="#ppt_y"/>
                                          </p:val>
                                        </p:tav>
                                      </p:tavLst>
                                    </p:anim>
                                  </p:childTnLst>
                                </p:cTn>
                              </p:par>
                              <p:par>
                                <p:cTn id="28" presetID="2" presetClass="entr" presetSubtype="1" fill="hold" nodeType="withEffect">
                                  <p:stCondLst>
                                    <p:cond delay="75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fill="hold"/>
                                        <p:tgtEl>
                                          <p:spTgt spid="12"/>
                                        </p:tgtEl>
                                        <p:attrNameLst>
                                          <p:attrName>ppt_x</p:attrName>
                                        </p:attrNameLst>
                                      </p:cBhvr>
                                      <p:tavLst>
                                        <p:tav tm="0">
                                          <p:val>
                                            <p:strVal val="#ppt_x"/>
                                          </p:val>
                                        </p:tav>
                                        <p:tav tm="100000">
                                          <p:val>
                                            <p:strVal val="#ppt_x"/>
                                          </p:val>
                                        </p:tav>
                                      </p:tavLst>
                                    </p:anim>
                                    <p:anim calcmode="lin" valueType="num">
                                      <p:cBhvr additive="base">
                                        <p:cTn id="31" dur="500" fill="hold"/>
                                        <p:tgtEl>
                                          <p:spTgt spid="12"/>
                                        </p:tgtEl>
                                        <p:attrNameLst>
                                          <p:attrName>ppt_y</p:attrName>
                                        </p:attrNameLst>
                                      </p:cBhvr>
                                      <p:tavLst>
                                        <p:tav tm="0">
                                          <p:val>
                                            <p:strVal val="0-#ppt_h/2"/>
                                          </p:val>
                                        </p:tav>
                                        <p:tav tm="100000">
                                          <p:val>
                                            <p:strVal val="#ppt_y"/>
                                          </p:val>
                                        </p:tav>
                                      </p:tavLst>
                                    </p:anim>
                                  </p:childTnLst>
                                </p:cTn>
                              </p:par>
                              <p:par>
                                <p:cTn id="32" presetID="2" presetClass="entr" presetSubtype="8" fill="hold" nodeType="withEffect">
                                  <p:stCondLst>
                                    <p:cond delay="750"/>
                                  </p:stCondLst>
                                  <p:childTnLst>
                                    <p:set>
                                      <p:cBhvr>
                                        <p:cTn id="33" dur="1" fill="hold">
                                          <p:stCondLst>
                                            <p:cond delay="0"/>
                                          </p:stCondLst>
                                        </p:cTn>
                                        <p:tgtEl>
                                          <p:spTgt spid="28"/>
                                        </p:tgtEl>
                                        <p:attrNameLst>
                                          <p:attrName>style.visibility</p:attrName>
                                        </p:attrNameLst>
                                      </p:cBhvr>
                                      <p:to>
                                        <p:strVal val="visible"/>
                                      </p:to>
                                    </p:set>
                                    <p:anim calcmode="lin" valueType="num">
                                      <p:cBhvr additive="base">
                                        <p:cTn id="34" dur="500" fill="hold"/>
                                        <p:tgtEl>
                                          <p:spTgt spid="28"/>
                                        </p:tgtEl>
                                        <p:attrNameLst>
                                          <p:attrName>ppt_x</p:attrName>
                                        </p:attrNameLst>
                                      </p:cBhvr>
                                      <p:tavLst>
                                        <p:tav tm="0">
                                          <p:val>
                                            <p:strVal val="0-#ppt_w/2"/>
                                          </p:val>
                                        </p:tav>
                                        <p:tav tm="100000">
                                          <p:val>
                                            <p:strVal val="#ppt_x"/>
                                          </p:val>
                                        </p:tav>
                                      </p:tavLst>
                                    </p:anim>
                                    <p:anim calcmode="lin" valueType="num">
                                      <p:cBhvr additive="base">
                                        <p:cTn id="35" dur="500" fill="hold"/>
                                        <p:tgtEl>
                                          <p:spTgt spid="28"/>
                                        </p:tgtEl>
                                        <p:attrNameLst>
                                          <p:attrName>ppt_y</p:attrName>
                                        </p:attrNameLst>
                                      </p:cBhvr>
                                      <p:tavLst>
                                        <p:tav tm="0">
                                          <p:val>
                                            <p:strVal val="#ppt_y"/>
                                          </p:val>
                                        </p:tav>
                                        <p:tav tm="100000">
                                          <p:val>
                                            <p:strVal val="#ppt_y"/>
                                          </p:val>
                                        </p:tav>
                                      </p:tavLst>
                                    </p:anim>
                                  </p:childTnLst>
                                </p:cTn>
                              </p:par>
                              <p:par>
                                <p:cTn id="36" presetID="2" presetClass="entr" presetSubtype="4" fill="hold" nodeType="withEffect">
                                  <p:stCondLst>
                                    <p:cond delay="750"/>
                                  </p:stCondLst>
                                  <p:childTnLst>
                                    <p:set>
                                      <p:cBhvr>
                                        <p:cTn id="37" dur="1" fill="hold">
                                          <p:stCondLst>
                                            <p:cond delay="0"/>
                                          </p:stCondLst>
                                        </p:cTn>
                                        <p:tgtEl>
                                          <p:spTgt spid="38"/>
                                        </p:tgtEl>
                                        <p:attrNameLst>
                                          <p:attrName>style.visibility</p:attrName>
                                        </p:attrNameLst>
                                      </p:cBhvr>
                                      <p:to>
                                        <p:strVal val="visible"/>
                                      </p:to>
                                    </p:set>
                                    <p:anim calcmode="lin" valueType="num">
                                      <p:cBhvr additive="base">
                                        <p:cTn id="38" dur="500" fill="hold"/>
                                        <p:tgtEl>
                                          <p:spTgt spid="38"/>
                                        </p:tgtEl>
                                        <p:attrNameLst>
                                          <p:attrName>ppt_x</p:attrName>
                                        </p:attrNameLst>
                                      </p:cBhvr>
                                      <p:tavLst>
                                        <p:tav tm="0">
                                          <p:val>
                                            <p:strVal val="#ppt_x"/>
                                          </p:val>
                                        </p:tav>
                                        <p:tav tm="100000">
                                          <p:val>
                                            <p:strVal val="#ppt_x"/>
                                          </p:val>
                                        </p:tav>
                                      </p:tavLst>
                                    </p:anim>
                                    <p:anim calcmode="lin" valueType="num">
                                      <p:cBhvr additive="base">
                                        <p:cTn id="39" dur="500" fill="hold"/>
                                        <p:tgtEl>
                                          <p:spTgt spid="38"/>
                                        </p:tgtEl>
                                        <p:attrNameLst>
                                          <p:attrName>ppt_y</p:attrName>
                                        </p:attrNameLst>
                                      </p:cBhvr>
                                      <p:tavLst>
                                        <p:tav tm="0">
                                          <p:val>
                                            <p:strVal val="1+#ppt_h/2"/>
                                          </p:val>
                                        </p:tav>
                                        <p:tav tm="100000">
                                          <p:val>
                                            <p:strVal val="#ppt_y"/>
                                          </p:val>
                                        </p:tav>
                                      </p:tavLst>
                                    </p:anim>
                                  </p:childTnLst>
                                </p:cTn>
                              </p:par>
                              <p:par>
                                <p:cTn id="40" presetID="2" presetClass="entr" presetSubtype="2" fill="hold" nodeType="withEffect">
                                  <p:stCondLst>
                                    <p:cond delay="750"/>
                                  </p:stCondLst>
                                  <p:childTnLst>
                                    <p:set>
                                      <p:cBhvr>
                                        <p:cTn id="41" dur="1" fill="hold">
                                          <p:stCondLst>
                                            <p:cond delay="0"/>
                                          </p:stCondLst>
                                        </p:cTn>
                                        <p:tgtEl>
                                          <p:spTgt spid="20"/>
                                        </p:tgtEl>
                                        <p:attrNameLst>
                                          <p:attrName>style.visibility</p:attrName>
                                        </p:attrNameLst>
                                      </p:cBhvr>
                                      <p:to>
                                        <p:strVal val="visible"/>
                                      </p:to>
                                    </p:set>
                                    <p:anim calcmode="lin" valueType="num">
                                      <p:cBhvr additive="base">
                                        <p:cTn id="42" dur="500" fill="hold"/>
                                        <p:tgtEl>
                                          <p:spTgt spid="20"/>
                                        </p:tgtEl>
                                        <p:attrNameLst>
                                          <p:attrName>ppt_x</p:attrName>
                                        </p:attrNameLst>
                                      </p:cBhvr>
                                      <p:tavLst>
                                        <p:tav tm="0">
                                          <p:val>
                                            <p:strVal val="1+#ppt_w/2"/>
                                          </p:val>
                                        </p:tav>
                                        <p:tav tm="100000">
                                          <p:val>
                                            <p:strVal val="#ppt_x"/>
                                          </p:val>
                                        </p:tav>
                                      </p:tavLst>
                                    </p:anim>
                                    <p:anim calcmode="lin" valueType="num">
                                      <p:cBhvr additive="base">
                                        <p:cTn id="43" dur="500" fill="hold"/>
                                        <p:tgtEl>
                                          <p:spTgt spid="20"/>
                                        </p:tgtEl>
                                        <p:attrNameLst>
                                          <p:attrName>ppt_y</p:attrName>
                                        </p:attrNameLst>
                                      </p:cBhvr>
                                      <p:tavLst>
                                        <p:tav tm="0">
                                          <p:val>
                                            <p:strVal val="#ppt_y"/>
                                          </p:val>
                                        </p:tav>
                                        <p:tav tm="100000">
                                          <p:val>
                                            <p:strVal val="#ppt_y"/>
                                          </p:val>
                                        </p:tav>
                                      </p:tavLst>
                                    </p:anim>
                                  </p:childTnLst>
                                </p:cTn>
                              </p:par>
                            </p:childTnLst>
                          </p:cTn>
                        </p:par>
                        <p:par>
                          <p:cTn id="44" fill="hold">
                            <p:stCondLst>
                              <p:cond delay="1250"/>
                            </p:stCondLst>
                            <p:childTnLst>
                              <p:par>
                                <p:cTn id="45" presetID="42" presetClass="entr" presetSubtype="0"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anim calcmode="lin" valueType="num">
                                      <p:cBhvr>
                                        <p:cTn id="48" dur="500" fill="hold"/>
                                        <p:tgtEl>
                                          <p:spTgt spid="15"/>
                                        </p:tgtEl>
                                        <p:attrNameLst>
                                          <p:attrName>ppt_x</p:attrName>
                                        </p:attrNameLst>
                                      </p:cBhvr>
                                      <p:tavLst>
                                        <p:tav tm="0">
                                          <p:val>
                                            <p:strVal val="#ppt_x"/>
                                          </p:val>
                                        </p:tav>
                                        <p:tav tm="100000">
                                          <p:val>
                                            <p:strVal val="#ppt_x"/>
                                          </p:val>
                                        </p:tav>
                                      </p:tavLst>
                                    </p:anim>
                                    <p:anim calcmode="lin" valueType="num">
                                      <p:cBhvr>
                                        <p:cTn id="49" dur="500" fill="hold"/>
                                        <p:tgtEl>
                                          <p:spTgt spid="15"/>
                                        </p:tgtEl>
                                        <p:attrNameLst>
                                          <p:attrName>ppt_y</p:attrName>
                                        </p:attrNameLst>
                                      </p:cBhvr>
                                      <p:tavLst>
                                        <p:tav tm="0">
                                          <p:val>
                                            <p:strVal val="#ppt_y+.1"/>
                                          </p:val>
                                        </p:tav>
                                        <p:tav tm="100000">
                                          <p:val>
                                            <p:strVal val="#ppt_y"/>
                                          </p:val>
                                        </p:tav>
                                      </p:tavLst>
                                    </p:anim>
                                  </p:childTnLst>
                                </p:cTn>
                              </p:par>
                            </p:childTnLst>
                          </p:cTn>
                        </p:par>
                        <p:par>
                          <p:cTn id="50" fill="hold">
                            <p:stCondLst>
                              <p:cond delay="1750"/>
                            </p:stCondLst>
                            <p:childTnLst>
                              <p:par>
                                <p:cTn id="51" presetID="42" presetClass="entr" presetSubtype="0" fill="hold" nodeType="after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500"/>
                                        <p:tgtEl>
                                          <p:spTgt spid="23"/>
                                        </p:tgtEl>
                                      </p:cBhvr>
                                    </p:animEffect>
                                    <p:anim calcmode="lin" valueType="num">
                                      <p:cBhvr>
                                        <p:cTn id="54" dur="500" fill="hold"/>
                                        <p:tgtEl>
                                          <p:spTgt spid="23"/>
                                        </p:tgtEl>
                                        <p:attrNameLst>
                                          <p:attrName>ppt_x</p:attrName>
                                        </p:attrNameLst>
                                      </p:cBhvr>
                                      <p:tavLst>
                                        <p:tav tm="0">
                                          <p:val>
                                            <p:strVal val="#ppt_x"/>
                                          </p:val>
                                        </p:tav>
                                        <p:tav tm="100000">
                                          <p:val>
                                            <p:strVal val="#ppt_x"/>
                                          </p:val>
                                        </p:tav>
                                      </p:tavLst>
                                    </p:anim>
                                    <p:anim calcmode="lin" valueType="num">
                                      <p:cBhvr>
                                        <p:cTn id="55" dur="500" fill="hold"/>
                                        <p:tgtEl>
                                          <p:spTgt spid="23"/>
                                        </p:tgtEl>
                                        <p:attrNameLst>
                                          <p:attrName>ppt_y</p:attrName>
                                        </p:attrNameLst>
                                      </p:cBhvr>
                                      <p:tavLst>
                                        <p:tav tm="0">
                                          <p:val>
                                            <p:strVal val="#ppt_y+.1"/>
                                          </p:val>
                                        </p:tav>
                                        <p:tav tm="100000">
                                          <p:val>
                                            <p:strVal val="#ppt_y"/>
                                          </p:val>
                                        </p:tav>
                                      </p:tavLst>
                                    </p:anim>
                                  </p:childTnLst>
                                </p:cTn>
                              </p:par>
                            </p:childTnLst>
                          </p:cTn>
                        </p:par>
                        <p:par>
                          <p:cTn id="56" fill="hold">
                            <p:stCondLst>
                              <p:cond delay="2250"/>
                            </p:stCondLst>
                            <p:childTnLst>
                              <p:par>
                                <p:cTn id="57" presetID="42" presetClass="entr" presetSubtype="0" fill="hold"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00"/>
                                        <p:tgtEl>
                                          <p:spTgt spid="31"/>
                                        </p:tgtEl>
                                      </p:cBhvr>
                                    </p:animEffect>
                                    <p:anim calcmode="lin" valueType="num">
                                      <p:cBhvr>
                                        <p:cTn id="60" dur="500" fill="hold"/>
                                        <p:tgtEl>
                                          <p:spTgt spid="31"/>
                                        </p:tgtEl>
                                        <p:attrNameLst>
                                          <p:attrName>ppt_x</p:attrName>
                                        </p:attrNameLst>
                                      </p:cBhvr>
                                      <p:tavLst>
                                        <p:tav tm="0">
                                          <p:val>
                                            <p:strVal val="#ppt_x"/>
                                          </p:val>
                                        </p:tav>
                                        <p:tav tm="100000">
                                          <p:val>
                                            <p:strVal val="#ppt_x"/>
                                          </p:val>
                                        </p:tav>
                                      </p:tavLst>
                                    </p:anim>
                                    <p:anim calcmode="lin" valueType="num">
                                      <p:cBhvr>
                                        <p:cTn id="61" dur="500" fill="hold"/>
                                        <p:tgtEl>
                                          <p:spTgt spid="31"/>
                                        </p:tgtEl>
                                        <p:attrNameLst>
                                          <p:attrName>ppt_y</p:attrName>
                                        </p:attrNameLst>
                                      </p:cBhvr>
                                      <p:tavLst>
                                        <p:tav tm="0">
                                          <p:val>
                                            <p:strVal val="#ppt_y+.1"/>
                                          </p:val>
                                        </p:tav>
                                        <p:tav tm="100000">
                                          <p:val>
                                            <p:strVal val="#ppt_y"/>
                                          </p:val>
                                        </p:tav>
                                      </p:tavLst>
                                    </p:anim>
                                  </p:childTnLst>
                                </p:cTn>
                              </p:par>
                            </p:childTnLst>
                          </p:cTn>
                        </p:par>
                        <p:par>
                          <p:cTn id="62" fill="hold">
                            <p:stCondLst>
                              <p:cond delay="2750"/>
                            </p:stCondLst>
                            <p:childTnLst>
                              <p:par>
                                <p:cTn id="63" presetID="42" presetClass="entr" presetSubtype="0" fill="hold" nodeType="after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fade">
                                      <p:cBhvr>
                                        <p:cTn id="65" dur="500"/>
                                        <p:tgtEl>
                                          <p:spTgt spid="41"/>
                                        </p:tgtEl>
                                      </p:cBhvr>
                                    </p:animEffect>
                                    <p:anim calcmode="lin" valueType="num">
                                      <p:cBhvr>
                                        <p:cTn id="66" dur="500" fill="hold"/>
                                        <p:tgtEl>
                                          <p:spTgt spid="41"/>
                                        </p:tgtEl>
                                        <p:attrNameLst>
                                          <p:attrName>ppt_x</p:attrName>
                                        </p:attrNameLst>
                                      </p:cBhvr>
                                      <p:tavLst>
                                        <p:tav tm="0">
                                          <p:val>
                                            <p:strVal val="#ppt_x"/>
                                          </p:val>
                                        </p:tav>
                                        <p:tav tm="100000">
                                          <p:val>
                                            <p:strVal val="#ppt_x"/>
                                          </p:val>
                                        </p:tav>
                                      </p:tavLst>
                                    </p:anim>
                                    <p:anim calcmode="lin" valueType="num">
                                      <p:cBhvr>
                                        <p:cTn id="67" dur="500" fill="hold"/>
                                        <p:tgtEl>
                                          <p:spTgt spid="41"/>
                                        </p:tgtEl>
                                        <p:attrNameLst>
                                          <p:attrName>ppt_y</p:attrName>
                                        </p:attrNameLst>
                                      </p:cBhvr>
                                      <p:tavLst>
                                        <p:tav tm="0">
                                          <p:val>
                                            <p:strVal val="#ppt_y+.1"/>
                                          </p:val>
                                        </p:tav>
                                        <p:tav tm="100000">
                                          <p:val>
                                            <p:strVal val="#ppt_y"/>
                                          </p:val>
                                        </p:tav>
                                      </p:tavLst>
                                    </p:anim>
                                  </p:childTnLst>
                                </p:cTn>
                              </p:par>
                            </p:childTnLst>
                          </p:cTn>
                        </p:par>
                        <p:par>
                          <p:cTn id="68" fill="hold">
                            <p:stCondLst>
                              <p:cond delay="3250"/>
                            </p:stCondLst>
                            <p:childTnLst>
                              <p:par>
                                <p:cTn id="69" presetID="45" presetClass="entr" presetSubtype="0" fill="hold" nodeType="afterEffect">
                                  <p:stCondLst>
                                    <p:cond delay="0"/>
                                  </p:stCondLst>
                                  <p:childTnLst>
                                    <p:set>
                                      <p:cBhvr>
                                        <p:cTn id="70" dur="1" fill="hold">
                                          <p:stCondLst>
                                            <p:cond delay="0"/>
                                          </p:stCondLst>
                                        </p:cTn>
                                        <p:tgtEl>
                                          <p:spTgt spid="44"/>
                                        </p:tgtEl>
                                        <p:attrNameLst>
                                          <p:attrName>style.visibility</p:attrName>
                                        </p:attrNameLst>
                                      </p:cBhvr>
                                      <p:to>
                                        <p:strVal val="visible"/>
                                      </p:to>
                                    </p:set>
                                    <p:animEffect transition="in" filter="fade">
                                      <p:cBhvr>
                                        <p:cTn id="71" dur="750"/>
                                        <p:tgtEl>
                                          <p:spTgt spid="44"/>
                                        </p:tgtEl>
                                      </p:cBhvr>
                                    </p:animEffect>
                                    <p:anim calcmode="lin" valueType="num">
                                      <p:cBhvr>
                                        <p:cTn id="72" dur="750" fill="hold"/>
                                        <p:tgtEl>
                                          <p:spTgt spid="44"/>
                                        </p:tgtEl>
                                        <p:attrNameLst>
                                          <p:attrName>ppt_w</p:attrName>
                                        </p:attrNameLst>
                                      </p:cBhvr>
                                      <p:tavLst>
                                        <p:tav tm="0" fmla="#ppt_w*sin(2.5*pi*$)">
                                          <p:val>
                                            <p:fltVal val="0"/>
                                          </p:val>
                                        </p:tav>
                                        <p:tav tm="100000">
                                          <p:val>
                                            <p:fltVal val="1"/>
                                          </p:val>
                                        </p:tav>
                                      </p:tavLst>
                                    </p:anim>
                                    <p:anim calcmode="lin" valueType="num">
                                      <p:cBhvr>
                                        <p:cTn id="73" dur="750" fill="hold"/>
                                        <p:tgtEl>
                                          <p:spTgt spid="44"/>
                                        </p:tgtEl>
                                        <p:attrNameLst>
                                          <p:attrName>ppt_h</p:attrName>
                                        </p:attrNameLst>
                                      </p:cBhvr>
                                      <p:tavLst>
                                        <p:tav tm="0">
                                          <p:val>
                                            <p:strVal val="#ppt_h"/>
                                          </p:val>
                                        </p:tav>
                                        <p:tav tm="100000">
                                          <p:val>
                                            <p:strVal val="#ppt_h"/>
                                          </p:val>
                                        </p:tav>
                                      </p:tavLst>
                                    </p:anim>
                                  </p:childTnLst>
                                </p:cTn>
                              </p:par>
                            </p:childTnLst>
                          </p:cTn>
                        </p:par>
                        <p:par>
                          <p:cTn id="74" fill="hold">
                            <p:stCondLst>
                              <p:cond delay="4000"/>
                            </p:stCondLst>
                            <p:childTnLst>
                              <p:par>
                                <p:cTn id="75" presetID="22" presetClass="entr" presetSubtype="2" fill="hold" nodeType="after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wipe(right)">
                                      <p:cBhvr>
                                        <p:cTn id="77" dur="500"/>
                                        <p:tgtEl>
                                          <p:spTgt spid="49"/>
                                        </p:tgtEl>
                                      </p:cBhvr>
                                    </p:animEffect>
                                  </p:childTnLst>
                                </p:cTn>
                              </p:par>
                            </p:childTnLst>
                          </p:cTn>
                        </p:par>
                        <p:par>
                          <p:cTn id="78" fill="hold">
                            <p:stCondLst>
                              <p:cond delay="4500"/>
                            </p:stCondLst>
                            <p:childTnLst>
                              <p:par>
                                <p:cTn id="79" presetID="45" presetClass="entr" presetSubtype="0" fill="hold" nodeType="afterEffect">
                                  <p:stCondLst>
                                    <p:cond delay="0"/>
                                  </p:stCondLst>
                                  <p:childTnLst>
                                    <p:set>
                                      <p:cBhvr>
                                        <p:cTn id="80" dur="1" fill="hold">
                                          <p:stCondLst>
                                            <p:cond delay="0"/>
                                          </p:stCondLst>
                                        </p:cTn>
                                        <p:tgtEl>
                                          <p:spTgt spid="52"/>
                                        </p:tgtEl>
                                        <p:attrNameLst>
                                          <p:attrName>style.visibility</p:attrName>
                                        </p:attrNameLst>
                                      </p:cBhvr>
                                      <p:to>
                                        <p:strVal val="visible"/>
                                      </p:to>
                                    </p:set>
                                    <p:animEffect transition="in" filter="fade">
                                      <p:cBhvr>
                                        <p:cTn id="81" dur="750"/>
                                        <p:tgtEl>
                                          <p:spTgt spid="52"/>
                                        </p:tgtEl>
                                      </p:cBhvr>
                                    </p:animEffect>
                                    <p:anim calcmode="lin" valueType="num">
                                      <p:cBhvr>
                                        <p:cTn id="82" dur="750" fill="hold"/>
                                        <p:tgtEl>
                                          <p:spTgt spid="52"/>
                                        </p:tgtEl>
                                        <p:attrNameLst>
                                          <p:attrName>ppt_w</p:attrName>
                                        </p:attrNameLst>
                                      </p:cBhvr>
                                      <p:tavLst>
                                        <p:tav tm="0" fmla="#ppt_w*sin(2.5*pi*$)">
                                          <p:val>
                                            <p:fltVal val="0"/>
                                          </p:val>
                                        </p:tav>
                                        <p:tav tm="100000">
                                          <p:val>
                                            <p:fltVal val="1"/>
                                          </p:val>
                                        </p:tav>
                                      </p:tavLst>
                                    </p:anim>
                                    <p:anim calcmode="lin" valueType="num">
                                      <p:cBhvr>
                                        <p:cTn id="83" dur="750" fill="hold"/>
                                        <p:tgtEl>
                                          <p:spTgt spid="52"/>
                                        </p:tgtEl>
                                        <p:attrNameLst>
                                          <p:attrName>ppt_h</p:attrName>
                                        </p:attrNameLst>
                                      </p:cBhvr>
                                      <p:tavLst>
                                        <p:tav tm="0">
                                          <p:val>
                                            <p:strVal val="#ppt_h"/>
                                          </p:val>
                                        </p:tav>
                                        <p:tav tm="100000">
                                          <p:val>
                                            <p:strVal val="#ppt_h"/>
                                          </p:val>
                                        </p:tav>
                                      </p:tavLst>
                                    </p:anim>
                                  </p:childTnLst>
                                </p:cTn>
                              </p:par>
                            </p:childTnLst>
                          </p:cTn>
                        </p:par>
                        <p:par>
                          <p:cTn id="84" fill="hold">
                            <p:stCondLst>
                              <p:cond delay="5250"/>
                            </p:stCondLst>
                            <p:childTnLst>
                              <p:par>
                                <p:cTn id="85" presetID="22" presetClass="entr" presetSubtype="8" fill="hold" nodeType="afterEffect">
                                  <p:stCondLst>
                                    <p:cond delay="0"/>
                                  </p:stCondLst>
                                  <p:childTnLst>
                                    <p:set>
                                      <p:cBhvr>
                                        <p:cTn id="86" dur="1" fill="hold">
                                          <p:stCondLst>
                                            <p:cond delay="0"/>
                                          </p:stCondLst>
                                        </p:cTn>
                                        <p:tgtEl>
                                          <p:spTgt spid="57"/>
                                        </p:tgtEl>
                                        <p:attrNameLst>
                                          <p:attrName>style.visibility</p:attrName>
                                        </p:attrNameLst>
                                      </p:cBhvr>
                                      <p:to>
                                        <p:strVal val="visible"/>
                                      </p:to>
                                    </p:set>
                                    <p:animEffect transition="in" filter="wipe(left)">
                                      <p:cBhvr>
                                        <p:cTn id="87" dur="500"/>
                                        <p:tgtEl>
                                          <p:spTgt spid="57"/>
                                        </p:tgtEl>
                                      </p:cBhvr>
                                    </p:animEffect>
                                  </p:childTnLst>
                                </p:cTn>
                              </p:par>
                            </p:childTnLst>
                          </p:cTn>
                        </p:par>
                        <p:par>
                          <p:cTn id="88" fill="hold">
                            <p:stCondLst>
                              <p:cond delay="5750"/>
                            </p:stCondLst>
                            <p:childTnLst>
                              <p:par>
                                <p:cTn id="89" presetID="45" presetClass="entr" presetSubtype="0" fill="hold" nodeType="afterEffect">
                                  <p:stCondLst>
                                    <p:cond delay="0"/>
                                  </p:stCondLst>
                                  <p:childTnLst>
                                    <p:set>
                                      <p:cBhvr>
                                        <p:cTn id="90" dur="1" fill="hold">
                                          <p:stCondLst>
                                            <p:cond delay="0"/>
                                          </p:stCondLst>
                                        </p:cTn>
                                        <p:tgtEl>
                                          <p:spTgt spid="60"/>
                                        </p:tgtEl>
                                        <p:attrNameLst>
                                          <p:attrName>style.visibility</p:attrName>
                                        </p:attrNameLst>
                                      </p:cBhvr>
                                      <p:to>
                                        <p:strVal val="visible"/>
                                      </p:to>
                                    </p:set>
                                    <p:animEffect transition="in" filter="fade">
                                      <p:cBhvr>
                                        <p:cTn id="91" dur="750"/>
                                        <p:tgtEl>
                                          <p:spTgt spid="60"/>
                                        </p:tgtEl>
                                      </p:cBhvr>
                                    </p:animEffect>
                                    <p:anim calcmode="lin" valueType="num">
                                      <p:cBhvr>
                                        <p:cTn id="92" dur="750" fill="hold"/>
                                        <p:tgtEl>
                                          <p:spTgt spid="60"/>
                                        </p:tgtEl>
                                        <p:attrNameLst>
                                          <p:attrName>ppt_w</p:attrName>
                                        </p:attrNameLst>
                                      </p:cBhvr>
                                      <p:tavLst>
                                        <p:tav tm="0" fmla="#ppt_w*sin(2.5*pi*$)">
                                          <p:val>
                                            <p:fltVal val="0"/>
                                          </p:val>
                                        </p:tav>
                                        <p:tav tm="100000">
                                          <p:val>
                                            <p:fltVal val="1"/>
                                          </p:val>
                                        </p:tav>
                                      </p:tavLst>
                                    </p:anim>
                                    <p:anim calcmode="lin" valueType="num">
                                      <p:cBhvr>
                                        <p:cTn id="93" dur="750" fill="hold"/>
                                        <p:tgtEl>
                                          <p:spTgt spid="60"/>
                                        </p:tgtEl>
                                        <p:attrNameLst>
                                          <p:attrName>ppt_h</p:attrName>
                                        </p:attrNameLst>
                                      </p:cBhvr>
                                      <p:tavLst>
                                        <p:tav tm="0">
                                          <p:val>
                                            <p:strVal val="#ppt_h"/>
                                          </p:val>
                                        </p:tav>
                                        <p:tav tm="100000">
                                          <p:val>
                                            <p:strVal val="#ppt_h"/>
                                          </p:val>
                                        </p:tav>
                                      </p:tavLst>
                                    </p:anim>
                                  </p:childTnLst>
                                </p:cTn>
                              </p:par>
                            </p:childTnLst>
                          </p:cTn>
                        </p:par>
                        <p:par>
                          <p:cTn id="94" fill="hold">
                            <p:stCondLst>
                              <p:cond delay="6500"/>
                            </p:stCondLst>
                            <p:childTnLst>
                              <p:par>
                                <p:cTn id="95" presetID="22" presetClass="entr" presetSubtype="2" fill="hold" nodeType="afterEffect">
                                  <p:stCondLst>
                                    <p:cond delay="0"/>
                                  </p:stCondLst>
                                  <p:childTnLst>
                                    <p:set>
                                      <p:cBhvr>
                                        <p:cTn id="96" dur="1" fill="hold">
                                          <p:stCondLst>
                                            <p:cond delay="0"/>
                                          </p:stCondLst>
                                        </p:cTn>
                                        <p:tgtEl>
                                          <p:spTgt spid="65"/>
                                        </p:tgtEl>
                                        <p:attrNameLst>
                                          <p:attrName>style.visibility</p:attrName>
                                        </p:attrNameLst>
                                      </p:cBhvr>
                                      <p:to>
                                        <p:strVal val="visible"/>
                                      </p:to>
                                    </p:set>
                                    <p:animEffect transition="in" filter="wipe(right)">
                                      <p:cBhvr>
                                        <p:cTn id="97" dur="500"/>
                                        <p:tgtEl>
                                          <p:spTgt spid="65"/>
                                        </p:tgtEl>
                                      </p:cBhvr>
                                    </p:animEffect>
                                  </p:childTnLst>
                                </p:cTn>
                              </p:par>
                            </p:childTnLst>
                          </p:cTn>
                        </p:par>
                        <p:par>
                          <p:cTn id="98" fill="hold">
                            <p:stCondLst>
                              <p:cond delay="7000"/>
                            </p:stCondLst>
                            <p:childTnLst>
                              <p:par>
                                <p:cTn id="99" presetID="45" presetClass="entr" presetSubtype="0" fill="hold" nodeType="afterEffect">
                                  <p:stCondLst>
                                    <p:cond delay="0"/>
                                  </p:stCondLst>
                                  <p:childTnLst>
                                    <p:set>
                                      <p:cBhvr>
                                        <p:cTn id="100" dur="1" fill="hold">
                                          <p:stCondLst>
                                            <p:cond delay="0"/>
                                          </p:stCondLst>
                                        </p:cTn>
                                        <p:tgtEl>
                                          <p:spTgt spid="68"/>
                                        </p:tgtEl>
                                        <p:attrNameLst>
                                          <p:attrName>style.visibility</p:attrName>
                                        </p:attrNameLst>
                                      </p:cBhvr>
                                      <p:to>
                                        <p:strVal val="visible"/>
                                      </p:to>
                                    </p:set>
                                    <p:animEffect transition="in" filter="fade">
                                      <p:cBhvr>
                                        <p:cTn id="101" dur="750"/>
                                        <p:tgtEl>
                                          <p:spTgt spid="68"/>
                                        </p:tgtEl>
                                      </p:cBhvr>
                                    </p:animEffect>
                                    <p:anim calcmode="lin" valueType="num">
                                      <p:cBhvr>
                                        <p:cTn id="102" dur="750" fill="hold"/>
                                        <p:tgtEl>
                                          <p:spTgt spid="68"/>
                                        </p:tgtEl>
                                        <p:attrNameLst>
                                          <p:attrName>ppt_w</p:attrName>
                                        </p:attrNameLst>
                                      </p:cBhvr>
                                      <p:tavLst>
                                        <p:tav tm="0" fmla="#ppt_w*sin(2.5*pi*$)">
                                          <p:val>
                                            <p:fltVal val="0"/>
                                          </p:val>
                                        </p:tav>
                                        <p:tav tm="100000">
                                          <p:val>
                                            <p:fltVal val="1"/>
                                          </p:val>
                                        </p:tav>
                                      </p:tavLst>
                                    </p:anim>
                                    <p:anim calcmode="lin" valueType="num">
                                      <p:cBhvr>
                                        <p:cTn id="103" dur="750" fill="hold"/>
                                        <p:tgtEl>
                                          <p:spTgt spid="68"/>
                                        </p:tgtEl>
                                        <p:attrNameLst>
                                          <p:attrName>ppt_h</p:attrName>
                                        </p:attrNameLst>
                                      </p:cBhvr>
                                      <p:tavLst>
                                        <p:tav tm="0">
                                          <p:val>
                                            <p:strVal val="#ppt_h"/>
                                          </p:val>
                                        </p:tav>
                                        <p:tav tm="100000">
                                          <p:val>
                                            <p:strVal val="#ppt_h"/>
                                          </p:val>
                                        </p:tav>
                                      </p:tavLst>
                                    </p:anim>
                                  </p:childTnLst>
                                </p:cTn>
                              </p:par>
                            </p:childTnLst>
                          </p:cTn>
                        </p:par>
                        <p:par>
                          <p:cTn id="104" fill="hold">
                            <p:stCondLst>
                              <p:cond delay="7750"/>
                            </p:stCondLst>
                            <p:childTnLst>
                              <p:par>
                                <p:cTn id="105" presetID="22" presetClass="entr" presetSubtype="8" fill="hold" nodeType="afterEffect">
                                  <p:stCondLst>
                                    <p:cond delay="0"/>
                                  </p:stCondLst>
                                  <p:childTnLst>
                                    <p:set>
                                      <p:cBhvr>
                                        <p:cTn id="106" dur="1" fill="hold">
                                          <p:stCondLst>
                                            <p:cond delay="0"/>
                                          </p:stCondLst>
                                        </p:cTn>
                                        <p:tgtEl>
                                          <p:spTgt spid="73"/>
                                        </p:tgtEl>
                                        <p:attrNameLst>
                                          <p:attrName>style.visibility</p:attrName>
                                        </p:attrNameLst>
                                      </p:cBhvr>
                                      <p:to>
                                        <p:strVal val="visible"/>
                                      </p:to>
                                    </p:set>
                                    <p:animEffect transition="in" filter="wipe(left)">
                                      <p:cBhvr>
                                        <p:cTn id="10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Box 90"/>
          <p:cNvSpPr txBox="1"/>
          <p:nvPr/>
        </p:nvSpPr>
        <p:spPr>
          <a:xfrm>
            <a:off x="4770648" y="188640"/>
            <a:ext cx="2623083" cy="461665"/>
          </a:xfrm>
          <a:prstGeom prst="rect">
            <a:avLst/>
          </a:prstGeom>
          <a:noFill/>
        </p:spPr>
        <p:txBody>
          <a:bodyPr wrap="square" rtlCol="0">
            <a:spAutoFit/>
          </a:bodyPr>
          <a:lstStyle/>
          <a:p>
            <a:pPr algn="ctr"/>
            <a:r>
              <a:rPr lang="zh-CN" altLang="en-US" sz="2400" b="1"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工作達標情況</a:t>
            </a:r>
            <a:endParaRPr lang="zh-CN" altLang="en-US" sz="2400" b="1"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cxnSp>
        <p:nvCxnSpPr>
          <p:cNvPr id="95" name="直接连接符 94"/>
          <p:cNvCxnSpPr/>
          <p:nvPr/>
        </p:nvCxnSpPr>
        <p:spPr>
          <a:xfrm>
            <a:off x="7393731" y="419473"/>
            <a:ext cx="446449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a:off x="336947" y="423828"/>
            <a:ext cx="439248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7393731" y="476672"/>
            <a:ext cx="4464496"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336947" y="481027"/>
            <a:ext cx="4392488"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2639836" y="2413114"/>
            <a:ext cx="1585543" cy="1585543"/>
            <a:chOff x="1705099" y="2564904"/>
            <a:chExt cx="1800200" cy="1800200"/>
          </a:xfrm>
        </p:grpSpPr>
        <p:sp>
          <p:nvSpPr>
            <p:cNvPr id="14" name="椭圆 13"/>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5" name="椭圆 14"/>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16" name="TextBox 15"/>
          <p:cNvSpPr txBox="1"/>
          <p:nvPr/>
        </p:nvSpPr>
        <p:spPr>
          <a:xfrm>
            <a:off x="2710074" y="2790387"/>
            <a:ext cx="1443297" cy="830997"/>
          </a:xfrm>
          <a:prstGeom prst="rect">
            <a:avLst/>
          </a:prstGeom>
          <a:noFill/>
        </p:spPr>
        <p:txBody>
          <a:bodyPr wrap="square" rtlCol="0">
            <a:spAutoFit/>
          </a:bodyPr>
          <a:lstStyle/>
          <a:p>
            <a:pPr algn="ctr"/>
            <a:r>
              <a:rPr lang="zh-CN" altLang="en-US" sz="24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工作達標情況</a:t>
            </a:r>
            <a:r>
              <a:rPr lang="zh-CN" altLang="en-US" sz="24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分析</a:t>
            </a:r>
            <a:endParaRPr lang="en-US" altLang="zh-CN" sz="24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7" name="圆角矩形 16"/>
          <p:cNvSpPr/>
          <p:nvPr/>
        </p:nvSpPr>
        <p:spPr>
          <a:xfrm>
            <a:off x="5344092" y="1696980"/>
            <a:ext cx="3981513" cy="228600"/>
          </a:xfrm>
          <a:prstGeom prst="roundRect">
            <a:avLst>
              <a:gd name="adj" fmla="val 50000"/>
            </a:avLst>
          </a:prstGeom>
          <a:solidFill>
            <a:schemeClr val="bg1">
              <a:lumMod val="85000"/>
            </a:schemeClr>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8" name="圆角矩形 17"/>
          <p:cNvSpPr/>
          <p:nvPr/>
        </p:nvSpPr>
        <p:spPr>
          <a:xfrm>
            <a:off x="5344092" y="1696980"/>
            <a:ext cx="3981513" cy="219852"/>
          </a:xfrm>
          <a:prstGeom prst="roundRect">
            <a:avLst>
              <a:gd name="adj" fmla="val 50000"/>
            </a:avLst>
          </a:prstGeom>
          <a:solidFill>
            <a:srgbClr val="405F8F"/>
          </a:solidFill>
          <a:ln w="12700" cap="flat">
            <a:noFill/>
            <a:prstDash val="solid"/>
            <a:miter lim="800000"/>
          </a:ln>
          <a:effectLst>
            <a:outerShdw blurRad="241300" dist="63500" dir="5400000" algn="t" rotWithShape="0">
              <a:schemeClr val="tx1">
                <a:lumMod val="85000"/>
                <a:lumOff val="15000"/>
                <a:alpha val="43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9" name="圆角矩形 18"/>
          <p:cNvSpPr/>
          <p:nvPr/>
        </p:nvSpPr>
        <p:spPr>
          <a:xfrm>
            <a:off x="5344092" y="2331372"/>
            <a:ext cx="3981513" cy="228600"/>
          </a:xfrm>
          <a:prstGeom prst="roundRect">
            <a:avLst>
              <a:gd name="adj" fmla="val 50000"/>
            </a:avLst>
          </a:prstGeom>
          <a:solidFill>
            <a:schemeClr val="bg1">
              <a:lumMod val="85000"/>
            </a:schemeClr>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0" name="圆角矩形 19"/>
          <p:cNvSpPr/>
          <p:nvPr/>
        </p:nvSpPr>
        <p:spPr>
          <a:xfrm>
            <a:off x="5344091" y="2331372"/>
            <a:ext cx="3849839" cy="174643"/>
          </a:xfrm>
          <a:prstGeom prst="roundRect">
            <a:avLst>
              <a:gd name="adj" fmla="val 50000"/>
            </a:avLst>
          </a:prstGeom>
          <a:solidFill>
            <a:srgbClr val="405F8F"/>
          </a:solidFill>
          <a:ln w="12700" cap="flat">
            <a:noFill/>
            <a:prstDash val="solid"/>
            <a:miter lim="800000"/>
          </a:ln>
          <a:effectLst>
            <a:outerShdw blurRad="241300" dist="63500" dir="5400000" algn="t" rotWithShape="0">
              <a:schemeClr val="tx1">
                <a:lumMod val="85000"/>
                <a:lumOff val="15000"/>
                <a:alpha val="43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1" name="圆角矩形 20"/>
          <p:cNvSpPr/>
          <p:nvPr/>
        </p:nvSpPr>
        <p:spPr>
          <a:xfrm>
            <a:off x="5344092" y="2965764"/>
            <a:ext cx="3981513" cy="228600"/>
          </a:xfrm>
          <a:prstGeom prst="roundRect">
            <a:avLst>
              <a:gd name="adj" fmla="val 50000"/>
            </a:avLst>
          </a:prstGeom>
          <a:solidFill>
            <a:schemeClr val="bg1">
              <a:lumMod val="85000"/>
            </a:schemeClr>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2" name="圆角矩形 21"/>
          <p:cNvSpPr/>
          <p:nvPr/>
        </p:nvSpPr>
        <p:spPr>
          <a:xfrm>
            <a:off x="5344092" y="2965764"/>
            <a:ext cx="3849838" cy="204885"/>
          </a:xfrm>
          <a:prstGeom prst="roundRect">
            <a:avLst>
              <a:gd name="adj" fmla="val 50000"/>
            </a:avLst>
          </a:prstGeom>
          <a:solidFill>
            <a:srgbClr val="405F8F"/>
          </a:solidFill>
          <a:ln w="12700" cap="flat">
            <a:noFill/>
            <a:prstDash val="solid"/>
            <a:miter lim="800000"/>
          </a:ln>
          <a:effectLst>
            <a:outerShdw blurRad="241300" dist="63500" dir="5400000" algn="t" rotWithShape="0">
              <a:schemeClr val="tx1">
                <a:lumMod val="85000"/>
                <a:lumOff val="15000"/>
                <a:alpha val="43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3" name="圆角矩形 22"/>
          <p:cNvSpPr/>
          <p:nvPr/>
        </p:nvSpPr>
        <p:spPr>
          <a:xfrm>
            <a:off x="5344092" y="3600157"/>
            <a:ext cx="3981513" cy="228600"/>
          </a:xfrm>
          <a:prstGeom prst="roundRect">
            <a:avLst>
              <a:gd name="adj" fmla="val 50000"/>
            </a:avLst>
          </a:prstGeom>
          <a:solidFill>
            <a:schemeClr val="bg1">
              <a:lumMod val="85000"/>
            </a:schemeClr>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4" name="圆角矩形 23"/>
          <p:cNvSpPr/>
          <p:nvPr/>
        </p:nvSpPr>
        <p:spPr>
          <a:xfrm>
            <a:off x="5344091" y="3600156"/>
            <a:ext cx="3705824" cy="265062"/>
          </a:xfrm>
          <a:prstGeom prst="roundRect">
            <a:avLst>
              <a:gd name="adj" fmla="val 50000"/>
            </a:avLst>
          </a:prstGeom>
          <a:solidFill>
            <a:srgbClr val="405F8F"/>
          </a:solidFill>
          <a:ln w="12700" cap="flat">
            <a:noFill/>
            <a:prstDash val="solid"/>
            <a:miter lim="800000"/>
          </a:ln>
          <a:effectLst>
            <a:outerShdw blurRad="241300" dist="63500" dir="5400000" algn="t" rotWithShape="0">
              <a:schemeClr val="tx1">
                <a:lumMod val="85000"/>
                <a:lumOff val="15000"/>
                <a:alpha val="43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5" name="TextBox 31"/>
          <p:cNvSpPr txBox="1"/>
          <p:nvPr/>
        </p:nvSpPr>
        <p:spPr>
          <a:xfrm>
            <a:off x="9454087" y="1556792"/>
            <a:ext cx="1183337" cy="523220"/>
          </a:xfrm>
          <a:prstGeom prst="rect">
            <a:avLst/>
          </a:prstGeom>
          <a:noFill/>
        </p:spPr>
        <p:txBody>
          <a:bodyPr wrap="none" rtlCol="0">
            <a:spAutoFit/>
          </a:bodyPr>
          <a:lstStyle/>
          <a:p>
            <a:r>
              <a:rPr lang="en-US" altLang="zh-CN" sz="28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100</a:t>
            </a:r>
            <a:r>
              <a:rPr lang="en-US" altLang="zh-CN" sz="28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a:t>
            </a:r>
            <a:endParaRPr lang="zh-CN" altLang="en-US" sz="28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6" name="TextBox 32"/>
          <p:cNvSpPr txBox="1"/>
          <p:nvPr/>
        </p:nvSpPr>
        <p:spPr>
          <a:xfrm>
            <a:off x="9454087" y="2191184"/>
            <a:ext cx="962123" cy="523220"/>
          </a:xfrm>
          <a:prstGeom prst="rect">
            <a:avLst/>
          </a:prstGeom>
          <a:noFill/>
        </p:spPr>
        <p:txBody>
          <a:bodyPr wrap="none" rtlCol="0">
            <a:spAutoFit/>
          </a:bodyPr>
          <a:lstStyle/>
          <a:p>
            <a:r>
              <a:rPr lang="en-US" altLang="zh-CN" sz="28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99</a:t>
            </a:r>
            <a:r>
              <a:rPr lang="en-US" altLang="zh-CN" sz="28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a:t>
            </a:r>
            <a:endParaRPr lang="zh-CN" altLang="en-US" sz="28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7" name="TextBox 33"/>
          <p:cNvSpPr txBox="1"/>
          <p:nvPr/>
        </p:nvSpPr>
        <p:spPr>
          <a:xfrm>
            <a:off x="9454087" y="2825576"/>
            <a:ext cx="962123" cy="523220"/>
          </a:xfrm>
          <a:prstGeom prst="rect">
            <a:avLst/>
          </a:prstGeom>
          <a:noFill/>
        </p:spPr>
        <p:txBody>
          <a:bodyPr wrap="none" rtlCol="0">
            <a:spAutoFit/>
          </a:bodyPr>
          <a:lstStyle/>
          <a:p>
            <a:r>
              <a:rPr lang="en-US" altLang="zh-CN" sz="28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99</a:t>
            </a:r>
            <a:r>
              <a:rPr lang="en-US" altLang="zh-CN" sz="28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a:t>
            </a:r>
            <a:endParaRPr lang="zh-CN" altLang="en-US" sz="28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8" name="TextBox 34"/>
          <p:cNvSpPr txBox="1"/>
          <p:nvPr/>
        </p:nvSpPr>
        <p:spPr>
          <a:xfrm>
            <a:off x="9454087" y="3459969"/>
            <a:ext cx="962123" cy="523220"/>
          </a:xfrm>
          <a:prstGeom prst="rect">
            <a:avLst/>
          </a:prstGeom>
          <a:noFill/>
        </p:spPr>
        <p:txBody>
          <a:bodyPr wrap="none" rtlCol="0">
            <a:spAutoFit/>
          </a:bodyPr>
          <a:lstStyle/>
          <a:p>
            <a:r>
              <a:rPr lang="en-US" altLang="zh-CN" sz="28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95%</a:t>
            </a:r>
            <a:endParaRPr lang="zh-CN" altLang="en-US" sz="28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9" name="TextBox 7"/>
          <p:cNvSpPr>
            <a:spLocks noChangeArrowheads="1"/>
          </p:cNvSpPr>
          <p:nvPr/>
        </p:nvSpPr>
        <p:spPr bwMode="auto">
          <a:xfrm>
            <a:off x="2639463" y="4665233"/>
            <a:ext cx="8916720" cy="17235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auto">
              <a:spcBef>
                <a:spcPts val="0"/>
              </a:spcBef>
              <a:spcAft>
                <a:spcPts val="0"/>
              </a:spcAft>
              <a:defRPr/>
            </a:pPr>
            <a:r>
              <a:rPr lang="en-US" altLang="zh-CN"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1.</a:t>
            </a:r>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用戶報修的</a:t>
            </a:r>
            <a:r>
              <a:rPr lang="en-US" altLang="zh-CN"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106</a:t>
            </a:r>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工單都能第一時間百分之百的處理完成；</a:t>
            </a:r>
            <a:endParaRPr lang="en-US" altLang="zh-CN"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a:p>
            <a:pPr fontAlgn="auto">
              <a:spcBef>
                <a:spcPts val="0"/>
              </a:spcBef>
              <a:spcAft>
                <a:spcPts val="0"/>
              </a:spcAft>
              <a:defRPr/>
            </a:pPr>
            <a:endParaRPr lang="en-US" altLang="zh-CN"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a:p>
            <a:pPr fontAlgn="auto">
              <a:spcBef>
                <a:spcPts val="0"/>
              </a:spcBef>
              <a:spcAft>
                <a:spcPts val="0"/>
              </a:spcAft>
              <a:defRPr/>
            </a:pPr>
            <a:r>
              <a:rPr lang="en-US" altLang="zh-CN"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2.</a:t>
            </a:r>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用戶因生產或工作需要申請的系統需求基本上都能在規定時間里優質高效的完成開發任務，並上線使用。</a:t>
            </a:r>
            <a:endParaRPr lang="en-US" altLang="zh-CN"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a:p>
            <a:pPr fontAlgn="auto">
              <a:spcBef>
                <a:spcPts val="0"/>
              </a:spcBef>
              <a:spcAft>
                <a:spcPts val="0"/>
              </a:spcAft>
              <a:defRPr/>
            </a:pPr>
            <a:endParaRPr lang="en-US" altLang="zh-CN"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a:p>
            <a:pPr fontAlgn="auto">
              <a:spcBef>
                <a:spcPts val="0"/>
              </a:spcBef>
              <a:spcAft>
                <a:spcPts val="0"/>
              </a:spcAft>
              <a:defRPr/>
            </a:pPr>
            <a:r>
              <a:rPr lang="en-US" altLang="zh-CN"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3.</a:t>
            </a:r>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系統在使用過程中所產生的異常能在最短的時間里找到異常產生的原因，優化系統使其盡量不要再次產生此類異常。</a:t>
            </a:r>
            <a:endParaRPr lang="en-US" altLang="zh-CN"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a:p>
            <a:pPr fontAlgn="auto">
              <a:spcBef>
                <a:spcPts val="0"/>
              </a:spcBef>
              <a:spcAft>
                <a:spcPts val="0"/>
              </a:spcAft>
              <a:defRPr/>
            </a:pPr>
            <a:endPar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a:p>
            <a:pPr fontAlgn="auto">
              <a:spcBef>
                <a:spcPts val="0"/>
              </a:spcBef>
              <a:spcAft>
                <a:spcPts val="0"/>
              </a:spcAft>
              <a:defRPr/>
            </a:pPr>
            <a:r>
              <a:rPr lang="en-US" altLang="zh-CN"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4.</a:t>
            </a:r>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開發能力較去年有很大提升，分派到的開發任務基本都能保質保量的完成。</a:t>
            </a:r>
            <a:endPar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0" name="TextBox 31"/>
          <p:cNvSpPr txBox="1"/>
          <p:nvPr/>
        </p:nvSpPr>
        <p:spPr>
          <a:xfrm>
            <a:off x="5305499" y="1916832"/>
            <a:ext cx="1535998" cy="369332"/>
          </a:xfrm>
          <a:prstGeom prst="rect">
            <a:avLst/>
          </a:prstGeom>
          <a:noFill/>
        </p:spPr>
        <p:txBody>
          <a:bodyPr wrap="none" rtlCol="0">
            <a:spAutoFit/>
          </a:bodyPr>
          <a:lstStyle/>
          <a:p>
            <a:r>
              <a:rPr lang="en-US" altLang="zh-CN"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106</a:t>
            </a:r>
            <a:r>
              <a:rPr lang="zh-CN" altLang="en-US"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工單處理</a:t>
            </a:r>
            <a:endParaRPr lang="zh-CN" altLang="en-US"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1" name="TextBox 32"/>
          <p:cNvSpPr txBox="1"/>
          <p:nvPr/>
        </p:nvSpPr>
        <p:spPr>
          <a:xfrm>
            <a:off x="5305499" y="2551224"/>
            <a:ext cx="1116011" cy="369332"/>
          </a:xfrm>
          <a:prstGeom prst="rect">
            <a:avLst/>
          </a:prstGeom>
          <a:noFill/>
        </p:spPr>
        <p:txBody>
          <a:bodyPr wrap="none" rtlCol="0">
            <a:spAutoFit/>
          </a:bodyPr>
          <a:lstStyle/>
          <a:p>
            <a:r>
              <a:rPr lang="en-US" altLang="zh-CN"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PCR</a:t>
            </a:r>
            <a:r>
              <a:rPr lang="zh-CN" altLang="en-US"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處理</a:t>
            </a:r>
            <a:endParaRPr lang="zh-CN" altLang="en-US"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2" name="TextBox 33"/>
          <p:cNvSpPr txBox="1"/>
          <p:nvPr/>
        </p:nvSpPr>
        <p:spPr>
          <a:xfrm>
            <a:off x="5305499" y="3185616"/>
            <a:ext cx="1620957" cy="369332"/>
          </a:xfrm>
          <a:prstGeom prst="rect">
            <a:avLst/>
          </a:prstGeom>
          <a:noFill/>
        </p:spPr>
        <p:txBody>
          <a:bodyPr wrap="none" rtlCol="0">
            <a:spAutoFit/>
          </a:bodyPr>
          <a:lstStyle/>
          <a:p>
            <a:r>
              <a:rPr lang="zh-CN" altLang="en-US"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系統異常修復</a:t>
            </a:r>
            <a:endParaRPr lang="zh-CN" altLang="en-US"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4" name="TextBox 33"/>
          <p:cNvSpPr txBox="1"/>
          <p:nvPr/>
        </p:nvSpPr>
        <p:spPr>
          <a:xfrm>
            <a:off x="5344091" y="3877338"/>
            <a:ext cx="1569660" cy="369332"/>
          </a:xfrm>
          <a:prstGeom prst="rect">
            <a:avLst/>
          </a:prstGeom>
          <a:noFill/>
        </p:spPr>
        <p:txBody>
          <a:bodyPr wrap="none" rtlCol="0">
            <a:spAutoFit/>
          </a:bodyPr>
          <a:lstStyle/>
          <a:p>
            <a:r>
              <a:rPr lang="zh-CN" altLang="en-US"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系統整合開發</a:t>
            </a:r>
            <a:endParaRPr lang="zh-CN" altLang="en-US"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91"/>
                                        </p:tgtEl>
                                        <p:attrNameLst>
                                          <p:attrName>style.visibility</p:attrName>
                                        </p:attrNameLst>
                                      </p:cBhvr>
                                      <p:to>
                                        <p:strVal val="visible"/>
                                      </p:to>
                                    </p:set>
                                    <p:anim calcmode="lin" valueType="num">
                                      <p:cBhvr>
                                        <p:cTn id="7" dur="500" fill="hold"/>
                                        <p:tgtEl>
                                          <p:spTgt spid="9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91"/>
                                        </p:tgtEl>
                                        <p:attrNameLst>
                                          <p:attrName>ppt_y</p:attrName>
                                        </p:attrNameLst>
                                      </p:cBhvr>
                                      <p:tavLst>
                                        <p:tav tm="0">
                                          <p:val>
                                            <p:strVal val="#ppt_y"/>
                                          </p:val>
                                        </p:tav>
                                        <p:tav tm="100000">
                                          <p:val>
                                            <p:strVal val="#ppt_y"/>
                                          </p:val>
                                        </p:tav>
                                      </p:tavLst>
                                    </p:anim>
                                    <p:anim calcmode="lin" valueType="num">
                                      <p:cBhvr>
                                        <p:cTn id="9" dur="500" fill="hold"/>
                                        <p:tgtEl>
                                          <p:spTgt spid="9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9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91"/>
                                        </p:tgtEl>
                                      </p:cBhvr>
                                    </p:animEffect>
                                  </p:childTnLst>
                                </p:cTn>
                              </p:par>
                              <p:par>
                                <p:cTn id="12" presetID="2" presetClass="entr" presetSubtype="8" fill="hold" nodeType="withEffect">
                                  <p:stCondLst>
                                    <p:cond delay="250"/>
                                  </p:stCondLst>
                                  <p:childTnLst>
                                    <p:set>
                                      <p:cBhvr>
                                        <p:cTn id="13" dur="1" fill="hold">
                                          <p:stCondLst>
                                            <p:cond delay="0"/>
                                          </p:stCondLst>
                                        </p:cTn>
                                        <p:tgtEl>
                                          <p:spTgt spid="98"/>
                                        </p:tgtEl>
                                        <p:attrNameLst>
                                          <p:attrName>style.visibility</p:attrName>
                                        </p:attrNameLst>
                                      </p:cBhvr>
                                      <p:to>
                                        <p:strVal val="visible"/>
                                      </p:to>
                                    </p:set>
                                    <p:anim calcmode="lin" valueType="num">
                                      <p:cBhvr additive="base">
                                        <p:cTn id="14" dur="500" fill="hold"/>
                                        <p:tgtEl>
                                          <p:spTgt spid="98"/>
                                        </p:tgtEl>
                                        <p:attrNameLst>
                                          <p:attrName>ppt_x</p:attrName>
                                        </p:attrNameLst>
                                      </p:cBhvr>
                                      <p:tavLst>
                                        <p:tav tm="0">
                                          <p:val>
                                            <p:strVal val="0-#ppt_w/2"/>
                                          </p:val>
                                        </p:tav>
                                        <p:tav tm="100000">
                                          <p:val>
                                            <p:strVal val="#ppt_x"/>
                                          </p:val>
                                        </p:tav>
                                      </p:tavLst>
                                    </p:anim>
                                    <p:anim calcmode="lin" valueType="num">
                                      <p:cBhvr additive="base">
                                        <p:cTn id="15" dur="500" fill="hold"/>
                                        <p:tgtEl>
                                          <p:spTgt spid="98"/>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95"/>
                                        </p:tgtEl>
                                        <p:attrNameLst>
                                          <p:attrName>style.visibility</p:attrName>
                                        </p:attrNameLst>
                                      </p:cBhvr>
                                      <p:to>
                                        <p:strVal val="visible"/>
                                      </p:to>
                                    </p:set>
                                    <p:anim calcmode="lin" valueType="num">
                                      <p:cBhvr additive="base">
                                        <p:cTn id="18" dur="500" fill="hold"/>
                                        <p:tgtEl>
                                          <p:spTgt spid="95"/>
                                        </p:tgtEl>
                                        <p:attrNameLst>
                                          <p:attrName>ppt_x</p:attrName>
                                        </p:attrNameLst>
                                      </p:cBhvr>
                                      <p:tavLst>
                                        <p:tav tm="0">
                                          <p:val>
                                            <p:strVal val="1+#ppt_w/2"/>
                                          </p:val>
                                        </p:tav>
                                        <p:tav tm="100000">
                                          <p:val>
                                            <p:strVal val="#ppt_x"/>
                                          </p:val>
                                        </p:tav>
                                      </p:tavLst>
                                    </p:anim>
                                    <p:anim calcmode="lin" valueType="num">
                                      <p:cBhvr additive="base">
                                        <p:cTn id="19" dur="500" fill="hold"/>
                                        <p:tgtEl>
                                          <p:spTgt spid="95"/>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stCondLst>
                                    <p:cond delay="250"/>
                                  </p:stCondLst>
                                  <p:childTnLst>
                                    <p:set>
                                      <p:cBhvr>
                                        <p:cTn id="21" dur="1" fill="hold">
                                          <p:stCondLst>
                                            <p:cond delay="0"/>
                                          </p:stCondLst>
                                        </p:cTn>
                                        <p:tgtEl>
                                          <p:spTgt spid="102"/>
                                        </p:tgtEl>
                                        <p:attrNameLst>
                                          <p:attrName>style.visibility</p:attrName>
                                        </p:attrNameLst>
                                      </p:cBhvr>
                                      <p:to>
                                        <p:strVal val="visible"/>
                                      </p:to>
                                    </p:set>
                                    <p:anim calcmode="lin" valueType="num">
                                      <p:cBhvr additive="base">
                                        <p:cTn id="22" dur="500" fill="hold"/>
                                        <p:tgtEl>
                                          <p:spTgt spid="102"/>
                                        </p:tgtEl>
                                        <p:attrNameLst>
                                          <p:attrName>ppt_x</p:attrName>
                                        </p:attrNameLst>
                                      </p:cBhvr>
                                      <p:tavLst>
                                        <p:tav tm="0">
                                          <p:val>
                                            <p:strVal val="0-#ppt_w/2"/>
                                          </p:val>
                                        </p:tav>
                                        <p:tav tm="100000">
                                          <p:val>
                                            <p:strVal val="#ppt_x"/>
                                          </p:val>
                                        </p:tav>
                                      </p:tavLst>
                                    </p:anim>
                                    <p:anim calcmode="lin" valueType="num">
                                      <p:cBhvr additive="base">
                                        <p:cTn id="23" dur="500" fill="hold"/>
                                        <p:tgtEl>
                                          <p:spTgt spid="102"/>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250"/>
                                  </p:stCondLst>
                                  <p:childTnLst>
                                    <p:set>
                                      <p:cBhvr>
                                        <p:cTn id="25" dur="1" fill="hold">
                                          <p:stCondLst>
                                            <p:cond delay="0"/>
                                          </p:stCondLst>
                                        </p:cTn>
                                        <p:tgtEl>
                                          <p:spTgt spid="101"/>
                                        </p:tgtEl>
                                        <p:attrNameLst>
                                          <p:attrName>style.visibility</p:attrName>
                                        </p:attrNameLst>
                                      </p:cBhvr>
                                      <p:to>
                                        <p:strVal val="visible"/>
                                      </p:to>
                                    </p:set>
                                    <p:anim calcmode="lin" valueType="num">
                                      <p:cBhvr additive="base">
                                        <p:cTn id="26" dur="500" fill="hold"/>
                                        <p:tgtEl>
                                          <p:spTgt spid="101"/>
                                        </p:tgtEl>
                                        <p:attrNameLst>
                                          <p:attrName>ppt_x</p:attrName>
                                        </p:attrNameLst>
                                      </p:cBhvr>
                                      <p:tavLst>
                                        <p:tav tm="0">
                                          <p:val>
                                            <p:strVal val="1+#ppt_w/2"/>
                                          </p:val>
                                        </p:tav>
                                        <p:tav tm="100000">
                                          <p:val>
                                            <p:strVal val="#ppt_x"/>
                                          </p:val>
                                        </p:tav>
                                      </p:tavLst>
                                    </p:anim>
                                    <p:anim calcmode="lin" valueType="num">
                                      <p:cBhvr additive="base">
                                        <p:cTn id="27" dur="500" fill="hold"/>
                                        <p:tgtEl>
                                          <p:spTgt spid="101"/>
                                        </p:tgtEl>
                                        <p:attrNameLst>
                                          <p:attrName>ppt_y</p:attrName>
                                        </p:attrNameLst>
                                      </p:cBhvr>
                                      <p:tavLst>
                                        <p:tav tm="0">
                                          <p:val>
                                            <p:strVal val="#ppt_y"/>
                                          </p:val>
                                        </p:tav>
                                        <p:tav tm="100000">
                                          <p:val>
                                            <p:strVal val="#ppt_y"/>
                                          </p:val>
                                        </p:tav>
                                      </p:tavLst>
                                    </p:anim>
                                  </p:childTnLst>
                                </p:cTn>
                              </p:par>
                              <p:par>
                                <p:cTn id="28" presetID="45" presetClass="entr" presetSubtype="0" fill="hold" nodeType="withEffect">
                                  <p:stCondLst>
                                    <p:cond delay="50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750"/>
                                        <p:tgtEl>
                                          <p:spTgt spid="13"/>
                                        </p:tgtEl>
                                      </p:cBhvr>
                                    </p:animEffect>
                                    <p:anim calcmode="lin" valueType="num">
                                      <p:cBhvr>
                                        <p:cTn id="31" dur="750" fill="hold"/>
                                        <p:tgtEl>
                                          <p:spTgt spid="13"/>
                                        </p:tgtEl>
                                        <p:attrNameLst>
                                          <p:attrName>ppt_w</p:attrName>
                                        </p:attrNameLst>
                                      </p:cBhvr>
                                      <p:tavLst>
                                        <p:tav tm="0" fmla="#ppt_w*sin(2.5*pi*$)">
                                          <p:val>
                                            <p:fltVal val="0"/>
                                          </p:val>
                                        </p:tav>
                                        <p:tav tm="100000">
                                          <p:val>
                                            <p:fltVal val="1"/>
                                          </p:val>
                                        </p:tav>
                                      </p:tavLst>
                                    </p:anim>
                                    <p:anim calcmode="lin" valueType="num">
                                      <p:cBhvr>
                                        <p:cTn id="32" dur="750" fill="hold"/>
                                        <p:tgtEl>
                                          <p:spTgt spid="13"/>
                                        </p:tgtEl>
                                        <p:attrNameLst>
                                          <p:attrName>ppt_h</p:attrName>
                                        </p:attrNameLst>
                                      </p:cBhvr>
                                      <p:tavLst>
                                        <p:tav tm="0">
                                          <p:val>
                                            <p:strVal val="#ppt_h"/>
                                          </p:val>
                                        </p:tav>
                                        <p:tav tm="100000">
                                          <p:val>
                                            <p:strVal val="#ppt_h"/>
                                          </p:val>
                                        </p:tav>
                                      </p:tavLst>
                                    </p:anim>
                                  </p:childTnLst>
                                </p:cTn>
                              </p:par>
                              <p:par>
                                <p:cTn id="33" presetID="41" presetClass="entr" presetSubtype="0" fill="hold" grpId="0" nodeType="withEffect">
                                  <p:stCondLst>
                                    <p:cond delay="1000"/>
                                  </p:stCondLst>
                                  <p:iterate type="lt">
                                    <p:tmPct val="10000"/>
                                  </p:iterate>
                                  <p:childTnLst>
                                    <p:set>
                                      <p:cBhvr>
                                        <p:cTn id="34" dur="1" fill="hold">
                                          <p:stCondLst>
                                            <p:cond delay="0"/>
                                          </p:stCondLst>
                                        </p:cTn>
                                        <p:tgtEl>
                                          <p:spTgt spid="16"/>
                                        </p:tgtEl>
                                        <p:attrNameLst>
                                          <p:attrName>style.visibility</p:attrName>
                                        </p:attrNameLst>
                                      </p:cBhvr>
                                      <p:to>
                                        <p:strVal val="visible"/>
                                      </p:to>
                                    </p:set>
                                    <p:anim calcmode="lin" valueType="num">
                                      <p:cBhvr>
                                        <p:cTn id="35" dur="10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36" dur="1000" fill="hold"/>
                                        <p:tgtEl>
                                          <p:spTgt spid="16"/>
                                        </p:tgtEl>
                                        <p:attrNameLst>
                                          <p:attrName>ppt_y</p:attrName>
                                        </p:attrNameLst>
                                      </p:cBhvr>
                                      <p:tavLst>
                                        <p:tav tm="0">
                                          <p:val>
                                            <p:strVal val="#ppt_y"/>
                                          </p:val>
                                        </p:tav>
                                        <p:tav tm="100000">
                                          <p:val>
                                            <p:strVal val="#ppt_y"/>
                                          </p:val>
                                        </p:tav>
                                      </p:tavLst>
                                    </p:anim>
                                    <p:anim calcmode="lin" valueType="num">
                                      <p:cBhvr>
                                        <p:cTn id="37" dur="10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38" dur="10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39" dur="1000" tmFilter="0,0; .5, 1; 1, 1"/>
                                        <p:tgtEl>
                                          <p:spTgt spid="16"/>
                                        </p:tgtEl>
                                      </p:cBhvr>
                                    </p:animEffect>
                                  </p:childTnLst>
                                </p:cTn>
                              </p:par>
                            </p:childTnLst>
                          </p:cTn>
                        </p:par>
                        <p:par>
                          <p:cTn id="40" fill="hold">
                            <p:stCondLst>
                              <p:cond delay="2700"/>
                            </p:stCondLst>
                            <p:childTnLst>
                              <p:par>
                                <p:cTn id="41" presetID="10" presetClass="entr" presetSubtype="0" fill="hold" grpId="0" nodeType="after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par>
                          <p:cTn id="53" fill="hold">
                            <p:stCondLst>
                              <p:cond delay="3200"/>
                            </p:stCondLst>
                            <p:childTnLst>
                              <p:par>
                                <p:cTn id="54" presetID="10" presetClass="entr" presetSubtype="0" fill="hold" grpId="0" nodeType="after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50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500"/>
                                        <p:tgtEl>
                                          <p:spTgt spid="32"/>
                                        </p:tgtEl>
                                      </p:cBhvr>
                                    </p:animEffect>
                                  </p:childTnLst>
                                </p:cTn>
                              </p:par>
                            </p:childTnLst>
                          </p:cTn>
                        </p:par>
                        <p:par>
                          <p:cTn id="63" fill="hold">
                            <p:stCondLst>
                              <p:cond delay="3700"/>
                            </p:stCondLst>
                            <p:childTnLst>
                              <p:par>
                                <p:cTn id="64" presetID="10" presetClass="entr" presetSubtype="0" fill="hold" grpId="0" nodeType="after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500"/>
                                        <p:tgtEl>
                                          <p:spTgt spid="28"/>
                                        </p:tgtEl>
                                      </p:cBhvr>
                                    </p:animEffect>
                                  </p:childTnLst>
                                </p:cTn>
                              </p:par>
                            </p:childTnLst>
                          </p:cTn>
                        </p:par>
                        <p:par>
                          <p:cTn id="76" fill="hold">
                            <p:stCondLst>
                              <p:cond delay="4200"/>
                            </p:stCondLst>
                            <p:childTnLst>
                              <p:par>
                                <p:cTn id="77" presetID="22" presetClass="entr" presetSubtype="8" fill="hold" grpId="0" nodeType="after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wipe(left)">
                                      <p:cBhvr>
                                        <p:cTn id="79" dur="500"/>
                                        <p:tgtEl>
                                          <p:spTgt spid="18"/>
                                        </p:tgtEl>
                                      </p:cBhvr>
                                    </p:animEffect>
                                  </p:childTnLst>
                                </p:cTn>
                              </p:par>
                              <p:par>
                                <p:cTn id="80" presetID="22" presetClass="entr" presetSubtype="8"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wipe(left)">
                                      <p:cBhvr>
                                        <p:cTn id="82" dur="500"/>
                                        <p:tgtEl>
                                          <p:spTgt spid="20"/>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22"/>
                                        </p:tgtEl>
                                        <p:attrNameLst>
                                          <p:attrName>style.visibility</p:attrName>
                                        </p:attrNameLst>
                                      </p:cBhvr>
                                      <p:to>
                                        <p:strVal val="visible"/>
                                      </p:to>
                                    </p:set>
                                    <p:animEffect transition="in" filter="wipe(left)">
                                      <p:cBhvr>
                                        <p:cTn id="85" dur="500"/>
                                        <p:tgtEl>
                                          <p:spTgt spid="22"/>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wipe(left)">
                                      <p:cBhvr>
                                        <p:cTn id="88" dur="500"/>
                                        <p:tgtEl>
                                          <p:spTgt spid="24"/>
                                        </p:tgtEl>
                                      </p:cBhvr>
                                    </p:animEffect>
                                  </p:childTnLst>
                                </p:cTn>
                              </p:par>
                            </p:childTnLst>
                          </p:cTn>
                        </p:par>
                        <p:par>
                          <p:cTn id="89" fill="hold">
                            <p:stCondLst>
                              <p:cond delay="4700"/>
                            </p:stCondLst>
                            <p:childTnLst>
                              <p:par>
                                <p:cTn id="90" presetID="42" presetClass="entr" presetSubtype="0" fill="hold" grpId="0" nodeType="after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1000"/>
                                        <p:tgtEl>
                                          <p:spTgt spid="29"/>
                                        </p:tgtEl>
                                      </p:cBhvr>
                                    </p:animEffect>
                                    <p:anim calcmode="lin" valueType="num">
                                      <p:cBhvr>
                                        <p:cTn id="93" dur="1000" fill="hold"/>
                                        <p:tgtEl>
                                          <p:spTgt spid="29"/>
                                        </p:tgtEl>
                                        <p:attrNameLst>
                                          <p:attrName>ppt_x</p:attrName>
                                        </p:attrNameLst>
                                      </p:cBhvr>
                                      <p:tavLst>
                                        <p:tav tm="0">
                                          <p:val>
                                            <p:strVal val="#ppt_x"/>
                                          </p:val>
                                        </p:tav>
                                        <p:tav tm="100000">
                                          <p:val>
                                            <p:strVal val="#ppt_x"/>
                                          </p:val>
                                        </p:tav>
                                      </p:tavLst>
                                    </p:anim>
                                    <p:anim calcmode="lin" valueType="num">
                                      <p:cBhvr>
                                        <p:cTn id="94" dur="1000" fill="hold"/>
                                        <p:tgtEl>
                                          <p:spTgt spid="29"/>
                                        </p:tgtEl>
                                        <p:attrNameLst>
                                          <p:attrName>ppt_y</p:attrName>
                                        </p:attrNameLst>
                                      </p:cBhvr>
                                      <p:tavLst>
                                        <p:tav tm="0">
                                          <p:val>
                                            <p:strVal val="#ppt_y+.1"/>
                                          </p:val>
                                        </p:tav>
                                        <p:tav tm="100000">
                                          <p:val>
                                            <p:strVal val="#ppt_y"/>
                                          </p:val>
                                        </p:tav>
                                      </p:tavLst>
                                    </p:anim>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16" grpId="0"/>
      <p:bldP spid="17" grpId="0" animBg="1"/>
      <p:bldP spid="18" grpId="0" animBg="1"/>
      <p:bldP spid="19" grpId="0" animBg="1"/>
      <p:bldP spid="20" grpId="0" animBg="1"/>
      <p:bldP spid="21" grpId="0" animBg="1"/>
      <p:bldP spid="22" grpId="0" animBg="1"/>
      <p:bldP spid="23" grpId="0" animBg="1"/>
      <p:bldP spid="24" grpId="0" animBg="1"/>
      <p:bldP spid="25" grpId="0"/>
      <p:bldP spid="26" grpId="0"/>
      <p:bldP spid="27" grpId="0"/>
      <p:bldP spid="28" grpId="0"/>
      <p:bldP spid="29" grpId="0"/>
      <p:bldP spid="30" grpId="0"/>
      <p:bldP spid="31" grpId="0"/>
      <p:bldP spid="32" grpId="0"/>
      <p:bldP spid="3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椭圆 46"/>
          <p:cNvSpPr/>
          <p:nvPr/>
        </p:nvSpPr>
        <p:spPr>
          <a:xfrm flipH="1">
            <a:off x="5270762" y="2852936"/>
            <a:ext cx="410758" cy="410760"/>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48" name="椭圆 47"/>
          <p:cNvSpPr/>
          <p:nvPr/>
        </p:nvSpPr>
        <p:spPr>
          <a:xfrm flipH="1">
            <a:off x="4980676" y="1791303"/>
            <a:ext cx="364559" cy="364559"/>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2" name="椭圆 51"/>
          <p:cNvSpPr/>
          <p:nvPr/>
        </p:nvSpPr>
        <p:spPr>
          <a:xfrm flipH="1">
            <a:off x="6724638" y="1380648"/>
            <a:ext cx="250975" cy="250975"/>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3" name="椭圆 52"/>
          <p:cNvSpPr/>
          <p:nvPr/>
        </p:nvSpPr>
        <p:spPr>
          <a:xfrm flipH="1">
            <a:off x="6719835" y="2208193"/>
            <a:ext cx="564888" cy="564890"/>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4" name="文本框 52"/>
          <p:cNvSpPr txBox="1"/>
          <p:nvPr/>
        </p:nvSpPr>
        <p:spPr>
          <a:xfrm>
            <a:off x="3181070" y="3705067"/>
            <a:ext cx="5939155" cy="769441"/>
          </a:xfrm>
          <a:prstGeom prst="rect">
            <a:avLst/>
          </a:prstGeom>
          <a:noFill/>
        </p:spPr>
        <p:txBody>
          <a:bodyPr wrap="square" rtlCol="0">
            <a:spAutoFit/>
          </a:bodyPr>
          <a:lstStyle/>
          <a:p>
            <a:pPr algn="ctr"/>
            <a:r>
              <a:rPr lang="zh-CN" altLang="en-US" sz="4400" b="1" spc="300"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工作存在的不足</a:t>
            </a:r>
            <a:endParaRPr lang="zh-CN" altLang="en-US" sz="4400" b="1" spc="3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55" name="组合 54"/>
          <p:cNvGrpSpPr/>
          <p:nvPr/>
        </p:nvGrpSpPr>
        <p:grpSpPr>
          <a:xfrm>
            <a:off x="4081363" y="4941168"/>
            <a:ext cx="1600157" cy="430887"/>
            <a:chOff x="4369395" y="3284984"/>
            <a:chExt cx="1436675" cy="430887"/>
          </a:xfrm>
        </p:grpSpPr>
        <p:sp>
          <p:nvSpPr>
            <p:cNvPr id="81" name="文本框 9"/>
            <p:cNvSpPr txBox="1"/>
            <p:nvPr/>
          </p:nvSpPr>
          <p:spPr>
            <a:xfrm>
              <a:off x="4581935" y="3284984"/>
              <a:ext cx="1224135" cy="430887"/>
            </a:xfrm>
            <a:prstGeom prst="rect">
              <a:avLst/>
            </a:prstGeom>
            <a:noFill/>
          </p:spPr>
          <p:txBody>
            <a:bodyPr wrap="square" lIns="0" tIns="0" rIns="0" bIns="0" rtlCol="0">
              <a:spAutoFit/>
            </a:bodyPr>
            <a:lstStyle/>
            <a:p>
              <a:pPr marL="0" lvl="1"/>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工作存在的不足</a:t>
              </a:r>
              <a:endPar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82" name="组合 81"/>
            <p:cNvGrpSpPr/>
            <p:nvPr/>
          </p:nvGrpSpPr>
          <p:grpSpPr>
            <a:xfrm>
              <a:off x="4369395" y="3316401"/>
              <a:ext cx="168551" cy="168551"/>
              <a:chOff x="5005199" y="3717032"/>
              <a:chExt cx="168551" cy="168551"/>
            </a:xfrm>
          </p:grpSpPr>
          <p:sp>
            <p:nvSpPr>
              <p:cNvPr id="83" name="椭圆 82"/>
              <p:cNvSpPr/>
              <p:nvPr/>
            </p:nvSpPr>
            <p:spPr>
              <a:xfrm>
                <a:off x="5005199" y="3717032"/>
                <a:ext cx="168551" cy="168551"/>
              </a:xfrm>
              <a:prstGeom prst="ellipse">
                <a:avLst/>
              </a:prstGeom>
              <a:solidFill>
                <a:srgbClr val="405F8F"/>
              </a:solidFill>
              <a:ln>
                <a:solidFill>
                  <a:srgbClr val="405F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84" name="等腰三角形 83"/>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sp>
        <p:nvSpPr>
          <p:cNvPr id="109" name="等腰三角形 108"/>
          <p:cNvSpPr/>
          <p:nvPr/>
        </p:nvSpPr>
        <p:spPr>
          <a:xfrm rot="5400000">
            <a:off x="7147061" y="5357739"/>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110" name="组合 109"/>
          <p:cNvGrpSpPr/>
          <p:nvPr/>
        </p:nvGrpSpPr>
        <p:grpSpPr>
          <a:xfrm>
            <a:off x="5345236" y="1764471"/>
            <a:ext cx="1610824" cy="1452335"/>
            <a:chOff x="2713211" y="1988840"/>
            <a:chExt cx="1610824" cy="1452335"/>
          </a:xfrm>
        </p:grpSpPr>
        <p:sp>
          <p:nvSpPr>
            <p:cNvPr id="111" name="Freeform 5"/>
            <p:cNvSpPr/>
            <p:nvPr/>
          </p:nvSpPr>
          <p:spPr bwMode="auto">
            <a:xfrm>
              <a:off x="2713211" y="1988840"/>
              <a:ext cx="1610824" cy="145233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5F8F"/>
            </a:solidFill>
            <a:ln w="9525" cap="flat">
              <a:noFill/>
              <a:prstDash val="solid"/>
              <a:miter lim="800000"/>
            </a:ln>
            <a:effectLst>
              <a:outerShdw blurRad="431800" dist="889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12" name="Freeform 5"/>
            <p:cNvSpPr/>
            <p:nvPr/>
          </p:nvSpPr>
          <p:spPr bwMode="auto">
            <a:xfrm>
              <a:off x="2838739" y="2087520"/>
              <a:ext cx="1359768" cy="125497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blipFill>
              <a:blip r:embed="rId3" cstate="screen">
                <a:extLst>
                  <a:ext uri="{28A0092B-C50C-407E-A947-70E740481C1C}">
                    <a14:useLocalDpi xmlns:a14="http://schemas.microsoft.com/office/drawing/2010/main"/>
                  </a:ext>
                </a:extLst>
              </a:blip>
              <a:stretch>
                <a:fillRect l="-167158" t="-31921" r="-198372" b="-151558"/>
              </a:stretch>
            </a:blipFill>
            <a:ln w="9525" cap="flat">
              <a:noFill/>
              <a:prstDash val="solid"/>
              <a:miter lim="800000"/>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113" name="TextBox 156"/>
          <p:cNvSpPr txBox="1"/>
          <p:nvPr/>
        </p:nvSpPr>
        <p:spPr>
          <a:xfrm>
            <a:off x="5563202" y="2052503"/>
            <a:ext cx="1174892" cy="830997"/>
          </a:xfrm>
          <a:prstGeom prst="rect">
            <a:avLst/>
          </a:prstGeom>
          <a:noFill/>
        </p:spPr>
        <p:txBody>
          <a:bodyPr wrap="square" rtlCol="0">
            <a:spAutoFit/>
          </a:bodyPr>
          <a:lstStyle/>
          <a:p>
            <a:pPr algn="ctr"/>
            <a:r>
              <a:rPr lang="en-US" altLang="zh-CN" sz="48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03</a:t>
            </a:r>
            <a:endParaRPr lang="zh-CN" altLang="en-US" sz="48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cxnSp>
        <p:nvCxnSpPr>
          <p:cNvPr id="114" name="直接连接符 113"/>
          <p:cNvCxnSpPr/>
          <p:nvPr/>
        </p:nvCxnSpPr>
        <p:spPr>
          <a:xfrm>
            <a:off x="3845833" y="4653136"/>
            <a:ext cx="484404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119270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750"/>
                                        <p:tgtEl>
                                          <p:spTgt spid="110"/>
                                        </p:tgtEl>
                                      </p:cBhvr>
                                    </p:animEffect>
                                    <p:anim calcmode="lin" valueType="num">
                                      <p:cBhvr>
                                        <p:cTn id="8" dur="750" fill="hold"/>
                                        <p:tgtEl>
                                          <p:spTgt spid="110"/>
                                        </p:tgtEl>
                                        <p:attrNameLst>
                                          <p:attrName>ppt_w</p:attrName>
                                        </p:attrNameLst>
                                      </p:cBhvr>
                                      <p:tavLst>
                                        <p:tav tm="0" fmla="#ppt_w*sin(2.5*pi*$)">
                                          <p:val>
                                            <p:fltVal val="0"/>
                                          </p:val>
                                        </p:tav>
                                        <p:tav tm="100000">
                                          <p:val>
                                            <p:fltVal val="1"/>
                                          </p:val>
                                        </p:tav>
                                      </p:tavLst>
                                    </p:anim>
                                    <p:anim calcmode="lin" valueType="num">
                                      <p:cBhvr>
                                        <p:cTn id="9" dur="750" fill="hold"/>
                                        <p:tgtEl>
                                          <p:spTgt spid="110"/>
                                        </p:tgtEl>
                                        <p:attrNameLst>
                                          <p:attrName>ppt_h</p:attrName>
                                        </p:attrNameLst>
                                      </p:cBhvr>
                                      <p:tavLst>
                                        <p:tav tm="0">
                                          <p:val>
                                            <p:strVal val="#ppt_h"/>
                                          </p:val>
                                        </p:tav>
                                        <p:tav tm="100000">
                                          <p:val>
                                            <p:strVal val="#ppt_h"/>
                                          </p:val>
                                        </p:tav>
                                      </p:tavLst>
                                    </p:anim>
                                  </p:childTnLst>
                                </p:cTn>
                              </p:par>
                              <p:par>
                                <p:cTn id="10" presetID="53" presetClass="entr" presetSubtype="16" fill="hold" grpId="0" nodeType="withEffect">
                                  <p:stCondLst>
                                    <p:cond delay="500"/>
                                  </p:stCondLst>
                                  <p:childTnLst>
                                    <p:set>
                                      <p:cBhvr>
                                        <p:cTn id="11" dur="1" fill="hold">
                                          <p:stCondLst>
                                            <p:cond delay="0"/>
                                          </p:stCondLst>
                                        </p:cTn>
                                        <p:tgtEl>
                                          <p:spTgt spid="113"/>
                                        </p:tgtEl>
                                        <p:attrNameLst>
                                          <p:attrName>style.visibility</p:attrName>
                                        </p:attrNameLst>
                                      </p:cBhvr>
                                      <p:to>
                                        <p:strVal val="visible"/>
                                      </p:to>
                                    </p:set>
                                    <p:anim calcmode="lin" valueType="num">
                                      <p:cBhvr>
                                        <p:cTn id="12" dur="500" fill="hold"/>
                                        <p:tgtEl>
                                          <p:spTgt spid="113"/>
                                        </p:tgtEl>
                                        <p:attrNameLst>
                                          <p:attrName>ppt_w</p:attrName>
                                        </p:attrNameLst>
                                      </p:cBhvr>
                                      <p:tavLst>
                                        <p:tav tm="0">
                                          <p:val>
                                            <p:fltVal val="0"/>
                                          </p:val>
                                        </p:tav>
                                        <p:tav tm="100000">
                                          <p:val>
                                            <p:strVal val="#ppt_w"/>
                                          </p:val>
                                        </p:tav>
                                      </p:tavLst>
                                    </p:anim>
                                    <p:anim calcmode="lin" valueType="num">
                                      <p:cBhvr>
                                        <p:cTn id="13" dur="500" fill="hold"/>
                                        <p:tgtEl>
                                          <p:spTgt spid="113"/>
                                        </p:tgtEl>
                                        <p:attrNameLst>
                                          <p:attrName>ppt_h</p:attrName>
                                        </p:attrNameLst>
                                      </p:cBhvr>
                                      <p:tavLst>
                                        <p:tav tm="0">
                                          <p:val>
                                            <p:fltVal val="0"/>
                                          </p:val>
                                        </p:tav>
                                        <p:tav tm="100000">
                                          <p:val>
                                            <p:strVal val="#ppt_h"/>
                                          </p:val>
                                        </p:tav>
                                      </p:tavLst>
                                    </p:anim>
                                    <p:animEffect transition="in" filter="fade">
                                      <p:cBhvr>
                                        <p:cTn id="14" dur="500"/>
                                        <p:tgtEl>
                                          <p:spTgt spid="1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fade">
                                      <p:cBhvr>
                                        <p:cTn id="17" dur="500"/>
                                        <p:tgtEl>
                                          <p:spTgt spid="52"/>
                                        </p:tgtEl>
                                      </p:cBhvr>
                                    </p:animEffect>
                                  </p:childTnLst>
                                </p:cTn>
                              </p:par>
                              <p:par>
                                <p:cTn id="18" presetID="10" presetClass="entr" presetSubtype="0" fill="hold" grpId="0" nodeType="withEffect">
                                  <p:stCondLst>
                                    <p:cond delay="250"/>
                                  </p:stCondLst>
                                  <p:childTnLst>
                                    <p:set>
                                      <p:cBhvr>
                                        <p:cTn id="19" dur="1" fill="hold">
                                          <p:stCondLst>
                                            <p:cond delay="0"/>
                                          </p:stCondLst>
                                        </p:cTn>
                                        <p:tgtEl>
                                          <p:spTgt spid="47"/>
                                        </p:tgtEl>
                                        <p:attrNameLst>
                                          <p:attrName>style.visibility</p:attrName>
                                        </p:attrNameLst>
                                      </p:cBhvr>
                                      <p:to>
                                        <p:strVal val="visible"/>
                                      </p:to>
                                    </p:set>
                                    <p:animEffect transition="in" filter="fade">
                                      <p:cBhvr>
                                        <p:cTn id="20" dur="500"/>
                                        <p:tgtEl>
                                          <p:spTgt spid="47"/>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500"/>
                                        <p:tgtEl>
                                          <p:spTgt spid="48"/>
                                        </p:tgtEl>
                                      </p:cBhvr>
                                    </p:animEffect>
                                  </p:childTnLst>
                                </p:cTn>
                              </p:par>
                              <p:par>
                                <p:cTn id="24" presetID="10" presetClass="entr" presetSubtype="0" fill="hold" grpId="0" nodeType="withEffect">
                                  <p:stCondLst>
                                    <p:cond delay="750"/>
                                  </p:stCondLst>
                                  <p:childTnLst>
                                    <p:set>
                                      <p:cBhvr>
                                        <p:cTn id="25" dur="1" fill="hold">
                                          <p:stCondLst>
                                            <p:cond delay="0"/>
                                          </p:stCondLst>
                                        </p:cTn>
                                        <p:tgtEl>
                                          <p:spTgt spid="53"/>
                                        </p:tgtEl>
                                        <p:attrNameLst>
                                          <p:attrName>style.visibility</p:attrName>
                                        </p:attrNameLst>
                                      </p:cBhvr>
                                      <p:to>
                                        <p:strVal val="visible"/>
                                      </p:to>
                                    </p:set>
                                    <p:animEffect transition="in" filter="fade">
                                      <p:cBhvr>
                                        <p:cTn id="26" dur="500"/>
                                        <p:tgtEl>
                                          <p:spTgt spid="53"/>
                                        </p:tgtEl>
                                      </p:cBhvr>
                                    </p:animEffect>
                                  </p:childTnLst>
                                </p:cTn>
                              </p:par>
                              <p:par>
                                <p:cTn id="27" presetID="41" presetClass="entr" presetSubtype="0" fill="hold" grpId="0" nodeType="withEffect">
                                  <p:stCondLst>
                                    <p:cond delay="750"/>
                                  </p:stCondLst>
                                  <p:iterate type="lt">
                                    <p:tmPct val="10000"/>
                                  </p:iterate>
                                  <p:childTnLst>
                                    <p:set>
                                      <p:cBhvr>
                                        <p:cTn id="28" dur="1" fill="hold">
                                          <p:stCondLst>
                                            <p:cond delay="0"/>
                                          </p:stCondLst>
                                        </p:cTn>
                                        <p:tgtEl>
                                          <p:spTgt spid="54"/>
                                        </p:tgtEl>
                                        <p:attrNameLst>
                                          <p:attrName>style.visibility</p:attrName>
                                        </p:attrNameLst>
                                      </p:cBhvr>
                                      <p:to>
                                        <p:strVal val="visible"/>
                                      </p:to>
                                    </p:set>
                                    <p:anim calcmode="lin" valueType="num">
                                      <p:cBhvr>
                                        <p:cTn id="29" dur="500" fill="hold"/>
                                        <p:tgtEl>
                                          <p:spTgt spid="54"/>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54"/>
                                        </p:tgtEl>
                                        <p:attrNameLst>
                                          <p:attrName>ppt_y</p:attrName>
                                        </p:attrNameLst>
                                      </p:cBhvr>
                                      <p:tavLst>
                                        <p:tav tm="0">
                                          <p:val>
                                            <p:strVal val="#ppt_y"/>
                                          </p:val>
                                        </p:tav>
                                        <p:tav tm="100000">
                                          <p:val>
                                            <p:strVal val="#ppt_y"/>
                                          </p:val>
                                        </p:tav>
                                      </p:tavLst>
                                    </p:anim>
                                    <p:anim calcmode="lin" valueType="num">
                                      <p:cBhvr>
                                        <p:cTn id="31" dur="500" fill="hold"/>
                                        <p:tgtEl>
                                          <p:spTgt spid="54"/>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54"/>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54"/>
                                        </p:tgtEl>
                                      </p:cBhvr>
                                    </p:animEffect>
                                  </p:childTnLst>
                                </p:cTn>
                              </p:par>
                            </p:childTnLst>
                          </p:cTn>
                        </p:par>
                        <p:par>
                          <p:cTn id="34" fill="hold">
                            <p:stCondLst>
                              <p:cond delay="1550"/>
                            </p:stCondLst>
                            <p:childTnLst>
                              <p:par>
                                <p:cTn id="35" presetID="22" presetClass="entr" presetSubtype="8" fill="hold" nodeType="afterEffect">
                                  <p:stCondLst>
                                    <p:cond delay="0"/>
                                  </p:stCondLst>
                                  <p:childTnLst>
                                    <p:set>
                                      <p:cBhvr>
                                        <p:cTn id="36" dur="1" fill="hold">
                                          <p:stCondLst>
                                            <p:cond delay="0"/>
                                          </p:stCondLst>
                                        </p:cTn>
                                        <p:tgtEl>
                                          <p:spTgt spid="114"/>
                                        </p:tgtEl>
                                        <p:attrNameLst>
                                          <p:attrName>style.visibility</p:attrName>
                                        </p:attrNameLst>
                                      </p:cBhvr>
                                      <p:to>
                                        <p:strVal val="visible"/>
                                      </p:to>
                                    </p:set>
                                    <p:animEffect transition="in" filter="wipe(left)">
                                      <p:cBhvr>
                                        <p:cTn id="37" dur="500"/>
                                        <p:tgtEl>
                                          <p:spTgt spid="114"/>
                                        </p:tgtEl>
                                      </p:cBhvr>
                                    </p:animEffect>
                                  </p:childTnLst>
                                </p:cTn>
                              </p:par>
                            </p:childTnLst>
                          </p:cTn>
                        </p:par>
                        <p:par>
                          <p:cTn id="38" fill="hold">
                            <p:stCondLst>
                              <p:cond delay="2050"/>
                            </p:stCondLst>
                            <p:childTnLst>
                              <p:par>
                                <p:cTn id="39" presetID="2" presetClass="entr" presetSubtype="4" fill="hold" nodeType="afterEffect">
                                  <p:stCondLst>
                                    <p:cond delay="0"/>
                                  </p:stCondLst>
                                  <p:childTnLst>
                                    <p:set>
                                      <p:cBhvr>
                                        <p:cTn id="40" dur="1" fill="hold">
                                          <p:stCondLst>
                                            <p:cond delay="0"/>
                                          </p:stCondLst>
                                        </p:cTn>
                                        <p:tgtEl>
                                          <p:spTgt spid="55"/>
                                        </p:tgtEl>
                                        <p:attrNameLst>
                                          <p:attrName>style.visibility</p:attrName>
                                        </p:attrNameLst>
                                      </p:cBhvr>
                                      <p:to>
                                        <p:strVal val="visible"/>
                                      </p:to>
                                    </p:set>
                                    <p:anim calcmode="lin" valueType="num">
                                      <p:cBhvr additive="base">
                                        <p:cTn id="41" dur="500" fill="hold"/>
                                        <p:tgtEl>
                                          <p:spTgt spid="55"/>
                                        </p:tgtEl>
                                        <p:attrNameLst>
                                          <p:attrName>ppt_x</p:attrName>
                                        </p:attrNameLst>
                                      </p:cBhvr>
                                      <p:tavLst>
                                        <p:tav tm="0">
                                          <p:val>
                                            <p:strVal val="#ppt_x"/>
                                          </p:val>
                                        </p:tav>
                                        <p:tav tm="100000">
                                          <p:val>
                                            <p:strVal val="#ppt_x"/>
                                          </p:val>
                                        </p:tav>
                                      </p:tavLst>
                                    </p:anim>
                                    <p:anim calcmode="lin" valueType="num">
                                      <p:cBhvr additive="base">
                                        <p:cTn id="42"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52" grpId="0" animBg="1"/>
      <p:bldP spid="53" grpId="0" animBg="1"/>
      <p:bldP spid="54" grpId="0"/>
      <p:bldP spid="1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Box 90"/>
          <p:cNvSpPr txBox="1"/>
          <p:nvPr/>
        </p:nvSpPr>
        <p:spPr>
          <a:xfrm>
            <a:off x="4770648" y="188640"/>
            <a:ext cx="2623083" cy="461665"/>
          </a:xfrm>
          <a:prstGeom prst="rect">
            <a:avLst/>
          </a:prstGeom>
          <a:noFill/>
        </p:spPr>
        <p:txBody>
          <a:bodyPr wrap="square" rtlCol="0">
            <a:spAutoFit/>
          </a:bodyPr>
          <a:lstStyle/>
          <a:p>
            <a:pPr algn="ctr"/>
            <a:r>
              <a:rPr lang="zh-CN" altLang="en-US" sz="2400" b="1"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工作存在的不足</a:t>
            </a:r>
            <a:endParaRPr lang="zh-CN" altLang="en-US" sz="2400" b="1"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cxnSp>
        <p:nvCxnSpPr>
          <p:cNvPr id="95" name="直接连接符 94"/>
          <p:cNvCxnSpPr/>
          <p:nvPr/>
        </p:nvCxnSpPr>
        <p:spPr>
          <a:xfrm>
            <a:off x="7393731" y="419473"/>
            <a:ext cx="446449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a:off x="336947" y="423828"/>
            <a:ext cx="439248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7393731" y="476672"/>
            <a:ext cx="4464496"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336947" y="481027"/>
            <a:ext cx="4392488"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任意多边形 14"/>
          <p:cNvSpPr/>
          <p:nvPr/>
        </p:nvSpPr>
        <p:spPr bwMode="blackWhite">
          <a:xfrm>
            <a:off x="1367353" y="2057816"/>
            <a:ext cx="600444" cy="3549370"/>
          </a:xfrm>
          <a:custGeom>
            <a:avLst/>
            <a:gdLst>
              <a:gd name="connsiteX0" fmla="*/ 300222 w 600444"/>
              <a:gd name="connsiteY0" fmla="*/ 0 h 3549370"/>
              <a:gd name="connsiteX1" fmla="*/ 600444 w 600444"/>
              <a:gd name="connsiteY1" fmla="*/ 300222 h 3549370"/>
              <a:gd name="connsiteX2" fmla="*/ 468079 w 600444"/>
              <a:gd name="connsiteY2" fmla="*/ 549171 h 3549370"/>
              <a:gd name="connsiteX3" fmla="*/ 428714 w 600444"/>
              <a:gd name="connsiteY3" fmla="*/ 570538 h 3549370"/>
              <a:gd name="connsiteX4" fmla="*/ 428714 w 600444"/>
              <a:gd name="connsiteY4" fmla="*/ 1533984 h 3549370"/>
              <a:gd name="connsiteX5" fmla="*/ 468079 w 600444"/>
              <a:gd name="connsiteY5" fmla="*/ 1555350 h 3549370"/>
              <a:gd name="connsiteX6" fmla="*/ 600444 w 600444"/>
              <a:gd name="connsiteY6" fmla="*/ 1804299 h 3549370"/>
              <a:gd name="connsiteX7" fmla="*/ 468079 w 600444"/>
              <a:gd name="connsiteY7" fmla="*/ 2053248 h 3549370"/>
              <a:gd name="connsiteX8" fmla="*/ 428714 w 600444"/>
              <a:gd name="connsiteY8" fmla="*/ 2074615 h 3549370"/>
              <a:gd name="connsiteX9" fmla="*/ 428714 w 600444"/>
              <a:gd name="connsiteY9" fmla="*/ 2978833 h 3549370"/>
              <a:gd name="connsiteX10" fmla="*/ 468079 w 600444"/>
              <a:gd name="connsiteY10" fmla="*/ 3000199 h 3549370"/>
              <a:gd name="connsiteX11" fmla="*/ 600444 w 600444"/>
              <a:gd name="connsiteY11" fmla="*/ 3249148 h 3549370"/>
              <a:gd name="connsiteX12" fmla="*/ 300222 w 600444"/>
              <a:gd name="connsiteY12" fmla="*/ 3549370 h 3549370"/>
              <a:gd name="connsiteX13" fmla="*/ 0 w 600444"/>
              <a:gd name="connsiteY13" fmla="*/ 3249148 h 3549370"/>
              <a:gd name="connsiteX14" fmla="*/ 132365 w 600444"/>
              <a:gd name="connsiteY14" fmla="*/ 3000199 h 3549370"/>
              <a:gd name="connsiteX15" fmla="*/ 171730 w 600444"/>
              <a:gd name="connsiteY15" fmla="*/ 2978833 h 3549370"/>
              <a:gd name="connsiteX16" fmla="*/ 171730 w 600444"/>
              <a:gd name="connsiteY16" fmla="*/ 2074615 h 3549370"/>
              <a:gd name="connsiteX17" fmla="*/ 132365 w 600444"/>
              <a:gd name="connsiteY17" fmla="*/ 2053248 h 3549370"/>
              <a:gd name="connsiteX18" fmla="*/ 0 w 600444"/>
              <a:gd name="connsiteY18" fmla="*/ 1804299 h 3549370"/>
              <a:gd name="connsiteX19" fmla="*/ 132365 w 600444"/>
              <a:gd name="connsiteY19" fmla="*/ 1555350 h 3549370"/>
              <a:gd name="connsiteX20" fmla="*/ 171730 w 600444"/>
              <a:gd name="connsiteY20" fmla="*/ 1533984 h 3549370"/>
              <a:gd name="connsiteX21" fmla="*/ 171730 w 600444"/>
              <a:gd name="connsiteY21" fmla="*/ 570538 h 3549370"/>
              <a:gd name="connsiteX22" fmla="*/ 132365 w 600444"/>
              <a:gd name="connsiteY22" fmla="*/ 549171 h 3549370"/>
              <a:gd name="connsiteX23" fmla="*/ 0 w 600444"/>
              <a:gd name="connsiteY23" fmla="*/ 300222 h 3549370"/>
              <a:gd name="connsiteX24" fmla="*/ 300222 w 600444"/>
              <a:gd name="connsiteY24" fmla="*/ 0 h 3549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0444" h="3549370">
                <a:moveTo>
                  <a:pt x="300222" y="0"/>
                </a:moveTo>
                <a:cubicBezTo>
                  <a:pt x="466030" y="0"/>
                  <a:pt x="600444" y="134414"/>
                  <a:pt x="600444" y="300222"/>
                </a:cubicBezTo>
                <a:cubicBezTo>
                  <a:pt x="600444" y="403852"/>
                  <a:pt x="547939" y="495219"/>
                  <a:pt x="468079" y="549171"/>
                </a:cubicBezTo>
                <a:lnTo>
                  <a:pt x="428714" y="570538"/>
                </a:lnTo>
                <a:lnTo>
                  <a:pt x="428714" y="1533984"/>
                </a:lnTo>
                <a:lnTo>
                  <a:pt x="468079" y="1555350"/>
                </a:lnTo>
                <a:cubicBezTo>
                  <a:pt x="547939" y="1609302"/>
                  <a:pt x="600444" y="1700669"/>
                  <a:pt x="600444" y="1804299"/>
                </a:cubicBezTo>
                <a:cubicBezTo>
                  <a:pt x="600444" y="1907929"/>
                  <a:pt x="547939" y="1999296"/>
                  <a:pt x="468079" y="2053248"/>
                </a:cubicBezTo>
                <a:lnTo>
                  <a:pt x="428714" y="2074615"/>
                </a:lnTo>
                <a:lnTo>
                  <a:pt x="428714" y="2978833"/>
                </a:lnTo>
                <a:lnTo>
                  <a:pt x="468079" y="3000199"/>
                </a:lnTo>
                <a:cubicBezTo>
                  <a:pt x="547939" y="3054152"/>
                  <a:pt x="600444" y="3145518"/>
                  <a:pt x="600444" y="3249148"/>
                </a:cubicBezTo>
                <a:cubicBezTo>
                  <a:pt x="600444" y="3414956"/>
                  <a:pt x="466030" y="3549370"/>
                  <a:pt x="300222" y="3549370"/>
                </a:cubicBezTo>
                <a:cubicBezTo>
                  <a:pt x="134414" y="3549370"/>
                  <a:pt x="0" y="3414956"/>
                  <a:pt x="0" y="3249148"/>
                </a:cubicBezTo>
                <a:cubicBezTo>
                  <a:pt x="0" y="3145518"/>
                  <a:pt x="52505" y="3054152"/>
                  <a:pt x="132365" y="3000199"/>
                </a:cubicBezTo>
                <a:lnTo>
                  <a:pt x="171730" y="2978833"/>
                </a:lnTo>
                <a:lnTo>
                  <a:pt x="171730" y="2074615"/>
                </a:lnTo>
                <a:lnTo>
                  <a:pt x="132365" y="2053248"/>
                </a:lnTo>
                <a:cubicBezTo>
                  <a:pt x="52505" y="1999296"/>
                  <a:pt x="0" y="1907929"/>
                  <a:pt x="0" y="1804299"/>
                </a:cubicBezTo>
                <a:cubicBezTo>
                  <a:pt x="0" y="1700669"/>
                  <a:pt x="52505" y="1609302"/>
                  <a:pt x="132365" y="1555350"/>
                </a:cubicBezTo>
                <a:lnTo>
                  <a:pt x="171730" y="1533984"/>
                </a:lnTo>
                <a:lnTo>
                  <a:pt x="171730" y="570538"/>
                </a:lnTo>
                <a:lnTo>
                  <a:pt x="132365" y="549171"/>
                </a:lnTo>
                <a:cubicBezTo>
                  <a:pt x="52505" y="495219"/>
                  <a:pt x="0" y="403852"/>
                  <a:pt x="0" y="300222"/>
                </a:cubicBezTo>
                <a:cubicBezTo>
                  <a:pt x="0" y="134414"/>
                  <a:pt x="134414" y="0"/>
                  <a:pt x="300222" y="0"/>
                </a:cubicBezTo>
                <a:close/>
              </a:path>
            </a:pathLst>
          </a:custGeom>
          <a:solidFill>
            <a:schemeClr val="bg1">
              <a:lumMod val="75000"/>
            </a:schemeClr>
          </a:solidFill>
          <a:ln>
            <a:noFill/>
          </a:ln>
          <a:effectLst>
            <a:innerShdw blurRad="190500" dist="50800" dir="1350000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lt1"/>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cxnSp>
        <p:nvCxnSpPr>
          <p:cNvPr id="16" name="直接连接符 15"/>
          <p:cNvCxnSpPr/>
          <p:nvPr/>
        </p:nvCxnSpPr>
        <p:spPr>
          <a:xfrm>
            <a:off x="1894474" y="2095411"/>
            <a:ext cx="2664296" cy="0"/>
          </a:xfrm>
          <a:prstGeom prst="line">
            <a:avLst/>
          </a:prstGeom>
          <a:ln>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2182506" y="1717992"/>
            <a:ext cx="3339017" cy="369324"/>
          </a:xfrm>
          <a:prstGeom prst="rect">
            <a:avLst/>
          </a:prstGeom>
        </p:spPr>
        <p:txBody>
          <a:bodyPr wrap="square" lIns="91431" tIns="45716" rIns="91431" bIns="45716">
            <a:spAutoFit/>
          </a:bodyPr>
          <a:lstStyle/>
          <a:p>
            <a:pPr>
              <a:spcBef>
                <a:spcPct val="0"/>
              </a:spcBef>
              <a:buFont typeface="Arial" panose="020B0604020202020204" pitchFamily="34" charset="0"/>
              <a:buNone/>
            </a:pPr>
            <a:r>
              <a:rPr lang="zh-CN" altLang="en-US"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專業技術水平相對薄弱</a:t>
            </a:r>
            <a:endParaRPr lang="zh-CN" altLang="en-US"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8" name="矩形 47"/>
          <p:cNvSpPr>
            <a:spLocks noChangeArrowheads="1"/>
          </p:cNvSpPr>
          <p:nvPr/>
        </p:nvSpPr>
        <p:spPr bwMode="auto">
          <a:xfrm>
            <a:off x="2182505" y="2125998"/>
            <a:ext cx="7947529"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雖然通過自主學習和工作經驗的積累，在業務水平上有了很大的提高，但是在項目開發實踐中常常遇到許多新的問題和異常需要依靠查閱資料才找到原因，影響開發的效率。</a:t>
            </a:r>
            <a:endPar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19" name="组合 18"/>
          <p:cNvGrpSpPr/>
          <p:nvPr/>
        </p:nvGrpSpPr>
        <p:grpSpPr>
          <a:xfrm>
            <a:off x="1174394" y="1838404"/>
            <a:ext cx="968654" cy="956034"/>
            <a:chOff x="6217935" y="1158425"/>
            <a:chExt cx="527724" cy="520849"/>
          </a:xfrm>
        </p:grpSpPr>
        <p:grpSp>
          <p:nvGrpSpPr>
            <p:cNvPr id="20" name="组合 19"/>
            <p:cNvGrpSpPr/>
            <p:nvPr/>
          </p:nvGrpSpPr>
          <p:grpSpPr>
            <a:xfrm>
              <a:off x="6219351" y="1158425"/>
              <a:ext cx="520849" cy="520849"/>
              <a:chOff x="1705099" y="2564904"/>
              <a:chExt cx="1800200" cy="1800200"/>
            </a:xfrm>
          </p:grpSpPr>
          <p:sp>
            <p:nvSpPr>
              <p:cNvPr id="22" name="椭圆 21"/>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3" name="椭圆 22"/>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21" name="TextBox 20"/>
            <p:cNvSpPr txBox="1"/>
            <p:nvPr/>
          </p:nvSpPr>
          <p:spPr>
            <a:xfrm>
              <a:off x="6217935" y="1271633"/>
              <a:ext cx="527724" cy="318586"/>
            </a:xfrm>
            <a:prstGeom prst="rect">
              <a:avLst/>
            </a:prstGeom>
            <a:noFill/>
          </p:spPr>
          <p:txBody>
            <a:bodyPr wrap="square" rtlCol="0">
              <a:spAutoFit/>
            </a:bodyPr>
            <a:lstStyle/>
            <a:p>
              <a:pPr algn="ctr"/>
              <a:r>
                <a:rPr lang="en-US" altLang="zh-CN" sz="32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01</a:t>
              </a:r>
              <a:endParaRPr lang="zh-CN" altLang="en-US" sz="32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cxnSp>
        <p:nvCxnSpPr>
          <p:cNvPr id="24" name="直接连接符 23"/>
          <p:cNvCxnSpPr/>
          <p:nvPr/>
        </p:nvCxnSpPr>
        <p:spPr>
          <a:xfrm>
            <a:off x="1903328" y="3535571"/>
            <a:ext cx="2664296" cy="0"/>
          </a:xfrm>
          <a:prstGeom prst="line">
            <a:avLst/>
          </a:prstGeom>
          <a:ln>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6" name="矩形 47"/>
          <p:cNvSpPr>
            <a:spLocks noChangeArrowheads="1"/>
          </p:cNvSpPr>
          <p:nvPr/>
        </p:nvSpPr>
        <p:spPr bwMode="auto">
          <a:xfrm>
            <a:off x="2191359" y="3566158"/>
            <a:ext cx="7938675"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工作上满足于正常化，缺乏开拓和主动精神，有时心浮气躁，急于求成平稳有余，创新不足</a:t>
            </a:r>
            <a:r>
              <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a:t>
            </a:r>
            <a:r>
              <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rPr>
              <a:t>处理问题有时考虑得还不够周到，心中想得多，行动中实践得</a:t>
            </a:r>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rPr>
              <a:t>少。</a:t>
            </a:r>
            <a:endPar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27" name="组合 26"/>
          <p:cNvGrpSpPr/>
          <p:nvPr/>
        </p:nvGrpSpPr>
        <p:grpSpPr>
          <a:xfrm>
            <a:off x="1183248" y="3278564"/>
            <a:ext cx="968654" cy="956034"/>
            <a:chOff x="6217935" y="1158425"/>
            <a:chExt cx="527724" cy="520849"/>
          </a:xfrm>
        </p:grpSpPr>
        <p:grpSp>
          <p:nvGrpSpPr>
            <p:cNvPr id="28" name="组合 27"/>
            <p:cNvGrpSpPr/>
            <p:nvPr/>
          </p:nvGrpSpPr>
          <p:grpSpPr>
            <a:xfrm>
              <a:off x="6219351" y="1158425"/>
              <a:ext cx="520849" cy="520849"/>
              <a:chOff x="1705099" y="2564904"/>
              <a:chExt cx="1800200" cy="1800200"/>
            </a:xfrm>
          </p:grpSpPr>
          <p:sp>
            <p:nvSpPr>
              <p:cNvPr id="30" name="椭圆 29"/>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1" name="椭圆 30"/>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29" name="TextBox 28"/>
            <p:cNvSpPr txBox="1"/>
            <p:nvPr/>
          </p:nvSpPr>
          <p:spPr>
            <a:xfrm>
              <a:off x="6217935" y="1271633"/>
              <a:ext cx="527724" cy="318586"/>
            </a:xfrm>
            <a:prstGeom prst="rect">
              <a:avLst/>
            </a:prstGeom>
            <a:noFill/>
          </p:spPr>
          <p:txBody>
            <a:bodyPr wrap="square" rtlCol="0">
              <a:spAutoFit/>
            </a:bodyPr>
            <a:lstStyle/>
            <a:p>
              <a:pPr algn="ctr"/>
              <a:r>
                <a:rPr lang="en-US" altLang="zh-CN" sz="32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02</a:t>
              </a:r>
              <a:endParaRPr lang="zh-CN" altLang="en-US" sz="32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cxnSp>
        <p:nvCxnSpPr>
          <p:cNvPr id="32" name="直接连接符 31"/>
          <p:cNvCxnSpPr/>
          <p:nvPr/>
        </p:nvCxnSpPr>
        <p:spPr>
          <a:xfrm>
            <a:off x="1894474" y="4975731"/>
            <a:ext cx="2664296" cy="0"/>
          </a:xfrm>
          <a:prstGeom prst="line">
            <a:avLst/>
          </a:prstGeom>
          <a:ln>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2182506" y="4598312"/>
            <a:ext cx="3050985" cy="369324"/>
          </a:xfrm>
          <a:prstGeom prst="rect">
            <a:avLst/>
          </a:prstGeom>
        </p:spPr>
        <p:txBody>
          <a:bodyPr wrap="square" lIns="91431" tIns="45716" rIns="91431" bIns="45716">
            <a:spAutoFit/>
          </a:bodyPr>
          <a:lstStyle/>
          <a:p>
            <a:pPr>
              <a:spcBef>
                <a:spcPct val="0"/>
              </a:spcBef>
              <a:buFont typeface="Arial" panose="020B0604020202020204" pitchFamily="34" charset="0"/>
              <a:buNone/>
            </a:pPr>
            <a:r>
              <a:rPr lang="zh-CN" altLang="en-US"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团</a:t>
            </a:r>
            <a:r>
              <a:rPr lang="zh-CN" altLang="en-US"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队協作能力有待提高</a:t>
            </a:r>
            <a:endParaRPr lang="zh-CN" altLang="en-US"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4" name="矩形 47"/>
          <p:cNvSpPr>
            <a:spLocks noChangeArrowheads="1"/>
          </p:cNvSpPr>
          <p:nvPr/>
        </p:nvSpPr>
        <p:spPr bwMode="auto">
          <a:xfrm>
            <a:off x="2182506" y="5006318"/>
            <a:ext cx="7947528"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自己的語言表達能力比較差，加之較大專案團隊協作開發的經驗不足，因此在團隊協作開發能力方面需要加強鍛煉。</a:t>
            </a:r>
            <a:endPar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35" name="组合 34"/>
          <p:cNvGrpSpPr/>
          <p:nvPr/>
        </p:nvGrpSpPr>
        <p:grpSpPr>
          <a:xfrm>
            <a:off x="1174394" y="4718724"/>
            <a:ext cx="968654" cy="956034"/>
            <a:chOff x="6217935" y="1158425"/>
            <a:chExt cx="527724" cy="520849"/>
          </a:xfrm>
        </p:grpSpPr>
        <p:grpSp>
          <p:nvGrpSpPr>
            <p:cNvPr id="36" name="组合 35"/>
            <p:cNvGrpSpPr/>
            <p:nvPr/>
          </p:nvGrpSpPr>
          <p:grpSpPr>
            <a:xfrm>
              <a:off x="6219351" y="1158425"/>
              <a:ext cx="520849" cy="520849"/>
              <a:chOff x="1705099" y="2564904"/>
              <a:chExt cx="1800200" cy="1800200"/>
            </a:xfrm>
          </p:grpSpPr>
          <p:sp>
            <p:nvSpPr>
              <p:cNvPr id="38" name="椭圆 37"/>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9" name="椭圆 38"/>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37" name="TextBox 36"/>
            <p:cNvSpPr txBox="1"/>
            <p:nvPr/>
          </p:nvSpPr>
          <p:spPr>
            <a:xfrm>
              <a:off x="6217935" y="1271633"/>
              <a:ext cx="527724" cy="318586"/>
            </a:xfrm>
            <a:prstGeom prst="rect">
              <a:avLst/>
            </a:prstGeom>
            <a:noFill/>
          </p:spPr>
          <p:txBody>
            <a:bodyPr wrap="square" rtlCol="0">
              <a:spAutoFit/>
            </a:bodyPr>
            <a:lstStyle/>
            <a:p>
              <a:pPr algn="ctr"/>
              <a:r>
                <a:rPr lang="en-US" altLang="zh-CN" sz="32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03</a:t>
              </a:r>
              <a:endParaRPr lang="zh-CN" altLang="en-US" sz="32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40" name="矩形 39"/>
          <p:cNvSpPr/>
          <p:nvPr/>
        </p:nvSpPr>
        <p:spPr>
          <a:xfrm>
            <a:off x="2191360" y="3110671"/>
            <a:ext cx="3339017" cy="369324"/>
          </a:xfrm>
          <a:prstGeom prst="rect">
            <a:avLst/>
          </a:prstGeom>
        </p:spPr>
        <p:txBody>
          <a:bodyPr wrap="square" lIns="91431" tIns="45716" rIns="91431" bIns="45716">
            <a:spAutoFit/>
          </a:bodyPr>
          <a:lstStyle/>
          <a:p>
            <a:pPr>
              <a:spcBef>
                <a:spcPct val="0"/>
              </a:spcBef>
              <a:buFont typeface="Arial" panose="020B0604020202020204" pitchFamily="34" charset="0"/>
              <a:buNone/>
            </a:pPr>
            <a:r>
              <a:rPr lang="zh-CN" altLang="en-US"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創新能力不足</a:t>
            </a:r>
            <a:endParaRPr lang="zh-CN" altLang="en-US"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91"/>
                                        </p:tgtEl>
                                        <p:attrNameLst>
                                          <p:attrName>style.visibility</p:attrName>
                                        </p:attrNameLst>
                                      </p:cBhvr>
                                      <p:to>
                                        <p:strVal val="visible"/>
                                      </p:to>
                                    </p:set>
                                    <p:anim calcmode="lin" valueType="num">
                                      <p:cBhvr>
                                        <p:cTn id="7" dur="500" fill="hold"/>
                                        <p:tgtEl>
                                          <p:spTgt spid="9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91"/>
                                        </p:tgtEl>
                                        <p:attrNameLst>
                                          <p:attrName>ppt_y</p:attrName>
                                        </p:attrNameLst>
                                      </p:cBhvr>
                                      <p:tavLst>
                                        <p:tav tm="0">
                                          <p:val>
                                            <p:strVal val="#ppt_y"/>
                                          </p:val>
                                        </p:tav>
                                        <p:tav tm="100000">
                                          <p:val>
                                            <p:strVal val="#ppt_y"/>
                                          </p:val>
                                        </p:tav>
                                      </p:tavLst>
                                    </p:anim>
                                    <p:anim calcmode="lin" valueType="num">
                                      <p:cBhvr>
                                        <p:cTn id="9" dur="500" fill="hold"/>
                                        <p:tgtEl>
                                          <p:spTgt spid="9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9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91"/>
                                        </p:tgtEl>
                                      </p:cBhvr>
                                    </p:animEffect>
                                  </p:childTnLst>
                                </p:cTn>
                              </p:par>
                              <p:par>
                                <p:cTn id="12" presetID="2" presetClass="entr" presetSubtype="8" fill="hold" nodeType="withEffect">
                                  <p:stCondLst>
                                    <p:cond delay="250"/>
                                  </p:stCondLst>
                                  <p:childTnLst>
                                    <p:set>
                                      <p:cBhvr>
                                        <p:cTn id="13" dur="1" fill="hold">
                                          <p:stCondLst>
                                            <p:cond delay="0"/>
                                          </p:stCondLst>
                                        </p:cTn>
                                        <p:tgtEl>
                                          <p:spTgt spid="98"/>
                                        </p:tgtEl>
                                        <p:attrNameLst>
                                          <p:attrName>style.visibility</p:attrName>
                                        </p:attrNameLst>
                                      </p:cBhvr>
                                      <p:to>
                                        <p:strVal val="visible"/>
                                      </p:to>
                                    </p:set>
                                    <p:anim calcmode="lin" valueType="num">
                                      <p:cBhvr additive="base">
                                        <p:cTn id="14" dur="500" fill="hold"/>
                                        <p:tgtEl>
                                          <p:spTgt spid="98"/>
                                        </p:tgtEl>
                                        <p:attrNameLst>
                                          <p:attrName>ppt_x</p:attrName>
                                        </p:attrNameLst>
                                      </p:cBhvr>
                                      <p:tavLst>
                                        <p:tav tm="0">
                                          <p:val>
                                            <p:strVal val="0-#ppt_w/2"/>
                                          </p:val>
                                        </p:tav>
                                        <p:tav tm="100000">
                                          <p:val>
                                            <p:strVal val="#ppt_x"/>
                                          </p:val>
                                        </p:tav>
                                      </p:tavLst>
                                    </p:anim>
                                    <p:anim calcmode="lin" valueType="num">
                                      <p:cBhvr additive="base">
                                        <p:cTn id="15" dur="500" fill="hold"/>
                                        <p:tgtEl>
                                          <p:spTgt spid="98"/>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95"/>
                                        </p:tgtEl>
                                        <p:attrNameLst>
                                          <p:attrName>style.visibility</p:attrName>
                                        </p:attrNameLst>
                                      </p:cBhvr>
                                      <p:to>
                                        <p:strVal val="visible"/>
                                      </p:to>
                                    </p:set>
                                    <p:anim calcmode="lin" valueType="num">
                                      <p:cBhvr additive="base">
                                        <p:cTn id="18" dur="500" fill="hold"/>
                                        <p:tgtEl>
                                          <p:spTgt spid="95"/>
                                        </p:tgtEl>
                                        <p:attrNameLst>
                                          <p:attrName>ppt_x</p:attrName>
                                        </p:attrNameLst>
                                      </p:cBhvr>
                                      <p:tavLst>
                                        <p:tav tm="0">
                                          <p:val>
                                            <p:strVal val="1+#ppt_w/2"/>
                                          </p:val>
                                        </p:tav>
                                        <p:tav tm="100000">
                                          <p:val>
                                            <p:strVal val="#ppt_x"/>
                                          </p:val>
                                        </p:tav>
                                      </p:tavLst>
                                    </p:anim>
                                    <p:anim calcmode="lin" valueType="num">
                                      <p:cBhvr additive="base">
                                        <p:cTn id="19" dur="500" fill="hold"/>
                                        <p:tgtEl>
                                          <p:spTgt spid="95"/>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stCondLst>
                                    <p:cond delay="250"/>
                                  </p:stCondLst>
                                  <p:childTnLst>
                                    <p:set>
                                      <p:cBhvr>
                                        <p:cTn id="21" dur="1" fill="hold">
                                          <p:stCondLst>
                                            <p:cond delay="0"/>
                                          </p:stCondLst>
                                        </p:cTn>
                                        <p:tgtEl>
                                          <p:spTgt spid="102"/>
                                        </p:tgtEl>
                                        <p:attrNameLst>
                                          <p:attrName>style.visibility</p:attrName>
                                        </p:attrNameLst>
                                      </p:cBhvr>
                                      <p:to>
                                        <p:strVal val="visible"/>
                                      </p:to>
                                    </p:set>
                                    <p:anim calcmode="lin" valueType="num">
                                      <p:cBhvr additive="base">
                                        <p:cTn id="22" dur="500" fill="hold"/>
                                        <p:tgtEl>
                                          <p:spTgt spid="102"/>
                                        </p:tgtEl>
                                        <p:attrNameLst>
                                          <p:attrName>ppt_x</p:attrName>
                                        </p:attrNameLst>
                                      </p:cBhvr>
                                      <p:tavLst>
                                        <p:tav tm="0">
                                          <p:val>
                                            <p:strVal val="0-#ppt_w/2"/>
                                          </p:val>
                                        </p:tav>
                                        <p:tav tm="100000">
                                          <p:val>
                                            <p:strVal val="#ppt_x"/>
                                          </p:val>
                                        </p:tav>
                                      </p:tavLst>
                                    </p:anim>
                                    <p:anim calcmode="lin" valueType="num">
                                      <p:cBhvr additive="base">
                                        <p:cTn id="23" dur="500" fill="hold"/>
                                        <p:tgtEl>
                                          <p:spTgt spid="102"/>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250"/>
                                  </p:stCondLst>
                                  <p:childTnLst>
                                    <p:set>
                                      <p:cBhvr>
                                        <p:cTn id="25" dur="1" fill="hold">
                                          <p:stCondLst>
                                            <p:cond delay="0"/>
                                          </p:stCondLst>
                                        </p:cTn>
                                        <p:tgtEl>
                                          <p:spTgt spid="101"/>
                                        </p:tgtEl>
                                        <p:attrNameLst>
                                          <p:attrName>style.visibility</p:attrName>
                                        </p:attrNameLst>
                                      </p:cBhvr>
                                      <p:to>
                                        <p:strVal val="visible"/>
                                      </p:to>
                                    </p:set>
                                    <p:anim calcmode="lin" valueType="num">
                                      <p:cBhvr additive="base">
                                        <p:cTn id="26" dur="500" fill="hold"/>
                                        <p:tgtEl>
                                          <p:spTgt spid="101"/>
                                        </p:tgtEl>
                                        <p:attrNameLst>
                                          <p:attrName>ppt_x</p:attrName>
                                        </p:attrNameLst>
                                      </p:cBhvr>
                                      <p:tavLst>
                                        <p:tav tm="0">
                                          <p:val>
                                            <p:strVal val="1+#ppt_w/2"/>
                                          </p:val>
                                        </p:tav>
                                        <p:tav tm="100000">
                                          <p:val>
                                            <p:strVal val="#ppt_x"/>
                                          </p:val>
                                        </p:tav>
                                      </p:tavLst>
                                    </p:anim>
                                    <p:anim calcmode="lin" valueType="num">
                                      <p:cBhvr additive="base">
                                        <p:cTn id="27" dur="500" fill="hold"/>
                                        <p:tgtEl>
                                          <p:spTgt spid="101"/>
                                        </p:tgtEl>
                                        <p:attrNameLst>
                                          <p:attrName>ppt_y</p:attrName>
                                        </p:attrNameLst>
                                      </p:cBhvr>
                                      <p:tavLst>
                                        <p:tav tm="0">
                                          <p:val>
                                            <p:strVal val="#ppt_y"/>
                                          </p:val>
                                        </p:tav>
                                        <p:tav tm="100000">
                                          <p:val>
                                            <p:strVal val="#ppt_y"/>
                                          </p:val>
                                        </p:tav>
                                      </p:tavLst>
                                    </p:anim>
                                  </p:childTnLst>
                                </p:cTn>
                              </p:par>
                            </p:childTnLst>
                          </p:cTn>
                        </p:par>
                        <p:par>
                          <p:cTn id="28" fill="hold">
                            <p:stCondLst>
                              <p:cond delay="800"/>
                            </p:stCondLst>
                            <p:childTnLst>
                              <p:par>
                                <p:cTn id="29" presetID="45" presetClass="entr" presetSubtype="0" fill="hold"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750"/>
                                        <p:tgtEl>
                                          <p:spTgt spid="19"/>
                                        </p:tgtEl>
                                      </p:cBhvr>
                                    </p:animEffect>
                                    <p:anim calcmode="lin" valueType="num">
                                      <p:cBhvr>
                                        <p:cTn id="32" dur="750" fill="hold"/>
                                        <p:tgtEl>
                                          <p:spTgt spid="19"/>
                                        </p:tgtEl>
                                        <p:attrNameLst>
                                          <p:attrName>ppt_w</p:attrName>
                                        </p:attrNameLst>
                                      </p:cBhvr>
                                      <p:tavLst>
                                        <p:tav tm="0" fmla="#ppt_w*sin(2.5*pi*$)">
                                          <p:val>
                                            <p:fltVal val="0"/>
                                          </p:val>
                                        </p:tav>
                                        <p:tav tm="100000">
                                          <p:val>
                                            <p:fltVal val="1"/>
                                          </p:val>
                                        </p:tav>
                                      </p:tavLst>
                                    </p:anim>
                                    <p:anim calcmode="lin" valueType="num">
                                      <p:cBhvr>
                                        <p:cTn id="33" dur="750" fill="hold"/>
                                        <p:tgtEl>
                                          <p:spTgt spid="19"/>
                                        </p:tgtEl>
                                        <p:attrNameLst>
                                          <p:attrName>ppt_h</p:attrName>
                                        </p:attrNameLst>
                                      </p:cBhvr>
                                      <p:tavLst>
                                        <p:tav tm="0">
                                          <p:val>
                                            <p:strVal val="#ppt_h"/>
                                          </p:val>
                                        </p:tav>
                                        <p:tav tm="100000">
                                          <p:val>
                                            <p:strVal val="#ppt_h"/>
                                          </p:val>
                                        </p:tav>
                                      </p:tavLst>
                                    </p:anim>
                                  </p:childTnLst>
                                </p:cTn>
                              </p:par>
                            </p:childTnLst>
                          </p:cTn>
                        </p:par>
                        <p:par>
                          <p:cTn id="34" fill="hold">
                            <p:stCondLst>
                              <p:cond delay="1550"/>
                            </p:stCondLst>
                            <p:childTnLst>
                              <p:par>
                                <p:cTn id="35" presetID="22" presetClass="entr" presetSubtype="8" fill="hold"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par>
                                <p:cTn id="38" presetID="2" presetClass="entr" presetSubtype="2" fill="hold" grpId="0" nodeType="withEffect">
                                  <p:stCondLst>
                                    <p:cond delay="500"/>
                                  </p:stCondLst>
                                  <p:childTnLst>
                                    <p:set>
                                      <p:cBhvr>
                                        <p:cTn id="39" dur="1" fill="hold">
                                          <p:stCondLst>
                                            <p:cond delay="0"/>
                                          </p:stCondLst>
                                        </p:cTn>
                                        <p:tgtEl>
                                          <p:spTgt spid="17"/>
                                        </p:tgtEl>
                                        <p:attrNameLst>
                                          <p:attrName>style.visibility</p:attrName>
                                        </p:attrNameLst>
                                      </p:cBhvr>
                                      <p:to>
                                        <p:strVal val="visible"/>
                                      </p:to>
                                    </p:set>
                                    <p:anim calcmode="lin" valueType="num">
                                      <p:cBhvr additive="base">
                                        <p:cTn id="40" dur="500" fill="hold"/>
                                        <p:tgtEl>
                                          <p:spTgt spid="17"/>
                                        </p:tgtEl>
                                        <p:attrNameLst>
                                          <p:attrName>ppt_x</p:attrName>
                                        </p:attrNameLst>
                                      </p:cBhvr>
                                      <p:tavLst>
                                        <p:tav tm="0">
                                          <p:val>
                                            <p:strVal val="1+#ppt_w/2"/>
                                          </p:val>
                                        </p:tav>
                                        <p:tav tm="100000">
                                          <p:val>
                                            <p:strVal val="#ppt_x"/>
                                          </p:val>
                                        </p:tav>
                                      </p:tavLst>
                                    </p:anim>
                                    <p:anim calcmode="lin" valueType="num">
                                      <p:cBhvr additive="base">
                                        <p:cTn id="41" dur="500" fill="hold"/>
                                        <p:tgtEl>
                                          <p:spTgt spid="17"/>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500"/>
                                  </p:stCondLst>
                                  <p:childTnLst>
                                    <p:set>
                                      <p:cBhvr>
                                        <p:cTn id="43" dur="1" fill="hold">
                                          <p:stCondLst>
                                            <p:cond delay="0"/>
                                          </p:stCondLst>
                                        </p:cTn>
                                        <p:tgtEl>
                                          <p:spTgt spid="18"/>
                                        </p:tgtEl>
                                        <p:attrNameLst>
                                          <p:attrName>style.visibility</p:attrName>
                                        </p:attrNameLst>
                                      </p:cBhvr>
                                      <p:to>
                                        <p:strVal val="visible"/>
                                      </p:to>
                                    </p:set>
                                    <p:anim calcmode="lin" valueType="num">
                                      <p:cBhvr additive="base">
                                        <p:cTn id="44" dur="500" fill="hold"/>
                                        <p:tgtEl>
                                          <p:spTgt spid="18"/>
                                        </p:tgtEl>
                                        <p:attrNameLst>
                                          <p:attrName>ppt_x</p:attrName>
                                        </p:attrNameLst>
                                      </p:cBhvr>
                                      <p:tavLst>
                                        <p:tav tm="0">
                                          <p:val>
                                            <p:strVal val="1+#ppt_w/2"/>
                                          </p:val>
                                        </p:tav>
                                        <p:tav tm="100000">
                                          <p:val>
                                            <p:strVal val="#ppt_x"/>
                                          </p:val>
                                        </p:tav>
                                      </p:tavLst>
                                    </p:anim>
                                    <p:anim calcmode="lin" valueType="num">
                                      <p:cBhvr additive="base">
                                        <p:cTn id="45" dur="500" fill="hold"/>
                                        <p:tgtEl>
                                          <p:spTgt spid="18"/>
                                        </p:tgtEl>
                                        <p:attrNameLst>
                                          <p:attrName>ppt_y</p:attrName>
                                        </p:attrNameLst>
                                      </p:cBhvr>
                                      <p:tavLst>
                                        <p:tav tm="0">
                                          <p:val>
                                            <p:strVal val="#ppt_y"/>
                                          </p:val>
                                        </p:tav>
                                        <p:tav tm="100000">
                                          <p:val>
                                            <p:strVal val="#ppt_y"/>
                                          </p:val>
                                        </p:tav>
                                      </p:tavLst>
                                    </p:anim>
                                  </p:childTnLst>
                                </p:cTn>
                              </p:par>
                            </p:childTnLst>
                          </p:cTn>
                        </p:par>
                        <p:par>
                          <p:cTn id="46" fill="hold">
                            <p:stCondLst>
                              <p:cond delay="2550"/>
                            </p:stCondLst>
                            <p:childTnLst>
                              <p:par>
                                <p:cTn id="47" presetID="45" presetClass="entr" presetSubtype="0" fill="hold" nodeType="after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750"/>
                                        <p:tgtEl>
                                          <p:spTgt spid="27"/>
                                        </p:tgtEl>
                                      </p:cBhvr>
                                    </p:animEffect>
                                    <p:anim calcmode="lin" valueType="num">
                                      <p:cBhvr>
                                        <p:cTn id="50" dur="750" fill="hold"/>
                                        <p:tgtEl>
                                          <p:spTgt spid="27"/>
                                        </p:tgtEl>
                                        <p:attrNameLst>
                                          <p:attrName>ppt_w</p:attrName>
                                        </p:attrNameLst>
                                      </p:cBhvr>
                                      <p:tavLst>
                                        <p:tav tm="0" fmla="#ppt_w*sin(2.5*pi*$)">
                                          <p:val>
                                            <p:fltVal val="0"/>
                                          </p:val>
                                        </p:tav>
                                        <p:tav tm="100000">
                                          <p:val>
                                            <p:fltVal val="1"/>
                                          </p:val>
                                        </p:tav>
                                      </p:tavLst>
                                    </p:anim>
                                    <p:anim calcmode="lin" valueType="num">
                                      <p:cBhvr>
                                        <p:cTn id="51" dur="750" fill="hold"/>
                                        <p:tgtEl>
                                          <p:spTgt spid="27"/>
                                        </p:tgtEl>
                                        <p:attrNameLst>
                                          <p:attrName>ppt_h</p:attrName>
                                        </p:attrNameLst>
                                      </p:cBhvr>
                                      <p:tavLst>
                                        <p:tav tm="0">
                                          <p:val>
                                            <p:strVal val="#ppt_h"/>
                                          </p:val>
                                        </p:tav>
                                        <p:tav tm="100000">
                                          <p:val>
                                            <p:strVal val="#ppt_h"/>
                                          </p:val>
                                        </p:tav>
                                      </p:tavLst>
                                    </p:anim>
                                  </p:childTnLst>
                                </p:cTn>
                              </p:par>
                            </p:childTnLst>
                          </p:cTn>
                        </p:par>
                        <p:par>
                          <p:cTn id="52" fill="hold">
                            <p:stCondLst>
                              <p:cond delay="3300"/>
                            </p:stCondLst>
                            <p:childTnLst>
                              <p:par>
                                <p:cTn id="53" presetID="22" presetClass="entr" presetSubtype="8" fill="hold" nodeType="after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wipe(left)">
                                      <p:cBhvr>
                                        <p:cTn id="55" dur="500"/>
                                        <p:tgtEl>
                                          <p:spTgt spid="24"/>
                                        </p:tgtEl>
                                      </p:cBhvr>
                                    </p:animEffect>
                                  </p:childTnLst>
                                </p:cTn>
                              </p:par>
                              <p:par>
                                <p:cTn id="56" presetID="2" presetClass="entr" presetSubtype="2" fill="hold" grpId="0" nodeType="withEffect">
                                  <p:stCondLst>
                                    <p:cond delay="500"/>
                                  </p:stCondLst>
                                  <p:childTnLst>
                                    <p:set>
                                      <p:cBhvr>
                                        <p:cTn id="57" dur="1" fill="hold">
                                          <p:stCondLst>
                                            <p:cond delay="0"/>
                                          </p:stCondLst>
                                        </p:cTn>
                                        <p:tgtEl>
                                          <p:spTgt spid="26"/>
                                        </p:tgtEl>
                                        <p:attrNameLst>
                                          <p:attrName>style.visibility</p:attrName>
                                        </p:attrNameLst>
                                      </p:cBhvr>
                                      <p:to>
                                        <p:strVal val="visible"/>
                                      </p:to>
                                    </p:set>
                                    <p:anim calcmode="lin" valueType="num">
                                      <p:cBhvr additive="base">
                                        <p:cTn id="58" dur="500" fill="hold"/>
                                        <p:tgtEl>
                                          <p:spTgt spid="26"/>
                                        </p:tgtEl>
                                        <p:attrNameLst>
                                          <p:attrName>ppt_x</p:attrName>
                                        </p:attrNameLst>
                                      </p:cBhvr>
                                      <p:tavLst>
                                        <p:tav tm="0">
                                          <p:val>
                                            <p:strVal val="1+#ppt_w/2"/>
                                          </p:val>
                                        </p:tav>
                                        <p:tav tm="100000">
                                          <p:val>
                                            <p:strVal val="#ppt_x"/>
                                          </p:val>
                                        </p:tav>
                                      </p:tavLst>
                                    </p:anim>
                                    <p:anim calcmode="lin" valueType="num">
                                      <p:cBhvr additive="base">
                                        <p:cTn id="59" dur="500" fill="hold"/>
                                        <p:tgtEl>
                                          <p:spTgt spid="26"/>
                                        </p:tgtEl>
                                        <p:attrNameLst>
                                          <p:attrName>ppt_y</p:attrName>
                                        </p:attrNameLst>
                                      </p:cBhvr>
                                      <p:tavLst>
                                        <p:tav tm="0">
                                          <p:val>
                                            <p:strVal val="#ppt_y"/>
                                          </p:val>
                                        </p:tav>
                                        <p:tav tm="100000">
                                          <p:val>
                                            <p:strVal val="#ppt_y"/>
                                          </p:val>
                                        </p:tav>
                                      </p:tavLst>
                                    </p:anim>
                                  </p:childTnLst>
                                </p:cTn>
                              </p:par>
                            </p:childTnLst>
                          </p:cTn>
                        </p:par>
                        <p:par>
                          <p:cTn id="60" fill="hold">
                            <p:stCondLst>
                              <p:cond delay="4300"/>
                            </p:stCondLst>
                            <p:childTnLst>
                              <p:par>
                                <p:cTn id="61" presetID="45" presetClass="entr" presetSubtype="0" fill="hold" nodeType="after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fade">
                                      <p:cBhvr>
                                        <p:cTn id="63" dur="750"/>
                                        <p:tgtEl>
                                          <p:spTgt spid="35"/>
                                        </p:tgtEl>
                                      </p:cBhvr>
                                    </p:animEffect>
                                    <p:anim calcmode="lin" valueType="num">
                                      <p:cBhvr>
                                        <p:cTn id="64" dur="750" fill="hold"/>
                                        <p:tgtEl>
                                          <p:spTgt spid="35"/>
                                        </p:tgtEl>
                                        <p:attrNameLst>
                                          <p:attrName>ppt_w</p:attrName>
                                        </p:attrNameLst>
                                      </p:cBhvr>
                                      <p:tavLst>
                                        <p:tav tm="0" fmla="#ppt_w*sin(2.5*pi*$)">
                                          <p:val>
                                            <p:fltVal val="0"/>
                                          </p:val>
                                        </p:tav>
                                        <p:tav tm="100000">
                                          <p:val>
                                            <p:fltVal val="1"/>
                                          </p:val>
                                        </p:tav>
                                      </p:tavLst>
                                    </p:anim>
                                    <p:anim calcmode="lin" valueType="num">
                                      <p:cBhvr>
                                        <p:cTn id="65" dur="750" fill="hold"/>
                                        <p:tgtEl>
                                          <p:spTgt spid="35"/>
                                        </p:tgtEl>
                                        <p:attrNameLst>
                                          <p:attrName>ppt_h</p:attrName>
                                        </p:attrNameLst>
                                      </p:cBhvr>
                                      <p:tavLst>
                                        <p:tav tm="0">
                                          <p:val>
                                            <p:strVal val="#ppt_h"/>
                                          </p:val>
                                        </p:tav>
                                        <p:tav tm="100000">
                                          <p:val>
                                            <p:strVal val="#ppt_h"/>
                                          </p:val>
                                        </p:tav>
                                      </p:tavLst>
                                    </p:anim>
                                  </p:childTnLst>
                                </p:cTn>
                              </p:par>
                            </p:childTnLst>
                          </p:cTn>
                        </p:par>
                        <p:par>
                          <p:cTn id="66" fill="hold">
                            <p:stCondLst>
                              <p:cond delay="5050"/>
                            </p:stCondLst>
                            <p:childTnLst>
                              <p:par>
                                <p:cTn id="67" presetID="22" presetClass="entr" presetSubtype="8" fill="hold" nodeType="after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wipe(left)">
                                      <p:cBhvr>
                                        <p:cTn id="69" dur="500"/>
                                        <p:tgtEl>
                                          <p:spTgt spid="32"/>
                                        </p:tgtEl>
                                      </p:cBhvr>
                                    </p:animEffect>
                                  </p:childTnLst>
                                </p:cTn>
                              </p:par>
                              <p:par>
                                <p:cTn id="70" presetID="2" presetClass="entr" presetSubtype="2" fill="hold" grpId="0" nodeType="withEffect">
                                  <p:stCondLst>
                                    <p:cond delay="500"/>
                                  </p:stCondLst>
                                  <p:childTnLst>
                                    <p:set>
                                      <p:cBhvr>
                                        <p:cTn id="71" dur="1" fill="hold">
                                          <p:stCondLst>
                                            <p:cond delay="0"/>
                                          </p:stCondLst>
                                        </p:cTn>
                                        <p:tgtEl>
                                          <p:spTgt spid="33"/>
                                        </p:tgtEl>
                                        <p:attrNameLst>
                                          <p:attrName>style.visibility</p:attrName>
                                        </p:attrNameLst>
                                      </p:cBhvr>
                                      <p:to>
                                        <p:strVal val="visible"/>
                                      </p:to>
                                    </p:set>
                                    <p:anim calcmode="lin" valueType="num">
                                      <p:cBhvr additive="base">
                                        <p:cTn id="72" dur="500" fill="hold"/>
                                        <p:tgtEl>
                                          <p:spTgt spid="33"/>
                                        </p:tgtEl>
                                        <p:attrNameLst>
                                          <p:attrName>ppt_x</p:attrName>
                                        </p:attrNameLst>
                                      </p:cBhvr>
                                      <p:tavLst>
                                        <p:tav tm="0">
                                          <p:val>
                                            <p:strVal val="1+#ppt_w/2"/>
                                          </p:val>
                                        </p:tav>
                                        <p:tav tm="100000">
                                          <p:val>
                                            <p:strVal val="#ppt_x"/>
                                          </p:val>
                                        </p:tav>
                                      </p:tavLst>
                                    </p:anim>
                                    <p:anim calcmode="lin" valueType="num">
                                      <p:cBhvr additive="base">
                                        <p:cTn id="73" dur="500" fill="hold"/>
                                        <p:tgtEl>
                                          <p:spTgt spid="33"/>
                                        </p:tgtEl>
                                        <p:attrNameLst>
                                          <p:attrName>ppt_y</p:attrName>
                                        </p:attrNameLst>
                                      </p:cBhvr>
                                      <p:tavLst>
                                        <p:tav tm="0">
                                          <p:val>
                                            <p:strVal val="#ppt_y"/>
                                          </p:val>
                                        </p:tav>
                                        <p:tav tm="100000">
                                          <p:val>
                                            <p:strVal val="#ppt_y"/>
                                          </p:val>
                                        </p:tav>
                                      </p:tavLst>
                                    </p:anim>
                                  </p:childTnLst>
                                </p:cTn>
                              </p:par>
                              <p:par>
                                <p:cTn id="74" presetID="2" presetClass="entr" presetSubtype="2" fill="hold" grpId="0" nodeType="withEffect">
                                  <p:stCondLst>
                                    <p:cond delay="500"/>
                                  </p:stCondLst>
                                  <p:childTnLst>
                                    <p:set>
                                      <p:cBhvr>
                                        <p:cTn id="75" dur="1" fill="hold">
                                          <p:stCondLst>
                                            <p:cond delay="0"/>
                                          </p:stCondLst>
                                        </p:cTn>
                                        <p:tgtEl>
                                          <p:spTgt spid="34"/>
                                        </p:tgtEl>
                                        <p:attrNameLst>
                                          <p:attrName>style.visibility</p:attrName>
                                        </p:attrNameLst>
                                      </p:cBhvr>
                                      <p:to>
                                        <p:strVal val="visible"/>
                                      </p:to>
                                    </p:set>
                                    <p:anim calcmode="lin" valueType="num">
                                      <p:cBhvr additive="base">
                                        <p:cTn id="76" dur="500" fill="hold"/>
                                        <p:tgtEl>
                                          <p:spTgt spid="34"/>
                                        </p:tgtEl>
                                        <p:attrNameLst>
                                          <p:attrName>ppt_x</p:attrName>
                                        </p:attrNameLst>
                                      </p:cBhvr>
                                      <p:tavLst>
                                        <p:tav tm="0">
                                          <p:val>
                                            <p:strVal val="1+#ppt_w/2"/>
                                          </p:val>
                                        </p:tav>
                                        <p:tav tm="100000">
                                          <p:val>
                                            <p:strVal val="#ppt_x"/>
                                          </p:val>
                                        </p:tav>
                                      </p:tavLst>
                                    </p:anim>
                                    <p:anim calcmode="lin" valueType="num">
                                      <p:cBhvr additive="base">
                                        <p:cTn id="77" dur="500" fill="hold"/>
                                        <p:tgtEl>
                                          <p:spTgt spid="34"/>
                                        </p:tgtEl>
                                        <p:attrNameLst>
                                          <p:attrName>ppt_y</p:attrName>
                                        </p:attrNameLst>
                                      </p:cBhvr>
                                      <p:tavLst>
                                        <p:tav tm="0">
                                          <p:val>
                                            <p:strVal val="#ppt_y"/>
                                          </p:val>
                                        </p:tav>
                                        <p:tav tm="100000">
                                          <p:val>
                                            <p:strVal val="#ppt_y"/>
                                          </p:val>
                                        </p:tav>
                                      </p:tavLst>
                                    </p:anim>
                                  </p:childTnLst>
                                </p:cTn>
                              </p:par>
                            </p:childTnLst>
                          </p:cTn>
                        </p:par>
                        <p:par>
                          <p:cTn id="78" fill="hold">
                            <p:stCondLst>
                              <p:cond delay="6050"/>
                            </p:stCondLst>
                            <p:childTnLst>
                              <p:par>
                                <p:cTn id="79" presetID="22" presetClass="entr" presetSubtype="4" fill="hold" grpId="0" nodeType="after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wipe(down)">
                                      <p:cBhvr>
                                        <p:cTn id="81" dur="500"/>
                                        <p:tgtEl>
                                          <p:spTgt spid="15"/>
                                        </p:tgtEl>
                                      </p:cBhvr>
                                    </p:animEffect>
                                  </p:childTnLst>
                                </p:cTn>
                              </p:par>
                              <p:par>
                                <p:cTn id="82" presetID="2" presetClass="entr" presetSubtype="2" fill="hold" grpId="0" nodeType="withEffect">
                                  <p:stCondLst>
                                    <p:cond delay="500"/>
                                  </p:stCondLst>
                                  <p:childTnLst>
                                    <p:set>
                                      <p:cBhvr>
                                        <p:cTn id="83" dur="1" fill="hold">
                                          <p:stCondLst>
                                            <p:cond delay="0"/>
                                          </p:stCondLst>
                                        </p:cTn>
                                        <p:tgtEl>
                                          <p:spTgt spid="40"/>
                                        </p:tgtEl>
                                        <p:attrNameLst>
                                          <p:attrName>style.visibility</p:attrName>
                                        </p:attrNameLst>
                                      </p:cBhvr>
                                      <p:to>
                                        <p:strVal val="visible"/>
                                      </p:to>
                                    </p:set>
                                    <p:anim calcmode="lin" valueType="num">
                                      <p:cBhvr additive="base">
                                        <p:cTn id="84" dur="500" fill="hold"/>
                                        <p:tgtEl>
                                          <p:spTgt spid="40"/>
                                        </p:tgtEl>
                                        <p:attrNameLst>
                                          <p:attrName>ppt_x</p:attrName>
                                        </p:attrNameLst>
                                      </p:cBhvr>
                                      <p:tavLst>
                                        <p:tav tm="0">
                                          <p:val>
                                            <p:strVal val="1+#ppt_w/2"/>
                                          </p:val>
                                        </p:tav>
                                        <p:tav tm="100000">
                                          <p:val>
                                            <p:strVal val="#ppt_x"/>
                                          </p:val>
                                        </p:tav>
                                      </p:tavLst>
                                    </p:anim>
                                    <p:anim calcmode="lin" valueType="num">
                                      <p:cBhvr additive="base">
                                        <p:cTn id="85" dur="500" fill="hold"/>
                                        <p:tgtEl>
                                          <p:spTgt spid="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15" grpId="0" animBg="1"/>
      <p:bldP spid="17" grpId="0"/>
      <p:bldP spid="18" grpId="0"/>
      <p:bldP spid="26" grpId="0"/>
      <p:bldP spid="33" grpId="0"/>
      <p:bldP spid="34" grpId="0"/>
      <p:bldP spid="4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椭圆 48"/>
          <p:cNvSpPr/>
          <p:nvPr/>
        </p:nvSpPr>
        <p:spPr>
          <a:xfrm flipH="1">
            <a:off x="5270762" y="2852936"/>
            <a:ext cx="410758" cy="410760"/>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0" name="椭圆 49"/>
          <p:cNvSpPr/>
          <p:nvPr/>
        </p:nvSpPr>
        <p:spPr>
          <a:xfrm flipH="1">
            <a:off x="4980676" y="1791303"/>
            <a:ext cx="364559" cy="364559"/>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1" name="椭圆 50"/>
          <p:cNvSpPr/>
          <p:nvPr/>
        </p:nvSpPr>
        <p:spPr>
          <a:xfrm flipH="1">
            <a:off x="6724638" y="1380648"/>
            <a:ext cx="250975" cy="250975"/>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5" name="椭圆 54"/>
          <p:cNvSpPr/>
          <p:nvPr/>
        </p:nvSpPr>
        <p:spPr>
          <a:xfrm flipH="1">
            <a:off x="6719835" y="2208193"/>
            <a:ext cx="564888" cy="564890"/>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81" name="文本框 52"/>
          <p:cNvSpPr txBox="1"/>
          <p:nvPr/>
        </p:nvSpPr>
        <p:spPr>
          <a:xfrm>
            <a:off x="3974856" y="3717032"/>
            <a:ext cx="4585997" cy="769441"/>
          </a:xfrm>
          <a:prstGeom prst="rect">
            <a:avLst/>
          </a:prstGeom>
          <a:noFill/>
        </p:spPr>
        <p:txBody>
          <a:bodyPr wrap="square" rtlCol="0">
            <a:spAutoFit/>
          </a:bodyPr>
          <a:lstStyle/>
          <a:p>
            <a:pPr algn="ctr"/>
            <a:r>
              <a:rPr lang="zh-CN" altLang="en-US" sz="4400" b="1" spc="300"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明年工作計劃</a:t>
            </a:r>
            <a:endParaRPr lang="zh-CN" altLang="en-US" sz="4400" b="1" spc="3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82" name="组合 81"/>
          <p:cNvGrpSpPr/>
          <p:nvPr/>
        </p:nvGrpSpPr>
        <p:grpSpPr>
          <a:xfrm>
            <a:off x="4081363" y="4941168"/>
            <a:ext cx="1436675" cy="215444"/>
            <a:chOff x="4369395" y="3284984"/>
            <a:chExt cx="1436675" cy="215444"/>
          </a:xfrm>
        </p:grpSpPr>
        <p:sp>
          <p:nvSpPr>
            <p:cNvPr id="83" name="文本框 9"/>
            <p:cNvSpPr txBox="1"/>
            <p:nvPr/>
          </p:nvSpPr>
          <p:spPr>
            <a:xfrm>
              <a:off x="4581935" y="3284984"/>
              <a:ext cx="1224135" cy="215444"/>
            </a:xfrm>
            <a:prstGeom prst="rect">
              <a:avLst/>
            </a:prstGeom>
            <a:noFill/>
          </p:spPr>
          <p:txBody>
            <a:bodyPr wrap="square" lIns="0" tIns="0" rIns="0" bIns="0" rtlCol="0">
              <a:spAutoFit/>
            </a:bodyPr>
            <a:lstStyle/>
            <a:p>
              <a:pPr marL="0" lvl="1"/>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計劃總體思路</a:t>
              </a:r>
              <a:endPar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84" name="组合 83"/>
            <p:cNvGrpSpPr/>
            <p:nvPr/>
          </p:nvGrpSpPr>
          <p:grpSpPr>
            <a:xfrm>
              <a:off x="4369395" y="3316401"/>
              <a:ext cx="168551" cy="168551"/>
              <a:chOff x="5005199" y="3717032"/>
              <a:chExt cx="168551" cy="168551"/>
            </a:xfrm>
          </p:grpSpPr>
          <p:sp>
            <p:nvSpPr>
              <p:cNvPr id="85" name="椭圆 84"/>
              <p:cNvSpPr/>
              <p:nvPr/>
            </p:nvSpPr>
            <p:spPr>
              <a:xfrm>
                <a:off x="5005199" y="3717032"/>
                <a:ext cx="168551" cy="168551"/>
              </a:xfrm>
              <a:prstGeom prst="ellipse">
                <a:avLst/>
              </a:prstGeom>
              <a:solidFill>
                <a:srgbClr val="405F8F"/>
              </a:solidFill>
              <a:ln>
                <a:solidFill>
                  <a:srgbClr val="405F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86" name="等腰三角形 85"/>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grpSp>
        <p:nvGrpSpPr>
          <p:cNvPr id="92" name="组合 91"/>
          <p:cNvGrpSpPr/>
          <p:nvPr/>
        </p:nvGrpSpPr>
        <p:grpSpPr>
          <a:xfrm>
            <a:off x="7102214" y="4941168"/>
            <a:ext cx="1436675" cy="215444"/>
            <a:chOff x="4369395" y="3284984"/>
            <a:chExt cx="1436675" cy="215444"/>
          </a:xfrm>
        </p:grpSpPr>
        <p:sp>
          <p:nvSpPr>
            <p:cNvPr id="93" name="文本框 9"/>
            <p:cNvSpPr txBox="1"/>
            <p:nvPr/>
          </p:nvSpPr>
          <p:spPr>
            <a:xfrm>
              <a:off x="4581935" y="3284984"/>
              <a:ext cx="1224135" cy="215444"/>
            </a:xfrm>
            <a:prstGeom prst="rect">
              <a:avLst/>
            </a:prstGeom>
            <a:noFill/>
          </p:spPr>
          <p:txBody>
            <a:bodyPr wrap="square" lIns="0" tIns="0" rIns="0" bIns="0" rtlCol="0">
              <a:spAutoFit/>
            </a:bodyPr>
            <a:lstStyle/>
            <a:p>
              <a:pPr marL="0" lvl="1"/>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計劃實施步驟</a:t>
              </a:r>
              <a:endParaRPr lang="zh-CN" altLang="en-US"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94" name="组合 93"/>
            <p:cNvGrpSpPr/>
            <p:nvPr/>
          </p:nvGrpSpPr>
          <p:grpSpPr>
            <a:xfrm>
              <a:off x="4369395" y="3316401"/>
              <a:ext cx="168551" cy="168551"/>
              <a:chOff x="5005199" y="3717032"/>
              <a:chExt cx="168551" cy="168551"/>
            </a:xfrm>
          </p:grpSpPr>
          <p:sp>
            <p:nvSpPr>
              <p:cNvPr id="95" name="椭圆 94"/>
              <p:cNvSpPr/>
              <p:nvPr/>
            </p:nvSpPr>
            <p:spPr>
              <a:xfrm>
                <a:off x="5005199" y="3717032"/>
                <a:ext cx="168551" cy="168551"/>
              </a:xfrm>
              <a:prstGeom prst="ellipse">
                <a:avLst/>
              </a:prstGeom>
              <a:solidFill>
                <a:srgbClr val="405F8F"/>
              </a:solidFill>
              <a:ln>
                <a:solidFill>
                  <a:srgbClr val="405F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96" name="等腰三角形 95"/>
              <p:cNvSpPr/>
              <p:nvPr/>
            </p:nvSpPr>
            <p:spPr>
              <a:xfrm rot="5400000">
                <a:off x="5039924" y="3741566"/>
                <a:ext cx="130606" cy="11948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grpSp>
      <p:grpSp>
        <p:nvGrpSpPr>
          <p:cNvPr id="112" name="组合 111"/>
          <p:cNvGrpSpPr/>
          <p:nvPr/>
        </p:nvGrpSpPr>
        <p:grpSpPr>
          <a:xfrm>
            <a:off x="5345236" y="1764471"/>
            <a:ext cx="1610824" cy="1452335"/>
            <a:chOff x="2713211" y="1988840"/>
            <a:chExt cx="1610824" cy="1452335"/>
          </a:xfrm>
        </p:grpSpPr>
        <p:sp>
          <p:nvSpPr>
            <p:cNvPr id="113" name="Freeform 5"/>
            <p:cNvSpPr/>
            <p:nvPr/>
          </p:nvSpPr>
          <p:spPr bwMode="auto">
            <a:xfrm>
              <a:off x="2713211" y="1988840"/>
              <a:ext cx="1610824" cy="145233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5F8F"/>
            </a:solidFill>
            <a:ln w="9525" cap="flat">
              <a:noFill/>
              <a:prstDash val="solid"/>
              <a:miter lim="800000"/>
            </a:ln>
            <a:effectLst>
              <a:outerShdw blurRad="431800" dist="889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14" name="Freeform 5"/>
            <p:cNvSpPr/>
            <p:nvPr/>
          </p:nvSpPr>
          <p:spPr bwMode="auto">
            <a:xfrm>
              <a:off x="2838739" y="2087520"/>
              <a:ext cx="1359768" cy="125497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blipFill>
              <a:blip r:embed="rId3" cstate="screen">
                <a:extLst>
                  <a:ext uri="{28A0092B-C50C-407E-A947-70E740481C1C}">
                    <a14:useLocalDpi xmlns:a14="http://schemas.microsoft.com/office/drawing/2010/main"/>
                  </a:ext>
                </a:extLst>
              </a:blip>
              <a:stretch>
                <a:fillRect l="-167158" t="-31921" r="-198372" b="-151558"/>
              </a:stretch>
            </a:blipFill>
            <a:ln w="9525" cap="flat">
              <a:noFill/>
              <a:prstDash val="solid"/>
              <a:miter lim="800000"/>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115" name="TextBox 156"/>
          <p:cNvSpPr txBox="1"/>
          <p:nvPr/>
        </p:nvSpPr>
        <p:spPr>
          <a:xfrm>
            <a:off x="5563202" y="2052503"/>
            <a:ext cx="1174892" cy="830997"/>
          </a:xfrm>
          <a:prstGeom prst="rect">
            <a:avLst/>
          </a:prstGeom>
          <a:noFill/>
        </p:spPr>
        <p:txBody>
          <a:bodyPr wrap="square" rtlCol="0">
            <a:spAutoFit/>
          </a:bodyPr>
          <a:lstStyle/>
          <a:p>
            <a:pPr algn="ctr"/>
            <a:r>
              <a:rPr lang="en-US" altLang="zh-CN" sz="48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04</a:t>
            </a:r>
            <a:endParaRPr lang="zh-CN" altLang="en-US" sz="48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cxnSp>
        <p:nvCxnSpPr>
          <p:cNvPr id="116" name="直接连接符 115"/>
          <p:cNvCxnSpPr/>
          <p:nvPr/>
        </p:nvCxnSpPr>
        <p:spPr>
          <a:xfrm>
            <a:off x="3845833" y="4653136"/>
            <a:ext cx="484404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fade">
                                      <p:cBhvr>
                                        <p:cTn id="7" dur="750"/>
                                        <p:tgtEl>
                                          <p:spTgt spid="112"/>
                                        </p:tgtEl>
                                      </p:cBhvr>
                                    </p:animEffect>
                                    <p:anim calcmode="lin" valueType="num">
                                      <p:cBhvr>
                                        <p:cTn id="8" dur="750" fill="hold"/>
                                        <p:tgtEl>
                                          <p:spTgt spid="112"/>
                                        </p:tgtEl>
                                        <p:attrNameLst>
                                          <p:attrName>ppt_w</p:attrName>
                                        </p:attrNameLst>
                                      </p:cBhvr>
                                      <p:tavLst>
                                        <p:tav tm="0" fmla="#ppt_w*sin(2.5*pi*$)">
                                          <p:val>
                                            <p:fltVal val="0"/>
                                          </p:val>
                                        </p:tav>
                                        <p:tav tm="100000">
                                          <p:val>
                                            <p:fltVal val="1"/>
                                          </p:val>
                                        </p:tav>
                                      </p:tavLst>
                                    </p:anim>
                                    <p:anim calcmode="lin" valueType="num">
                                      <p:cBhvr>
                                        <p:cTn id="9" dur="750" fill="hold"/>
                                        <p:tgtEl>
                                          <p:spTgt spid="112"/>
                                        </p:tgtEl>
                                        <p:attrNameLst>
                                          <p:attrName>ppt_h</p:attrName>
                                        </p:attrNameLst>
                                      </p:cBhvr>
                                      <p:tavLst>
                                        <p:tav tm="0">
                                          <p:val>
                                            <p:strVal val="#ppt_h"/>
                                          </p:val>
                                        </p:tav>
                                        <p:tav tm="100000">
                                          <p:val>
                                            <p:strVal val="#ppt_h"/>
                                          </p:val>
                                        </p:tav>
                                      </p:tavLst>
                                    </p:anim>
                                  </p:childTnLst>
                                </p:cTn>
                              </p:par>
                              <p:par>
                                <p:cTn id="10" presetID="53" presetClass="entr" presetSubtype="16" fill="hold" grpId="0" nodeType="withEffect">
                                  <p:stCondLst>
                                    <p:cond delay="500"/>
                                  </p:stCondLst>
                                  <p:childTnLst>
                                    <p:set>
                                      <p:cBhvr>
                                        <p:cTn id="11" dur="1" fill="hold">
                                          <p:stCondLst>
                                            <p:cond delay="0"/>
                                          </p:stCondLst>
                                        </p:cTn>
                                        <p:tgtEl>
                                          <p:spTgt spid="115"/>
                                        </p:tgtEl>
                                        <p:attrNameLst>
                                          <p:attrName>style.visibility</p:attrName>
                                        </p:attrNameLst>
                                      </p:cBhvr>
                                      <p:to>
                                        <p:strVal val="visible"/>
                                      </p:to>
                                    </p:set>
                                    <p:anim calcmode="lin" valueType="num">
                                      <p:cBhvr>
                                        <p:cTn id="12" dur="500" fill="hold"/>
                                        <p:tgtEl>
                                          <p:spTgt spid="115"/>
                                        </p:tgtEl>
                                        <p:attrNameLst>
                                          <p:attrName>ppt_w</p:attrName>
                                        </p:attrNameLst>
                                      </p:cBhvr>
                                      <p:tavLst>
                                        <p:tav tm="0">
                                          <p:val>
                                            <p:fltVal val="0"/>
                                          </p:val>
                                        </p:tav>
                                        <p:tav tm="100000">
                                          <p:val>
                                            <p:strVal val="#ppt_w"/>
                                          </p:val>
                                        </p:tav>
                                      </p:tavLst>
                                    </p:anim>
                                    <p:anim calcmode="lin" valueType="num">
                                      <p:cBhvr>
                                        <p:cTn id="13" dur="500" fill="hold"/>
                                        <p:tgtEl>
                                          <p:spTgt spid="115"/>
                                        </p:tgtEl>
                                        <p:attrNameLst>
                                          <p:attrName>ppt_h</p:attrName>
                                        </p:attrNameLst>
                                      </p:cBhvr>
                                      <p:tavLst>
                                        <p:tav tm="0">
                                          <p:val>
                                            <p:fltVal val="0"/>
                                          </p:val>
                                        </p:tav>
                                        <p:tav tm="100000">
                                          <p:val>
                                            <p:strVal val="#ppt_h"/>
                                          </p:val>
                                        </p:tav>
                                      </p:tavLst>
                                    </p:anim>
                                    <p:animEffect transition="in" filter="fade">
                                      <p:cBhvr>
                                        <p:cTn id="14" dur="500"/>
                                        <p:tgtEl>
                                          <p:spTgt spid="1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fade">
                                      <p:cBhvr>
                                        <p:cTn id="17" dur="500"/>
                                        <p:tgtEl>
                                          <p:spTgt spid="51"/>
                                        </p:tgtEl>
                                      </p:cBhvr>
                                    </p:animEffect>
                                  </p:childTnLst>
                                </p:cTn>
                              </p:par>
                              <p:par>
                                <p:cTn id="18" presetID="10" presetClass="entr" presetSubtype="0" fill="hold" grpId="0" nodeType="withEffect">
                                  <p:stCondLst>
                                    <p:cond delay="250"/>
                                  </p:stCondLst>
                                  <p:childTnLst>
                                    <p:set>
                                      <p:cBhvr>
                                        <p:cTn id="19" dur="1" fill="hold">
                                          <p:stCondLst>
                                            <p:cond delay="0"/>
                                          </p:stCondLst>
                                        </p:cTn>
                                        <p:tgtEl>
                                          <p:spTgt spid="49"/>
                                        </p:tgtEl>
                                        <p:attrNameLst>
                                          <p:attrName>style.visibility</p:attrName>
                                        </p:attrNameLst>
                                      </p:cBhvr>
                                      <p:to>
                                        <p:strVal val="visible"/>
                                      </p:to>
                                    </p:set>
                                    <p:animEffect transition="in" filter="fade">
                                      <p:cBhvr>
                                        <p:cTn id="20" dur="500"/>
                                        <p:tgtEl>
                                          <p:spTgt spid="49"/>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50"/>
                                        </p:tgtEl>
                                        <p:attrNameLst>
                                          <p:attrName>style.visibility</p:attrName>
                                        </p:attrNameLst>
                                      </p:cBhvr>
                                      <p:to>
                                        <p:strVal val="visible"/>
                                      </p:to>
                                    </p:set>
                                    <p:animEffect transition="in" filter="fade">
                                      <p:cBhvr>
                                        <p:cTn id="23" dur="500"/>
                                        <p:tgtEl>
                                          <p:spTgt spid="50"/>
                                        </p:tgtEl>
                                      </p:cBhvr>
                                    </p:animEffect>
                                  </p:childTnLst>
                                </p:cTn>
                              </p:par>
                              <p:par>
                                <p:cTn id="24" presetID="10" presetClass="entr" presetSubtype="0" fill="hold" grpId="0" nodeType="withEffect">
                                  <p:stCondLst>
                                    <p:cond delay="750"/>
                                  </p:stCondLst>
                                  <p:childTnLst>
                                    <p:set>
                                      <p:cBhvr>
                                        <p:cTn id="25" dur="1" fill="hold">
                                          <p:stCondLst>
                                            <p:cond delay="0"/>
                                          </p:stCondLst>
                                        </p:cTn>
                                        <p:tgtEl>
                                          <p:spTgt spid="55"/>
                                        </p:tgtEl>
                                        <p:attrNameLst>
                                          <p:attrName>style.visibility</p:attrName>
                                        </p:attrNameLst>
                                      </p:cBhvr>
                                      <p:to>
                                        <p:strVal val="visible"/>
                                      </p:to>
                                    </p:set>
                                    <p:animEffect transition="in" filter="fade">
                                      <p:cBhvr>
                                        <p:cTn id="26" dur="500"/>
                                        <p:tgtEl>
                                          <p:spTgt spid="55"/>
                                        </p:tgtEl>
                                      </p:cBhvr>
                                    </p:animEffect>
                                  </p:childTnLst>
                                </p:cTn>
                              </p:par>
                              <p:par>
                                <p:cTn id="27" presetID="41" presetClass="entr" presetSubtype="0" fill="hold" grpId="0" nodeType="withEffect">
                                  <p:stCondLst>
                                    <p:cond delay="750"/>
                                  </p:stCondLst>
                                  <p:iterate type="lt">
                                    <p:tmPct val="10000"/>
                                  </p:iterate>
                                  <p:childTnLst>
                                    <p:set>
                                      <p:cBhvr>
                                        <p:cTn id="28" dur="1" fill="hold">
                                          <p:stCondLst>
                                            <p:cond delay="0"/>
                                          </p:stCondLst>
                                        </p:cTn>
                                        <p:tgtEl>
                                          <p:spTgt spid="81"/>
                                        </p:tgtEl>
                                        <p:attrNameLst>
                                          <p:attrName>style.visibility</p:attrName>
                                        </p:attrNameLst>
                                      </p:cBhvr>
                                      <p:to>
                                        <p:strVal val="visible"/>
                                      </p:to>
                                    </p:set>
                                    <p:anim calcmode="lin" valueType="num">
                                      <p:cBhvr>
                                        <p:cTn id="29" dur="500" fill="hold"/>
                                        <p:tgtEl>
                                          <p:spTgt spid="81"/>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81"/>
                                        </p:tgtEl>
                                        <p:attrNameLst>
                                          <p:attrName>ppt_y</p:attrName>
                                        </p:attrNameLst>
                                      </p:cBhvr>
                                      <p:tavLst>
                                        <p:tav tm="0">
                                          <p:val>
                                            <p:strVal val="#ppt_y"/>
                                          </p:val>
                                        </p:tav>
                                        <p:tav tm="100000">
                                          <p:val>
                                            <p:strVal val="#ppt_y"/>
                                          </p:val>
                                        </p:tav>
                                      </p:tavLst>
                                    </p:anim>
                                    <p:anim calcmode="lin" valueType="num">
                                      <p:cBhvr>
                                        <p:cTn id="31" dur="500" fill="hold"/>
                                        <p:tgtEl>
                                          <p:spTgt spid="81"/>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81"/>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81"/>
                                        </p:tgtEl>
                                      </p:cBhvr>
                                    </p:animEffect>
                                  </p:childTnLst>
                                </p:cTn>
                              </p:par>
                            </p:childTnLst>
                          </p:cTn>
                        </p:par>
                        <p:par>
                          <p:cTn id="34" fill="hold">
                            <p:stCondLst>
                              <p:cond delay="1500"/>
                            </p:stCondLst>
                            <p:childTnLst>
                              <p:par>
                                <p:cTn id="35" presetID="22" presetClass="entr" presetSubtype="8" fill="hold" nodeType="afterEffect">
                                  <p:stCondLst>
                                    <p:cond delay="0"/>
                                  </p:stCondLst>
                                  <p:childTnLst>
                                    <p:set>
                                      <p:cBhvr>
                                        <p:cTn id="36" dur="1" fill="hold">
                                          <p:stCondLst>
                                            <p:cond delay="0"/>
                                          </p:stCondLst>
                                        </p:cTn>
                                        <p:tgtEl>
                                          <p:spTgt spid="116"/>
                                        </p:tgtEl>
                                        <p:attrNameLst>
                                          <p:attrName>style.visibility</p:attrName>
                                        </p:attrNameLst>
                                      </p:cBhvr>
                                      <p:to>
                                        <p:strVal val="visible"/>
                                      </p:to>
                                    </p:set>
                                    <p:animEffect transition="in" filter="wipe(left)">
                                      <p:cBhvr>
                                        <p:cTn id="37" dur="500"/>
                                        <p:tgtEl>
                                          <p:spTgt spid="116"/>
                                        </p:tgtEl>
                                      </p:cBhvr>
                                    </p:animEffect>
                                  </p:childTnLst>
                                </p:cTn>
                              </p:par>
                            </p:childTnLst>
                          </p:cTn>
                        </p:par>
                        <p:par>
                          <p:cTn id="38" fill="hold">
                            <p:stCondLst>
                              <p:cond delay="2000"/>
                            </p:stCondLst>
                            <p:childTnLst>
                              <p:par>
                                <p:cTn id="39" presetID="2" presetClass="entr" presetSubtype="4" fill="hold" nodeType="afterEffect">
                                  <p:stCondLst>
                                    <p:cond delay="0"/>
                                  </p:stCondLst>
                                  <p:childTnLst>
                                    <p:set>
                                      <p:cBhvr>
                                        <p:cTn id="40" dur="1" fill="hold">
                                          <p:stCondLst>
                                            <p:cond delay="0"/>
                                          </p:stCondLst>
                                        </p:cTn>
                                        <p:tgtEl>
                                          <p:spTgt spid="82"/>
                                        </p:tgtEl>
                                        <p:attrNameLst>
                                          <p:attrName>style.visibility</p:attrName>
                                        </p:attrNameLst>
                                      </p:cBhvr>
                                      <p:to>
                                        <p:strVal val="visible"/>
                                      </p:to>
                                    </p:set>
                                    <p:anim calcmode="lin" valueType="num">
                                      <p:cBhvr additive="base">
                                        <p:cTn id="41" dur="500" fill="hold"/>
                                        <p:tgtEl>
                                          <p:spTgt spid="82"/>
                                        </p:tgtEl>
                                        <p:attrNameLst>
                                          <p:attrName>ppt_x</p:attrName>
                                        </p:attrNameLst>
                                      </p:cBhvr>
                                      <p:tavLst>
                                        <p:tav tm="0">
                                          <p:val>
                                            <p:strVal val="#ppt_x"/>
                                          </p:val>
                                        </p:tav>
                                        <p:tav tm="100000">
                                          <p:val>
                                            <p:strVal val="#ppt_x"/>
                                          </p:val>
                                        </p:tav>
                                      </p:tavLst>
                                    </p:anim>
                                    <p:anim calcmode="lin" valueType="num">
                                      <p:cBhvr additive="base">
                                        <p:cTn id="42" dur="500" fill="hold"/>
                                        <p:tgtEl>
                                          <p:spTgt spid="82"/>
                                        </p:tgtEl>
                                        <p:attrNameLst>
                                          <p:attrName>ppt_y</p:attrName>
                                        </p:attrNameLst>
                                      </p:cBhvr>
                                      <p:tavLst>
                                        <p:tav tm="0">
                                          <p:val>
                                            <p:strVal val="1+#ppt_h/2"/>
                                          </p:val>
                                        </p:tav>
                                        <p:tav tm="100000">
                                          <p:val>
                                            <p:strVal val="#ppt_y"/>
                                          </p:val>
                                        </p:tav>
                                      </p:tavLst>
                                    </p:anim>
                                  </p:childTnLst>
                                </p:cTn>
                              </p:par>
                            </p:childTnLst>
                          </p:cTn>
                        </p:par>
                        <p:par>
                          <p:cTn id="43" fill="hold">
                            <p:stCondLst>
                              <p:cond delay="2500"/>
                            </p:stCondLst>
                            <p:childTnLst>
                              <p:par>
                                <p:cTn id="44" presetID="2" presetClass="entr" presetSubtype="4" fill="hold" nodeType="afterEffect">
                                  <p:stCondLst>
                                    <p:cond delay="0"/>
                                  </p:stCondLst>
                                  <p:childTnLst>
                                    <p:set>
                                      <p:cBhvr>
                                        <p:cTn id="45" dur="1" fill="hold">
                                          <p:stCondLst>
                                            <p:cond delay="0"/>
                                          </p:stCondLst>
                                        </p:cTn>
                                        <p:tgtEl>
                                          <p:spTgt spid="92"/>
                                        </p:tgtEl>
                                        <p:attrNameLst>
                                          <p:attrName>style.visibility</p:attrName>
                                        </p:attrNameLst>
                                      </p:cBhvr>
                                      <p:to>
                                        <p:strVal val="visible"/>
                                      </p:to>
                                    </p:set>
                                    <p:anim calcmode="lin" valueType="num">
                                      <p:cBhvr additive="base">
                                        <p:cTn id="46" dur="500" fill="hold"/>
                                        <p:tgtEl>
                                          <p:spTgt spid="92"/>
                                        </p:tgtEl>
                                        <p:attrNameLst>
                                          <p:attrName>ppt_x</p:attrName>
                                        </p:attrNameLst>
                                      </p:cBhvr>
                                      <p:tavLst>
                                        <p:tav tm="0">
                                          <p:val>
                                            <p:strVal val="#ppt_x"/>
                                          </p:val>
                                        </p:tav>
                                        <p:tav tm="100000">
                                          <p:val>
                                            <p:strVal val="#ppt_x"/>
                                          </p:val>
                                        </p:tav>
                                      </p:tavLst>
                                    </p:anim>
                                    <p:anim calcmode="lin" valueType="num">
                                      <p:cBhvr additive="base">
                                        <p:cTn id="47" dur="500" fill="hold"/>
                                        <p:tgtEl>
                                          <p:spTgt spid="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1" grpId="0" animBg="1"/>
      <p:bldP spid="55" grpId="0" animBg="1"/>
      <p:bldP spid="81" grpId="0"/>
      <p:bldP spid="1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Box 90"/>
          <p:cNvSpPr txBox="1"/>
          <p:nvPr/>
        </p:nvSpPr>
        <p:spPr>
          <a:xfrm>
            <a:off x="4770648" y="188640"/>
            <a:ext cx="2623083" cy="461665"/>
          </a:xfrm>
          <a:prstGeom prst="rect">
            <a:avLst/>
          </a:prstGeom>
          <a:noFill/>
        </p:spPr>
        <p:txBody>
          <a:bodyPr wrap="square" rtlCol="0">
            <a:spAutoFit/>
          </a:bodyPr>
          <a:lstStyle/>
          <a:p>
            <a:pPr algn="ctr"/>
            <a:r>
              <a:rPr lang="zh-CN" altLang="en-US" sz="2400" b="1"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計劃總體思路</a:t>
            </a:r>
            <a:endParaRPr lang="zh-CN" altLang="en-US" sz="2400" b="1"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cxnSp>
        <p:nvCxnSpPr>
          <p:cNvPr id="95" name="直接连接符 94"/>
          <p:cNvCxnSpPr/>
          <p:nvPr/>
        </p:nvCxnSpPr>
        <p:spPr>
          <a:xfrm>
            <a:off x="7393731" y="419473"/>
            <a:ext cx="446449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a:off x="336947" y="423828"/>
            <a:ext cx="439248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7393731" y="476672"/>
            <a:ext cx="4464496"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336947" y="481027"/>
            <a:ext cx="4392488"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2390911" y="3979099"/>
            <a:ext cx="1585543" cy="1585543"/>
            <a:chOff x="1705099" y="2564904"/>
            <a:chExt cx="1800200" cy="1800200"/>
          </a:xfrm>
        </p:grpSpPr>
        <p:sp>
          <p:nvSpPr>
            <p:cNvPr id="13" name="椭圆 12"/>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4" name="椭圆 13"/>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15" name="TextBox 14"/>
          <p:cNvSpPr txBox="1"/>
          <p:nvPr/>
        </p:nvSpPr>
        <p:spPr>
          <a:xfrm>
            <a:off x="2579760" y="4356371"/>
            <a:ext cx="1218961" cy="830997"/>
          </a:xfrm>
          <a:prstGeom prst="rect">
            <a:avLst/>
          </a:prstGeom>
          <a:noFill/>
        </p:spPr>
        <p:txBody>
          <a:bodyPr wrap="square" rtlCol="0">
            <a:spAutoFit/>
          </a:bodyPr>
          <a:lstStyle/>
          <a:p>
            <a:pPr algn="ctr"/>
            <a:r>
              <a:rPr lang="zh-CN" altLang="en-US" sz="24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提高技術水平</a:t>
            </a:r>
            <a:endParaRPr lang="en-US" altLang="zh-CN" sz="24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16" name="组合 15"/>
          <p:cNvGrpSpPr/>
          <p:nvPr/>
        </p:nvGrpSpPr>
        <p:grpSpPr>
          <a:xfrm>
            <a:off x="6290787" y="4003697"/>
            <a:ext cx="1585543" cy="1585543"/>
            <a:chOff x="1705099" y="2564904"/>
            <a:chExt cx="1800200" cy="1800200"/>
          </a:xfrm>
        </p:grpSpPr>
        <p:sp>
          <p:nvSpPr>
            <p:cNvPr id="17" name="椭圆 16"/>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8" name="椭圆 17"/>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19" name="TextBox 18"/>
          <p:cNvSpPr txBox="1"/>
          <p:nvPr/>
        </p:nvSpPr>
        <p:spPr>
          <a:xfrm>
            <a:off x="6421323" y="4393269"/>
            <a:ext cx="1256701" cy="830997"/>
          </a:xfrm>
          <a:prstGeom prst="rect">
            <a:avLst/>
          </a:prstGeom>
          <a:noFill/>
        </p:spPr>
        <p:txBody>
          <a:bodyPr wrap="square" rtlCol="0">
            <a:spAutoFit/>
          </a:bodyPr>
          <a:lstStyle/>
          <a:p>
            <a:pPr algn="ctr"/>
            <a:r>
              <a:rPr lang="zh-CN" altLang="en-US" sz="24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制定階段目標</a:t>
            </a:r>
            <a:endParaRPr lang="en-US" altLang="zh-CN" sz="24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20" name="组合 19"/>
          <p:cNvGrpSpPr/>
          <p:nvPr/>
        </p:nvGrpSpPr>
        <p:grpSpPr>
          <a:xfrm>
            <a:off x="4325573" y="4003697"/>
            <a:ext cx="1585543" cy="1585543"/>
            <a:chOff x="1705099" y="2564904"/>
            <a:chExt cx="1800200" cy="1800200"/>
          </a:xfrm>
        </p:grpSpPr>
        <p:sp>
          <p:nvSpPr>
            <p:cNvPr id="21" name="椭圆 20"/>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2" name="椭圆 21"/>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23" name="TextBox 22"/>
          <p:cNvSpPr txBox="1"/>
          <p:nvPr/>
        </p:nvSpPr>
        <p:spPr>
          <a:xfrm>
            <a:off x="4536149" y="4393269"/>
            <a:ext cx="1148320" cy="830997"/>
          </a:xfrm>
          <a:prstGeom prst="rect">
            <a:avLst/>
          </a:prstGeom>
          <a:noFill/>
        </p:spPr>
        <p:txBody>
          <a:bodyPr wrap="square" rtlCol="0">
            <a:spAutoFit/>
          </a:bodyPr>
          <a:lstStyle/>
          <a:p>
            <a:pPr algn="ctr"/>
            <a:r>
              <a:rPr lang="zh-CN" altLang="en-US" sz="24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提升溝通潛力</a:t>
            </a:r>
            <a:endParaRPr lang="en-US" altLang="zh-CN" sz="24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24" name="组合 23"/>
          <p:cNvGrpSpPr/>
          <p:nvPr/>
        </p:nvGrpSpPr>
        <p:grpSpPr>
          <a:xfrm>
            <a:off x="8112444" y="4003697"/>
            <a:ext cx="1585543" cy="1585543"/>
            <a:chOff x="1705099" y="2564904"/>
            <a:chExt cx="1800200" cy="1800200"/>
          </a:xfrm>
        </p:grpSpPr>
        <p:sp>
          <p:nvSpPr>
            <p:cNvPr id="25" name="椭圆 24"/>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6" name="椭圆 25"/>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27" name="TextBox 26"/>
          <p:cNvSpPr txBox="1"/>
          <p:nvPr/>
        </p:nvSpPr>
        <p:spPr>
          <a:xfrm>
            <a:off x="8287956" y="4238689"/>
            <a:ext cx="1258068" cy="1200329"/>
          </a:xfrm>
          <a:prstGeom prst="rect">
            <a:avLst/>
          </a:prstGeom>
          <a:noFill/>
        </p:spPr>
        <p:txBody>
          <a:bodyPr wrap="square" rtlCol="0">
            <a:spAutoFit/>
          </a:bodyPr>
          <a:lstStyle/>
          <a:p>
            <a:pPr algn="ctr"/>
            <a:r>
              <a:rPr lang="zh-CN" altLang="en-US" sz="24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加強團隊協作能力</a:t>
            </a:r>
            <a:endParaRPr lang="en-US" altLang="zh-CN" sz="24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8" name="Freeform 12"/>
          <p:cNvSpPr/>
          <p:nvPr/>
        </p:nvSpPr>
        <p:spPr bwMode="auto">
          <a:xfrm>
            <a:off x="2137147" y="1732981"/>
            <a:ext cx="528638"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405F8F"/>
          </a:solidFill>
          <a:ln>
            <a:noFill/>
          </a:ln>
        </p:spPr>
        <p:txBody>
          <a:bodyPr/>
          <a:lstStyle/>
          <a:p>
            <a:endPar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9" name="Freeform 12"/>
          <p:cNvSpPr/>
          <p:nvPr/>
        </p:nvSpPr>
        <p:spPr bwMode="auto">
          <a:xfrm flipH="1" flipV="1">
            <a:off x="9409955" y="2885109"/>
            <a:ext cx="528638"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405F8F"/>
          </a:solidFill>
          <a:ln>
            <a:noFill/>
          </a:ln>
        </p:spPr>
        <p:txBody>
          <a:bodyPr/>
          <a:lstStyle/>
          <a:p>
            <a:endParaRPr lang="zh-CN" altLang="en-US"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0" name="矩形 29"/>
          <p:cNvSpPr/>
          <p:nvPr/>
        </p:nvSpPr>
        <p:spPr>
          <a:xfrm>
            <a:off x="2233415" y="1831158"/>
            <a:ext cx="7608588" cy="1512168"/>
          </a:xfrm>
          <a:prstGeom prst="rect">
            <a:avLst/>
          </a:prstGeom>
          <a:noFill/>
          <a:ln w="9525">
            <a:solidFill>
              <a:srgbClr val="405F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1" name="矩形 30"/>
          <p:cNvSpPr>
            <a:spLocks noChangeArrowheads="1"/>
          </p:cNvSpPr>
          <p:nvPr/>
        </p:nvSpPr>
        <p:spPr bwMode="auto">
          <a:xfrm>
            <a:off x="2641202" y="2102356"/>
            <a:ext cx="6912769" cy="978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6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展望</a:t>
            </a:r>
            <a:r>
              <a:rPr lang="en-US" altLang="zh-CN" sz="16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2021</a:t>
            </a:r>
            <a:r>
              <a:rPr lang="zh-CN" altLang="en-US" sz="16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，通過總結和反思自己的缺點和不足，明年的工作計劃應該主要從提高技術水平、提升溝通潛力、制定階段性目標、加強團隊協作能力四個方面來要求自己。</a:t>
            </a:r>
            <a:endParaRPr lang="zh-CN" altLang="en-US" sz="16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91"/>
                                        </p:tgtEl>
                                        <p:attrNameLst>
                                          <p:attrName>style.visibility</p:attrName>
                                        </p:attrNameLst>
                                      </p:cBhvr>
                                      <p:to>
                                        <p:strVal val="visible"/>
                                      </p:to>
                                    </p:set>
                                    <p:anim calcmode="lin" valueType="num">
                                      <p:cBhvr>
                                        <p:cTn id="7" dur="500" fill="hold"/>
                                        <p:tgtEl>
                                          <p:spTgt spid="9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91"/>
                                        </p:tgtEl>
                                        <p:attrNameLst>
                                          <p:attrName>ppt_y</p:attrName>
                                        </p:attrNameLst>
                                      </p:cBhvr>
                                      <p:tavLst>
                                        <p:tav tm="0">
                                          <p:val>
                                            <p:strVal val="#ppt_y"/>
                                          </p:val>
                                        </p:tav>
                                        <p:tav tm="100000">
                                          <p:val>
                                            <p:strVal val="#ppt_y"/>
                                          </p:val>
                                        </p:tav>
                                      </p:tavLst>
                                    </p:anim>
                                    <p:anim calcmode="lin" valueType="num">
                                      <p:cBhvr>
                                        <p:cTn id="9" dur="500" fill="hold"/>
                                        <p:tgtEl>
                                          <p:spTgt spid="9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9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91"/>
                                        </p:tgtEl>
                                      </p:cBhvr>
                                    </p:animEffect>
                                  </p:childTnLst>
                                </p:cTn>
                              </p:par>
                              <p:par>
                                <p:cTn id="12" presetID="2" presetClass="entr" presetSubtype="8" fill="hold" nodeType="withEffect">
                                  <p:stCondLst>
                                    <p:cond delay="250"/>
                                  </p:stCondLst>
                                  <p:childTnLst>
                                    <p:set>
                                      <p:cBhvr>
                                        <p:cTn id="13" dur="1" fill="hold">
                                          <p:stCondLst>
                                            <p:cond delay="0"/>
                                          </p:stCondLst>
                                        </p:cTn>
                                        <p:tgtEl>
                                          <p:spTgt spid="98"/>
                                        </p:tgtEl>
                                        <p:attrNameLst>
                                          <p:attrName>style.visibility</p:attrName>
                                        </p:attrNameLst>
                                      </p:cBhvr>
                                      <p:to>
                                        <p:strVal val="visible"/>
                                      </p:to>
                                    </p:set>
                                    <p:anim calcmode="lin" valueType="num">
                                      <p:cBhvr additive="base">
                                        <p:cTn id="14" dur="500" fill="hold"/>
                                        <p:tgtEl>
                                          <p:spTgt spid="98"/>
                                        </p:tgtEl>
                                        <p:attrNameLst>
                                          <p:attrName>ppt_x</p:attrName>
                                        </p:attrNameLst>
                                      </p:cBhvr>
                                      <p:tavLst>
                                        <p:tav tm="0">
                                          <p:val>
                                            <p:strVal val="0-#ppt_w/2"/>
                                          </p:val>
                                        </p:tav>
                                        <p:tav tm="100000">
                                          <p:val>
                                            <p:strVal val="#ppt_x"/>
                                          </p:val>
                                        </p:tav>
                                      </p:tavLst>
                                    </p:anim>
                                    <p:anim calcmode="lin" valueType="num">
                                      <p:cBhvr additive="base">
                                        <p:cTn id="15" dur="500" fill="hold"/>
                                        <p:tgtEl>
                                          <p:spTgt spid="98"/>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95"/>
                                        </p:tgtEl>
                                        <p:attrNameLst>
                                          <p:attrName>style.visibility</p:attrName>
                                        </p:attrNameLst>
                                      </p:cBhvr>
                                      <p:to>
                                        <p:strVal val="visible"/>
                                      </p:to>
                                    </p:set>
                                    <p:anim calcmode="lin" valueType="num">
                                      <p:cBhvr additive="base">
                                        <p:cTn id="18" dur="500" fill="hold"/>
                                        <p:tgtEl>
                                          <p:spTgt spid="95"/>
                                        </p:tgtEl>
                                        <p:attrNameLst>
                                          <p:attrName>ppt_x</p:attrName>
                                        </p:attrNameLst>
                                      </p:cBhvr>
                                      <p:tavLst>
                                        <p:tav tm="0">
                                          <p:val>
                                            <p:strVal val="1+#ppt_w/2"/>
                                          </p:val>
                                        </p:tav>
                                        <p:tav tm="100000">
                                          <p:val>
                                            <p:strVal val="#ppt_x"/>
                                          </p:val>
                                        </p:tav>
                                      </p:tavLst>
                                    </p:anim>
                                    <p:anim calcmode="lin" valueType="num">
                                      <p:cBhvr additive="base">
                                        <p:cTn id="19" dur="500" fill="hold"/>
                                        <p:tgtEl>
                                          <p:spTgt spid="95"/>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stCondLst>
                                    <p:cond delay="250"/>
                                  </p:stCondLst>
                                  <p:childTnLst>
                                    <p:set>
                                      <p:cBhvr>
                                        <p:cTn id="21" dur="1" fill="hold">
                                          <p:stCondLst>
                                            <p:cond delay="0"/>
                                          </p:stCondLst>
                                        </p:cTn>
                                        <p:tgtEl>
                                          <p:spTgt spid="102"/>
                                        </p:tgtEl>
                                        <p:attrNameLst>
                                          <p:attrName>style.visibility</p:attrName>
                                        </p:attrNameLst>
                                      </p:cBhvr>
                                      <p:to>
                                        <p:strVal val="visible"/>
                                      </p:to>
                                    </p:set>
                                    <p:anim calcmode="lin" valueType="num">
                                      <p:cBhvr additive="base">
                                        <p:cTn id="22" dur="500" fill="hold"/>
                                        <p:tgtEl>
                                          <p:spTgt spid="102"/>
                                        </p:tgtEl>
                                        <p:attrNameLst>
                                          <p:attrName>ppt_x</p:attrName>
                                        </p:attrNameLst>
                                      </p:cBhvr>
                                      <p:tavLst>
                                        <p:tav tm="0">
                                          <p:val>
                                            <p:strVal val="0-#ppt_w/2"/>
                                          </p:val>
                                        </p:tav>
                                        <p:tav tm="100000">
                                          <p:val>
                                            <p:strVal val="#ppt_x"/>
                                          </p:val>
                                        </p:tav>
                                      </p:tavLst>
                                    </p:anim>
                                    <p:anim calcmode="lin" valueType="num">
                                      <p:cBhvr additive="base">
                                        <p:cTn id="23" dur="500" fill="hold"/>
                                        <p:tgtEl>
                                          <p:spTgt spid="102"/>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250"/>
                                  </p:stCondLst>
                                  <p:childTnLst>
                                    <p:set>
                                      <p:cBhvr>
                                        <p:cTn id="25" dur="1" fill="hold">
                                          <p:stCondLst>
                                            <p:cond delay="0"/>
                                          </p:stCondLst>
                                        </p:cTn>
                                        <p:tgtEl>
                                          <p:spTgt spid="101"/>
                                        </p:tgtEl>
                                        <p:attrNameLst>
                                          <p:attrName>style.visibility</p:attrName>
                                        </p:attrNameLst>
                                      </p:cBhvr>
                                      <p:to>
                                        <p:strVal val="visible"/>
                                      </p:to>
                                    </p:set>
                                    <p:anim calcmode="lin" valueType="num">
                                      <p:cBhvr additive="base">
                                        <p:cTn id="26" dur="500" fill="hold"/>
                                        <p:tgtEl>
                                          <p:spTgt spid="101"/>
                                        </p:tgtEl>
                                        <p:attrNameLst>
                                          <p:attrName>ppt_x</p:attrName>
                                        </p:attrNameLst>
                                      </p:cBhvr>
                                      <p:tavLst>
                                        <p:tav tm="0">
                                          <p:val>
                                            <p:strVal val="1+#ppt_w/2"/>
                                          </p:val>
                                        </p:tav>
                                        <p:tav tm="100000">
                                          <p:val>
                                            <p:strVal val="#ppt_x"/>
                                          </p:val>
                                        </p:tav>
                                      </p:tavLst>
                                    </p:anim>
                                    <p:anim calcmode="lin" valueType="num">
                                      <p:cBhvr additive="base">
                                        <p:cTn id="27" dur="500" fill="hold"/>
                                        <p:tgtEl>
                                          <p:spTgt spid="101"/>
                                        </p:tgtEl>
                                        <p:attrNameLst>
                                          <p:attrName>ppt_y</p:attrName>
                                        </p:attrNameLst>
                                      </p:cBhvr>
                                      <p:tavLst>
                                        <p:tav tm="0">
                                          <p:val>
                                            <p:strVal val="#ppt_y"/>
                                          </p:val>
                                        </p:tav>
                                        <p:tav tm="100000">
                                          <p:val>
                                            <p:strVal val="#ppt_y"/>
                                          </p:val>
                                        </p:tav>
                                      </p:tavLst>
                                    </p:anim>
                                  </p:childTnLst>
                                </p:cTn>
                              </p:par>
                              <p:par>
                                <p:cTn id="28" presetID="45" presetClass="entr" presetSubtype="0" fill="hold" nodeType="withEffect">
                                  <p:stCondLst>
                                    <p:cond delay="50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750"/>
                                        <p:tgtEl>
                                          <p:spTgt spid="12"/>
                                        </p:tgtEl>
                                      </p:cBhvr>
                                    </p:animEffect>
                                    <p:anim calcmode="lin" valueType="num">
                                      <p:cBhvr>
                                        <p:cTn id="31" dur="750" fill="hold"/>
                                        <p:tgtEl>
                                          <p:spTgt spid="12"/>
                                        </p:tgtEl>
                                        <p:attrNameLst>
                                          <p:attrName>ppt_w</p:attrName>
                                        </p:attrNameLst>
                                      </p:cBhvr>
                                      <p:tavLst>
                                        <p:tav tm="0" fmla="#ppt_w*sin(2.5*pi*$)">
                                          <p:val>
                                            <p:fltVal val="0"/>
                                          </p:val>
                                        </p:tav>
                                        <p:tav tm="100000">
                                          <p:val>
                                            <p:fltVal val="1"/>
                                          </p:val>
                                        </p:tav>
                                      </p:tavLst>
                                    </p:anim>
                                    <p:anim calcmode="lin" valueType="num">
                                      <p:cBhvr>
                                        <p:cTn id="32" dur="750" fill="hold"/>
                                        <p:tgtEl>
                                          <p:spTgt spid="12"/>
                                        </p:tgtEl>
                                        <p:attrNameLst>
                                          <p:attrName>ppt_h</p:attrName>
                                        </p:attrNameLst>
                                      </p:cBhvr>
                                      <p:tavLst>
                                        <p:tav tm="0">
                                          <p:val>
                                            <p:strVal val="#ppt_h"/>
                                          </p:val>
                                        </p:tav>
                                        <p:tav tm="100000">
                                          <p:val>
                                            <p:strVal val="#ppt_h"/>
                                          </p:val>
                                        </p:tav>
                                      </p:tavLst>
                                    </p:anim>
                                  </p:childTnLst>
                                </p:cTn>
                              </p:par>
                              <p:par>
                                <p:cTn id="33" presetID="41" presetClass="entr" presetSubtype="0" fill="hold" grpId="0" nodeType="withEffect">
                                  <p:stCondLst>
                                    <p:cond delay="1000"/>
                                  </p:stCondLst>
                                  <p:iterate type="lt">
                                    <p:tmPct val="10000"/>
                                  </p:iterate>
                                  <p:childTnLst>
                                    <p:set>
                                      <p:cBhvr>
                                        <p:cTn id="34" dur="1" fill="hold">
                                          <p:stCondLst>
                                            <p:cond delay="0"/>
                                          </p:stCondLst>
                                        </p:cTn>
                                        <p:tgtEl>
                                          <p:spTgt spid="15"/>
                                        </p:tgtEl>
                                        <p:attrNameLst>
                                          <p:attrName>style.visibility</p:attrName>
                                        </p:attrNameLst>
                                      </p:cBhvr>
                                      <p:to>
                                        <p:strVal val="visible"/>
                                      </p:to>
                                    </p:set>
                                    <p:anim calcmode="lin" valueType="num">
                                      <p:cBhvr>
                                        <p:cTn id="35" dur="1000" fill="hold"/>
                                        <p:tgtEl>
                                          <p:spTgt spid="15"/>
                                        </p:tgtEl>
                                        <p:attrNameLst>
                                          <p:attrName>ppt_x</p:attrName>
                                        </p:attrNameLst>
                                      </p:cBhvr>
                                      <p:tavLst>
                                        <p:tav tm="0">
                                          <p:val>
                                            <p:strVal val="#ppt_x"/>
                                          </p:val>
                                        </p:tav>
                                        <p:tav tm="50000">
                                          <p:val>
                                            <p:strVal val="#ppt_x+.1"/>
                                          </p:val>
                                        </p:tav>
                                        <p:tav tm="100000">
                                          <p:val>
                                            <p:strVal val="#ppt_x"/>
                                          </p:val>
                                        </p:tav>
                                      </p:tavLst>
                                    </p:anim>
                                    <p:anim calcmode="lin" valueType="num">
                                      <p:cBhvr>
                                        <p:cTn id="36" dur="1000" fill="hold"/>
                                        <p:tgtEl>
                                          <p:spTgt spid="15"/>
                                        </p:tgtEl>
                                        <p:attrNameLst>
                                          <p:attrName>ppt_y</p:attrName>
                                        </p:attrNameLst>
                                      </p:cBhvr>
                                      <p:tavLst>
                                        <p:tav tm="0">
                                          <p:val>
                                            <p:strVal val="#ppt_y"/>
                                          </p:val>
                                        </p:tav>
                                        <p:tav tm="100000">
                                          <p:val>
                                            <p:strVal val="#ppt_y"/>
                                          </p:val>
                                        </p:tav>
                                      </p:tavLst>
                                    </p:anim>
                                    <p:anim calcmode="lin" valueType="num">
                                      <p:cBhvr>
                                        <p:cTn id="37" dur="1000" fill="hold"/>
                                        <p:tgtEl>
                                          <p:spTgt spid="15"/>
                                        </p:tgtEl>
                                        <p:attrNameLst>
                                          <p:attrName>ppt_h</p:attrName>
                                        </p:attrNameLst>
                                      </p:cBhvr>
                                      <p:tavLst>
                                        <p:tav tm="0">
                                          <p:val>
                                            <p:strVal val="#ppt_h/10"/>
                                          </p:val>
                                        </p:tav>
                                        <p:tav tm="50000">
                                          <p:val>
                                            <p:strVal val="#ppt_h+.01"/>
                                          </p:val>
                                        </p:tav>
                                        <p:tav tm="100000">
                                          <p:val>
                                            <p:strVal val="#ppt_h"/>
                                          </p:val>
                                        </p:tav>
                                      </p:tavLst>
                                    </p:anim>
                                    <p:anim calcmode="lin" valueType="num">
                                      <p:cBhvr>
                                        <p:cTn id="38" dur="1000" fill="hold"/>
                                        <p:tgtEl>
                                          <p:spTgt spid="15"/>
                                        </p:tgtEl>
                                        <p:attrNameLst>
                                          <p:attrName>ppt_w</p:attrName>
                                        </p:attrNameLst>
                                      </p:cBhvr>
                                      <p:tavLst>
                                        <p:tav tm="0">
                                          <p:val>
                                            <p:strVal val="#ppt_w/10"/>
                                          </p:val>
                                        </p:tav>
                                        <p:tav tm="50000">
                                          <p:val>
                                            <p:strVal val="#ppt_w+.01"/>
                                          </p:val>
                                        </p:tav>
                                        <p:tav tm="100000">
                                          <p:val>
                                            <p:strVal val="#ppt_w"/>
                                          </p:val>
                                        </p:tav>
                                      </p:tavLst>
                                    </p:anim>
                                    <p:animEffect transition="in" filter="fade">
                                      <p:cBhvr>
                                        <p:cTn id="39" dur="1000" tmFilter="0,0; .5, 1; 1, 1"/>
                                        <p:tgtEl>
                                          <p:spTgt spid="15"/>
                                        </p:tgtEl>
                                      </p:cBhvr>
                                    </p:animEffect>
                                  </p:childTnLst>
                                </p:cTn>
                              </p:par>
                              <p:par>
                                <p:cTn id="40" presetID="45" presetClass="entr" presetSubtype="0" fill="hold" nodeType="withEffect">
                                  <p:stCondLst>
                                    <p:cond delay="50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750"/>
                                        <p:tgtEl>
                                          <p:spTgt spid="16"/>
                                        </p:tgtEl>
                                      </p:cBhvr>
                                    </p:animEffect>
                                    <p:anim calcmode="lin" valueType="num">
                                      <p:cBhvr>
                                        <p:cTn id="43" dur="750" fill="hold"/>
                                        <p:tgtEl>
                                          <p:spTgt spid="16"/>
                                        </p:tgtEl>
                                        <p:attrNameLst>
                                          <p:attrName>ppt_w</p:attrName>
                                        </p:attrNameLst>
                                      </p:cBhvr>
                                      <p:tavLst>
                                        <p:tav tm="0" fmla="#ppt_w*sin(2.5*pi*$)">
                                          <p:val>
                                            <p:fltVal val="0"/>
                                          </p:val>
                                        </p:tav>
                                        <p:tav tm="100000">
                                          <p:val>
                                            <p:fltVal val="1"/>
                                          </p:val>
                                        </p:tav>
                                      </p:tavLst>
                                    </p:anim>
                                    <p:anim calcmode="lin" valueType="num">
                                      <p:cBhvr>
                                        <p:cTn id="44" dur="750" fill="hold"/>
                                        <p:tgtEl>
                                          <p:spTgt spid="16"/>
                                        </p:tgtEl>
                                        <p:attrNameLst>
                                          <p:attrName>ppt_h</p:attrName>
                                        </p:attrNameLst>
                                      </p:cBhvr>
                                      <p:tavLst>
                                        <p:tav tm="0">
                                          <p:val>
                                            <p:strVal val="#ppt_h"/>
                                          </p:val>
                                        </p:tav>
                                        <p:tav tm="100000">
                                          <p:val>
                                            <p:strVal val="#ppt_h"/>
                                          </p:val>
                                        </p:tav>
                                      </p:tavLst>
                                    </p:anim>
                                  </p:childTnLst>
                                </p:cTn>
                              </p:par>
                              <p:par>
                                <p:cTn id="45" presetID="41" presetClass="entr" presetSubtype="0" fill="hold" grpId="0" nodeType="withEffect">
                                  <p:stCondLst>
                                    <p:cond delay="1000"/>
                                  </p:stCondLst>
                                  <p:iterate type="lt">
                                    <p:tmPct val="10000"/>
                                  </p:iterate>
                                  <p:childTnLst>
                                    <p:set>
                                      <p:cBhvr>
                                        <p:cTn id="46" dur="1" fill="hold">
                                          <p:stCondLst>
                                            <p:cond delay="0"/>
                                          </p:stCondLst>
                                        </p:cTn>
                                        <p:tgtEl>
                                          <p:spTgt spid="19"/>
                                        </p:tgtEl>
                                        <p:attrNameLst>
                                          <p:attrName>style.visibility</p:attrName>
                                        </p:attrNameLst>
                                      </p:cBhvr>
                                      <p:to>
                                        <p:strVal val="visible"/>
                                      </p:to>
                                    </p:set>
                                    <p:anim calcmode="lin" valueType="num">
                                      <p:cBhvr>
                                        <p:cTn id="47" dur="10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48" dur="1000" fill="hold"/>
                                        <p:tgtEl>
                                          <p:spTgt spid="19"/>
                                        </p:tgtEl>
                                        <p:attrNameLst>
                                          <p:attrName>ppt_y</p:attrName>
                                        </p:attrNameLst>
                                      </p:cBhvr>
                                      <p:tavLst>
                                        <p:tav tm="0">
                                          <p:val>
                                            <p:strVal val="#ppt_y"/>
                                          </p:val>
                                        </p:tav>
                                        <p:tav tm="100000">
                                          <p:val>
                                            <p:strVal val="#ppt_y"/>
                                          </p:val>
                                        </p:tav>
                                      </p:tavLst>
                                    </p:anim>
                                    <p:anim calcmode="lin" valueType="num">
                                      <p:cBhvr>
                                        <p:cTn id="49" dur="10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50" dur="10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51" dur="1000" tmFilter="0,0; .5, 1; 1, 1"/>
                                        <p:tgtEl>
                                          <p:spTgt spid="19"/>
                                        </p:tgtEl>
                                      </p:cBhvr>
                                    </p:animEffect>
                                  </p:childTnLst>
                                </p:cTn>
                              </p:par>
                              <p:par>
                                <p:cTn id="52" presetID="45" presetClass="entr" presetSubtype="0" fill="hold" nodeType="withEffect">
                                  <p:stCondLst>
                                    <p:cond delay="50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750"/>
                                        <p:tgtEl>
                                          <p:spTgt spid="20"/>
                                        </p:tgtEl>
                                      </p:cBhvr>
                                    </p:animEffect>
                                    <p:anim calcmode="lin" valueType="num">
                                      <p:cBhvr>
                                        <p:cTn id="55" dur="750" fill="hold"/>
                                        <p:tgtEl>
                                          <p:spTgt spid="20"/>
                                        </p:tgtEl>
                                        <p:attrNameLst>
                                          <p:attrName>ppt_w</p:attrName>
                                        </p:attrNameLst>
                                      </p:cBhvr>
                                      <p:tavLst>
                                        <p:tav tm="0" fmla="#ppt_w*sin(2.5*pi*$)">
                                          <p:val>
                                            <p:fltVal val="0"/>
                                          </p:val>
                                        </p:tav>
                                        <p:tav tm="100000">
                                          <p:val>
                                            <p:fltVal val="1"/>
                                          </p:val>
                                        </p:tav>
                                      </p:tavLst>
                                    </p:anim>
                                    <p:anim calcmode="lin" valueType="num">
                                      <p:cBhvr>
                                        <p:cTn id="56" dur="750" fill="hold"/>
                                        <p:tgtEl>
                                          <p:spTgt spid="20"/>
                                        </p:tgtEl>
                                        <p:attrNameLst>
                                          <p:attrName>ppt_h</p:attrName>
                                        </p:attrNameLst>
                                      </p:cBhvr>
                                      <p:tavLst>
                                        <p:tav tm="0">
                                          <p:val>
                                            <p:strVal val="#ppt_h"/>
                                          </p:val>
                                        </p:tav>
                                        <p:tav tm="100000">
                                          <p:val>
                                            <p:strVal val="#ppt_h"/>
                                          </p:val>
                                        </p:tav>
                                      </p:tavLst>
                                    </p:anim>
                                  </p:childTnLst>
                                </p:cTn>
                              </p:par>
                              <p:par>
                                <p:cTn id="57" presetID="41" presetClass="entr" presetSubtype="0" fill="hold" grpId="0" nodeType="withEffect">
                                  <p:stCondLst>
                                    <p:cond delay="1000"/>
                                  </p:stCondLst>
                                  <p:iterate type="lt">
                                    <p:tmPct val="10000"/>
                                  </p:iterate>
                                  <p:childTnLst>
                                    <p:set>
                                      <p:cBhvr>
                                        <p:cTn id="58" dur="1" fill="hold">
                                          <p:stCondLst>
                                            <p:cond delay="0"/>
                                          </p:stCondLst>
                                        </p:cTn>
                                        <p:tgtEl>
                                          <p:spTgt spid="23"/>
                                        </p:tgtEl>
                                        <p:attrNameLst>
                                          <p:attrName>style.visibility</p:attrName>
                                        </p:attrNameLst>
                                      </p:cBhvr>
                                      <p:to>
                                        <p:strVal val="visible"/>
                                      </p:to>
                                    </p:set>
                                    <p:anim calcmode="lin" valueType="num">
                                      <p:cBhvr>
                                        <p:cTn id="59" dur="1000" fill="hold"/>
                                        <p:tgtEl>
                                          <p:spTgt spid="23"/>
                                        </p:tgtEl>
                                        <p:attrNameLst>
                                          <p:attrName>ppt_x</p:attrName>
                                        </p:attrNameLst>
                                      </p:cBhvr>
                                      <p:tavLst>
                                        <p:tav tm="0">
                                          <p:val>
                                            <p:strVal val="#ppt_x"/>
                                          </p:val>
                                        </p:tav>
                                        <p:tav tm="50000">
                                          <p:val>
                                            <p:strVal val="#ppt_x+.1"/>
                                          </p:val>
                                        </p:tav>
                                        <p:tav tm="100000">
                                          <p:val>
                                            <p:strVal val="#ppt_x"/>
                                          </p:val>
                                        </p:tav>
                                      </p:tavLst>
                                    </p:anim>
                                    <p:anim calcmode="lin" valueType="num">
                                      <p:cBhvr>
                                        <p:cTn id="60" dur="1000" fill="hold"/>
                                        <p:tgtEl>
                                          <p:spTgt spid="23"/>
                                        </p:tgtEl>
                                        <p:attrNameLst>
                                          <p:attrName>ppt_y</p:attrName>
                                        </p:attrNameLst>
                                      </p:cBhvr>
                                      <p:tavLst>
                                        <p:tav tm="0">
                                          <p:val>
                                            <p:strVal val="#ppt_y"/>
                                          </p:val>
                                        </p:tav>
                                        <p:tav tm="100000">
                                          <p:val>
                                            <p:strVal val="#ppt_y"/>
                                          </p:val>
                                        </p:tav>
                                      </p:tavLst>
                                    </p:anim>
                                    <p:anim calcmode="lin" valueType="num">
                                      <p:cBhvr>
                                        <p:cTn id="61" dur="1000" fill="hold"/>
                                        <p:tgtEl>
                                          <p:spTgt spid="23"/>
                                        </p:tgtEl>
                                        <p:attrNameLst>
                                          <p:attrName>ppt_h</p:attrName>
                                        </p:attrNameLst>
                                      </p:cBhvr>
                                      <p:tavLst>
                                        <p:tav tm="0">
                                          <p:val>
                                            <p:strVal val="#ppt_h/10"/>
                                          </p:val>
                                        </p:tav>
                                        <p:tav tm="50000">
                                          <p:val>
                                            <p:strVal val="#ppt_h+.01"/>
                                          </p:val>
                                        </p:tav>
                                        <p:tav tm="100000">
                                          <p:val>
                                            <p:strVal val="#ppt_h"/>
                                          </p:val>
                                        </p:tav>
                                      </p:tavLst>
                                    </p:anim>
                                    <p:anim calcmode="lin" valueType="num">
                                      <p:cBhvr>
                                        <p:cTn id="62" dur="1000" fill="hold"/>
                                        <p:tgtEl>
                                          <p:spTgt spid="23"/>
                                        </p:tgtEl>
                                        <p:attrNameLst>
                                          <p:attrName>ppt_w</p:attrName>
                                        </p:attrNameLst>
                                      </p:cBhvr>
                                      <p:tavLst>
                                        <p:tav tm="0">
                                          <p:val>
                                            <p:strVal val="#ppt_w/10"/>
                                          </p:val>
                                        </p:tav>
                                        <p:tav tm="50000">
                                          <p:val>
                                            <p:strVal val="#ppt_w+.01"/>
                                          </p:val>
                                        </p:tav>
                                        <p:tav tm="100000">
                                          <p:val>
                                            <p:strVal val="#ppt_w"/>
                                          </p:val>
                                        </p:tav>
                                      </p:tavLst>
                                    </p:anim>
                                    <p:animEffect transition="in" filter="fade">
                                      <p:cBhvr>
                                        <p:cTn id="63" dur="1000" tmFilter="0,0; .5, 1; 1, 1"/>
                                        <p:tgtEl>
                                          <p:spTgt spid="23"/>
                                        </p:tgtEl>
                                      </p:cBhvr>
                                    </p:animEffect>
                                  </p:childTnLst>
                                </p:cTn>
                              </p:par>
                              <p:par>
                                <p:cTn id="64" presetID="45" presetClass="entr" presetSubtype="0" fill="hold" nodeType="withEffect">
                                  <p:stCondLst>
                                    <p:cond delay="50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750"/>
                                        <p:tgtEl>
                                          <p:spTgt spid="24"/>
                                        </p:tgtEl>
                                      </p:cBhvr>
                                    </p:animEffect>
                                    <p:anim calcmode="lin" valueType="num">
                                      <p:cBhvr>
                                        <p:cTn id="67" dur="750" fill="hold"/>
                                        <p:tgtEl>
                                          <p:spTgt spid="24"/>
                                        </p:tgtEl>
                                        <p:attrNameLst>
                                          <p:attrName>ppt_w</p:attrName>
                                        </p:attrNameLst>
                                      </p:cBhvr>
                                      <p:tavLst>
                                        <p:tav tm="0" fmla="#ppt_w*sin(2.5*pi*$)">
                                          <p:val>
                                            <p:fltVal val="0"/>
                                          </p:val>
                                        </p:tav>
                                        <p:tav tm="100000">
                                          <p:val>
                                            <p:fltVal val="1"/>
                                          </p:val>
                                        </p:tav>
                                      </p:tavLst>
                                    </p:anim>
                                    <p:anim calcmode="lin" valueType="num">
                                      <p:cBhvr>
                                        <p:cTn id="68" dur="750" fill="hold"/>
                                        <p:tgtEl>
                                          <p:spTgt spid="24"/>
                                        </p:tgtEl>
                                        <p:attrNameLst>
                                          <p:attrName>ppt_h</p:attrName>
                                        </p:attrNameLst>
                                      </p:cBhvr>
                                      <p:tavLst>
                                        <p:tav tm="0">
                                          <p:val>
                                            <p:strVal val="#ppt_h"/>
                                          </p:val>
                                        </p:tav>
                                        <p:tav tm="100000">
                                          <p:val>
                                            <p:strVal val="#ppt_h"/>
                                          </p:val>
                                        </p:tav>
                                      </p:tavLst>
                                    </p:anim>
                                  </p:childTnLst>
                                </p:cTn>
                              </p:par>
                              <p:par>
                                <p:cTn id="69" presetID="41" presetClass="entr" presetSubtype="0" fill="hold" grpId="0" nodeType="withEffect">
                                  <p:stCondLst>
                                    <p:cond delay="1000"/>
                                  </p:stCondLst>
                                  <p:iterate type="lt">
                                    <p:tmPct val="10000"/>
                                  </p:iterate>
                                  <p:childTnLst>
                                    <p:set>
                                      <p:cBhvr>
                                        <p:cTn id="70" dur="1" fill="hold">
                                          <p:stCondLst>
                                            <p:cond delay="0"/>
                                          </p:stCondLst>
                                        </p:cTn>
                                        <p:tgtEl>
                                          <p:spTgt spid="27"/>
                                        </p:tgtEl>
                                        <p:attrNameLst>
                                          <p:attrName>style.visibility</p:attrName>
                                        </p:attrNameLst>
                                      </p:cBhvr>
                                      <p:to>
                                        <p:strVal val="visible"/>
                                      </p:to>
                                    </p:set>
                                    <p:anim calcmode="lin" valueType="num">
                                      <p:cBhvr>
                                        <p:cTn id="71" dur="10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72" dur="1000" fill="hold"/>
                                        <p:tgtEl>
                                          <p:spTgt spid="27"/>
                                        </p:tgtEl>
                                        <p:attrNameLst>
                                          <p:attrName>ppt_y</p:attrName>
                                        </p:attrNameLst>
                                      </p:cBhvr>
                                      <p:tavLst>
                                        <p:tav tm="0">
                                          <p:val>
                                            <p:strVal val="#ppt_y"/>
                                          </p:val>
                                        </p:tav>
                                        <p:tav tm="100000">
                                          <p:val>
                                            <p:strVal val="#ppt_y"/>
                                          </p:val>
                                        </p:tav>
                                      </p:tavLst>
                                    </p:anim>
                                    <p:anim calcmode="lin" valueType="num">
                                      <p:cBhvr>
                                        <p:cTn id="73" dur="10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74" dur="10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75" dur="1000" tmFilter="0,0; .5, 1; 1, 1"/>
                                        <p:tgtEl>
                                          <p:spTgt spid="27"/>
                                        </p:tgtEl>
                                      </p:cBhvr>
                                    </p:animEffect>
                                  </p:childTnLst>
                                </p:cTn>
                              </p:par>
                              <p:par>
                                <p:cTn id="76" presetID="53" presetClass="entr" presetSubtype="16" fill="hold" grpId="0" nodeType="withEffect">
                                  <p:stCondLst>
                                    <p:cond delay="1500"/>
                                  </p:stCondLst>
                                  <p:childTnLst>
                                    <p:set>
                                      <p:cBhvr>
                                        <p:cTn id="77" dur="1" fill="hold">
                                          <p:stCondLst>
                                            <p:cond delay="0"/>
                                          </p:stCondLst>
                                        </p:cTn>
                                        <p:tgtEl>
                                          <p:spTgt spid="29"/>
                                        </p:tgtEl>
                                        <p:attrNameLst>
                                          <p:attrName>style.visibility</p:attrName>
                                        </p:attrNameLst>
                                      </p:cBhvr>
                                      <p:to>
                                        <p:strVal val="visible"/>
                                      </p:to>
                                    </p:set>
                                    <p:anim calcmode="lin" valueType="num">
                                      <p:cBhvr>
                                        <p:cTn id="78" dur="500" fill="hold"/>
                                        <p:tgtEl>
                                          <p:spTgt spid="29"/>
                                        </p:tgtEl>
                                        <p:attrNameLst>
                                          <p:attrName>ppt_w</p:attrName>
                                        </p:attrNameLst>
                                      </p:cBhvr>
                                      <p:tavLst>
                                        <p:tav tm="0">
                                          <p:val>
                                            <p:fltVal val="0"/>
                                          </p:val>
                                        </p:tav>
                                        <p:tav tm="100000">
                                          <p:val>
                                            <p:strVal val="#ppt_w"/>
                                          </p:val>
                                        </p:tav>
                                      </p:tavLst>
                                    </p:anim>
                                    <p:anim calcmode="lin" valueType="num">
                                      <p:cBhvr>
                                        <p:cTn id="79" dur="500" fill="hold"/>
                                        <p:tgtEl>
                                          <p:spTgt spid="29"/>
                                        </p:tgtEl>
                                        <p:attrNameLst>
                                          <p:attrName>ppt_h</p:attrName>
                                        </p:attrNameLst>
                                      </p:cBhvr>
                                      <p:tavLst>
                                        <p:tav tm="0">
                                          <p:val>
                                            <p:fltVal val="0"/>
                                          </p:val>
                                        </p:tav>
                                        <p:tav tm="100000">
                                          <p:val>
                                            <p:strVal val="#ppt_h"/>
                                          </p:val>
                                        </p:tav>
                                      </p:tavLst>
                                    </p:anim>
                                    <p:animEffect transition="in" filter="fade">
                                      <p:cBhvr>
                                        <p:cTn id="80" dur="500"/>
                                        <p:tgtEl>
                                          <p:spTgt spid="29"/>
                                        </p:tgtEl>
                                      </p:cBhvr>
                                    </p:animEffect>
                                  </p:childTnLst>
                                </p:cTn>
                              </p:par>
                              <p:par>
                                <p:cTn id="81" presetID="53" presetClass="entr" presetSubtype="16" fill="hold" grpId="0" nodeType="withEffect">
                                  <p:stCondLst>
                                    <p:cond delay="1500"/>
                                  </p:stCondLst>
                                  <p:childTnLst>
                                    <p:set>
                                      <p:cBhvr>
                                        <p:cTn id="82" dur="1" fill="hold">
                                          <p:stCondLst>
                                            <p:cond delay="0"/>
                                          </p:stCondLst>
                                        </p:cTn>
                                        <p:tgtEl>
                                          <p:spTgt spid="28"/>
                                        </p:tgtEl>
                                        <p:attrNameLst>
                                          <p:attrName>style.visibility</p:attrName>
                                        </p:attrNameLst>
                                      </p:cBhvr>
                                      <p:to>
                                        <p:strVal val="visible"/>
                                      </p:to>
                                    </p:set>
                                    <p:anim calcmode="lin" valueType="num">
                                      <p:cBhvr>
                                        <p:cTn id="83" dur="500" fill="hold"/>
                                        <p:tgtEl>
                                          <p:spTgt spid="28"/>
                                        </p:tgtEl>
                                        <p:attrNameLst>
                                          <p:attrName>ppt_w</p:attrName>
                                        </p:attrNameLst>
                                      </p:cBhvr>
                                      <p:tavLst>
                                        <p:tav tm="0">
                                          <p:val>
                                            <p:fltVal val="0"/>
                                          </p:val>
                                        </p:tav>
                                        <p:tav tm="100000">
                                          <p:val>
                                            <p:strVal val="#ppt_w"/>
                                          </p:val>
                                        </p:tav>
                                      </p:tavLst>
                                    </p:anim>
                                    <p:anim calcmode="lin" valueType="num">
                                      <p:cBhvr>
                                        <p:cTn id="84" dur="500" fill="hold"/>
                                        <p:tgtEl>
                                          <p:spTgt spid="28"/>
                                        </p:tgtEl>
                                        <p:attrNameLst>
                                          <p:attrName>ppt_h</p:attrName>
                                        </p:attrNameLst>
                                      </p:cBhvr>
                                      <p:tavLst>
                                        <p:tav tm="0">
                                          <p:val>
                                            <p:fltVal val="0"/>
                                          </p:val>
                                        </p:tav>
                                        <p:tav tm="100000">
                                          <p:val>
                                            <p:strVal val="#ppt_h"/>
                                          </p:val>
                                        </p:tav>
                                      </p:tavLst>
                                    </p:anim>
                                    <p:animEffect transition="in" filter="fade">
                                      <p:cBhvr>
                                        <p:cTn id="85" dur="500"/>
                                        <p:tgtEl>
                                          <p:spTgt spid="28"/>
                                        </p:tgtEl>
                                      </p:cBhvr>
                                    </p:animEffect>
                                  </p:childTnLst>
                                </p:cTn>
                              </p:par>
                            </p:childTnLst>
                          </p:cTn>
                        </p:par>
                        <p:par>
                          <p:cTn id="86" fill="hold">
                            <p:stCondLst>
                              <p:cond delay="2700"/>
                            </p:stCondLst>
                            <p:childTnLst>
                              <p:par>
                                <p:cTn id="87" presetID="22" presetClass="entr" presetSubtype="8" fill="hold" grpId="0" nodeType="after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wipe(left)">
                                      <p:cBhvr>
                                        <p:cTn id="89" dur="500"/>
                                        <p:tgtEl>
                                          <p:spTgt spid="30"/>
                                        </p:tgtEl>
                                      </p:cBhvr>
                                    </p:animEffect>
                                  </p:childTnLst>
                                </p:cTn>
                              </p:par>
                            </p:childTnLst>
                          </p:cTn>
                        </p:par>
                        <p:par>
                          <p:cTn id="90" fill="hold">
                            <p:stCondLst>
                              <p:cond delay="3200"/>
                            </p:stCondLst>
                            <p:childTnLst>
                              <p:par>
                                <p:cTn id="91" presetID="42" presetClass="entr" presetSubtype="0" fill="hold" grpId="0" nodeType="after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1000"/>
                                        <p:tgtEl>
                                          <p:spTgt spid="31"/>
                                        </p:tgtEl>
                                      </p:cBhvr>
                                    </p:animEffect>
                                    <p:anim calcmode="lin" valueType="num">
                                      <p:cBhvr>
                                        <p:cTn id="94" dur="1000" fill="hold"/>
                                        <p:tgtEl>
                                          <p:spTgt spid="31"/>
                                        </p:tgtEl>
                                        <p:attrNameLst>
                                          <p:attrName>ppt_x</p:attrName>
                                        </p:attrNameLst>
                                      </p:cBhvr>
                                      <p:tavLst>
                                        <p:tav tm="0">
                                          <p:val>
                                            <p:strVal val="#ppt_x"/>
                                          </p:val>
                                        </p:tav>
                                        <p:tav tm="100000">
                                          <p:val>
                                            <p:strVal val="#ppt_x"/>
                                          </p:val>
                                        </p:tav>
                                      </p:tavLst>
                                    </p:anim>
                                    <p:anim calcmode="lin" valueType="num">
                                      <p:cBhvr>
                                        <p:cTn id="95"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15" grpId="0"/>
      <p:bldP spid="19" grpId="0"/>
      <p:bldP spid="23" grpId="0"/>
      <p:bldP spid="27" grpId="0"/>
      <p:bldP spid="28" grpId="0" animBg="1"/>
      <p:bldP spid="29" grpId="0" animBg="1"/>
      <p:bldP spid="30" grpId="0" animBg="1"/>
      <p:bldP spid="3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连接符 11"/>
          <p:cNvCxnSpPr/>
          <p:nvPr/>
        </p:nvCxnSpPr>
        <p:spPr>
          <a:xfrm flipV="1">
            <a:off x="7693898" y="2877855"/>
            <a:ext cx="1144185" cy="36788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endCxn id="25" idx="3"/>
          </p:cNvCxnSpPr>
          <p:nvPr/>
        </p:nvCxnSpPr>
        <p:spPr>
          <a:xfrm flipV="1">
            <a:off x="5115779" y="3792054"/>
            <a:ext cx="1435958" cy="73576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466897" y="4643524"/>
            <a:ext cx="1487974" cy="153629"/>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1385795" y="4048834"/>
            <a:ext cx="1178093" cy="1178093"/>
            <a:chOff x="1705099" y="2564904"/>
            <a:chExt cx="1800200" cy="1800200"/>
          </a:xfrm>
        </p:grpSpPr>
        <p:sp>
          <p:nvSpPr>
            <p:cNvPr id="16" name="椭圆 15"/>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17" name="椭圆 16"/>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18" name="TextBox 17"/>
          <p:cNvSpPr txBox="1"/>
          <p:nvPr/>
        </p:nvSpPr>
        <p:spPr>
          <a:xfrm>
            <a:off x="1369591" y="4440325"/>
            <a:ext cx="1307822" cy="461665"/>
          </a:xfrm>
          <a:prstGeom prst="rect">
            <a:avLst/>
          </a:prstGeom>
          <a:noFill/>
        </p:spPr>
        <p:txBody>
          <a:bodyPr wrap="square" rtlCol="0">
            <a:spAutoFit/>
          </a:bodyPr>
          <a:lstStyle/>
          <a:p>
            <a:pPr algn="ctr"/>
            <a:r>
              <a:rPr lang="zh-CN" altLang="en-US" sz="24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技術</a:t>
            </a:r>
            <a:endParaRPr lang="en-US" altLang="zh-CN" sz="24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19" name="组合 18"/>
          <p:cNvGrpSpPr/>
          <p:nvPr/>
        </p:nvGrpSpPr>
        <p:grpSpPr>
          <a:xfrm>
            <a:off x="3844491" y="3859410"/>
            <a:ext cx="1340725" cy="1340725"/>
            <a:chOff x="1705099" y="2564904"/>
            <a:chExt cx="1800200" cy="1800200"/>
          </a:xfrm>
        </p:grpSpPr>
        <p:sp>
          <p:nvSpPr>
            <p:cNvPr id="20" name="椭圆 19"/>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1" name="椭圆 20"/>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22" name="TextBox 21"/>
          <p:cNvSpPr txBox="1"/>
          <p:nvPr/>
        </p:nvSpPr>
        <p:spPr>
          <a:xfrm>
            <a:off x="3852349" y="4293222"/>
            <a:ext cx="1325585" cy="461665"/>
          </a:xfrm>
          <a:prstGeom prst="rect">
            <a:avLst/>
          </a:prstGeom>
          <a:noFill/>
        </p:spPr>
        <p:txBody>
          <a:bodyPr wrap="square" rtlCol="0">
            <a:spAutoFit/>
          </a:bodyPr>
          <a:lstStyle/>
          <a:p>
            <a:pPr algn="ctr"/>
            <a:r>
              <a:rPr lang="zh-CN" altLang="en-US" sz="24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溝通</a:t>
            </a:r>
            <a:endParaRPr lang="en-US" altLang="zh-CN" sz="24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23" name="组合 22"/>
          <p:cNvGrpSpPr/>
          <p:nvPr/>
        </p:nvGrpSpPr>
        <p:grpSpPr>
          <a:xfrm>
            <a:off x="6223892" y="2518012"/>
            <a:ext cx="1601887" cy="1601887"/>
            <a:chOff x="1705099" y="2564904"/>
            <a:chExt cx="1800200" cy="1800200"/>
          </a:xfrm>
        </p:grpSpPr>
        <p:sp>
          <p:nvSpPr>
            <p:cNvPr id="24" name="椭圆 23"/>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5" name="椭圆 24"/>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26" name="TextBox 25"/>
          <p:cNvSpPr txBox="1"/>
          <p:nvPr/>
        </p:nvSpPr>
        <p:spPr>
          <a:xfrm>
            <a:off x="6538781" y="2947401"/>
            <a:ext cx="972108" cy="830997"/>
          </a:xfrm>
          <a:prstGeom prst="rect">
            <a:avLst/>
          </a:prstGeom>
          <a:noFill/>
        </p:spPr>
        <p:txBody>
          <a:bodyPr wrap="square" rtlCol="0">
            <a:spAutoFit/>
          </a:bodyPr>
          <a:lstStyle/>
          <a:p>
            <a:pPr algn="ctr"/>
            <a:r>
              <a:rPr lang="zh-CN" altLang="en-US" sz="24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階段</a:t>
            </a:r>
            <a:r>
              <a:rPr lang="zh-CN" altLang="en-US" sz="24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目標</a:t>
            </a:r>
            <a:endParaRPr lang="en-US" altLang="zh-CN" sz="24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27" name="组合 26"/>
          <p:cNvGrpSpPr/>
          <p:nvPr/>
        </p:nvGrpSpPr>
        <p:grpSpPr>
          <a:xfrm>
            <a:off x="8689875" y="1610078"/>
            <a:ext cx="1800200" cy="1800200"/>
            <a:chOff x="1705099" y="2564904"/>
            <a:chExt cx="1800200" cy="1800200"/>
          </a:xfrm>
        </p:grpSpPr>
        <p:sp>
          <p:nvSpPr>
            <p:cNvPr id="28" name="椭圆 27"/>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29" name="椭圆 28"/>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30" name="TextBox 29"/>
          <p:cNvSpPr txBox="1"/>
          <p:nvPr/>
        </p:nvSpPr>
        <p:spPr>
          <a:xfrm>
            <a:off x="9056805" y="2102513"/>
            <a:ext cx="1033165" cy="830997"/>
          </a:xfrm>
          <a:prstGeom prst="rect">
            <a:avLst/>
          </a:prstGeom>
          <a:noFill/>
        </p:spPr>
        <p:txBody>
          <a:bodyPr wrap="square" rtlCol="0">
            <a:spAutoFit/>
          </a:bodyPr>
          <a:lstStyle/>
          <a:p>
            <a:pPr algn="ctr"/>
            <a:r>
              <a:rPr lang="zh-CN" altLang="en-US" sz="2400" b="1" dirty="0" smtClean="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團隊協作</a:t>
            </a:r>
            <a:endParaRPr lang="en-US" altLang="zh-CN" sz="2400" b="1"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cxnSp>
        <p:nvCxnSpPr>
          <p:cNvPr id="31" name="直接连接符 30"/>
          <p:cNvCxnSpPr/>
          <p:nvPr/>
        </p:nvCxnSpPr>
        <p:spPr>
          <a:xfrm flipV="1">
            <a:off x="0" y="4980077"/>
            <a:ext cx="1482786" cy="1877924"/>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841004" y="3286725"/>
            <a:ext cx="1521007" cy="646331"/>
          </a:xfrm>
          <a:prstGeom prst="rect">
            <a:avLst/>
          </a:prstGeom>
          <a:noFill/>
        </p:spPr>
        <p:txBody>
          <a:bodyPr wrap="square" lIns="0" tIns="0" rIns="0" bIns="0" rtlCol="0">
            <a:spAutoFit/>
          </a:bodyPr>
          <a:lstStyle>
            <a:defPPr>
              <a:defRPr lang="zh-CN"/>
            </a:defPPr>
            <a:lvl1pPr algn="ctr">
              <a:lnSpc>
                <a:spcPct val="1500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利用工作之余學習新的開發框架。</a:t>
            </a:r>
            <a:endPar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3" name="TextBox 32"/>
          <p:cNvSpPr txBox="1"/>
          <p:nvPr/>
        </p:nvSpPr>
        <p:spPr>
          <a:xfrm>
            <a:off x="3512885" y="3068960"/>
            <a:ext cx="1672331" cy="646331"/>
          </a:xfrm>
          <a:prstGeom prst="rect">
            <a:avLst/>
          </a:prstGeom>
          <a:noFill/>
        </p:spPr>
        <p:txBody>
          <a:bodyPr wrap="square" lIns="0" tIns="0" rIns="0" bIns="0" rtlCol="0">
            <a:spAutoFit/>
          </a:bodyPr>
          <a:lstStyle>
            <a:defPPr>
              <a:defRPr lang="zh-CN"/>
            </a:defPPr>
            <a:lvl1pPr algn="ctr">
              <a:lnSpc>
                <a:spcPct val="1500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加強自己的語言表達能力和交流溝通技能。</a:t>
            </a:r>
            <a:endPar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4" name="TextBox 33"/>
          <p:cNvSpPr txBox="1"/>
          <p:nvPr/>
        </p:nvSpPr>
        <p:spPr>
          <a:xfrm>
            <a:off x="6169595" y="4221088"/>
            <a:ext cx="1864622" cy="969496"/>
          </a:xfrm>
          <a:prstGeom prst="rect">
            <a:avLst/>
          </a:prstGeom>
          <a:noFill/>
        </p:spPr>
        <p:txBody>
          <a:bodyPr wrap="square" lIns="0" tIns="0" rIns="0" bIns="0" rtlCol="0">
            <a:spAutoFit/>
          </a:bodyPr>
          <a:lstStyle>
            <a:defPPr>
              <a:defRPr lang="zh-CN"/>
            </a:defPPr>
            <a:lvl1pPr algn="ctr">
              <a:lnSpc>
                <a:spcPct val="1500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制定目標并將目標階段化，根據目標達成情況做對總結經驗和不足。</a:t>
            </a:r>
            <a:endPar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35" name="TextBox 34"/>
          <p:cNvSpPr txBox="1"/>
          <p:nvPr/>
        </p:nvSpPr>
        <p:spPr>
          <a:xfrm>
            <a:off x="8689875" y="3502749"/>
            <a:ext cx="1864622" cy="1292662"/>
          </a:xfrm>
          <a:prstGeom prst="rect">
            <a:avLst/>
          </a:prstGeom>
          <a:noFill/>
        </p:spPr>
        <p:txBody>
          <a:bodyPr wrap="square" lIns="0" tIns="0" rIns="0" bIns="0" rtlCol="0">
            <a:spAutoFit/>
          </a:bodyPr>
          <a:lstStyle>
            <a:defPPr>
              <a:defRPr lang="zh-CN"/>
            </a:defPPr>
            <a:lvl1pPr algn="ctr">
              <a:lnSpc>
                <a:spcPct val="1500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4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積極把握每次團隊開發的機會，理解和學習團隊成員好的編碼習慣和思考方式。</a:t>
            </a:r>
            <a:endParaRPr lang="en-US" altLang="zh-CN" sz="1400"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91" name="TextBox 90"/>
          <p:cNvSpPr txBox="1"/>
          <p:nvPr/>
        </p:nvSpPr>
        <p:spPr>
          <a:xfrm>
            <a:off x="4770648" y="188640"/>
            <a:ext cx="2623083" cy="461665"/>
          </a:xfrm>
          <a:prstGeom prst="rect">
            <a:avLst/>
          </a:prstGeom>
          <a:noFill/>
        </p:spPr>
        <p:txBody>
          <a:bodyPr wrap="square" rtlCol="0">
            <a:spAutoFit/>
          </a:bodyPr>
          <a:lstStyle/>
          <a:p>
            <a:pPr algn="ctr"/>
            <a:r>
              <a:rPr lang="zh-CN" altLang="en-US" sz="2400" b="1"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計劃實施步驟</a:t>
            </a:r>
            <a:endParaRPr lang="zh-CN" altLang="en-US" sz="2400" b="1" dirty="0">
              <a:solidFill>
                <a:schemeClr val="tx1">
                  <a:lumMod val="50000"/>
                  <a:lumOff val="50000"/>
                </a:schemeClr>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cxnSp>
        <p:nvCxnSpPr>
          <p:cNvPr id="95" name="直接连接符 94"/>
          <p:cNvCxnSpPr/>
          <p:nvPr/>
        </p:nvCxnSpPr>
        <p:spPr>
          <a:xfrm>
            <a:off x="7393731" y="419473"/>
            <a:ext cx="446449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a:off x="336947" y="423828"/>
            <a:ext cx="439248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7393731" y="476672"/>
            <a:ext cx="4464496"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336947" y="481027"/>
            <a:ext cx="4392488"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91"/>
                                        </p:tgtEl>
                                        <p:attrNameLst>
                                          <p:attrName>style.visibility</p:attrName>
                                        </p:attrNameLst>
                                      </p:cBhvr>
                                      <p:to>
                                        <p:strVal val="visible"/>
                                      </p:to>
                                    </p:set>
                                    <p:anim calcmode="lin" valueType="num">
                                      <p:cBhvr>
                                        <p:cTn id="7" dur="500" fill="hold"/>
                                        <p:tgtEl>
                                          <p:spTgt spid="9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91"/>
                                        </p:tgtEl>
                                        <p:attrNameLst>
                                          <p:attrName>ppt_y</p:attrName>
                                        </p:attrNameLst>
                                      </p:cBhvr>
                                      <p:tavLst>
                                        <p:tav tm="0">
                                          <p:val>
                                            <p:strVal val="#ppt_y"/>
                                          </p:val>
                                        </p:tav>
                                        <p:tav tm="100000">
                                          <p:val>
                                            <p:strVal val="#ppt_y"/>
                                          </p:val>
                                        </p:tav>
                                      </p:tavLst>
                                    </p:anim>
                                    <p:anim calcmode="lin" valueType="num">
                                      <p:cBhvr>
                                        <p:cTn id="9" dur="500" fill="hold"/>
                                        <p:tgtEl>
                                          <p:spTgt spid="9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9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91"/>
                                        </p:tgtEl>
                                      </p:cBhvr>
                                    </p:animEffect>
                                  </p:childTnLst>
                                </p:cTn>
                              </p:par>
                              <p:par>
                                <p:cTn id="12" presetID="2" presetClass="entr" presetSubtype="8" fill="hold" nodeType="withEffect">
                                  <p:stCondLst>
                                    <p:cond delay="250"/>
                                  </p:stCondLst>
                                  <p:childTnLst>
                                    <p:set>
                                      <p:cBhvr>
                                        <p:cTn id="13" dur="1" fill="hold">
                                          <p:stCondLst>
                                            <p:cond delay="0"/>
                                          </p:stCondLst>
                                        </p:cTn>
                                        <p:tgtEl>
                                          <p:spTgt spid="98"/>
                                        </p:tgtEl>
                                        <p:attrNameLst>
                                          <p:attrName>style.visibility</p:attrName>
                                        </p:attrNameLst>
                                      </p:cBhvr>
                                      <p:to>
                                        <p:strVal val="visible"/>
                                      </p:to>
                                    </p:set>
                                    <p:anim calcmode="lin" valueType="num">
                                      <p:cBhvr additive="base">
                                        <p:cTn id="14" dur="500" fill="hold"/>
                                        <p:tgtEl>
                                          <p:spTgt spid="98"/>
                                        </p:tgtEl>
                                        <p:attrNameLst>
                                          <p:attrName>ppt_x</p:attrName>
                                        </p:attrNameLst>
                                      </p:cBhvr>
                                      <p:tavLst>
                                        <p:tav tm="0">
                                          <p:val>
                                            <p:strVal val="0-#ppt_w/2"/>
                                          </p:val>
                                        </p:tav>
                                        <p:tav tm="100000">
                                          <p:val>
                                            <p:strVal val="#ppt_x"/>
                                          </p:val>
                                        </p:tav>
                                      </p:tavLst>
                                    </p:anim>
                                    <p:anim calcmode="lin" valueType="num">
                                      <p:cBhvr additive="base">
                                        <p:cTn id="15" dur="500" fill="hold"/>
                                        <p:tgtEl>
                                          <p:spTgt spid="98"/>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95"/>
                                        </p:tgtEl>
                                        <p:attrNameLst>
                                          <p:attrName>style.visibility</p:attrName>
                                        </p:attrNameLst>
                                      </p:cBhvr>
                                      <p:to>
                                        <p:strVal val="visible"/>
                                      </p:to>
                                    </p:set>
                                    <p:anim calcmode="lin" valueType="num">
                                      <p:cBhvr additive="base">
                                        <p:cTn id="18" dur="500" fill="hold"/>
                                        <p:tgtEl>
                                          <p:spTgt spid="95"/>
                                        </p:tgtEl>
                                        <p:attrNameLst>
                                          <p:attrName>ppt_x</p:attrName>
                                        </p:attrNameLst>
                                      </p:cBhvr>
                                      <p:tavLst>
                                        <p:tav tm="0">
                                          <p:val>
                                            <p:strVal val="1+#ppt_w/2"/>
                                          </p:val>
                                        </p:tav>
                                        <p:tav tm="100000">
                                          <p:val>
                                            <p:strVal val="#ppt_x"/>
                                          </p:val>
                                        </p:tav>
                                      </p:tavLst>
                                    </p:anim>
                                    <p:anim calcmode="lin" valueType="num">
                                      <p:cBhvr additive="base">
                                        <p:cTn id="19" dur="500" fill="hold"/>
                                        <p:tgtEl>
                                          <p:spTgt spid="95"/>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stCondLst>
                                    <p:cond delay="250"/>
                                  </p:stCondLst>
                                  <p:childTnLst>
                                    <p:set>
                                      <p:cBhvr>
                                        <p:cTn id="21" dur="1" fill="hold">
                                          <p:stCondLst>
                                            <p:cond delay="0"/>
                                          </p:stCondLst>
                                        </p:cTn>
                                        <p:tgtEl>
                                          <p:spTgt spid="102"/>
                                        </p:tgtEl>
                                        <p:attrNameLst>
                                          <p:attrName>style.visibility</p:attrName>
                                        </p:attrNameLst>
                                      </p:cBhvr>
                                      <p:to>
                                        <p:strVal val="visible"/>
                                      </p:to>
                                    </p:set>
                                    <p:anim calcmode="lin" valueType="num">
                                      <p:cBhvr additive="base">
                                        <p:cTn id="22" dur="500" fill="hold"/>
                                        <p:tgtEl>
                                          <p:spTgt spid="102"/>
                                        </p:tgtEl>
                                        <p:attrNameLst>
                                          <p:attrName>ppt_x</p:attrName>
                                        </p:attrNameLst>
                                      </p:cBhvr>
                                      <p:tavLst>
                                        <p:tav tm="0">
                                          <p:val>
                                            <p:strVal val="0-#ppt_w/2"/>
                                          </p:val>
                                        </p:tav>
                                        <p:tav tm="100000">
                                          <p:val>
                                            <p:strVal val="#ppt_x"/>
                                          </p:val>
                                        </p:tav>
                                      </p:tavLst>
                                    </p:anim>
                                    <p:anim calcmode="lin" valueType="num">
                                      <p:cBhvr additive="base">
                                        <p:cTn id="23" dur="500" fill="hold"/>
                                        <p:tgtEl>
                                          <p:spTgt spid="102"/>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250"/>
                                  </p:stCondLst>
                                  <p:childTnLst>
                                    <p:set>
                                      <p:cBhvr>
                                        <p:cTn id="25" dur="1" fill="hold">
                                          <p:stCondLst>
                                            <p:cond delay="0"/>
                                          </p:stCondLst>
                                        </p:cTn>
                                        <p:tgtEl>
                                          <p:spTgt spid="101"/>
                                        </p:tgtEl>
                                        <p:attrNameLst>
                                          <p:attrName>style.visibility</p:attrName>
                                        </p:attrNameLst>
                                      </p:cBhvr>
                                      <p:to>
                                        <p:strVal val="visible"/>
                                      </p:to>
                                    </p:set>
                                    <p:anim calcmode="lin" valueType="num">
                                      <p:cBhvr additive="base">
                                        <p:cTn id="26" dur="500" fill="hold"/>
                                        <p:tgtEl>
                                          <p:spTgt spid="101"/>
                                        </p:tgtEl>
                                        <p:attrNameLst>
                                          <p:attrName>ppt_x</p:attrName>
                                        </p:attrNameLst>
                                      </p:cBhvr>
                                      <p:tavLst>
                                        <p:tav tm="0">
                                          <p:val>
                                            <p:strVal val="1+#ppt_w/2"/>
                                          </p:val>
                                        </p:tav>
                                        <p:tav tm="100000">
                                          <p:val>
                                            <p:strVal val="#ppt_x"/>
                                          </p:val>
                                        </p:tav>
                                      </p:tavLst>
                                    </p:anim>
                                    <p:anim calcmode="lin" valueType="num">
                                      <p:cBhvr additive="base">
                                        <p:cTn id="27" dur="500" fill="hold"/>
                                        <p:tgtEl>
                                          <p:spTgt spid="101"/>
                                        </p:tgtEl>
                                        <p:attrNameLst>
                                          <p:attrName>ppt_y</p:attrName>
                                        </p:attrNameLst>
                                      </p:cBhvr>
                                      <p:tavLst>
                                        <p:tav tm="0">
                                          <p:val>
                                            <p:strVal val="#ppt_y"/>
                                          </p:val>
                                        </p:tav>
                                        <p:tav tm="100000">
                                          <p:val>
                                            <p:strVal val="#ppt_y"/>
                                          </p:val>
                                        </p:tav>
                                      </p:tavLst>
                                    </p:anim>
                                  </p:childTnLst>
                                </p:cTn>
                              </p:par>
                              <p:par>
                                <p:cTn id="28" presetID="45" presetClass="entr" presetSubtype="0" fill="hold" nodeType="withEffect">
                                  <p:stCondLst>
                                    <p:cond delay="50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750"/>
                                        <p:tgtEl>
                                          <p:spTgt spid="15"/>
                                        </p:tgtEl>
                                      </p:cBhvr>
                                    </p:animEffect>
                                    <p:anim calcmode="lin" valueType="num">
                                      <p:cBhvr>
                                        <p:cTn id="31" dur="750" fill="hold"/>
                                        <p:tgtEl>
                                          <p:spTgt spid="15"/>
                                        </p:tgtEl>
                                        <p:attrNameLst>
                                          <p:attrName>ppt_w</p:attrName>
                                        </p:attrNameLst>
                                      </p:cBhvr>
                                      <p:tavLst>
                                        <p:tav tm="0" fmla="#ppt_w*sin(2.5*pi*$)">
                                          <p:val>
                                            <p:fltVal val="0"/>
                                          </p:val>
                                        </p:tav>
                                        <p:tav tm="100000">
                                          <p:val>
                                            <p:fltVal val="1"/>
                                          </p:val>
                                        </p:tav>
                                      </p:tavLst>
                                    </p:anim>
                                    <p:anim calcmode="lin" valueType="num">
                                      <p:cBhvr>
                                        <p:cTn id="32" dur="750" fill="hold"/>
                                        <p:tgtEl>
                                          <p:spTgt spid="15"/>
                                        </p:tgtEl>
                                        <p:attrNameLst>
                                          <p:attrName>ppt_h</p:attrName>
                                        </p:attrNameLst>
                                      </p:cBhvr>
                                      <p:tavLst>
                                        <p:tav tm="0">
                                          <p:val>
                                            <p:strVal val="#ppt_h"/>
                                          </p:val>
                                        </p:tav>
                                        <p:tav tm="100000">
                                          <p:val>
                                            <p:strVal val="#ppt_h"/>
                                          </p:val>
                                        </p:tav>
                                      </p:tavLst>
                                    </p:anim>
                                  </p:childTnLst>
                                </p:cTn>
                              </p:par>
                              <p:par>
                                <p:cTn id="33" presetID="41" presetClass="entr" presetSubtype="0" fill="hold" grpId="0" nodeType="withEffect">
                                  <p:stCondLst>
                                    <p:cond delay="1000"/>
                                  </p:stCondLst>
                                  <p:iterate type="lt">
                                    <p:tmPct val="10000"/>
                                  </p:iterate>
                                  <p:childTnLst>
                                    <p:set>
                                      <p:cBhvr>
                                        <p:cTn id="34" dur="1" fill="hold">
                                          <p:stCondLst>
                                            <p:cond delay="0"/>
                                          </p:stCondLst>
                                        </p:cTn>
                                        <p:tgtEl>
                                          <p:spTgt spid="18"/>
                                        </p:tgtEl>
                                        <p:attrNameLst>
                                          <p:attrName>style.visibility</p:attrName>
                                        </p:attrNameLst>
                                      </p:cBhvr>
                                      <p:to>
                                        <p:strVal val="visible"/>
                                      </p:to>
                                    </p:set>
                                    <p:anim calcmode="lin" valueType="num">
                                      <p:cBhvr>
                                        <p:cTn id="35" dur="10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36" dur="1000" fill="hold"/>
                                        <p:tgtEl>
                                          <p:spTgt spid="18"/>
                                        </p:tgtEl>
                                        <p:attrNameLst>
                                          <p:attrName>ppt_y</p:attrName>
                                        </p:attrNameLst>
                                      </p:cBhvr>
                                      <p:tavLst>
                                        <p:tav tm="0">
                                          <p:val>
                                            <p:strVal val="#ppt_y"/>
                                          </p:val>
                                        </p:tav>
                                        <p:tav tm="100000">
                                          <p:val>
                                            <p:strVal val="#ppt_y"/>
                                          </p:val>
                                        </p:tav>
                                      </p:tavLst>
                                    </p:anim>
                                    <p:anim calcmode="lin" valueType="num">
                                      <p:cBhvr>
                                        <p:cTn id="37" dur="10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38" dur="10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39" dur="1000" tmFilter="0,0; .5, 1; 1, 1"/>
                                        <p:tgtEl>
                                          <p:spTgt spid="18"/>
                                        </p:tgtEl>
                                      </p:cBhvr>
                                    </p:animEffect>
                                  </p:childTnLst>
                                </p:cTn>
                              </p:par>
                              <p:par>
                                <p:cTn id="40" presetID="45" presetClass="entr" presetSubtype="0" fill="hold" nodeType="withEffect">
                                  <p:stCondLst>
                                    <p:cond delay="50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750"/>
                                        <p:tgtEl>
                                          <p:spTgt spid="19"/>
                                        </p:tgtEl>
                                      </p:cBhvr>
                                    </p:animEffect>
                                    <p:anim calcmode="lin" valueType="num">
                                      <p:cBhvr>
                                        <p:cTn id="43" dur="750" fill="hold"/>
                                        <p:tgtEl>
                                          <p:spTgt spid="19"/>
                                        </p:tgtEl>
                                        <p:attrNameLst>
                                          <p:attrName>ppt_w</p:attrName>
                                        </p:attrNameLst>
                                      </p:cBhvr>
                                      <p:tavLst>
                                        <p:tav tm="0" fmla="#ppt_w*sin(2.5*pi*$)">
                                          <p:val>
                                            <p:fltVal val="0"/>
                                          </p:val>
                                        </p:tav>
                                        <p:tav tm="100000">
                                          <p:val>
                                            <p:fltVal val="1"/>
                                          </p:val>
                                        </p:tav>
                                      </p:tavLst>
                                    </p:anim>
                                    <p:anim calcmode="lin" valueType="num">
                                      <p:cBhvr>
                                        <p:cTn id="44" dur="750" fill="hold"/>
                                        <p:tgtEl>
                                          <p:spTgt spid="19"/>
                                        </p:tgtEl>
                                        <p:attrNameLst>
                                          <p:attrName>ppt_h</p:attrName>
                                        </p:attrNameLst>
                                      </p:cBhvr>
                                      <p:tavLst>
                                        <p:tav tm="0">
                                          <p:val>
                                            <p:strVal val="#ppt_h"/>
                                          </p:val>
                                        </p:tav>
                                        <p:tav tm="100000">
                                          <p:val>
                                            <p:strVal val="#ppt_h"/>
                                          </p:val>
                                        </p:tav>
                                      </p:tavLst>
                                    </p:anim>
                                  </p:childTnLst>
                                </p:cTn>
                              </p:par>
                              <p:par>
                                <p:cTn id="45" presetID="41" presetClass="entr" presetSubtype="0" fill="hold" grpId="0" nodeType="withEffect">
                                  <p:stCondLst>
                                    <p:cond delay="1000"/>
                                  </p:stCondLst>
                                  <p:iterate type="lt">
                                    <p:tmPct val="10000"/>
                                  </p:iterate>
                                  <p:childTnLst>
                                    <p:set>
                                      <p:cBhvr>
                                        <p:cTn id="46" dur="1" fill="hold">
                                          <p:stCondLst>
                                            <p:cond delay="0"/>
                                          </p:stCondLst>
                                        </p:cTn>
                                        <p:tgtEl>
                                          <p:spTgt spid="22"/>
                                        </p:tgtEl>
                                        <p:attrNameLst>
                                          <p:attrName>style.visibility</p:attrName>
                                        </p:attrNameLst>
                                      </p:cBhvr>
                                      <p:to>
                                        <p:strVal val="visible"/>
                                      </p:to>
                                    </p:set>
                                    <p:anim calcmode="lin" valueType="num">
                                      <p:cBhvr>
                                        <p:cTn id="47" dur="1000" fill="hold"/>
                                        <p:tgtEl>
                                          <p:spTgt spid="22"/>
                                        </p:tgtEl>
                                        <p:attrNameLst>
                                          <p:attrName>ppt_x</p:attrName>
                                        </p:attrNameLst>
                                      </p:cBhvr>
                                      <p:tavLst>
                                        <p:tav tm="0">
                                          <p:val>
                                            <p:strVal val="#ppt_x"/>
                                          </p:val>
                                        </p:tav>
                                        <p:tav tm="50000">
                                          <p:val>
                                            <p:strVal val="#ppt_x+.1"/>
                                          </p:val>
                                        </p:tav>
                                        <p:tav tm="100000">
                                          <p:val>
                                            <p:strVal val="#ppt_x"/>
                                          </p:val>
                                        </p:tav>
                                      </p:tavLst>
                                    </p:anim>
                                    <p:anim calcmode="lin" valueType="num">
                                      <p:cBhvr>
                                        <p:cTn id="48" dur="1000" fill="hold"/>
                                        <p:tgtEl>
                                          <p:spTgt spid="22"/>
                                        </p:tgtEl>
                                        <p:attrNameLst>
                                          <p:attrName>ppt_y</p:attrName>
                                        </p:attrNameLst>
                                      </p:cBhvr>
                                      <p:tavLst>
                                        <p:tav tm="0">
                                          <p:val>
                                            <p:strVal val="#ppt_y"/>
                                          </p:val>
                                        </p:tav>
                                        <p:tav tm="100000">
                                          <p:val>
                                            <p:strVal val="#ppt_y"/>
                                          </p:val>
                                        </p:tav>
                                      </p:tavLst>
                                    </p:anim>
                                    <p:anim calcmode="lin" valueType="num">
                                      <p:cBhvr>
                                        <p:cTn id="49" dur="1000" fill="hold"/>
                                        <p:tgtEl>
                                          <p:spTgt spid="22"/>
                                        </p:tgtEl>
                                        <p:attrNameLst>
                                          <p:attrName>ppt_h</p:attrName>
                                        </p:attrNameLst>
                                      </p:cBhvr>
                                      <p:tavLst>
                                        <p:tav tm="0">
                                          <p:val>
                                            <p:strVal val="#ppt_h/10"/>
                                          </p:val>
                                        </p:tav>
                                        <p:tav tm="50000">
                                          <p:val>
                                            <p:strVal val="#ppt_h+.01"/>
                                          </p:val>
                                        </p:tav>
                                        <p:tav tm="100000">
                                          <p:val>
                                            <p:strVal val="#ppt_h"/>
                                          </p:val>
                                        </p:tav>
                                      </p:tavLst>
                                    </p:anim>
                                    <p:anim calcmode="lin" valueType="num">
                                      <p:cBhvr>
                                        <p:cTn id="50" dur="1000" fill="hold"/>
                                        <p:tgtEl>
                                          <p:spTgt spid="22"/>
                                        </p:tgtEl>
                                        <p:attrNameLst>
                                          <p:attrName>ppt_w</p:attrName>
                                        </p:attrNameLst>
                                      </p:cBhvr>
                                      <p:tavLst>
                                        <p:tav tm="0">
                                          <p:val>
                                            <p:strVal val="#ppt_w/10"/>
                                          </p:val>
                                        </p:tav>
                                        <p:tav tm="50000">
                                          <p:val>
                                            <p:strVal val="#ppt_w+.01"/>
                                          </p:val>
                                        </p:tav>
                                        <p:tav tm="100000">
                                          <p:val>
                                            <p:strVal val="#ppt_w"/>
                                          </p:val>
                                        </p:tav>
                                      </p:tavLst>
                                    </p:anim>
                                    <p:animEffect transition="in" filter="fade">
                                      <p:cBhvr>
                                        <p:cTn id="51" dur="1000" tmFilter="0,0; .5, 1; 1, 1"/>
                                        <p:tgtEl>
                                          <p:spTgt spid="22"/>
                                        </p:tgtEl>
                                      </p:cBhvr>
                                    </p:animEffect>
                                  </p:childTnLst>
                                </p:cTn>
                              </p:par>
                              <p:par>
                                <p:cTn id="52" presetID="45" presetClass="entr" presetSubtype="0" fill="hold" nodeType="withEffect">
                                  <p:stCondLst>
                                    <p:cond delay="50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750"/>
                                        <p:tgtEl>
                                          <p:spTgt spid="23"/>
                                        </p:tgtEl>
                                      </p:cBhvr>
                                    </p:animEffect>
                                    <p:anim calcmode="lin" valueType="num">
                                      <p:cBhvr>
                                        <p:cTn id="55" dur="750" fill="hold"/>
                                        <p:tgtEl>
                                          <p:spTgt spid="23"/>
                                        </p:tgtEl>
                                        <p:attrNameLst>
                                          <p:attrName>ppt_w</p:attrName>
                                        </p:attrNameLst>
                                      </p:cBhvr>
                                      <p:tavLst>
                                        <p:tav tm="0" fmla="#ppt_w*sin(2.5*pi*$)">
                                          <p:val>
                                            <p:fltVal val="0"/>
                                          </p:val>
                                        </p:tav>
                                        <p:tav tm="100000">
                                          <p:val>
                                            <p:fltVal val="1"/>
                                          </p:val>
                                        </p:tav>
                                      </p:tavLst>
                                    </p:anim>
                                    <p:anim calcmode="lin" valueType="num">
                                      <p:cBhvr>
                                        <p:cTn id="56" dur="750" fill="hold"/>
                                        <p:tgtEl>
                                          <p:spTgt spid="23"/>
                                        </p:tgtEl>
                                        <p:attrNameLst>
                                          <p:attrName>ppt_h</p:attrName>
                                        </p:attrNameLst>
                                      </p:cBhvr>
                                      <p:tavLst>
                                        <p:tav tm="0">
                                          <p:val>
                                            <p:strVal val="#ppt_h"/>
                                          </p:val>
                                        </p:tav>
                                        <p:tav tm="100000">
                                          <p:val>
                                            <p:strVal val="#ppt_h"/>
                                          </p:val>
                                        </p:tav>
                                      </p:tavLst>
                                    </p:anim>
                                  </p:childTnLst>
                                </p:cTn>
                              </p:par>
                              <p:par>
                                <p:cTn id="57" presetID="41" presetClass="entr" presetSubtype="0" fill="hold" grpId="0" nodeType="withEffect">
                                  <p:stCondLst>
                                    <p:cond delay="1000"/>
                                  </p:stCondLst>
                                  <p:iterate type="lt">
                                    <p:tmPct val="10000"/>
                                  </p:iterate>
                                  <p:childTnLst>
                                    <p:set>
                                      <p:cBhvr>
                                        <p:cTn id="58" dur="1" fill="hold">
                                          <p:stCondLst>
                                            <p:cond delay="0"/>
                                          </p:stCondLst>
                                        </p:cTn>
                                        <p:tgtEl>
                                          <p:spTgt spid="26"/>
                                        </p:tgtEl>
                                        <p:attrNameLst>
                                          <p:attrName>style.visibility</p:attrName>
                                        </p:attrNameLst>
                                      </p:cBhvr>
                                      <p:to>
                                        <p:strVal val="visible"/>
                                      </p:to>
                                    </p:set>
                                    <p:anim calcmode="lin" valueType="num">
                                      <p:cBhvr>
                                        <p:cTn id="59" dur="10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60" dur="1000" fill="hold"/>
                                        <p:tgtEl>
                                          <p:spTgt spid="26"/>
                                        </p:tgtEl>
                                        <p:attrNameLst>
                                          <p:attrName>ppt_y</p:attrName>
                                        </p:attrNameLst>
                                      </p:cBhvr>
                                      <p:tavLst>
                                        <p:tav tm="0">
                                          <p:val>
                                            <p:strVal val="#ppt_y"/>
                                          </p:val>
                                        </p:tav>
                                        <p:tav tm="100000">
                                          <p:val>
                                            <p:strVal val="#ppt_y"/>
                                          </p:val>
                                        </p:tav>
                                      </p:tavLst>
                                    </p:anim>
                                    <p:anim calcmode="lin" valueType="num">
                                      <p:cBhvr>
                                        <p:cTn id="61" dur="10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62" dur="10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63" dur="1000" tmFilter="0,0; .5, 1; 1, 1"/>
                                        <p:tgtEl>
                                          <p:spTgt spid="26"/>
                                        </p:tgtEl>
                                      </p:cBhvr>
                                    </p:animEffect>
                                  </p:childTnLst>
                                </p:cTn>
                              </p:par>
                              <p:par>
                                <p:cTn id="64" presetID="45" presetClass="entr" presetSubtype="0" fill="hold" nodeType="withEffect">
                                  <p:stCondLst>
                                    <p:cond delay="50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750"/>
                                        <p:tgtEl>
                                          <p:spTgt spid="27"/>
                                        </p:tgtEl>
                                      </p:cBhvr>
                                    </p:animEffect>
                                    <p:anim calcmode="lin" valueType="num">
                                      <p:cBhvr>
                                        <p:cTn id="67" dur="750" fill="hold"/>
                                        <p:tgtEl>
                                          <p:spTgt spid="27"/>
                                        </p:tgtEl>
                                        <p:attrNameLst>
                                          <p:attrName>ppt_w</p:attrName>
                                        </p:attrNameLst>
                                      </p:cBhvr>
                                      <p:tavLst>
                                        <p:tav tm="0" fmla="#ppt_w*sin(2.5*pi*$)">
                                          <p:val>
                                            <p:fltVal val="0"/>
                                          </p:val>
                                        </p:tav>
                                        <p:tav tm="100000">
                                          <p:val>
                                            <p:fltVal val="1"/>
                                          </p:val>
                                        </p:tav>
                                      </p:tavLst>
                                    </p:anim>
                                    <p:anim calcmode="lin" valueType="num">
                                      <p:cBhvr>
                                        <p:cTn id="68" dur="750" fill="hold"/>
                                        <p:tgtEl>
                                          <p:spTgt spid="27"/>
                                        </p:tgtEl>
                                        <p:attrNameLst>
                                          <p:attrName>ppt_h</p:attrName>
                                        </p:attrNameLst>
                                      </p:cBhvr>
                                      <p:tavLst>
                                        <p:tav tm="0">
                                          <p:val>
                                            <p:strVal val="#ppt_h"/>
                                          </p:val>
                                        </p:tav>
                                        <p:tav tm="100000">
                                          <p:val>
                                            <p:strVal val="#ppt_h"/>
                                          </p:val>
                                        </p:tav>
                                      </p:tavLst>
                                    </p:anim>
                                  </p:childTnLst>
                                </p:cTn>
                              </p:par>
                              <p:par>
                                <p:cTn id="69" presetID="41" presetClass="entr" presetSubtype="0" fill="hold" grpId="0" nodeType="withEffect">
                                  <p:stCondLst>
                                    <p:cond delay="1000"/>
                                  </p:stCondLst>
                                  <p:iterate type="lt">
                                    <p:tmPct val="10000"/>
                                  </p:iterate>
                                  <p:childTnLst>
                                    <p:set>
                                      <p:cBhvr>
                                        <p:cTn id="70" dur="1" fill="hold">
                                          <p:stCondLst>
                                            <p:cond delay="0"/>
                                          </p:stCondLst>
                                        </p:cTn>
                                        <p:tgtEl>
                                          <p:spTgt spid="30"/>
                                        </p:tgtEl>
                                        <p:attrNameLst>
                                          <p:attrName>style.visibility</p:attrName>
                                        </p:attrNameLst>
                                      </p:cBhvr>
                                      <p:to>
                                        <p:strVal val="visible"/>
                                      </p:to>
                                    </p:set>
                                    <p:anim calcmode="lin" valueType="num">
                                      <p:cBhvr>
                                        <p:cTn id="71" dur="10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72" dur="1000" fill="hold"/>
                                        <p:tgtEl>
                                          <p:spTgt spid="30"/>
                                        </p:tgtEl>
                                        <p:attrNameLst>
                                          <p:attrName>ppt_y</p:attrName>
                                        </p:attrNameLst>
                                      </p:cBhvr>
                                      <p:tavLst>
                                        <p:tav tm="0">
                                          <p:val>
                                            <p:strVal val="#ppt_y"/>
                                          </p:val>
                                        </p:tav>
                                        <p:tav tm="100000">
                                          <p:val>
                                            <p:strVal val="#ppt_y"/>
                                          </p:val>
                                        </p:tav>
                                      </p:tavLst>
                                    </p:anim>
                                    <p:anim calcmode="lin" valueType="num">
                                      <p:cBhvr>
                                        <p:cTn id="73" dur="10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74" dur="10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75" dur="1000" tmFilter="0,0; .5, 1; 1, 1"/>
                                        <p:tgtEl>
                                          <p:spTgt spid="30"/>
                                        </p:tgtEl>
                                      </p:cBhvr>
                                    </p:animEffect>
                                  </p:childTnLst>
                                </p:cTn>
                              </p:par>
                            </p:childTnLst>
                          </p:cTn>
                        </p:par>
                        <p:par>
                          <p:cTn id="76" fill="hold">
                            <p:stCondLst>
                              <p:cond delay="2300"/>
                            </p:stCondLst>
                            <p:childTnLst>
                              <p:par>
                                <p:cTn id="77" presetID="22" presetClass="entr" presetSubtype="4" fill="hold" nodeType="after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wipe(down)">
                                      <p:cBhvr>
                                        <p:cTn id="79" dur="500"/>
                                        <p:tgtEl>
                                          <p:spTgt spid="31"/>
                                        </p:tgtEl>
                                      </p:cBhvr>
                                    </p:animEffect>
                                  </p:childTnLst>
                                </p:cTn>
                              </p:par>
                            </p:childTnLst>
                          </p:cTn>
                        </p:par>
                        <p:par>
                          <p:cTn id="80" fill="hold">
                            <p:stCondLst>
                              <p:cond delay="2800"/>
                            </p:stCondLst>
                            <p:childTnLst>
                              <p:par>
                                <p:cTn id="81" presetID="22" presetClass="entr" presetSubtype="1" fill="hold" nodeType="afterEffect">
                                  <p:stCondLst>
                                    <p:cond delay="0"/>
                                  </p:stCondLst>
                                  <p:childTnLst>
                                    <p:set>
                                      <p:cBhvr>
                                        <p:cTn id="82" dur="1" fill="hold">
                                          <p:stCondLst>
                                            <p:cond delay="0"/>
                                          </p:stCondLst>
                                        </p:cTn>
                                        <p:tgtEl>
                                          <p:spTgt spid="14"/>
                                        </p:tgtEl>
                                        <p:attrNameLst>
                                          <p:attrName>style.visibility</p:attrName>
                                        </p:attrNameLst>
                                      </p:cBhvr>
                                      <p:to>
                                        <p:strVal val="visible"/>
                                      </p:to>
                                    </p:set>
                                    <p:animEffect transition="in" filter="wipe(up)">
                                      <p:cBhvr>
                                        <p:cTn id="83" dur="500"/>
                                        <p:tgtEl>
                                          <p:spTgt spid="14"/>
                                        </p:tgtEl>
                                      </p:cBhvr>
                                    </p:animEffect>
                                  </p:childTnLst>
                                </p:cTn>
                              </p:par>
                            </p:childTnLst>
                          </p:cTn>
                        </p:par>
                        <p:par>
                          <p:cTn id="84" fill="hold">
                            <p:stCondLst>
                              <p:cond delay="3300"/>
                            </p:stCondLst>
                            <p:childTnLst>
                              <p:par>
                                <p:cTn id="85" presetID="22" presetClass="entr" presetSubtype="4" fill="hold" nodeType="afterEffect">
                                  <p:stCondLst>
                                    <p:cond delay="0"/>
                                  </p:stCondLst>
                                  <p:childTnLst>
                                    <p:set>
                                      <p:cBhvr>
                                        <p:cTn id="86" dur="1" fill="hold">
                                          <p:stCondLst>
                                            <p:cond delay="0"/>
                                          </p:stCondLst>
                                        </p:cTn>
                                        <p:tgtEl>
                                          <p:spTgt spid="13"/>
                                        </p:tgtEl>
                                        <p:attrNameLst>
                                          <p:attrName>style.visibility</p:attrName>
                                        </p:attrNameLst>
                                      </p:cBhvr>
                                      <p:to>
                                        <p:strVal val="visible"/>
                                      </p:to>
                                    </p:set>
                                    <p:animEffect transition="in" filter="wipe(down)">
                                      <p:cBhvr>
                                        <p:cTn id="87" dur="500"/>
                                        <p:tgtEl>
                                          <p:spTgt spid="13"/>
                                        </p:tgtEl>
                                      </p:cBhvr>
                                    </p:animEffect>
                                  </p:childTnLst>
                                </p:cTn>
                              </p:par>
                            </p:childTnLst>
                          </p:cTn>
                        </p:par>
                        <p:par>
                          <p:cTn id="88" fill="hold">
                            <p:stCondLst>
                              <p:cond delay="3800"/>
                            </p:stCondLst>
                            <p:childTnLst>
                              <p:par>
                                <p:cTn id="89" presetID="22" presetClass="entr" presetSubtype="4" fill="hold" nodeType="afterEffect">
                                  <p:stCondLst>
                                    <p:cond delay="0"/>
                                  </p:stCondLst>
                                  <p:childTnLst>
                                    <p:set>
                                      <p:cBhvr>
                                        <p:cTn id="90" dur="1" fill="hold">
                                          <p:stCondLst>
                                            <p:cond delay="0"/>
                                          </p:stCondLst>
                                        </p:cTn>
                                        <p:tgtEl>
                                          <p:spTgt spid="12"/>
                                        </p:tgtEl>
                                        <p:attrNameLst>
                                          <p:attrName>style.visibility</p:attrName>
                                        </p:attrNameLst>
                                      </p:cBhvr>
                                      <p:to>
                                        <p:strVal val="visible"/>
                                      </p:to>
                                    </p:set>
                                    <p:animEffect transition="in" filter="wipe(down)">
                                      <p:cBhvr>
                                        <p:cTn id="91" dur="500"/>
                                        <p:tgtEl>
                                          <p:spTgt spid="12"/>
                                        </p:tgtEl>
                                      </p:cBhvr>
                                    </p:animEffect>
                                  </p:childTnLst>
                                </p:cTn>
                              </p:par>
                              <p:par>
                                <p:cTn id="92" presetID="42" presetClass="entr" presetSubtype="0" fill="hold" grpId="0" nodeType="withEffect">
                                  <p:stCondLst>
                                    <p:cond delay="75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1000"/>
                                        <p:tgtEl>
                                          <p:spTgt spid="32"/>
                                        </p:tgtEl>
                                      </p:cBhvr>
                                    </p:animEffect>
                                    <p:anim calcmode="lin" valueType="num">
                                      <p:cBhvr>
                                        <p:cTn id="95" dur="1000" fill="hold"/>
                                        <p:tgtEl>
                                          <p:spTgt spid="32"/>
                                        </p:tgtEl>
                                        <p:attrNameLst>
                                          <p:attrName>ppt_x</p:attrName>
                                        </p:attrNameLst>
                                      </p:cBhvr>
                                      <p:tavLst>
                                        <p:tav tm="0">
                                          <p:val>
                                            <p:strVal val="#ppt_x"/>
                                          </p:val>
                                        </p:tav>
                                        <p:tav tm="100000">
                                          <p:val>
                                            <p:strVal val="#ppt_x"/>
                                          </p:val>
                                        </p:tav>
                                      </p:tavLst>
                                    </p:anim>
                                    <p:anim calcmode="lin" valueType="num">
                                      <p:cBhvr>
                                        <p:cTn id="96" dur="1000" fill="hold"/>
                                        <p:tgtEl>
                                          <p:spTgt spid="32"/>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75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1000"/>
                                        <p:tgtEl>
                                          <p:spTgt spid="33"/>
                                        </p:tgtEl>
                                      </p:cBhvr>
                                    </p:animEffect>
                                    <p:anim calcmode="lin" valueType="num">
                                      <p:cBhvr>
                                        <p:cTn id="100" dur="1000" fill="hold"/>
                                        <p:tgtEl>
                                          <p:spTgt spid="33"/>
                                        </p:tgtEl>
                                        <p:attrNameLst>
                                          <p:attrName>ppt_x</p:attrName>
                                        </p:attrNameLst>
                                      </p:cBhvr>
                                      <p:tavLst>
                                        <p:tav tm="0">
                                          <p:val>
                                            <p:strVal val="#ppt_x"/>
                                          </p:val>
                                        </p:tav>
                                        <p:tav tm="100000">
                                          <p:val>
                                            <p:strVal val="#ppt_x"/>
                                          </p:val>
                                        </p:tav>
                                      </p:tavLst>
                                    </p:anim>
                                    <p:anim calcmode="lin" valueType="num">
                                      <p:cBhvr>
                                        <p:cTn id="101" dur="1000" fill="hold"/>
                                        <p:tgtEl>
                                          <p:spTgt spid="33"/>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75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1000"/>
                                        <p:tgtEl>
                                          <p:spTgt spid="34"/>
                                        </p:tgtEl>
                                      </p:cBhvr>
                                    </p:animEffect>
                                    <p:anim calcmode="lin" valueType="num">
                                      <p:cBhvr>
                                        <p:cTn id="105" dur="1000" fill="hold"/>
                                        <p:tgtEl>
                                          <p:spTgt spid="34"/>
                                        </p:tgtEl>
                                        <p:attrNameLst>
                                          <p:attrName>ppt_x</p:attrName>
                                        </p:attrNameLst>
                                      </p:cBhvr>
                                      <p:tavLst>
                                        <p:tav tm="0">
                                          <p:val>
                                            <p:strVal val="#ppt_x"/>
                                          </p:val>
                                        </p:tav>
                                        <p:tav tm="100000">
                                          <p:val>
                                            <p:strVal val="#ppt_x"/>
                                          </p:val>
                                        </p:tav>
                                      </p:tavLst>
                                    </p:anim>
                                    <p:anim calcmode="lin" valueType="num">
                                      <p:cBhvr>
                                        <p:cTn id="106" dur="1000" fill="hold"/>
                                        <p:tgtEl>
                                          <p:spTgt spid="34"/>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750"/>
                                  </p:stCondLst>
                                  <p:childTnLst>
                                    <p:set>
                                      <p:cBhvr>
                                        <p:cTn id="108" dur="1" fill="hold">
                                          <p:stCondLst>
                                            <p:cond delay="0"/>
                                          </p:stCondLst>
                                        </p:cTn>
                                        <p:tgtEl>
                                          <p:spTgt spid="35"/>
                                        </p:tgtEl>
                                        <p:attrNameLst>
                                          <p:attrName>style.visibility</p:attrName>
                                        </p:attrNameLst>
                                      </p:cBhvr>
                                      <p:to>
                                        <p:strVal val="visible"/>
                                      </p:to>
                                    </p:set>
                                    <p:animEffect transition="in" filter="fade">
                                      <p:cBhvr>
                                        <p:cTn id="109" dur="1000"/>
                                        <p:tgtEl>
                                          <p:spTgt spid="35"/>
                                        </p:tgtEl>
                                      </p:cBhvr>
                                    </p:animEffect>
                                    <p:anim calcmode="lin" valueType="num">
                                      <p:cBhvr>
                                        <p:cTn id="110" dur="1000" fill="hold"/>
                                        <p:tgtEl>
                                          <p:spTgt spid="35"/>
                                        </p:tgtEl>
                                        <p:attrNameLst>
                                          <p:attrName>ppt_x</p:attrName>
                                        </p:attrNameLst>
                                      </p:cBhvr>
                                      <p:tavLst>
                                        <p:tav tm="0">
                                          <p:val>
                                            <p:strVal val="#ppt_x"/>
                                          </p:val>
                                        </p:tav>
                                        <p:tav tm="100000">
                                          <p:val>
                                            <p:strVal val="#ppt_x"/>
                                          </p:val>
                                        </p:tav>
                                      </p:tavLst>
                                    </p:anim>
                                    <p:anim calcmode="lin" valueType="num">
                                      <p:cBhvr>
                                        <p:cTn id="111"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p:bldP spid="26" grpId="0"/>
      <p:bldP spid="30" grpId="0"/>
      <p:bldP spid="32" grpId="0"/>
      <p:bldP spid="33" grpId="0"/>
      <p:bldP spid="34" grpId="0"/>
      <p:bldP spid="35" grpId="0"/>
      <p:bldP spid="9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椭圆 47"/>
          <p:cNvSpPr/>
          <p:nvPr/>
        </p:nvSpPr>
        <p:spPr>
          <a:xfrm flipH="1">
            <a:off x="5106299" y="2031054"/>
            <a:ext cx="417953" cy="417953"/>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1" name="椭圆 50"/>
          <p:cNvSpPr/>
          <p:nvPr/>
        </p:nvSpPr>
        <p:spPr>
          <a:xfrm flipH="1">
            <a:off x="4422925" y="4190921"/>
            <a:ext cx="344324" cy="34432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2" name="椭圆 51"/>
          <p:cNvSpPr/>
          <p:nvPr/>
        </p:nvSpPr>
        <p:spPr>
          <a:xfrm flipH="1">
            <a:off x="9256318" y="3381260"/>
            <a:ext cx="443733" cy="443735"/>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3" name="椭圆 52"/>
          <p:cNvSpPr/>
          <p:nvPr/>
        </p:nvSpPr>
        <p:spPr>
          <a:xfrm flipH="1">
            <a:off x="2497187" y="3000003"/>
            <a:ext cx="564888" cy="564890"/>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4" name="椭圆 53"/>
          <p:cNvSpPr/>
          <p:nvPr/>
        </p:nvSpPr>
        <p:spPr>
          <a:xfrm flipH="1">
            <a:off x="10039266" y="3105628"/>
            <a:ext cx="275632" cy="27563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5" name="椭圆 54"/>
          <p:cNvSpPr/>
          <p:nvPr/>
        </p:nvSpPr>
        <p:spPr>
          <a:xfrm flipH="1">
            <a:off x="1705099" y="2862187"/>
            <a:ext cx="275632" cy="27563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56" name="椭圆 55"/>
          <p:cNvSpPr/>
          <p:nvPr/>
        </p:nvSpPr>
        <p:spPr>
          <a:xfrm flipH="1">
            <a:off x="3510657" y="2333981"/>
            <a:ext cx="275632" cy="27563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49" name="椭圆 48"/>
          <p:cNvSpPr/>
          <p:nvPr/>
        </p:nvSpPr>
        <p:spPr>
          <a:xfrm flipH="1">
            <a:off x="5932471" y="4113083"/>
            <a:ext cx="525156" cy="525154"/>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89" name="椭圆 88"/>
          <p:cNvSpPr/>
          <p:nvPr/>
        </p:nvSpPr>
        <p:spPr>
          <a:xfrm flipH="1">
            <a:off x="7888118" y="1872914"/>
            <a:ext cx="465932" cy="465930"/>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90" name="椭圆 89"/>
          <p:cNvSpPr/>
          <p:nvPr/>
        </p:nvSpPr>
        <p:spPr>
          <a:xfrm flipH="1">
            <a:off x="7773832" y="4271998"/>
            <a:ext cx="525156" cy="525154"/>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91" name="椭圆 90"/>
          <p:cNvSpPr/>
          <p:nvPr/>
        </p:nvSpPr>
        <p:spPr>
          <a:xfrm flipH="1">
            <a:off x="9014258" y="2279123"/>
            <a:ext cx="525156" cy="525154"/>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92" name="椭圆 91"/>
          <p:cNvSpPr/>
          <p:nvPr/>
        </p:nvSpPr>
        <p:spPr>
          <a:xfrm flipH="1">
            <a:off x="6471520" y="2161754"/>
            <a:ext cx="275632" cy="27563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93" name="椭圆 92"/>
          <p:cNvSpPr/>
          <p:nvPr/>
        </p:nvSpPr>
        <p:spPr>
          <a:xfrm flipH="1">
            <a:off x="2833856" y="3937014"/>
            <a:ext cx="381823" cy="38182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94" name="椭圆 93"/>
          <p:cNvSpPr/>
          <p:nvPr/>
        </p:nvSpPr>
        <p:spPr>
          <a:xfrm flipH="1">
            <a:off x="10315120" y="2609613"/>
            <a:ext cx="307495" cy="307494"/>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95" name="椭圆 94"/>
          <p:cNvSpPr/>
          <p:nvPr/>
        </p:nvSpPr>
        <p:spPr>
          <a:xfrm flipH="1">
            <a:off x="8252879" y="2172135"/>
            <a:ext cx="275632" cy="275632"/>
          </a:xfrm>
          <a:prstGeom prst="ellipse">
            <a:avLst/>
          </a:prstGeom>
          <a:pattFill prst="wdDnDiag">
            <a:fgClr>
              <a:srgbClr val="809BC6"/>
            </a:fgClr>
            <a:bgClr>
              <a:schemeClr val="bg1"/>
            </a:bgClr>
          </a:pattFill>
          <a:ln w="28575" cap="flat">
            <a:no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dirty="0">
              <a:solidFill>
                <a:prstClr val="black"/>
              </a:solidFill>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nvGrpSpPr>
          <p:cNvPr id="3" name="组合 2"/>
          <p:cNvGrpSpPr/>
          <p:nvPr/>
        </p:nvGrpSpPr>
        <p:grpSpPr>
          <a:xfrm>
            <a:off x="3272300" y="2541700"/>
            <a:ext cx="1636365" cy="1636365"/>
            <a:chOff x="3272300" y="1707146"/>
            <a:chExt cx="1636365" cy="1636365"/>
          </a:xfrm>
        </p:grpSpPr>
        <p:grpSp>
          <p:nvGrpSpPr>
            <p:cNvPr id="67" name="组合 66"/>
            <p:cNvGrpSpPr/>
            <p:nvPr/>
          </p:nvGrpSpPr>
          <p:grpSpPr>
            <a:xfrm>
              <a:off x="3272300" y="1707146"/>
              <a:ext cx="1636365" cy="1636365"/>
              <a:chOff x="1705099" y="2564904"/>
              <a:chExt cx="1800200" cy="1800200"/>
            </a:xfrm>
          </p:grpSpPr>
          <p:sp>
            <p:nvSpPr>
              <p:cNvPr id="68" name="椭圆 67"/>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69" name="椭圆 68"/>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44" name="TextBox 51"/>
            <p:cNvSpPr txBox="1"/>
            <p:nvPr/>
          </p:nvSpPr>
          <p:spPr>
            <a:xfrm>
              <a:off x="3503036" y="1990506"/>
              <a:ext cx="1174892" cy="1107996"/>
            </a:xfrm>
            <a:prstGeom prst="rect">
              <a:avLst/>
            </a:prstGeom>
            <a:noFill/>
          </p:spPr>
          <p:txBody>
            <a:bodyPr wrap="square" rtlCol="0">
              <a:spAutoFit/>
            </a:bodyPr>
            <a:lstStyle/>
            <a:p>
              <a:pPr algn="ctr"/>
              <a:r>
                <a:rPr lang="zh-CN" altLang="en-US" sz="66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谢</a:t>
              </a:r>
            </a:p>
          </p:txBody>
        </p:sp>
      </p:grpSp>
      <p:grpSp>
        <p:nvGrpSpPr>
          <p:cNvPr id="74" name="组合 73"/>
          <p:cNvGrpSpPr/>
          <p:nvPr/>
        </p:nvGrpSpPr>
        <p:grpSpPr>
          <a:xfrm>
            <a:off x="4649266" y="2541700"/>
            <a:ext cx="1636365" cy="1636365"/>
            <a:chOff x="3272300" y="1707146"/>
            <a:chExt cx="1636365" cy="1636365"/>
          </a:xfrm>
        </p:grpSpPr>
        <p:grpSp>
          <p:nvGrpSpPr>
            <p:cNvPr id="75" name="组合 74"/>
            <p:cNvGrpSpPr/>
            <p:nvPr/>
          </p:nvGrpSpPr>
          <p:grpSpPr>
            <a:xfrm>
              <a:off x="3272300" y="1707146"/>
              <a:ext cx="1636365" cy="1636365"/>
              <a:chOff x="1705099" y="2564904"/>
              <a:chExt cx="1800200" cy="1800200"/>
            </a:xfrm>
          </p:grpSpPr>
          <p:sp>
            <p:nvSpPr>
              <p:cNvPr id="77" name="椭圆 76"/>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78" name="椭圆 77"/>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76" name="TextBox 51"/>
            <p:cNvSpPr txBox="1"/>
            <p:nvPr/>
          </p:nvSpPr>
          <p:spPr>
            <a:xfrm>
              <a:off x="3503036" y="1990506"/>
              <a:ext cx="1174892" cy="1107996"/>
            </a:xfrm>
            <a:prstGeom prst="rect">
              <a:avLst/>
            </a:prstGeom>
            <a:noFill/>
          </p:spPr>
          <p:txBody>
            <a:bodyPr wrap="square" rtlCol="0">
              <a:spAutoFit/>
            </a:bodyPr>
            <a:lstStyle/>
            <a:p>
              <a:pPr algn="ctr"/>
              <a:r>
                <a:rPr lang="zh-CN" altLang="en-US" sz="66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谢</a:t>
              </a:r>
            </a:p>
          </p:txBody>
        </p:sp>
      </p:grpSp>
      <p:grpSp>
        <p:nvGrpSpPr>
          <p:cNvPr id="79" name="组合 78"/>
          <p:cNvGrpSpPr/>
          <p:nvPr/>
        </p:nvGrpSpPr>
        <p:grpSpPr>
          <a:xfrm>
            <a:off x="6026232" y="2541700"/>
            <a:ext cx="1636365" cy="1636365"/>
            <a:chOff x="3272300" y="1707146"/>
            <a:chExt cx="1636365" cy="1636365"/>
          </a:xfrm>
        </p:grpSpPr>
        <p:grpSp>
          <p:nvGrpSpPr>
            <p:cNvPr id="80" name="组合 79"/>
            <p:cNvGrpSpPr/>
            <p:nvPr/>
          </p:nvGrpSpPr>
          <p:grpSpPr>
            <a:xfrm>
              <a:off x="3272300" y="1707146"/>
              <a:ext cx="1636365" cy="1636365"/>
              <a:chOff x="1705099" y="2564904"/>
              <a:chExt cx="1800200" cy="1800200"/>
            </a:xfrm>
          </p:grpSpPr>
          <p:sp>
            <p:nvSpPr>
              <p:cNvPr id="82" name="椭圆 81"/>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83" name="椭圆 82"/>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81" name="TextBox 51"/>
            <p:cNvSpPr txBox="1"/>
            <p:nvPr/>
          </p:nvSpPr>
          <p:spPr>
            <a:xfrm>
              <a:off x="3503036" y="1990506"/>
              <a:ext cx="1174892" cy="1107996"/>
            </a:xfrm>
            <a:prstGeom prst="rect">
              <a:avLst/>
            </a:prstGeom>
            <a:noFill/>
          </p:spPr>
          <p:txBody>
            <a:bodyPr wrap="square" rtlCol="0">
              <a:spAutoFit/>
            </a:bodyPr>
            <a:lstStyle/>
            <a:p>
              <a:pPr algn="ctr"/>
              <a:r>
                <a:rPr lang="zh-CN" altLang="en-US" sz="66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聆</a:t>
              </a:r>
            </a:p>
          </p:txBody>
        </p:sp>
      </p:grpSp>
      <p:grpSp>
        <p:nvGrpSpPr>
          <p:cNvPr id="84" name="组合 83"/>
          <p:cNvGrpSpPr/>
          <p:nvPr/>
        </p:nvGrpSpPr>
        <p:grpSpPr>
          <a:xfrm>
            <a:off x="7403198" y="2541700"/>
            <a:ext cx="1636365" cy="1636365"/>
            <a:chOff x="3272300" y="1707146"/>
            <a:chExt cx="1636365" cy="1636365"/>
          </a:xfrm>
        </p:grpSpPr>
        <p:grpSp>
          <p:nvGrpSpPr>
            <p:cNvPr id="85" name="组合 84"/>
            <p:cNvGrpSpPr/>
            <p:nvPr/>
          </p:nvGrpSpPr>
          <p:grpSpPr>
            <a:xfrm>
              <a:off x="3272300" y="1707146"/>
              <a:ext cx="1636365" cy="1636365"/>
              <a:chOff x="1705099" y="2564904"/>
              <a:chExt cx="1800200" cy="1800200"/>
            </a:xfrm>
          </p:grpSpPr>
          <p:sp>
            <p:nvSpPr>
              <p:cNvPr id="87" name="椭圆 86"/>
              <p:cNvSpPr/>
              <p:nvPr/>
            </p:nvSpPr>
            <p:spPr>
              <a:xfrm>
                <a:off x="1705099" y="2564904"/>
                <a:ext cx="1800200" cy="1800200"/>
              </a:xfrm>
              <a:prstGeom prst="ellipse">
                <a:avLst/>
              </a:prstGeom>
              <a:solidFill>
                <a:srgbClr val="405F8F"/>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sp>
            <p:nvSpPr>
              <p:cNvPr id="88" name="椭圆 87"/>
              <p:cNvSpPr/>
              <p:nvPr/>
            </p:nvSpPr>
            <p:spPr>
              <a:xfrm>
                <a:off x="1853307" y="2713112"/>
                <a:ext cx="1503784" cy="1503784"/>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Microsoft YaHei" panose="020B0503020204020204" pitchFamily="34" charset="-122"/>
                  <a:ea typeface="Microsoft YaHei" panose="020B0503020204020204" pitchFamily="34" charset="-122"/>
                  <a:cs typeface="+mn-ea"/>
                  <a:sym typeface="Microsoft YaHei" panose="020B0503020204020204" pitchFamily="34" charset="-122"/>
                </a:endParaRPr>
              </a:p>
            </p:txBody>
          </p:sp>
        </p:grpSp>
        <p:sp>
          <p:nvSpPr>
            <p:cNvPr id="86" name="TextBox 51"/>
            <p:cNvSpPr txBox="1"/>
            <p:nvPr/>
          </p:nvSpPr>
          <p:spPr>
            <a:xfrm>
              <a:off x="3503036" y="1990506"/>
              <a:ext cx="1174892" cy="1107996"/>
            </a:xfrm>
            <a:prstGeom prst="rect">
              <a:avLst/>
            </a:prstGeom>
            <a:noFill/>
          </p:spPr>
          <p:txBody>
            <a:bodyPr wrap="square" rtlCol="0">
              <a:spAutoFit/>
            </a:bodyPr>
            <a:lstStyle/>
            <a:p>
              <a:pPr algn="ctr"/>
              <a:r>
                <a:rPr lang="zh-CN" altLang="en-US" sz="6600" dirty="0">
                  <a:solidFill>
                    <a:srgbClr val="405F8F"/>
                  </a:solidFill>
                  <a:latin typeface="Microsoft YaHei" panose="020B0503020204020204" pitchFamily="34" charset="-122"/>
                  <a:ea typeface="Microsoft YaHei" panose="020B0503020204020204" pitchFamily="34" charset="-122"/>
                  <a:cs typeface="+mn-ea"/>
                  <a:sym typeface="Microsoft YaHei" panose="020B0503020204020204" pitchFamily="34" charset="-122"/>
                </a:rPr>
                <a:t>听</a:t>
              </a:r>
            </a:p>
          </p:txBody>
        </p:sp>
      </p:grpSp>
    </p:spTree>
    <p:extLst>
      <p:ext uri="{BB962C8B-B14F-4D97-AF65-F5344CB8AC3E}">
        <p14:creationId xmlns:p14="http://schemas.microsoft.com/office/powerpoint/2010/main" val="361615055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75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fade">
                                      <p:cBhvr>
                                        <p:cTn id="13" dur="500"/>
                                        <p:tgtEl>
                                          <p:spTgt spid="4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6"/>
                                        </p:tgtEl>
                                        <p:attrNameLst>
                                          <p:attrName>style.visibility</p:attrName>
                                        </p:attrNameLst>
                                      </p:cBhvr>
                                      <p:to>
                                        <p:strVal val="visible"/>
                                      </p:to>
                                    </p:set>
                                    <p:animEffect transition="in" filter="fade">
                                      <p:cBhvr>
                                        <p:cTn id="16" dur="500"/>
                                        <p:tgtEl>
                                          <p:spTgt spid="56"/>
                                        </p:tgtEl>
                                      </p:cBhvr>
                                    </p:animEffect>
                                  </p:childTnLst>
                                </p:cTn>
                              </p:par>
                              <p:par>
                                <p:cTn id="17" presetID="10" presetClass="entr" presetSubtype="0" fill="hold" grpId="0" nodeType="withEffect">
                                  <p:stCondLst>
                                    <p:cond delay="250"/>
                                  </p:stCondLst>
                                  <p:childTnLst>
                                    <p:set>
                                      <p:cBhvr>
                                        <p:cTn id="18" dur="1" fill="hold">
                                          <p:stCondLst>
                                            <p:cond delay="0"/>
                                          </p:stCondLst>
                                        </p:cTn>
                                        <p:tgtEl>
                                          <p:spTgt spid="53"/>
                                        </p:tgtEl>
                                        <p:attrNameLst>
                                          <p:attrName>style.visibility</p:attrName>
                                        </p:attrNameLst>
                                      </p:cBhvr>
                                      <p:to>
                                        <p:strVal val="visible"/>
                                      </p:to>
                                    </p:set>
                                    <p:animEffect transition="in" filter="fade">
                                      <p:cBhvr>
                                        <p:cTn id="19" dur="500"/>
                                        <p:tgtEl>
                                          <p:spTgt spid="5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fade">
                                      <p:cBhvr>
                                        <p:cTn id="22" dur="500"/>
                                        <p:tgtEl>
                                          <p:spTgt spid="52"/>
                                        </p:tgtEl>
                                      </p:cBhvr>
                                    </p:animEffect>
                                  </p:childTnLst>
                                </p:cTn>
                              </p:par>
                              <p:par>
                                <p:cTn id="23" presetID="10" presetClass="entr" presetSubtype="0" fill="hold" grpId="0" nodeType="withEffect">
                                  <p:stCondLst>
                                    <p:cond delay="750"/>
                                  </p:stCondLst>
                                  <p:childTnLst>
                                    <p:set>
                                      <p:cBhvr>
                                        <p:cTn id="24" dur="1" fill="hold">
                                          <p:stCondLst>
                                            <p:cond delay="0"/>
                                          </p:stCondLst>
                                        </p:cTn>
                                        <p:tgtEl>
                                          <p:spTgt spid="55"/>
                                        </p:tgtEl>
                                        <p:attrNameLst>
                                          <p:attrName>style.visibility</p:attrName>
                                        </p:attrNameLst>
                                      </p:cBhvr>
                                      <p:to>
                                        <p:strVal val="visible"/>
                                      </p:to>
                                    </p:set>
                                    <p:animEffect transition="in" filter="fade">
                                      <p:cBhvr>
                                        <p:cTn id="25" dur="500"/>
                                        <p:tgtEl>
                                          <p:spTgt spid="55"/>
                                        </p:tgtEl>
                                      </p:cBhvr>
                                    </p:animEffect>
                                  </p:childTnLst>
                                </p:cTn>
                              </p:par>
                              <p:par>
                                <p:cTn id="26" presetID="10" presetClass="entr" presetSubtype="0" fill="hold" grpId="0" nodeType="withEffect">
                                  <p:stCondLst>
                                    <p:cond delay="200"/>
                                  </p:stCondLst>
                                  <p:childTnLst>
                                    <p:set>
                                      <p:cBhvr>
                                        <p:cTn id="27" dur="1" fill="hold">
                                          <p:stCondLst>
                                            <p:cond delay="0"/>
                                          </p:stCondLst>
                                        </p:cTn>
                                        <p:tgtEl>
                                          <p:spTgt spid="54"/>
                                        </p:tgtEl>
                                        <p:attrNameLst>
                                          <p:attrName>style.visibility</p:attrName>
                                        </p:attrNameLst>
                                      </p:cBhvr>
                                      <p:to>
                                        <p:strVal val="visible"/>
                                      </p:to>
                                    </p:set>
                                    <p:animEffect transition="in" filter="fade">
                                      <p:cBhvr>
                                        <p:cTn id="28" dur="500"/>
                                        <p:tgtEl>
                                          <p:spTgt spid="54"/>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89"/>
                                        </p:tgtEl>
                                        <p:attrNameLst>
                                          <p:attrName>style.visibility</p:attrName>
                                        </p:attrNameLst>
                                      </p:cBhvr>
                                      <p:to>
                                        <p:strVal val="visible"/>
                                      </p:to>
                                    </p:set>
                                    <p:animEffect transition="in" filter="fade">
                                      <p:cBhvr>
                                        <p:cTn id="31" dur="500"/>
                                        <p:tgtEl>
                                          <p:spTgt spid="89"/>
                                        </p:tgtEl>
                                      </p:cBhvr>
                                    </p:animEffect>
                                  </p:childTnLst>
                                </p:cTn>
                              </p:par>
                              <p:par>
                                <p:cTn id="32" presetID="10" presetClass="entr" presetSubtype="0" fill="hold" grpId="0" nodeType="withEffect">
                                  <p:stCondLst>
                                    <p:cond delay="500"/>
                                  </p:stCondLst>
                                  <p:childTnLst>
                                    <p:set>
                                      <p:cBhvr>
                                        <p:cTn id="33" dur="1" fill="hold">
                                          <p:stCondLst>
                                            <p:cond delay="0"/>
                                          </p:stCondLst>
                                        </p:cTn>
                                        <p:tgtEl>
                                          <p:spTgt spid="90"/>
                                        </p:tgtEl>
                                        <p:attrNameLst>
                                          <p:attrName>style.visibility</p:attrName>
                                        </p:attrNameLst>
                                      </p:cBhvr>
                                      <p:to>
                                        <p:strVal val="visible"/>
                                      </p:to>
                                    </p:set>
                                    <p:animEffect transition="in" filter="fade">
                                      <p:cBhvr>
                                        <p:cTn id="34" dur="500"/>
                                        <p:tgtEl>
                                          <p:spTgt spid="90"/>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91"/>
                                        </p:tgtEl>
                                        <p:attrNameLst>
                                          <p:attrName>style.visibility</p:attrName>
                                        </p:attrNameLst>
                                      </p:cBhvr>
                                      <p:to>
                                        <p:strVal val="visible"/>
                                      </p:to>
                                    </p:set>
                                    <p:animEffect transition="in" filter="fade">
                                      <p:cBhvr>
                                        <p:cTn id="37" dur="500"/>
                                        <p:tgtEl>
                                          <p:spTgt spid="91"/>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92"/>
                                        </p:tgtEl>
                                        <p:attrNameLst>
                                          <p:attrName>style.visibility</p:attrName>
                                        </p:attrNameLst>
                                      </p:cBhvr>
                                      <p:to>
                                        <p:strVal val="visible"/>
                                      </p:to>
                                    </p:set>
                                    <p:animEffect transition="in" filter="fade">
                                      <p:cBhvr>
                                        <p:cTn id="40" dur="500"/>
                                        <p:tgtEl>
                                          <p:spTgt spid="92"/>
                                        </p:tgtEl>
                                      </p:cBhvr>
                                    </p:animEffect>
                                  </p:childTnLst>
                                </p:cTn>
                              </p:par>
                              <p:par>
                                <p:cTn id="41" presetID="10" presetClass="entr" presetSubtype="0" fill="hold" grpId="0" nodeType="withEffect">
                                  <p:stCondLst>
                                    <p:cond delay="200"/>
                                  </p:stCondLst>
                                  <p:childTnLst>
                                    <p:set>
                                      <p:cBhvr>
                                        <p:cTn id="42" dur="1" fill="hold">
                                          <p:stCondLst>
                                            <p:cond delay="0"/>
                                          </p:stCondLst>
                                        </p:cTn>
                                        <p:tgtEl>
                                          <p:spTgt spid="93"/>
                                        </p:tgtEl>
                                        <p:attrNameLst>
                                          <p:attrName>style.visibility</p:attrName>
                                        </p:attrNameLst>
                                      </p:cBhvr>
                                      <p:to>
                                        <p:strVal val="visible"/>
                                      </p:to>
                                    </p:set>
                                    <p:animEffect transition="in" filter="fade">
                                      <p:cBhvr>
                                        <p:cTn id="43" dur="500"/>
                                        <p:tgtEl>
                                          <p:spTgt spid="93"/>
                                        </p:tgtEl>
                                      </p:cBhvr>
                                    </p:animEffect>
                                  </p:childTnLst>
                                </p:cTn>
                              </p:par>
                              <p:par>
                                <p:cTn id="44" presetID="10" presetClass="entr" presetSubtype="0" fill="hold" grpId="0" nodeType="withEffect">
                                  <p:stCondLst>
                                    <p:cond delay="1000"/>
                                  </p:stCondLst>
                                  <p:childTnLst>
                                    <p:set>
                                      <p:cBhvr>
                                        <p:cTn id="45" dur="1" fill="hold">
                                          <p:stCondLst>
                                            <p:cond delay="0"/>
                                          </p:stCondLst>
                                        </p:cTn>
                                        <p:tgtEl>
                                          <p:spTgt spid="94"/>
                                        </p:tgtEl>
                                        <p:attrNameLst>
                                          <p:attrName>style.visibility</p:attrName>
                                        </p:attrNameLst>
                                      </p:cBhvr>
                                      <p:to>
                                        <p:strVal val="visible"/>
                                      </p:to>
                                    </p:set>
                                    <p:animEffect transition="in" filter="fade">
                                      <p:cBhvr>
                                        <p:cTn id="46" dur="500"/>
                                        <p:tgtEl>
                                          <p:spTgt spid="94"/>
                                        </p:tgtEl>
                                      </p:cBhvr>
                                    </p:animEffect>
                                  </p:childTnLst>
                                </p:cTn>
                              </p:par>
                              <p:par>
                                <p:cTn id="47" presetID="10" presetClass="entr" presetSubtype="0" fill="hold" grpId="0" nodeType="withEffect">
                                  <p:stCondLst>
                                    <p:cond delay="200"/>
                                  </p:stCondLst>
                                  <p:childTnLst>
                                    <p:set>
                                      <p:cBhvr>
                                        <p:cTn id="48" dur="1" fill="hold">
                                          <p:stCondLst>
                                            <p:cond delay="0"/>
                                          </p:stCondLst>
                                        </p:cTn>
                                        <p:tgtEl>
                                          <p:spTgt spid="95"/>
                                        </p:tgtEl>
                                        <p:attrNameLst>
                                          <p:attrName>style.visibility</p:attrName>
                                        </p:attrNameLst>
                                      </p:cBhvr>
                                      <p:to>
                                        <p:strVal val="visible"/>
                                      </p:to>
                                    </p:set>
                                    <p:animEffect transition="in" filter="fade">
                                      <p:cBhvr>
                                        <p:cTn id="49" dur="500"/>
                                        <p:tgtEl>
                                          <p:spTgt spid="95"/>
                                        </p:tgtEl>
                                      </p:cBhvr>
                                    </p:animEffect>
                                  </p:childTnLst>
                                </p:cTn>
                              </p:par>
                              <p:par>
                                <p:cTn id="50" presetID="15" presetClass="entr" presetSubtype="0" fill="hold" nodeType="withEffect">
                                  <p:stCondLst>
                                    <p:cond delay="200"/>
                                  </p:stCondLst>
                                  <p:childTnLst>
                                    <p:set>
                                      <p:cBhvr>
                                        <p:cTn id="51" dur="1" fill="hold">
                                          <p:stCondLst>
                                            <p:cond delay="0"/>
                                          </p:stCondLst>
                                        </p:cTn>
                                        <p:tgtEl>
                                          <p:spTgt spid="3"/>
                                        </p:tgtEl>
                                        <p:attrNameLst>
                                          <p:attrName>style.visibility</p:attrName>
                                        </p:attrNameLst>
                                      </p:cBhvr>
                                      <p:to>
                                        <p:strVal val="visible"/>
                                      </p:to>
                                    </p:set>
                                    <p:anim calcmode="lin" valueType="num">
                                      <p:cBhvr>
                                        <p:cTn id="52" dur="1000" fill="hold"/>
                                        <p:tgtEl>
                                          <p:spTgt spid="3"/>
                                        </p:tgtEl>
                                        <p:attrNameLst>
                                          <p:attrName>ppt_w</p:attrName>
                                        </p:attrNameLst>
                                      </p:cBhvr>
                                      <p:tavLst>
                                        <p:tav tm="0">
                                          <p:val>
                                            <p:fltVal val="0"/>
                                          </p:val>
                                        </p:tav>
                                        <p:tav tm="100000">
                                          <p:val>
                                            <p:strVal val="#ppt_w"/>
                                          </p:val>
                                        </p:tav>
                                      </p:tavLst>
                                    </p:anim>
                                    <p:anim calcmode="lin" valueType="num">
                                      <p:cBhvr>
                                        <p:cTn id="53" dur="1000" fill="hold"/>
                                        <p:tgtEl>
                                          <p:spTgt spid="3"/>
                                        </p:tgtEl>
                                        <p:attrNameLst>
                                          <p:attrName>ppt_h</p:attrName>
                                        </p:attrNameLst>
                                      </p:cBhvr>
                                      <p:tavLst>
                                        <p:tav tm="0">
                                          <p:val>
                                            <p:fltVal val="0"/>
                                          </p:val>
                                        </p:tav>
                                        <p:tav tm="100000">
                                          <p:val>
                                            <p:strVal val="#ppt_h"/>
                                          </p:val>
                                        </p:tav>
                                      </p:tavLst>
                                    </p:anim>
                                    <p:anim calcmode="lin" valueType="num">
                                      <p:cBhvr>
                                        <p:cTn id="54"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55" dur="1000" fill="hold"/>
                                        <p:tgtEl>
                                          <p:spTgt spid="3"/>
                                        </p:tgtEl>
                                        <p:attrNameLst>
                                          <p:attrName>ppt_y</p:attrName>
                                        </p:attrNameLst>
                                      </p:cBhvr>
                                      <p:tavLst>
                                        <p:tav tm="0" fmla="#ppt_y+(sin(-2*pi*(1-$))*-#ppt_x+cos(-2*pi*(1-$))*(1-#ppt_y))*(1-$)">
                                          <p:val>
                                            <p:fltVal val="0"/>
                                          </p:val>
                                        </p:tav>
                                        <p:tav tm="100000">
                                          <p:val>
                                            <p:fltVal val="1"/>
                                          </p:val>
                                        </p:tav>
                                      </p:tavLst>
                                    </p:anim>
                                  </p:childTnLst>
                                </p:cTn>
                              </p:par>
                              <p:par>
                                <p:cTn id="56" presetID="15" presetClass="entr" presetSubtype="0" fill="hold" nodeType="withEffect">
                                  <p:stCondLst>
                                    <p:cond delay="500"/>
                                  </p:stCondLst>
                                  <p:childTnLst>
                                    <p:set>
                                      <p:cBhvr>
                                        <p:cTn id="57" dur="1" fill="hold">
                                          <p:stCondLst>
                                            <p:cond delay="0"/>
                                          </p:stCondLst>
                                        </p:cTn>
                                        <p:tgtEl>
                                          <p:spTgt spid="74"/>
                                        </p:tgtEl>
                                        <p:attrNameLst>
                                          <p:attrName>style.visibility</p:attrName>
                                        </p:attrNameLst>
                                      </p:cBhvr>
                                      <p:to>
                                        <p:strVal val="visible"/>
                                      </p:to>
                                    </p:set>
                                    <p:anim calcmode="lin" valueType="num">
                                      <p:cBhvr>
                                        <p:cTn id="58" dur="1000" fill="hold"/>
                                        <p:tgtEl>
                                          <p:spTgt spid="74"/>
                                        </p:tgtEl>
                                        <p:attrNameLst>
                                          <p:attrName>ppt_w</p:attrName>
                                        </p:attrNameLst>
                                      </p:cBhvr>
                                      <p:tavLst>
                                        <p:tav tm="0">
                                          <p:val>
                                            <p:fltVal val="0"/>
                                          </p:val>
                                        </p:tav>
                                        <p:tav tm="100000">
                                          <p:val>
                                            <p:strVal val="#ppt_w"/>
                                          </p:val>
                                        </p:tav>
                                      </p:tavLst>
                                    </p:anim>
                                    <p:anim calcmode="lin" valueType="num">
                                      <p:cBhvr>
                                        <p:cTn id="59" dur="1000" fill="hold"/>
                                        <p:tgtEl>
                                          <p:spTgt spid="74"/>
                                        </p:tgtEl>
                                        <p:attrNameLst>
                                          <p:attrName>ppt_h</p:attrName>
                                        </p:attrNameLst>
                                      </p:cBhvr>
                                      <p:tavLst>
                                        <p:tav tm="0">
                                          <p:val>
                                            <p:fltVal val="0"/>
                                          </p:val>
                                        </p:tav>
                                        <p:tav tm="100000">
                                          <p:val>
                                            <p:strVal val="#ppt_h"/>
                                          </p:val>
                                        </p:tav>
                                      </p:tavLst>
                                    </p:anim>
                                    <p:anim calcmode="lin" valueType="num">
                                      <p:cBhvr>
                                        <p:cTn id="60" dur="1000" fill="hold"/>
                                        <p:tgtEl>
                                          <p:spTgt spid="74"/>
                                        </p:tgtEl>
                                        <p:attrNameLst>
                                          <p:attrName>ppt_x</p:attrName>
                                        </p:attrNameLst>
                                      </p:cBhvr>
                                      <p:tavLst>
                                        <p:tav tm="0" fmla="#ppt_x+(cos(-2*pi*(1-$))*-#ppt_x-sin(-2*pi*(1-$))*(1-#ppt_y))*(1-$)">
                                          <p:val>
                                            <p:fltVal val="0"/>
                                          </p:val>
                                        </p:tav>
                                        <p:tav tm="100000">
                                          <p:val>
                                            <p:fltVal val="1"/>
                                          </p:val>
                                        </p:tav>
                                      </p:tavLst>
                                    </p:anim>
                                    <p:anim calcmode="lin" valueType="num">
                                      <p:cBhvr>
                                        <p:cTn id="61" dur="1000" fill="hold"/>
                                        <p:tgtEl>
                                          <p:spTgt spid="74"/>
                                        </p:tgtEl>
                                        <p:attrNameLst>
                                          <p:attrName>ppt_y</p:attrName>
                                        </p:attrNameLst>
                                      </p:cBhvr>
                                      <p:tavLst>
                                        <p:tav tm="0" fmla="#ppt_y+(sin(-2*pi*(1-$))*-#ppt_x+cos(-2*pi*(1-$))*(1-#ppt_y))*(1-$)">
                                          <p:val>
                                            <p:fltVal val="0"/>
                                          </p:val>
                                        </p:tav>
                                        <p:tav tm="100000">
                                          <p:val>
                                            <p:fltVal val="1"/>
                                          </p:val>
                                        </p:tav>
                                      </p:tavLst>
                                    </p:anim>
                                  </p:childTnLst>
                                </p:cTn>
                              </p:par>
                              <p:par>
                                <p:cTn id="62" presetID="15" presetClass="entr" presetSubtype="0" fill="hold" nodeType="withEffect">
                                  <p:stCondLst>
                                    <p:cond delay="750"/>
                                  </p:stCondLst>
                                  <p:childTnLst>
                                    <p:set>
                                      <p:cBhvr>
                                        <p:cTn id="63" dur="1" fill="hold">
                                          <p:stCondLst>
                                            <p:cond delay="0"/>
                                          </p:stCondLst>
                                        </p:cTn>
                                        <p:tgtEl>
                                          <p:spTgt spid="79"/>
                                        </p:tgtEl>
                                        <p:attrNameLst>
                                          <p:attrName>style.visibility</p:attrName>
                                        </p:attrNameLst>
                                      </p:cBhvr>
                                      <p:to>
                                        <p:strVal val="visible"/>
                                      </p:to>
                                    </p:set>
                                    <p:anim calcmode="lin" valueType="num">
                                      <p:cBhvr>
                                        <p:cTn id="64" dur="1000" fill="hold"/>
                                        <p:tgtEl>
                                          <p:spTgt spid="79"/>
                                        </p:tgtEl>
                                        <p:attrNameLst>
                                          <p:attrName>ppt_w</p:attrName>
                                        </p:attrNameLst>
                                      </p:cBhvr>
                                      <p:tavLst>
                                        <p:tav tm="0">
                                          <p:val>
                                            <p:fltVal val="0"/>
                                          </p:val>
                                        </p:tav>
                                        <p:tav tm="100000">
                                          <p:val>
                                            <p:strVal val="#ppt_w"/>
                                          </p:val>
                                        </p:tav>
                                      </p:tavLst>
                                    </p:anim>
                                    <p:anim calcmode="lin" valueType="num">
                                      <p:cBhvr>
                                        <p:cTn id="65" dur="1000" fill="hold"/>
                                        <p:tgtEl>
                                          <p:spTgt spid="79"/>
                                        </p:tgtEl>
                                        <p:attrNameLst>
                                          <p:attrName>ppt_h</p:attrName>
                                        </p:attrNameLst>
                                      </p:cBhvr>
                                      <p:tavLst>
                                        <p:tav tm="0">
                                          <p:val>
                                            <p:fltVal val="0"/>
                                          </p:val>
                                        </p:tav>
                                        <p:tav tm="100000">
                                          <p:val>
                                            <p:strVal val="#ppt_h"/>
                                          </p:val>
                                        </p:tav>
                                      </p:tavLst>
                                    </p:anim>
                                    <p:anim calcmode="lin" valueType="num">
                                      <p:cBhvr>
                                        <p:cTn id="66" dur="1000" fill="hold"/>
                                        <p:tgtEl>
                                          <p:spTgt spid="79"/>
                                        </p:tgtEl>
                                        <p:attrNameLst>
                                          <p:attrName>ppt_x</p:attrName>
                                        </p:attrNameLst>
                                      </p:cBhvr>
                                      <p:tavLst>
                                        <p:tav tm="0" fmla="#ppt_x+(cos(-2*pi*(1-$))*-#ppt_x-sin(-2*pi*(1-$))*(1-#ppt_y))*(1-$)">
                                          <p:val>
                                            <p:fltVal val="0"/>
                                          </p:val>
                                        </p:tav>
                                        <p:tav tm="100000">
                                          <p:val>
                                            <p:fltVal val="1"/>
                                          </p:val>
                                        </p:tav>
                                      </p:tavLst>
                                    </p:anim>
                                    <p:anim calcmode="lin" valueType="num">
                                      <p:cBhvr>
                                        <p:cTn id="67" dur="1000" fill="hold"/>
                                        <p:tgtEl>
                                          <p:spTgt spid="79"/>
                                        </p:tgtEl>
                                        <p:attrNameLst>
                                          <p:attrName>ppt_y</p:attrName>
                                        </p:attrNameLst>
                                      </p:cBhvr>
                                      <p:tavLst>
                                        <p:tav tm="0" fmla="#ppt_y+(sin(-2*pi*(1-$))*-#ppt_x+cos(-2*pi*(1-$))*(1-#ppt_y))*(1-$)">
                                          <p:val>
                                            <p:fltVal val="0"/>
                                          </p:val>
                                        </p:tav>
                                        <p:tav tm="100000">
                                          <p:val>
                                            <p:fltVal val="1"/>
                                          </p:val>
                                        </p:tav>
                                      </p:tavLst>
                                    </p:anim>
                                  </p:childTnLst>
                                </p:cTn>
                              </p:par>
                              <p:par>
                                <p:cTn id="68" presetID="15" presetClass="entr" presetSubtype="0" fill="hold" nodeType="withEffect">
                                  <p:stCondLst>
                                    <p:cond delay="1000"/>
                                  </p:stCondLst>
                                  <p:childTnLst>
                                    <p:set>
                                      <p:cBhvr>
                                        <p:cTn id="69" dur="1" fill="hold">
                                          <p:stCondLst>
                                            <p:cond delay="0"/>
                                          </p:stCondLst>
                                        </p:cTn>
                                        <p:tgtEl>
                                          <p:spTgt spid="84"/>
                                        </p:tgtEl>
                                        <p:attrNameLst>
                                          <p:attrName>style.visibility</p:attrName>
                                        </p:attrNameLst>
                                      </p:cBhvr>
                                      <p:to>
                                        <p:strVal val="visible"/>
                                      </p:to>
                                    </p:set>
                                    <p:anim calcmode="lin" valueType="num">
                                      <p:cBhvr>
                                        <p:cTn id="70" dur="1000" fill="hold"/>
                                        <p:tgtEl>
                                          <p:spTgt spid="84"/>
                                        </p:tgtEl>
                                        <p:attrNameLst>
                                          <p:attrName>ppt_w</p:attrName>
                                        </p:attrNameLst>
                                      </p:cBhvr>
                                      <p:tavLst>
                                        <p:tav tm="0">
                                          <p:val>
                                            <p:fltVal val="0"/>
                                          </p:val>
                                        </p:tav>
                                        <p:tav tm="100000">
                                          <p:val>
                                            <p:strVal val="#ppt_w"/>
                                          </p:val>
                                        </p:tav>
                                      </p:tavLst>
                                    </p:anim>
                                    <p:anim calcmode="lin" valueType="num">
                                      <p:cBhvr>
                                        <p:cTn id="71" dur="1000" fill="hold"/>
                                        <p:tgtEl>
                                          <p:spTgt spid="84"/>
                                        </p:tgtEl>
                                        <p:attrNameLst>
                                          <p:attrName>ppt_h</p:attrName>
                                        </p:attrNameLst>
                                      </p:cBhvr>
                                      <p:tavLst>
                                        <p:tav tm="0">
                                          <p:val>
                                            <p:fltVal val="0"/>
                                          </p:val>
                                        </p:tav>
                                        <p:tav tm="100000">
                                          <p:val>
                                            <p:strVal val="#ppt_h"/>
                                          </p:val>
                                        </p:tav>
                                      </p:tavLst>
                                    </p:anim>
                                    <p:anim calcmode="lin" valueType="num">
                                      <p:cBhvr>
                                        <p:cTn id="72" dur="1000" fill="hold"/>
                                        <p:tgtEl>
                                          <p:spTgt spid="84"/>
                                        </p:tgtEl>
                                        <p:attrNameLst>
                                          <p:attrName>ppt_x</p:attrName>
                                        </p:attrNameLst>
                                      </p:cBhvr>
                                      <p:tavLst>
                                        <p:tav tm="0" fmla="#ppt_x+(cos(-2*pi*(1-$))*-#ppt_x-sin(-2*pi*(1-$))*(1-#ppt_y))*(1-$)">
                                          <p:val>
                                            <p:fltVal val="0"/>
                                          </p:val>
                                        </p:tav>
                                        <p:tav tm="100000">
                                          <p:val>
                                            <p:fltVal val="1"/>
                                          </p:val>
                                        </p:tav>
                                      </p:tavLst>
                                    </p:anim>
                                    <p:anim calcmode="lin" valueType="num">
                                      <p:cBhvr>
                                        <p:cTn id="73" dur="1000" fill="hold"/>
                                        <p:tgtEl>
                                          <p:spTgt spid="8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51" grpId="0" animBg="1"/>
      <p:bldP spid="52" grpId="0" animBg="1"/>
      <p:bldP spid="53" grpId="0" animBg="1"/>
      <p:bldP spid="54" grpId="0" animBg="1"/>
      <p:bldP spid="55" grpId="0" animBg="1"/>
      <p:bldP spid="56" grpId="0" animBg="1"/>
      <p:bldP spid="49" grpId="0" animBg="1"/>
      <p:bldP spid="89" grpId="0" animBg="1"/>
      <p:bldP spid="90" grpId="0" animBg="1"/>
      <p:bldP spid="91" grpId="0" animBg="1"/>
      <p:bldP spid="92" grpId="0" animBg="1"/>
      <p:bldP spid="93" grpId="0" animBg="1"/>
      <p:bldP spid="94" grpId="0" animBg="1"/>
      <p:bldP spid="9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4EE693D3-6CB5-4A87-B8C8-F9879B44F82A"/>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PRESENTATION_TITLE" val="清新皱纸工作汇报PPT模板"/>
  <p:tag name="ISPRING_SCORM_ENDPOINT" val="&lt;endpoint&gt;&lt;enable&gt;0&lt;/enable&gt;&lt;lrs&gt;http://&lt;/lrs&gt;&lt;auth&gt;0&lt;/auth&gt;&lt;login&gt;&lt;/login&gt;&lt;password&gt;&lt;/password&gt;&lt;key&gt;&lt;/key&gt;&lt;name&gt;&lt;/name&gt;&lt;email&gt;&lt;/email&gt;&lt;/endpoint&gt;&#10;"/>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uriyo4h">
      <a:majorFont>
        <a:latin typeface="Source Han Sans CN"/>
        <a:ea typeface="Source Han Sans CN"/>
        <a:cs typeface=""/>
      </a:majorFont>
      <a:minorFont>
        <a:latin typeface="Source Han Sans CN"/>
        <a:ea typeface="Source Han Sans C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3164</TotalTime>
  <Words>1301</Words>
  <Application>Microsoft Office PowerPoint</Application>
  <PresentationFormat>自訂</PresentationFormat>
  <Paragraphs>168</Paragraphs>
  <Slides>16</Slides>
  <Notes>16</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16</vt:i4>
      </vt:variant>
    </vt:vector>
  </HeadingPairs>
  <TitlesOfParts>
    <vt:vector size="23" baseType="lpstr">
      <vt:lpstr>Microsoft YaHei</vt:lpstr>
      <vt:lpstr>宋体</vt:lpstr>
      <vt:lpstr>Source Han Sans CN</vt:lpstr>
      <vt:lpstr>方正黑体简体</vt:lpstr>
      <vt:lpstr>Arial</vt:lpstr>
      <vt:lpstr>Calibri</vt:lpstr>
      <vt:lpstr>第一PPT，www.1ppt.com</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第一PPT，www.1ppt.com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微立体</dc:title>
  <dc:creator>第一PPT</dc:creator>
  <cp:keywords>www.1ppt.com</cp:keywords>
  <dc:description>www.1ppt.com</dc:description>
  <cp:lastModifiedBy>張雪梅</cp:lastModifiedBy>
  <cp:revision>265</cp:revision>
  <dcterms:created xsi:type="dcterms:W3CDTF">2016-01-25T08:08:00Z</dcterms:created>
  <dcterms:modified xsi:type="dcterms:W3CDTF">2020-11-04T07:56:40Z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2052-10.1.0.6260</vt:lpwstr>
  </property>
</Properties>
</file>