
<file path=[Content_Types].xml><?xml version="1.0" encoding="utf-8"?>
<Types xmlns="http://schemas.openxmlformats.org/package/2006/content-types">
  <Default Extension="mp3" ContentType="audio/mpeg"/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319" r:id="rId4"/>
    <p:sldId id="322" r:id="rId5"/>
    <p:sldId id="325" r:id="rId6"/>
    <p:sldId id="324" r:id="rId7"/>
    <p:sldId id="343" r:id="rId8"/>
    <p:sldId id="341" r:id="rId9"/>
    <p:sldId id="329" r:id="rId10"/>
    <p:sldId id="336" r:id="rId11"/>
    <p:sldId id="326" r:id="rId12"/>
    <p:sldId id="327" r:id="rId13"/>
    <p:sldId id="328" r:id="rId14"/>
    <p:sldId id="344" r:id="rId15"/>
    <p:sldId id="345" r:id="rId16"/>
    <p:sldId id="334" r:id="rId17"/>
    <p:sldId id="338" r:id="rId18"/>
    <p:sldId id="342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EBAE2"/>
    <a:srgbClr val="1257F1"/>
    <a:srgbClr val="FDFD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56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14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="" xmlns:a16="http://schemas.microsoft.com/office/drawing/2014/main" id="{987EFAEB-F12C-4082-9597-875CFD2FE20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8" name="任意多边形: 形状 7">
            <a:extLst>
              <a:ext uri="{FF2B5EF4-FFF2-40B4-BE49-F238E27FC236}">
                <a16:creationId xmlns="" xmlns:a16="http://schemas.microsoft.com/office/drawing/2014/main" id="{CF45F317-1B13-4165-949C-164AA53B6FEE}"/>
              </a:ext>
            </a:extLst>
          </p:cNvPr>
          <p:cNvSpPr/>
          <p:nvPr userDrawn="1"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rgbClr val="8EBA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="" xmlns:a16="http://schemas.microsoft.com/office/drawing/2014/main" id="{562D74C2-49BE-4402-ACD2-DAF647AEF2EB}"/>
              </a:ext>
            </a:extLst>
          </p:cNvPr>
          <p:cNvGrpSpPr/>
          <p:nvPr userDrawn="1"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11" name="任意多边形: 形状 10">
              <a:extLst>
                <a:ext uri="{FF2B5EF4-FFF2-40B4-BE49-F238E27FC236}">
                  <a16:creationId xmlns="" xmlns:a16="http://schemas.microsoft.com/office/drawing/2014/main" id="{2A38271F-1833-4A43-AEC1-A61FD8E16157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="" xmlns:a16="http://schemas.microsoft.com/office/drawing/2014/main" id="{B420AE6F-ABC0-42E5-98F1-925313FC5417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</p:grpSp>
      <p:sp>
        <p:nvSpPr>
          <p:cNvPr id="9" name="矩形 8">
            <a:extLst>
              <a:ext uri="{FF2B5EF4-FFF2-40B4-BE49-F238E27FC236}">
                <a16:creationId xmlns="" xmlns:a16="http://schemas.microsoft.com/office/drawing/2014/main" id="{7AB4E7BB-B63E-45FF-B846-D8C11327BCA7}"/>
              </a:ext>
            </a:extLst>
          </p:cNvPr>
          <p:cNvSpPr/>
          <p:nvPr userDrawn="1"/>
        </p:nvSpPr>
        <p:spPr>
          <a:xfrm flipH="1">
            <a:off x="-28836" y="240140"/>
            <a:ext cx="12220836" cy="6377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84676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4DE2911D-9D24-47F4-98EF-14714B6F7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7BF3E032-D7DD-4735-86E2-8031A84B4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="" xmlns:a16="http://schemas.microsoft.com/office/drawing/2014/main" id="{86E3292D-2364-4417-AC2D-A2B5EA304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="" xmlns:a16="http://schemas.microsoft.com/office/drawing/2014/main" id="{1DC484B6-26FB-41DA-9E8B-9D366E6E9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="" xmlns:a16="http://schemas.microsoft.com/office/drawing/2014/main" id="{8C141284-697E-4C1F-8DE9-AA4547CC9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3548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DC0A1317-C0D6-4AA0-92AA-921A1C00A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="" xmlns:a16="http://schemas.microsoft.com/office/drawing/2014/main" id="{A067048A-2000-4DB4-998D-11FFCCEBE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="" xmlns:a16="http://schemas.microsoft.com/office/drawing/2014/main" id="{A307EAD2-14E9-43D3-B97F-77943486F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="" xmlns:a16="http://schemas.microsoft.com/office/drawing/2014/main" id="{F11FBDEC-4CBC-4DC7-9FF5-AFBC3A610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="" xmlns:a16="http://schemas.microsoft.com/office/drawing/2014/main" id="{FD892678-E36D-411D-B8A6-6B1E5238B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058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B628FD3B-A19B-4375-80D7-5C5B39754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61E027D9-3A55-458F-976B-F36D65D8F9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="" xmlns:a16="http://schemas.microsoft.com/office/drawing/2014/main" id="{B28A1F8E-5C01-41D5-96B3-0AA329B497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="" xmlns:a16="http://schemas.microsoft.com/office/drawing/2014/main" id="{D4D790CE-B792-43DD-A17A-29CC4C8C2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="" xmlns:a16="http://schemas.microsoft.com/office/drawing/2014/main" id="{0D6316DF-A313-41BC-B61A-957CF369D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="" xmlns:a16="http://schemas.microsoft.com/office/drawing/2014/main" id="{C38F7B96-0BBB-4F06-9329-B4C64387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3641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8CB42859-4447-474E-8124-BD88E4CD0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="" xmlns:a16="http://schemas.microsoft.com/office/drawing/2014/main" id="{372443F3-A152-42B2-8CAA-B4015AFB2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="" xmlns:a16="http://schemas.microsoft.com/office/drawing/2014/main" id="{C42506DD-A913-434A-BCD8-C36FCC41DD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="" xmlns:a16="http://schemas.microsoft.com/office/drawing/2014/main" id="{7794EFA9-338B-44D6-9F0C-05B68180D6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="" xmlns:a16="http://schemas.microsoft.com/office/drawing/2014/main" id="{B19823BD-5C8A-4E79-B5B5-96E97C7BC9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="" xmlns:a16="http://schemas.microsoft.com/office/drawing/2014/main" id="{911ADC29-CFB8-4187-98E6-9630C211E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="" xmlns:a16="http://schemas.microsoft.com/office/drawing/2014/main" id="{02488BB8-7303-42C2-813C-0B46F3074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="" xmlns:a16="http://schemas.microsoft.com/office/drawing/2014/main" id="{C3FD2DB4-FF0F-46F3-8B5C-B38F5B7B0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5213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DD27BD13-B33F-42B4-A363-39B2B2029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="" xmlns:a16="http://schemas.microsoft.com/office/drawing/2014/main" id="{FB5CE299-C8CD-43CF-9898-629B0C96D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="" xmlns:a16="http://schemas.microsoft.com/office/drawing/2014/main" id="{574B1AAE-0599-4891-937E-21BDF7247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="" xmlns:a16="http://schemas.microsoft.com/office/drawing/2014/main" id="{CF687E5B-CBE8-4C7B-B18D-FAF63BB5E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6940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="" xmlns:a16="http://schemas.microsoft.com/office/drawing/2014/main" id="{DCBD7CC9-8BFA-45E8-BF06-F2A88D7DB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="" xmlns:a16="http://schemas.microsoft.com/office/drawing/2014/main" id="{6FC10BBD-FC2B-4FFE-A65C-F7A5D15FB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9F9E261-CA43-4F94-B790-CC1D1B656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084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20EFEBFA-3D9F-4474-8644-D40299C98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C4D8FD41-8AE2-4981-88A0-3CBC33440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="" xmlns:a16="http://schemas.microsoft.com/office/drawing/2014/main" id="{3967FC95-443C-4044-8F01-AAFDF11DC7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="" xmlns:a16="http://schemas.microsoft.com/office/drawing/2014/main" id="{B54B972E-52BC-4C0E-B139-A7F72C9AE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="" xmlns:a16="http://schemas.microsoft.com/office/drawing/2014/main" id="{0684A6D3-3D30-4097-AC17-92722E3AD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="" xmlns:a16="http://schemas.microsoft.com/office/drawing/2014/main" id="{DBEF2920-CD96-485E-87DC-B16F412C8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2059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959610DB-B5D7-4C6E-B4C8-B08DD93DC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="" xmlns:a16="http://schemas.microsoft.com/office/drawing/2014/main" id="{76E4B9B4-F860-456C-8B4D-E407FAEF45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="" xmlns:a16="http://schemas.microsoft.com/office/drawing/2014/main" id="{2693A997-DB57-496F-9C00-AD9509C068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="" xmlns:a16="http://schemas.microsoft.com/office/drawing/2014/main" id="{29FF0DDC-2A93-4AB9-9595-241D17399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="" xmlns:a16="http://schemas.microsoft.com/office/drawing/2014/main" id="{90DBC99D-6159-4726-995F-7531AC2E1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="" xmlns:a16="http://schemas.microsoft.com/office/drawing/2014/main" id="{0081BDFA-91F6-4120-B0AE-21B2EF93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0385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86644DCC-550E-4C32-A1C4-16B3B9CF8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="" xmlns:a16="http://schemas.microsoft.com/office/drawing/2014/main" id="{C2DC8784-FAD1-4D59-9921-85073186D0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="" xmlns:a16="http://schemas.microsoft.com/office/drawing/2014/main" id="{39D69969-5433-4712-A571-206574A9D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="" xmlns:a16="http://schemas.microsoft.com/office/drawing/2014/main" id="{40214135-97A7-4961-AE38-68C1F3836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="" xmlns:a16="http://schemas.microsoft.com/office/drawing/2014/main" id="{8D04C903-D1AC-444B-B0BA-F077EBB4E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4193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="" xmlns:a16="http://schemas.microsoft.com/office/drawing/2014/main" id="{5D87E11C-A563-4C84-9754-476430A147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="" xmlns:a16="http://schemas.microsoft.com/office/drawing/2014/main" id="{5A4AA106-3E0C-422D-AE6D-A754EDF4CC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="" xmlns:a16="http://schemas.microsoft.com/office/drawing/2014/main" id="{50F910F6-D3C0-4CFB-8759-68FD0ADFD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="" xmlns:a16="http://schemas.microsoft.com/office/drawing/2014/main" id="{C65E2186-AE6B-4BEB-A7C8-82504F9C6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="" xmlns:a16="http://schemas.microsoft.com/office/drawing/2014/main" id="{47FFFFE7-6723-4C99-8EE9-5503F7D94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2770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211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="" xmlns:a16="http://schemas.microsoft.com/office/drawing/2014/main" id="{B5703255-458D-4D8C-AD7A-2589045D5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="" xmlns:a16="http://schemas.microsoft.com/office/drawing/2014/main" id="{1D3CC72B-B25E-4E33-83E4-6ABAE1C68F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="" xmlns:a16="http://schemas.microsoft.com/office/drawing/2014/main" id="{90F48472-9965-4A68-8E33-0388324FB8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6AF402-534D-4FF6-A29C-2EB526479B24}" type="datetimeFigureOut">
              <a:rPr lang="zh-CN" altLang="en-US" smtClean="0"/>
              <a:t>2023/2/26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="" xmlns:a16="http://schemas.microsoft.com/office/drawing/2014/main" id="{38CD484D-DDE5-478B-9D8D-A6304E00D9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="" xmlns:a16="http://schemas.microsoft.com/office/drawing/2014/main" id="{17A8F200-2C8B-408F-AF5D-6523E88593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986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microsoft.com/office/2007/relationships/media" Target="../media/media1.mp3"/><Relationship Id="rId7" Type="http://schemas.openxmlformats.org/officeDocument/2006/relationships/image" Target="../media/image1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3.xml"/><Relationship Id="rId4" Type="http://schemas.openxmlformats.org/officeDocument/2006/relationships/audio" Target="../media/media1.mp3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5" Type="http://schemas.openxmlformats.org/officeDocument/2006/relationships/hyperlink" Target="http://10.158.65.7/test/" TargetMode="Externa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="" xmlns:a16="http://schemas.microsoft.com/office/drawing/2014/main" id="{7C710A07-2A28-40EC-8D93-D7387474F0E6}"/>
              </a:ext>
            </a:extLst>
          </p:cNvPr>
          <p:cNvSpPr/>
          <p:nvPr/>
        </p:nvSpPr>
        <p:spPr>
          <a:xfrm>
            <a:off x="-28836" y="1053684"/>
            <a:ext cx="12192001" cy="5804316"/>
          </a:xfrm>
          <a:prstGeom prst="rect">
            <a:avLst/>
          </a:prstGeom>
          <a:blipFill dpi="0" rotWithShape="1">
            <a:blip r:embed="rId7">
              <a:alphaModFix amt="10000"/>
            </a:blip>
            <a:srcRect/>
            <a:stretch>
              <a:fillRect t="1" b="-1815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="" xmlns:a16="http://schemas.microsoft.com/office/drawing/2014/main" id="{E007A7BA-1DE5-4665-9D30-DF265963F3B3}"/>
              </a:ext>
            </a:extLst>
          </p:cNvPr>
          <p:cNvSpPr/>
          <p:nvPr/>
        </p:nvSpPr>
        <p:spPr>
          <a:xfrm>
            <a:off x="7281261" y="0"/>
            <a:ext cx="4472589" cy="685800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8">
            <a:extLst>
              <a:ext uri="{FF2B5EF4-FFF2-40B4-BE49-F238E27FC236}">
                <a16:creationId xmlns="" xmlns:a16="http://schemas.microsoft.com/office/drawing/2014/main" id="{D6B1D381-2032-4BBA-9BCC-3F2ED3F7A23C}"/>
              </a:ext>
            </a:extLst>
          </p:cNvPr>
          <p:cNvSpPr/>
          <p:nvPr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rgbClr val="0070C0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="" xmlns:a16="http://schemas.microsoft.com/office/drawing/2014/main" id="{D3C6F1E2-5A04-4423-A6C1-9B04901EF96E}"/>
              </a:ext>
            </a:extLst>
          </p:cNvPr>
          <p:cNvSpPr/>
          <p:nvPr/>
        </p:nvSpPr>
        <p:spPr>
          <a:xfrm flipH="1">
            <a:off x="7707298" y="0"/>
            <a:ext cx="3636974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PA_文本框 18">
            <a:extLst>
              <a:ext uri="{FF2B5EF4-FFF2-40B4-BE49-F238E27FC236}">
                <a16:creationId xmlns="" xmlns:a16="http://schemas.microsoft.com/office/drawing/2014/main" id="{85DB1B22-E95D-4460-B4D9-8349FB7A6AAD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2760486" y="3192711"/>
            <a:ext cx="1872000" cy="519351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ctr" defTabSz="9143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应</a:t>
            </a:r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聘人：李振</a:t>
            </a:r>
            <a:endParaRPr lang="zh-CN" altLang="en-US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18" name="PA_文本框 18">
            <a:extLst>
              <a:ext uri="{FF2B5EF4-FFF2-40B4-BE49-F238E27FC236}">
                <a16:creationId xmlns="" xmlns:a16="http://schemas.microsoft.com/office/drawing/2014/main" id="{613F8FCA-D71A-4DB0-BEA6-1CE17527F1B4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2341654" y="4778659"/>
            <a:ext cx="2737900" cy="519351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none" lIns="91440" tIns="45720" rIns="91440" bIns="45720" rtlCol="0" anchor="ctr">
            <a:spAutoFit/>
          </a:bodyPr>
          <a:lstStyle/>
          <a:p>
            <a:pPr marL="0" marR="0" lvl="0" indent="0" algn="ctr" defTabSz="9143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应聘</a:t>
            </a:r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日期</a:t>
            </a:r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：</a:t>
            </a:r>
            <a:r>
              <a:rPr lang="en-US" altLang="zh-CN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2023.03.01</a:t>
            </a:r>
            <a:endParaRPr lang="zh-CN" altLang="en-US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="" xmlns:a16="http://schemas.microsoft.com/office/drawing/2014/main" id="{D4B07D08-4B7D-4FAD-8342-B3249DFBDEDF}"/>
              </a:ext>
            </a:extLst>
          </p:cNvPr>
          <p:cNvSpPr/>
          <p:nvPr/>
        </p:nvSpPr>
        <p:spPr>
          <a:xfrm>
            <a:off x="426321" y="2711034"/>
            <a:ext cx="669833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spc="150" dirty="0">
                <a:solidFill>
                  <a:schemeClr val="accent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COSL</a:t>
            </a:r>
            <a:r>
              <a:rPr lang="en-US" altLang="zh-CN" b="1" spc="150" dirty="0">
                <a:solidFill>
                  <a:schemeClr val="tx1">
                    <a:lumMod val="75000"/>
                    <a:lumOff val="25000"/>
                  </a:schemeClr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 Evaluation Interview</a:t>
            </a:r>
            <a:endParaRPr lang="zh-CN" altLang="en-US" b="1" spc="150" dirty="0">
              <a:solidFill>
                <a:schemeClr val="tx1">
                  <a:lumMod val="75000"/>
                  <a:lumOff val="25000"/>
                </a:schemeClr>
              </a:solidFill>
              <a:latin typeface="思源黑体 CN ExtraLight" panose="020B0200000000000000" pitchFamily="34" charset="-122"/>
              <a:ea typeface="思源黑体 CN ExtraLight" panose="020B0200000000000000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="" xmlns:a16="http://schemas.microsoft.com/office/drawing/2014/main" id="{55349288-1225-4444-BABC-9007227BB8CF}"/>
              </a:ext>
            </a:extLst>
          </p:cNvPr>
          <p:cNvSpPr/>
          <p:nvPr/>
        </p:nvSpPr>
        <p:spPr>
          <a:xfrm>
            <a:off x="488041" y="1837780"/>
            <a:ext cx="6480000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en-US" sz="3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思源宋体" panose="02020700000000000000" pitchFamily="18" charset="-122"/>
                <a:ea typeface="思源宋体" panose="02020700000000000000" pitchFamily="18" charset="-122"/>
              </a:rPr>
              <a:t>中</a:t>
            </a:r>
            <a:r>
              <a:rPr lang="zh-CN" altLang="en-US" sz="38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思源宋体" panose="02020700000000000000" pitchFamily="18" charset="-122"/>
                <a:ea typeface="思源宋体" panose="02020700000000000000" pitchFamily="18" charset="-122"/>
              </a:rPr>
              <a:t>海油服评鉴面试</a:t>
            </a:r>
            <a:endParaRPr lang="zh-CN" altLang="en-US" sz="3800" b="1" dirty="0">
              <a:solidFill>
                <a:schemeClr val="tx1">
                  <a:lumMod val="75000"/>
                  <a:lumOff val="25000"/>
                </a:schemeClr>
              </a:solidFill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="" xmlns:a16="http://schemas.microsoft.com/office/drawing/2014/main" id="{14B152BA-FB3A-4DEF-97AF-2D3132A6379B}"/>
              </a:ext>
            </a:extLst>
          </p:cNvPr>
          <p:cNvGrpSpPr/>
          <p:nvPr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10" name="任意多边形: 形状 9">
              <a:extLst>
                <a:ext uri="{FF2B5EF4-FFF2-40B4-BE49-F238E27FC236}">
                  <a16:creationId xmlns="" xmlns:a16="http://schemas.microsoft.com/office/drawing/2014/main" id="{616D1BA4-5DFB-495C-B4C0-D9BF0BD2A928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="" xmlns:a16="http://schemas.microsoft.com/office/drawing/2014/main" id="{A7585635-9F29-4E63-8ED6-2D0E97E9D29A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2" name="缓慢钢琴音乐">
            <a:hlinkClick r:id="" action="ppaction://media"/>
            <a:extLst>
              <a:ext uri="{FF2B5EF4-FFF2-40B4-BE49-F238E27FC236}">
                <a16:creationId xmlns="" xmlns:a16="http://schemas.microsoft.com/office/drawing/2014/main" id="{835AD22F-0388-44CF-A9E5-429FA7E37136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12545961" y="-2509684"/>
            <a:ext cx="609600" cy="609600"/>
          </a:xfrm>
          <a:prstGeom prst="rect">
            <a:avLst/>
          </a:prstGeom>
        </p:spPr>
      </p:pic>
      <p:sp>
        <p:nvSpPr>
          <p:cNvPr id="28" name="PA_文本框 18">
            <a:extLst>
              <a:ext uri="{FF2B5EF4-FFF2-40B4-BE49-F238E27FC236}">
                <a16:creationId xmlns="" xmlns:a16="http://schemas.microsoft.com/office/drawing/2014/main" id="{613F8FCA-D71A-4DB0-BEA6-1CE17527F1B4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409215" y="3985487"/>
            <a:ext cx="2637651" cy="519351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none" lIns="91440" tIns="45720" rIns="91440" bIns="45720" rtlCol="0" anchor="ctr">
            <a:spAutoFit/>
          </a:bodyPr>
          <a:lstStyle/>
          <a:p>
            <a:pPr marL="0" marR="0" lvl="0" indent="0" algn="ctr" defTabSz="9143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应</a:t>
            </a:r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聘</a:t>
            </a:r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岗位</a:t>
            </a:r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：研发工程师</a:t>
            </a:r>
            <a:endParaRPr lang="zh-CN" altLang="en-US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68911994"/>
      </p:ext>
    </p:extLst>
  </p:cSld>
  <p:clrMapOvr>
    <a:masterClrMapping/>
  </p:clrMapOvr>
  <p:transition spd="med" advClick="0" advTm="200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775"/>
                            </p:stCondLst>
                            <p:childTnLst>
                              <p:par>
                                <p:cTn id="26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2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2" presetClass="entr" presetSubtype="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2" presetClass="entr" presetSubtype="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42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  <p:bldLst>
      <p:bldP spid="4" grpId="0" animBg="1"/>
      <p:bldP spid="11" grpId="0" animBg="1"/>
      <p:bldP spid="17" grpId="0" animBg="1"/>
      <p:bldP spid="18" grpId="0" animBg="1"/>
      <p:bldP spid="19" grpId="0"/>
      <p:bldP spid="20" grpId="0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="" xmlns:a16="http://schemas.microsoft.com/office/drawing/2014/main" id="{A3688E2B-4A69-4912-9385-02F7BCB1FEDD}"/>
              </a:ext>
            </a:extLst>
          </p:cNvPr>
          <p:cNvGrpSpPr/>
          <p:nvPr/>
        </p:nvGrpSpPr>
        <p:grpSpPr>
          <a:xfrm>
            <a:off x="739952" y="0"/>
            <a:ext cx="4472589" cy="6858000"/>
            <a:chOff x="739952" y="0"/>
            <a:chExt cx="4472589" cy="6858000"/>
          </a:xfrm>
        </p:grpSpPr>
        <p:sp>
          <p:nvSpPr>
            <p:cNvPr id="16" name="矩形 15">
              <a:extLst>
                <a:ext uri="{FF2B5EF4-FFF2-40B4-BE49-F238E27FC236}">
                  <a16:creationId xmlns="" xmlns:a16="http://schemas.microsoft.com/office/drawing/2014/main" id="{4019EA95-F30B-4581-8F8A-F33A28D017DC}"/>
                </a:ext>
              </a:extLst>
            </p:cNvPr>
            <p:cNvSpPr/>
            <p:nvPr/>
          </p:nvSpPr>
          <p:spPr>
            <a:xfrm>
              <a:off x="739952" y="0"/>
              <a:ext cx="4472589" cy="6858000"/>
            </a:xfrm>
            <a:prstGeom prst="rect">
              <a:avLst/>
            </a:prstGeom>
            <a:pattFill prst="wdUpDiag">
              <a:fgClr>
                <a:srgbClr val="8EBAE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="" xmlns:a16="http://schemas.microsoft.com/office/drawing/2014/main" id="{979622C1-C207-4CF6-A629-E94307ABD6FE}"/>
                </a:ext>
              </a:extLst>
            </p:cNvPr>
            <p:cNvSpPr/>
            <p:nvPr/>
          </p:nvSpPr>
          <p:spPr>
            <a:xfrm flipH="1">
              <a:off x="1165989" y="0"/>
              <a:ext cx="3636974" cy="6858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="" xmlns:a16="http://schemas.microsoft.com/office/drawing/2014/main" id="{E121F607-CECB-4F1C-B81C-0B3AA1F6C295}"/>
              </a:ext>
            </a:extLst>
          </p:cNvPr>
          <p:cNvGrpSpPr/>
          <p:nvPr/>
        </p:nvGrpSpPr>
        <p:grpSpPr>
          <a:xfrm flipH="1">
            <a:off x="0" y="4242544"/>
            <a:ext cx="2512596" cy="2615456"/>
            <a:chOff x="9679404" y="4242544"/>
            <a:chExt cx="2512596" cy="2615456"/>
          </a:xfrm>
        </p:grpSpPr>
        <p:sp>
          <p:nvSpPr>
            <p:cNvPr id="20" name="任意多边形: 形状 19">
              <a:extLst>
                <a:ext uri="{FF2B5EF4-FFF2-40B4-BE49-F238E27FC236}">
                  <a16:creationId xmlns="" xmlns:a16="http://schemas.microsoft.com/office/drawing/2014/main" id="{EF690674-91FD-49EF-ABBD-54DF6D8C511F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="" xmlns:a16="http://schemas.microsoft.com/office/drawing/2014/main" id="{1DC01A66-6C49-48BE-9FC1-13844E1D2C10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="" xmlns:a16="http://schemas.microsoft.com/office/drawing/2014/main" id="{46D14E2A-E116-4324-A0F5-26BC8B7A85CA}"/>
              </a:ext>
            </a:extLst>
          </p:cNvPr>
          <p:cNvSpPr txBox="1"/>
          <p:nvPr/>
        </p:nvSpPr>
        <p:spPr>
          <a:xfrm>
            <a:off x="1706019" y="251530"/>
            <a:ext cx="2222303" cy="124649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5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dist"/>
            <a:r>
              <a:rPr lang="zh-CN" altLang="en-US" sz="75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目录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="" xmlns:a16="http://schemas.microsoft.com/office/drawing/2014/main" id="{7165D3AE-107A-494D-A7F1-430B750AFFEA}"/>
              </a:ext>
            </a:extLst>
          </p:cNvPr>
          <p:cNvSpPr txBox="1"/>
          <p:nvPr/>
        </p:nvSpPr>
        <p:spPr>
          <a:xfrm>
            <a:off x="1780356" y="1433940"/>
            <a:ext cx="2147966" cy="43088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5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dist"/>
            <a:r>
              <a:rPr lang="en-US" altLang="zh-CN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CONTENTS</a:t>
            </a:r>
            <a:endParaRPr lang="zh-CN" altLang="en-US" sz="2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grpSp>
        <p:nvGrpSpPr>
          <p:cNvPr id="28" name="组合 27">
            <a:extLst>
              <a:ext uri="{FF2B5EF4-FFF2-40B4-BE49-F238E27FC236}">
                <a16:creationId xmlns="" xmlns:a16="http://schemas.microsoft.com/office/drawing/2014/main" id="{405A6E8F-3EAB-429C-BCDA-A9341AFC06D7}"/>
              </a:ext>
            </a:extLst>
          </p:cNvPr>
          <p:cNvGrpSpPr/>
          <p:nvPr/>
        </p:nvGrpSpPr>
        <p:grpSpPr>
          <a:xfrm>
            <a:off x="6366825" y="761710"/>
            <a:ext cx="1246549" cy="1021243"/>
            <a:chOff x="6328725" y="987403"/>
            <a:chExt cx="1246549" cy="1021243"/>
          </a:xfrm>
        </p:grpSpPr>
        <p:sp>
          <p:nvSpPr>
            <p:cNvPr id="25" name="任意多边形: 形状 24">
              <a:extLst>
                <a:ext uri="{FF2B5EF4-FFF2-40B4-BE49-F238E27FC236}">
                  <a16:creationId xmlns="" xmlns:a16="http://schemas.microsoft.com/office/drawing/2014/main" id="{6FCE2919-D0EC-4966-8B5F-64EB75F42EF1}"/>
                </a:ext>
              </a:extLst>
            </p:cNvPr>
            <p:cNvSpPr/>
            <p:nvPr/>
          </p:nvSpPr>
          <p:spPr>
            <a:xfrm flipH="1" flipV="1">
              <a:off x="6328725" y="987403"/>
              <a:ext cx="923496" cy="1021243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íśḻïḓè">
              <a:extLst>
                <a:ext uri="{FF2B5EF4-FFF2-40B4-BE49-F238E27FC236}">
                  <a16:creationId xmlns="" xmlns:a16="http://schemas.microsoft.com/office/drawing/2014/main" id="{2DFCAA9E-36B4-4D44-815B-D528459093CE}"/>
                </a:ext>
              </a:extLst>
            </p:cNvPr>
            <p:cNvSpPr txBox="1"/>
            <p:nvPr/>
          </p:nvSpPr>
          <p:spPr bwMode="auto">
            <a:xfrm>
              <a:off x="6651778" y="1364484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3000" spc="60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01</a:t>
              </a: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="" xmlns:a16="http://schemas.microsoft.com/office/drawing/2014/main" id="{B4558CCC-CCCA-48DF-BBC5-AFB92E565530}"/>
              </a:ext>
            </a:extLst>
          </p:cNvPr>
          <p:cNvGrpSpPr/>
          <p:nvPr/>
        </p:nvGrpSpPr>
        <p:grpSpPr>
          <a:xfrm>
            <a:off x="7755647" y="1002052"/>
            <a:ext cx="3450739" cy="862775"/>
            <a:chOff x="7575273" y="1498025"/>
            <a:chExt cx="3450739" cy="862775"/>
          </a:xfrm>
        </p:grpSpPr>
        <p:sp>
          <p:nvSpPr>
            <p:cNvPr id="9" name="íśḻïḓè">
              <a:extLst>
                <a:ext uri="{FF2B5EF4-FFF2-40B4-BE49-F238E27FC236}">
                  <a16:creationId xmlns="" xmlns:a16="http://schemas.microsoft.com/office/drawing/2014/main" id="{FA0AADBE-F1A7-40B8-B64C-BEEF8273C90C}"/>
                </a:ext>
              </a:extLst>
            </p:cNvPr>
            <p:cNvSpPr txBox="1"/>
            <p:nvPr/>
          </p:nvSpPr>
          <p:spPr bwMode="auto">
            <a:xfrm>
              <a:off x="7575273" y="1498025"/>
              <a:ext cx="2910707" cy="42770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dist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zh-CN" altLang="en-US" sz="3000" spc="60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个</a:t>
              </a:r>
              <a:r>
                <a:rPr lang="zh-CN" altLang="en-US" sz="3000" spc="60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人简介</a:t>
              </a:r>
              <a:endParaRPr lang="en-US" altLang="zh-CN" sz="3000" spc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7" name="文本框 26">
              <a:extLst>
                <a:ext uri="{FF2B5EF4-FFF2-40B4-BE49-F238E27FC236}">
                  <a16:creationId xmlns="" xmlns:a16="http://schemas.microsoft.com/office/drawing/2014/main" id="{3DA03428-07F5-4FB4-B0E5-8949FBFBAB85}"/>
                </a:ext>
              </a:extLst>
            </p:cNvPr>
            <p:cNvSpPr txBox="1"/>
            <p:nvPr/>
          </p:nvSpPr>
          <p:spPr>
            <a:xfrm>
              <a:off x="7638832" y="2114579"/>
              <a:ext cx="3387180" cy="246221"/>
            </a:xfrm>
            <a:prstGeom prst="rect">
              <a:avLst/>
            </a:prstGeom>
            <a:noFill/>
          </p:spPr>
          <p:txBody>
            <a:bodyPr vert="horz" wrap="square" rtlCol="0" anchor="b">
              <a:spAutoFit/>
            </a:bodyPr>
            <a:lstStyle/>
            <a:p>
              <a:r>
                <a:rPr lang="en-US" altLang="zh-CN" sz="1000" spc="12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Personal </a:t>
              </a:r>
              <a:r>
                <a:rPr lang="en-US" altLang="zh-CN" sz="1000" spc="12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introduction</a:t>
              </a:r>
              <a:endParaRPr lang="zh-CN" altLang="en-US" sz="1000" spc="12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="" xmlns:a16="http://schemas.microsoft.com/office/drawing/2014/main" id="{C4FAF213-0257-4D85-9857-3A43936D83F3}"/>
              </a:ext>
            </a:extLst>
          </p:cNvPr>
          <p:cNvGrpSpPr/>
          <p:nvPr/>
        </p:nvGrpSpPr>
        <p:grpSpPr>
          <a:xfrm>
            <a:off x="6430384" y="2212987"/>
            <a:ext cx="1246549" cy="1021243"/>
            <a:chOff x="6328725" y="987403"/>
            <a:chExt cx="1246549" cy="1021243"/>
          </a:xfrm>
        </p:grpSpPr>
        <p:sp>
          <p:nvSpPr>
            <p:cNvPr id="30" name="任意多边形: 形状 29">
              <a:extLst>
                <a:ext uri="{FF2B5EF4-FFF2-40B4-BE49-F238E27FC236}">
                  <a16:creationId xmlns="" xmlns:a16="http://schemas.microsoft.com/office/drawing/2014/main" id="{DEF2E766-3D4A-4AD6-890E-8A1A049C557F}"/>
                </a:ext>
              </a:extLst>
            </p:cNvPr>
            <p:cNvSpPr/>
            <p:nvPr/>
          </p:nvSpPr>
          <p:spPr>
            <a:xfrm flipH="1" flipV="1">
              <a:off x="6328725" y="987403"/>
              <a:ext cx="923496" cy="1021243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íśḻïḓè">
              <a:extLst>
                <a:ext uri="{FF2B5EF4-FFF2-40B4-BE49-F238E27FC236}">
                  <a16:creationId xmlns="" xmlns:a16="http://schemas.microsoft.com/office/drawing/2014/main" id="{52978352-A6EF-4840-BC2C-28F62548C565}"/>
                </a:ext>
              </a:extLst>
            </p:cNvPr>
            <p:cNvSpPr txBox="1"/>
            <p:nvPr/>
          </p:nvSpPr>
          <p:spPr bwMode="auto">
            <a:xfrm>
              <a:off x="6651778" y="1364484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3000" spc="60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="" xmlns:a16="http://schemas.microsoft.com/office/drawing/2014/main" id="{842C6ABF-95D0-4B3E-90D1-020AC0CE35C6}"/>
              </a:ext>
            </a:extLst>
          </p:cNvPr>
          <p:cNvGrpSpPr/>
          <p:nvPr/>
        </p:nvGrpSpPr>
        <p:grpSpPr>
          <a:xfrm>
            <a:off x="7755647" y="2453329"/>
            <a:ext cx="3450739" cy="862775"/>
            <a:chOff x="7575273" y="1498025"/>
            <a:chExt cx="3450739" cy="862775"/>
          </a:xfrm>
        </p:grpSpPr>
        <p:sp>
          <p:nvSpPr>
            <p:cNvPr id="33" name="íśḻïḓè">
              <a:extLst>
                <a:ext uri="{FF2B5EF4-FFF2-40B4-BE49-F238E27FC236}">
                  <a16:creationId xmlns="" xmlns:a16="http://schemas.microsoft.com/office/drawing/2014/main" id="{A620EE44-488E-4814-A717-7E1ABB16B08A}"/>
                </a:ext>
              </a:extLst>
            </p:cNvPr>
            <p:cNvSpPr txBox="1"/>
            <p:nvPr/>
          </p:nvSpPr>
          <p:spPr bwMode="auto">
            <a:xfrm>
              <a:off x="7575273" y="1498025"/>
              <a:ext cx="2910707" cy="42770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dist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zh-CN" altLang="en-US" sz="3000" spc="60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主</a:t>
              </a:r>
              <a:r>
                <a:rPr lang="zh-CN" altLang="en-US" sz="3000" spc="60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导项目</a:t>
              </a:r>
              <a:endParaRPr lang="en-US" altLang="zh-CN" sz="3000" spc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="" xmlns:a16="http://schemas.microsoft.com/office/drawing/2014/main" id="{DFA7D2E0-E087-4066-8C77-6ACA619A7CDB}"/>
                </a:ext>
              </a:extLst>
            </p:cNvPr>
            <p:cNvSpPr txBox="1"/>
            <p:nvPr/>
          </p:nvSpPr>
          <p:spPr>
            <a:xfrm>
              <a:off x="7638832" y="2114579"/>
              <a:ext cx="3387180" cy="246221"/>
            </a:xfrm>
            <a:prstGeom prst="rect">
              <a:avLst/>
            </a:prstGeom>
            <a:noFill/>
          </p:spPr>
          <p:txBody>
            <a:bodyPr vert="horz" wrap="square" rtlCol="0" anchor="b">
              <a:spAutoFit/>
            </a:bodyPr>
            <a:lstStyle/>
            <a:p>
              <a:r>
                <a:rPr lang="en-US" altLang="zh-CN" sz="1000" spc="12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Leading </a:t>
              </a:r>
              <a:r>
                <a:rPr lang="en-US" altLang="zh-CN" sz="1000" spc="12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project</a:t>
              </a:r>
              <a:endParaRPr lang="zh-CN" altLang="en-US" sz="1000" spc="12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="" xmlns:a16="http://schemas.microsoft.com/office/drawing/2014/main" id="{1035E13D-FF3E-4427-AD37-392C51A855B6}"/>
              </a:ext>
            </a:extLst>
          </p:cNvPr>
          <p:cNvGrpSpPr/>
          <p:nvPr/>
        </p:nvGrpSpPr>
        <p:grpSpPr>
          <a:xfrm>
            <a:off x="6430384" y="3613667"/>
            <a:ext cx="1246549" cy="1021243"/>
            <a:chOff x="6328725" y="987403"/>
            <a:chExt cx="1246549" cy="1021243"/>
          </a:xfrm>
        </p:grpSpPr>
        <p:sp>
          <p:nvSpPr>
            <p:cNvPr id="36" name="任意多边形: 形状 35">
              <a:extLst>
                <a:ext uri="{FF2B5EF4-FFF2-40B4-BE49-F238E27FC236}">
                  <a16:creationId xmlns="" xmlns:a16="http://schemas.microsoft.com/office/drawing/2014/main" id="{33F11071-368F-480D-AB03-49A6CFB0AC59}"/>
                </a:ext>
              </a:extLst>
            </p:cNvPr>
            <p:cNvSpPr/>
            <p:nvPr/>
          </p:nvSpPr>
          <p:spPr>
            <a:xfrm flipH="1" flipV="1">
              <a:off x="6328725" y="987403"/>
              <a:ext cx="923496" cy="1021243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íśḻïḓè">
              <a:extLst>
                <a:ext uri="{FF2B5EF4-FFF2-40B4-BE49-F238E27FC236}">
                  <a16:creationId xmlns="" xmlns:a16="http://schemas.microsoft.com/office/drawing/2014/main" id="{51E28B3D-9E20-45F0-8120-613F2BA2FB77}"/>
                </a:ext>
              </a:extLst>
            </p:cNvPr>
            <p:cNvSpPr txBox="1"/>
            <p:nvPr/>
          </p:nvSpPr>
          <p:spPr bwMode="auto">
            <a:xfrm>
              <a:off x="6651778" y="1364484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3000" spc="60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="" xmlns:a16="http://schemas.microsoft.com/office/drawing/2014/main" id="{602DE879-6A2A-4882-BE76-D381AB6B3535}"/>
              </a:ext>
            </a:extLst>
          </p:cNvPr>
          <p:cNvGrpSpPr/>
          <p:nvPr/>
        </p:nvGrpSpPr>
        <p:grpSpPr>
          <a:xfrm>
            <a:off x="7755647" y="3854009"/>
            <a:ext cx="3450739" cy="862775"/>
            <a:chOff x="7575273" y="1498025"/>
            <a:chExt cx="3450739" cy="862775"/>
          </a:xfrm>
        </p:grpSpPr>
        <p:sp>
          <p:nvSpPr>
            <p:cNvPr id="39" name="íśḻïḓè">
              <a:extLst>
                <a:ext uri="{FF2B5EF4-FFF2-40B4-BE49-F238E27FC236}">
                  <a16:creationId xmlns="" xmlns:a16="http://schemas.microsoft.com/office/drawing/2014/main" id="{738EB60E-009F-4E4A-89CC-7472635F286C}"/>
                </a:ext>
              </a:extLst>
            </p:cNvPr>
            <p:cNvSpPr txBox="1"/>
            <p:nvPr/>
          </p:nvSpPr>
          <p:spPr bwMode="auto">
            <a:xfrm>
              <a:off x="7575273" y="1498025"/>
              <a:ext cx="2910707" cy="42770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dist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zh-CN" altLang="en-US" sz="3000" spc="60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工作成果</a:t>
              </a:r>
              <a:endParaRPr lang="en-US" altLang="zh-CN" sz="3000" spc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="" xmlns:a16="http://schemas.microsoft.com/office/drawing/2014/main" id="{0D09A785-8B2D-4123-B078-9F0DE0DA4F3A}"/>
                </a:ext>
              </a:extLst>
            </p:cNvPr>
            <p:cNvSpPr txBox="1"/>
            <p:nvPr/>
          </p:nvSpPr>
          <p:spPr>
            <a:xfrm>
              <a:off x="7638832" y="2114579"/>
              <a:ext cx="3387180" cy="246221"/>
            </a:xfrm>
            <a:prstGeom prst="rect">
              <a:avLst/>
            </a:prstGeom>
            <a:noFill/>
          </p:spPr>
          <p:txBody>
            <a:bodyPr vert="horz" wrap="square" rtlCol="0" anchor="b">
              <a:spAutoFit/>
            </a:bodyPr>
            <a:lstStyle/>
            <a:p>
              <a:r>
                <a:rPr lang="en-US" altLang="zh-CN" sz="1000" spc="12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Work </a:t>
              </a:r>
              <a:r>
                <a:rPr lang="en-US" altLang="zh-CN" sz="1000" spc="12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results</a:t>
              </a:r>
              <a:endParaRPr lang="zh-CN" altLang="en-US" sz="1000" spc="12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="" xmlns:a16="http://schemas.microsoft.com/office/drawing/2014/main" id="{9C72CC76-A5C2-44CA-BD3D-0D7F85DDB226}"/>
              </a:ext>
            </a:extLst>
          </p:cNvPr>
          <p:cNvGrpSpPr/>
          <p:nvPr/>
        </p:nvGrpSpPr>
        <p:grpSpPr>
          <a:xfrm>
            <a:off x="6430384" y="5144189"/>
            <a:ext cx="1246549" cy="1021243"/>
            <a:chOff x="6328725" y="987403"/>
            <a:chExt cx="1246549" cy="1021243"/>
          </a:xfrm>
        </p:grpSpPr>
        <p:sp>
          <p:nvSpPr>
            <p:cNvPr id="42" name="任意多边形: 形状 41">
              <a:extLst>
                <a:ext uri="{FF2B5EF4-FFF2-40B4-BE49-F238E27FC236}">
                  <a16:creationId xmlns="" xmlns:a16="http://schemas.microsoft.com/office/drawing/2014/main" id="{6218C750-8C4A-4EB9-99A7-B5CB9B3DE2C0}"/>
                </a:ext>
              </a:extLst>
            </p:cNvPr>
            <p:cNvSpPr/>
            <p:nvPr/>
          </p:nvSpPr>
          <p:spPr>
            <a:xfrm flipH="1" flipV="1">
              <a:off x="6328725" y="987403"/>
              <a:ext cx="923496" cy="1021243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íśḻïḓè">
              <a:extLst>
                <a:ext uri="{FF2B5EF4-FFF2-40B4-BE49-F238E27FC236}">
                  <a16:creationId xmlns="" xmlns:a16="http://schemas.microsoft.com/office/drawing/2014/main" id="{DE9A9F57-1593-456C-9A57-A81AF902AB01}"/>
                </a:ext>
              </a:extLst>
            </p:cNvPr>
            <p:cNvSpPr txBox="1"/>
            <p:nvPr/>
          </p:nvSpPr>
          <p:spPr bwMode="auto">
            <a:xfrm>
              <a:off x="6651778" y="1364484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3000" spc="60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</a:p>
          </p:txBody>
        </p:sp>
      </p:grpSp>
      <p:grpSp>
        <p:nvGrpSpPr>
          <p:cNvPr id="44" name="组合 43">
            <a:extLst>
              <a:ext uri="{FF2B5EF4-FFF2-40B4-BE49-F238E27FC236}">
                <a16:creationId xmlns="" xmlns:a16="http://schemas.microsoft.com/office/drawing/2014/main" id="{1591D7E0-E0D4-4AB0-9FE1-860317E052D3}"/>
              </a:ext>
            </a:extLst>
          </p:cNvPr>
          <p:cNvGrpSpPr/>
          <p:nvPr/>
        </p:nvGrpSpPr>
        <p:grpSpPr>
          <a:xfrm>
            <a:off x="7755647" y="5384531"/>
            <a:ext cx="3450739" cy="862775"/>
            <a:chOff x="7575273" y="1498025"/>
            <a:chExt cx="3450739" cy="862775"/>
          </a:xfrm>
        </p:grpSpPr>
        <p:sp>
          <p:nvSpPr>
            <p:cNvPr id="45" name="íśḻïḓè">
              <a:extLst>
                <a:ext uri="{FF2B5EF4-FFF2-40B4-BE49-F238E27FC236}">
                  <a16:creationId xmlns="" xmlns:a16="http://schemas.microsoft.com/office/drawing/2014/main" id="{C616CF79-E9D5-4129-9480-8FFF651FDE24}"/>
                </a:ext>
              </a:extLst>
            </p:cNvPr>
            <p:cNvSpPr txBox="1"/>
            <p:nvPr/>
          </p:nvSpPr>
          <p:spPr bwMode="auto">
            <a:xfrm>
              <a:off x="7575273" y="1498025"/>
              <a:ext cx="2910707" cy="42770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dist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zh-CN" altLang="en-US" sz="3000" spc="60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职涯规划</a:t>
              </a:r>
              <a:endParaRPr lang="en-US" altLang="zh-CN" sz="3000" spc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6" name="文本框 45">
              <a:extLst>
                <a:ext uri="{FF2B5EF4-FFF2-40B4-BE49-F238E27FC236}">
                  <a16:creationId xmlns="" xmlns:a16="http://schemas.microsoft.com/office/drawing/2014/main" id="{996E38D6-4DA7-407E-9344-CEC35696193E}"/>
                </a:ext>
              </a:extLst>
            </p:cNvPr>
            <p:cNvSpPr txBox="1"/>
            <p:nvPr/>
          </p:nvSpPr>
          <p:spPr>
            <a:xfrm>
              <a:off x="7638832" y="2114579"/>
              <a:ext cx="3387180" cy="246221"/>
            </a:xfrm>
            <a:prstGeom prst="rect">
              <a:avLst/>
            </a:prstGeom>
            <a:noFill/>
          </p:spPr>
          <p:txBody>
            <a:bodyPr vert="horz" wrap="square" rtlCol="0" anchor="b">
              <a:spAutoFit/>
            </a:bodyPr>
            <a:lstStyle/>
            <a:p>
              <a:r>
                <a:rPr lang="en-US" altLang="zh-CN" sz="1000" spc="12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Career plan</a:t>
              </a:r>
              <a:endParaRPr lang="zh-CN" altLang="en-US" sz="1000" spc="12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9931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Click="0" advTm="2000">
        <p:blinds dir="vert"/>
      </p:transition>
    </mc:Choice>
    <mc:Fallback xmlns="">
      <p:transition spd="slow" advClick="0" advTm="2000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0" decel="500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600" decel="500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00" decel="500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600" decel="500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9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2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5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="" xmlns:a16="http://schemas.microsoft.com/office/drawing/2014/main" id="{7C710A07-2A28-40EC-8D93-D7387474F0E6}"/>
              </a:ext>
            </a:extLst>
          </p:cNvPr>
          <p:cNvSpPr/>
          <p:nvPr/>
        </p:nvSpPr>
        <p:spPr>
          <a:xfrm>
            <a:off x="-28836" y="1053684"/>
            <a:ext cx="12192001" cy="5804316"/>
          </a:xfrm>
          <a:prstGeom prst="rect">
            <a:avLst/>
          </a:prstGeom>
          <a:blipFill dpi="0" rotWithShape="1">
            <a:blip r:embed="rId2">
              <a:alphaModFix amt="10000"/>
            </a:blip>
            <a:srcRect/>
            <a:stretch>
              <a:fillRect t="1" b="-1815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="" xmlns:a16="http://schemas.microsoft.com/office/drawing/2014/main" id="{E007A7BA-1DE5-4665-9D30-DF265963F3B3}"/>
              </a:ext>
            </a:extLst>
          </p:cNvPr>
          <p:cNvSpPr/>
          <p:nvPr/>
        </p:nvSpPr>
        <p:spPr>
          <a:xfrm>
            <a:off x="-57671" y="1657350"/>
            <a:ext cx="12249671" cy="390525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9" name="任意多边形: 形状 8">
            <a:extLst>
              <a:ext uri="{FF2B5EF4-FFF2-40B4-BE49-F238E27FC236}">
                <a16:creationId xmlns="" xmlns:a16="http://schemas.microsoft.com/office/drawing/2014/main" id="{D6B1D381-2032-4BBA-9BCC-3F2ED3F7A23C}"/>
              </a:ext>
            </a:extLst>
          </p:cNvPr>
          <p:cNvSpPr/>
          <p:nvPr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="" xmlns:a16="http://schemas.microsoft.com/office/drawing/2014/main" id="{D3C6F1E2-5A04-4423-A6C1-9B04901EF96E}"/>
              </a:ext>
            </a:extLst>
          </p:cNvPr>
          <p:cNvSpPr/>
          <p:nvPr/>
        </p:nvSpPr>
        <p:spPr>
          <a:xfrm flipH="1">
            <a:off x="-47886" y="2076450"/>
            <a:ext cx="12240000" cy="3009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="" xmlns:a16="http://schemas.microsoft.com/office/drawing/2014/main" id="{14B152BA-FB3A-4DEF-97AF-2D3132A6379B}"/>
              </a:ext>
            </a:extLst>
          </p:cNvPr>
          <p:cNvGrpSpPr/>
          <p:nvPr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10" name="任意多边形: 形状 9">
              <a:extLst>
                <a:ext uri="{FF2B5EF4-FFF2-40B4-BE49-F238E27FC236}">
                  <a16:creationId xmlns="" xmlns:a16="http://schemas.microsoft.com/office/drawing/2014/main" id="{616D1BA4-5DFB-495C-B4C0-D9BF0BD2A928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="" xmlns:a16="http://schemas.microsoft.com/office/drawing/2014/main" id="{A7585635-9F29-4E63-8ED6-2D0E97E9D29A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="" xmlns:a16="http://schemas.microsoft.com/office/drawing/2014/main" id="{5D8AB465-9371-4219-94C0-2D44DDA759B9}"/>
              </a:ext>
            </a:extLst>
          </p:cNvPr>
          <p:cNvSpPr txBox="1"/>
          <p:nvPr/>
        </p:nvSpPr>
        <p:spPr>
          <a:xfrm>
            <a:off x="504801" y="2381071"/>
            <a:ext cx="266059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5000" dirty="0">
                <a:ln w="15875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15000" dirty="0">
              <a:ln w="15875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="" xmlns:a16="http://schemas.microsoft.com/office/drawing/2014/main" id="{B4E23612-32A5-4085-A451-FACD073E4899}"/>
              </a:ext>
            </a:extLst>
          </p:cNvPr>
          <p:cNvSpPr txBox="1"/>
          <p:nvPr/>
        </p:nvSpPr>
        <p:spPr>
          <a:xfrm>
            <a:off x="4686426" y="2438042"/>
            <a:ext cx="4492584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7500" b="1" dirty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个</a:t>
            </a:r>
            <a:r>
              <a:rPr lang="zh-CN" altLang="en-US" sz="7500" b="1" dirty="0" smtClean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人简介</a:t>
            </a:r>
            <a:endParaRPr lang="zh-CN" altLang="en-US" sz="7500" b="1" dirty="0">
              <a:ln w="19050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30" name="íṧḷîḓé">
            <a:extLst>
              <a:ext uri="{FF2B5EF4-FFF2-40B4-BE49-F238E27FC236}">
                <a16:creationId xmlns="" xmlns:a16="http://schemas.microsoft.com/office/drawing/2014/main" id="{9A9CC219-B3C8-44F9-AAB1-61979C46557B}"/>
              </a:ext>
            </a:extLst>
          </p:cNvPr>
          <p:cNvSpPr/>
          <p:nvPr/>
        </p:nvSpPr>
        <p:spPr bwMode="auto">
          <a:xfrm>
            <a:off x="4528187" y="3826030"/>
            <a:ext cx="1768290" cy="3856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171450" indent="-1714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学</a:t>
            </a:r>
            <a:r>
              <a:rPr lang="zh-CN" altLang="en-US" sz="14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习培训情况</a:t>
            </a:r>
            <a:endParaRPr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1" name="íṧḷîḓé">
            <a:extLst>
              <a:ext uri="{FF2B5EF4-FFF2-40B4-BE49-F238E27FC236}">
                <a16:creationId xmlns="" xmlns:a16="http://schemas.microsoft.com/office/drawing/2014/main" id="{E1ACB847-3840-4A5F-B227-0725A8C1E106}"/>
              </a:ext>
            </a:extLst>
          </p:cNvPr>
          <p:cNvSpPr/>
          <p:nvPr/>
        </p:nvSpPr>
        <p:spPr bwMode="auto">
          <a:xfrm>
            <a:off x="6193282" y="3821367"/>
            <a:ext cx="1768290" cy="3856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171450" indent="-1714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工作经历</a:t>
            </a:r>
            <a:endParaRPr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2" name="íṧḷîḓé">
            <a:extLst>
              <a:ext uri="{FF2B5EF4-FFF2-40B4-BE49-F238E27FC236}">
                <a16:creationId xmlns="" xmlns:a16="http://schemas.microsoft.com/office/drawing/2014/main" id="{A4599828-4B71-4D0B-92F2-7486A305727B}"/>
              </a:ext>
            </a:extLst>
          </p:cNvPr>
          <p:cNvSpPr/>
          <p:nvPr/>
        </p:nvSpPr>
        <p:spPr bwMode="auto">
          <a:xfrm>
            <a:off x="7858377" y="3816704"/>
            <a:ext cx="1768290" cy="3856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171450" indent="-1714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其他事项</a:t>
            </a:r>
            <a:endParaRPr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2793792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Click="0" advTm="2000">
        <p15:prstTrans prst="pageCurlDouble"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=""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=""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=""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=""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51529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学习培训情况</a:t>
                </a: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=""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Study and training 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=""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01</a:t>
              </a:r>
            </a:p>
          </p:txBody>
        </p:sp>
      </p:grpSp>
      <p:grpSp>
        <p:nvGrpSpPr>
          <p:cNvPr id="8" name="isḷiḓe">
            <a:extLst>
              <a:ext uri="{FF2B5EF4-FFF2-40B4-BE49-F238E27FC236}">
                <a16:creationId xmlns="" xmlns:a16="http://schemas.microsoft.com/office/drawing/2014/main" id="{1F8E104B-3A23-4543-B2F7-DC04C91538EA}"/>
              </a:ext>
            </a:extLst>
          </p:cNvPr>
          <p:cNvGrpSpPr/>
          <p:nvPr/>
        </p:nvGrpSpPr>
        <p:grpSpPr>
          <a:xfrm>
            <a:off x="5926700" y="2749549"/>
            <a:ext cx="2486025" cy="1266825"/>
            <a:chOff x="5890022" y="2539999"/>
            <a:chExt cx="2486025" cy="1266825"/>
          </a:xfrm>
          <a:solidFill>
            <a:srgbClr val="1257F1"/>
          </a:solidFill>
        </p:grpSpPr>
        <p:sp>
          <p:nvSpPr>
            <p:cNvPr id="12" name="isḻïde">
              <a:extLst>
                <a:ext uri="{FF2B5EF4-FFF2-40B4-BE49-F238E27FC236}">
                  <a16:creationId xmlns="" xmlns:a16="http://schemas.microsoft.com/office/drawing/2014/main" id="{D4B8BFB4-5694-474C-BAFC-19A529473B6D}"/>
                </a:ext>
              </a:extLst>
            </p:cNvPr>
            <p:cNvSpPr/>
            <p:nvPr/>
          </p:nvSpPr>
          <p:spPr>
            <a:xfrm>
              <a:off x="5890022" y="2539999"/>
              <a:ext cx="2486025" cy="1266825"/>
            </a:xfrm>
            <a:prstGeom prst="parallelogram">
              <a:avLst>
                <a:gd name="adj" fmla="val 3409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3" name="ï$líḑê">
              <a:extLst>
                <a:ext uri="{FF2B5EF4-FFF2-40B4-BE49-F238E27FC236}">
                  <a16:creationId xmlns="" xmlns:a16="http://schemas.microsoft.com/office/drawing/2014/main" id="{FA6F988F-AEF6-4601-856E-CD438BF43338}"/>
                </a:ext>
              </a:extLst>
            </p:cNvPr>
            <p:cNvGrpSpPr/>
            <p:nvPr/>
          </p:nvGrpSpPr>
          <p:grpSpPr>
            <a:xfrm>
              <a:off x="6290735" y="2697579"/>
              <a:ext cx="1684599" cy="951664"/>
              <a:chOff x="6278300" y="1991000"/>
              <a:chExt cx="1684599" cy="951664"/>
            </a:xfrm>
            <a:grpFill/>
          </p:grpSpPr>
          <p:sp>
            <p:nvSpPr>
              <p:cNvPr id="14" name="iṡḻiḋè">
                <a:extLst>
                  <a:ext uri="{FF2B5EF4-FFF2-40B4-BE49-F238E27FC236}">
                    <a16:creationId xmlns="" xmlns:a16="http://schemas.microsoft.com/office/drawing/2014/main" id="{8D27710C-58F7-4EA1-9A87-3FD7E0B6699F}"/>
                  </a:ext>
                </a:extLst>
              </p:cNvPr>
              <p:cNvSpPr/>
              <p:nvPr/>
            </p:nvSpPr>
            <p:spPr bwMode="auto">
              <a:xfrm>
                <a:off x="6278300" y="2432805"/>
                <a:ext cx="1684599" cy="50985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 fontScale="85000" lnSpcReduction="1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计算</a:t>
                </a: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机网络技术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5" name="îS1ïďe">
                <a:extLst>
                  <a:ext uri="{FF2B5EF4-FFF2-40B4-BE49-F238E27FC236}">
                    <a16:creationId xmlns="" xmlns:a16="http://schemas.microsoft.com/office/drawing/2014/main" id="{5C005CB1-E29C-465D-848E-599869597E1B}"/>
                  </a:ext>
                </a:extLst>
              </p:cNvPr>
              <p:cNvSpPr txBox="1"/>
              <p:nvPr/>
            </p:nvSpPr>
            <p:spPr bwMode="auto">
              <a:xfrm>
                <a:off x="6278300" y="1991000"/>
                <a:ext cx="1684599" cy="44180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学习专业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16" name="íş1íḍê">
            <a:extLst>
              <a:ext uri="{FF2B5EF4-FFF2-40B4-BE49-F238E27FC236}">
                <a16:creationId xmlns="" xmlns:a16="http://schemas.microsoft.com/office/drawing/2014/main" id="{AF197564-2384-454E-940A-C0458293D22C}"/>
              </a:ext>
            </a:extLst>
          </p:cNvPr>
          <p:cNvGrpSpPr/>
          <p:nvPr/>
        </p:nvGrpSpPr>
        <p:grpSpPr>
          <a:xfrm>
            <a:off x="5364725" y="4610101"/>
            <a:ext cx="2486025" cy="1266825"/>
            <a:chOff x="5328047" y="4400551"/>
            <a:chExt cx="2486025" cy="1266825"/>
          </a:xfrm>
          <a:solidFill>
            <a:srgbClr val="1257F1"/>
          </a:solidFill>
        </p:grpSpPr>
        <p:sp>
          <p:nvSpPr>
            <p:cNvPr id="17" name="ïṩľïḍe">
              <a:extLst>
                <a:ext uri="{FF2B5EF4-FFF2-40B4-BE49-F238E27FC236}">
                  <a16:creationId xmlns="" xmlns:a16="http://schemas.microsoft.com/office/drawing/2014/main" id="{46D7051A-5A2C-4349-A70C-387E2FCEB98A}"/>
                </a:ext>
              </a:extLst>
            </p:cNvPr>
            <p:cNvSpPr/>
            <p:nvPr/>
          </p:nvSpPr>
          <p:spPr>
            <a:xfrm>
              <a:off x="5328047" y="4400551"/>
              <a:ext cx="2486025" cy="1266825"/>
            </a:xfrm>
            <a:prstGeom prst="parallelogram">
              <a:avLst>
                <a:gd name="adj" fmla="val 3409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8" name="isļiḓé">
              <a:extLst>
                <a:ext uri="{FF2B5EF4-FFF2-40B4-BE49-F238E27FC236}">
                  <a16:creationId xmlns="" xmlns:a16="http://schemas.microsoft.com/office/drawing/2014/main" id="{14DE8027-A359-4C96-98CC-20AB453E2507}"/>
                </a:ext>
              </a:extLst>
            </p:cNvPr>
            <p:cNvGrpSpPr/>
            <p:nvPr/>
          </p:nvGrpSpPr>
          <p:grpSpPr>
            <a:xfrm>
              <a:off x="5728760" y="4558131"/>
              <a:ext cx="1684599" cy="951664"/>
              <a:chOff x="6278300" y="1991000"/>
              <a:chExt cx="1684599" cy="951664"/>
            </a:xfrm>
            <a:grpFill/>
          </p:grpSpPr>
          <p:sp>
            <p:nvSpPr>
              <p:cNvPr id="19" name="îşḷïḓê">
                <a:extLst>
                  <a:ext uri="{FF2B5EF4-FFF2-40B4-BE49-F238E27FC236}">
                    <a16:creationId xmlns="" xmlns:a16="http://schemas.microsoft.com/office/drawing/2014/main" id="{79C9A208-38DD-4CE3-A764-B1891E685558}"/>
                  </a:ext>
                </a:extLst>
              </p:cNvPr>
              <p:cNvSpPr/>
              <p:nvPr/>
            </p:nvSpPr>
            <p:spPr bwMode="auto">
              <a:xfrm>
                <a:off x="6278300" y="2432805"/>
                <a:ext cx="1684599" cy="50985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 fontScale="85000" lnSpcReduction="1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en-US" altLang="zh-CN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JAVA</a:t>
                </a:r>
                <a:r>
                  <a: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软</a:t>
                </a: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件工程师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0" name="íS1íḓè">
                <a:extLst>
                  <a:ext uri="{FF2B5EF4-FFF2-40B4-BE49-F238E27FC236}">
                    <a16:creationId xmlns="" xmlns:a16="http://schemas.microsoft.com/office/drawing/2014/main" id="{6F63FB2F-E342-46B9-B600-971B1DFC5D81}"/>
                  </a:ext>
                </a:extLst>
              </p:cNvPr>
              <p:cNvSpPr txBox="1"/>
              <p:nvPr/>
            </p:nvSpPr>
            <p:spPr bwMode="auto">
              <a:xfrm>
                <a:off x="6278300" y="1991000"/>
                <a:ext cx="1684599" cy="44180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培</a:t>
                </a: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训方向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21" name="íSlíďè">
            <a:extLst>
              <a:ext uri="{FF2B5EF4-FFF2-40B4-BE49-F238E27FC236}">
                <a16:creationId xmlns="" xmlns:a16="http://schemas.microsoft.com/office/drawing/2014/main" id="{29C31F4C-7EFE-4A58-B90B-BBFAA35EAA3A}"/>
              </a:ext>
            </a:extLst>
          </p:cNvPr>
          <p:cNvGrpSpPr/>
          <p:nvPr/>
        </p:nvGrpSpPr>
        <p:grpSpPr>
          <a:xfrm>
            <a:off x="4443181" y="1819274"/>
            <a:ext cx="2486025" cy="1266825"/>
            <a:chOff x="4406503" y="1609724"/>
            <a:chExt cx="2486025" cy="1266825"/>
          </a:xfrm>
          <a:solidFill>
            <a:srgbClr val="8EBAE2"/>
          </a:solidFill>
        </p:grpSpPr>
        <p:sp>
          <p:nvSpPr>
            <p:cNvPr id="22" name="iŝľîḑè">
              <a:extLst>
                <a:ext uri="{FF2B5EF4-FFF2-40B4-BE49-F238E27FC236}">
                  <a16:creationId xmlns="" xmlns:a16="http://schemas.microsoft.com/office/drawing/2014/main" id="{6E895DD0-ED9F-43D9-9C42-22BDB7849F06}"/>
                </a:ext>
              </a:extLst>
            </p:cNvPr>
            <p:cNvSpPr/>
            <p:nvPr/>
          </p:nvSpPr>
          <p:spPr>
            <a:xfrm>
              <a:off x="4406503" y="1609724"/>
              <a:ext cx="2486025" cy="1266825"/>
            </a:xfrm>
            <a:prstGeom prst="parallelogram">
              <a:avLst>
                <a:gd name="adj" fmla="val 3409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3" name="íṩļiḑê">
              <a:extLst>
                <a:ext uri="{FF2B5EF4-FFF2-40B4-BE49-F238E27FC236}">
                  <a16:creationId xmlns="" xmlns:a16="http://schemas.microsoft.com/office/drawing/2014/main" id="{064E31F6-E39C-4240-ADAB-20F7119ADDF6}"/>
                </a:ext>
              </a:extLst>
            </p:cNvPr>
            <p:cNvGrpSpPr/>
            <p:nvPr/>
          </p:nvGrpSpPr>
          <p:grpSpPr>
            <a:xfrm>
              <a:off x="4807216" y="1767304"/>
              <a:ext cx="1684599" cy="951664"/>
              <a:chOff x="6278300" y="1991000"/>
              <a:chExt cx="1684599" cy="951664"/>
            </a:xfrm>
            <a:grpFill/>
          </p:grpSpPr>
          <p:sp>
            <p:nvSpPr>
              <p:cNvPr id="24" name="îşlîḑê">
                <a:extLst>
                  <a:ext uri="{FF2B5EF4-FFF2-40B4-BE49-F238E27FC236}">
                    <a16:creationId xmlns="" xmlns:a16="http://schemas.microsoft.com/office/drawing/2014/main" id="{E9CD8541-1486-436A-B2F2-D3B1C6E21EE4}"/>
                  </a:ext>
                </a:extLst>
              </p:cNvPr>
              <p:cNvSpPr/>
              <p:nvPr/>
            </p:nvSpPr>
            <p:spPr bwMode="auto">
              <a:xfrm>
                <a:off x="6278300" y="2432805"/>
                <a:ext cx="1684599" cy="50985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 fontScale="7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石家庄法商职业技术学院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5" name="í$ľïḑe">
                <a:extLst>
                  <a:ext uri="{FF2B5EF4-FFF2-40B4-BE49-F238E27FC236}">
                    <a16:creationId xmlns="" xmlns:a16="http://schemas.microsoft.com/office/drawing/2014/main" id="{36A633EF-344D-49C1-B536-2488947C4EC4}"/>
                  </a:ext>
                </a:extLst>
              </p:cNvPr>
              <p:cNvSpPr txBox="1"/>
              <p:nvPr/>
            </p:nvSpPr>
            <p:spPr bwMode="auto">
              <a:xfrm>
                <a:off x="6278300" y="1991000"/>
                <a:ext cx="1684599" cy="44180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学</a:t>
                </a: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习院校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26" name="i$ḷiḋe">
            <a:extLst>
              <a:ext uri="{FF2B5EF4-FFF2-40B4-BE49-F238E27FC236}">
                <a16:creationId xmlns="" xmlns:a16="http://schemas.microsoft.com/office/drawing/2014/main" id="{D389D82E-E597-48D2-802B-32DFE76837F2}"/>
              </a:ext>
            </a:extLst>
          </p:cNvPr>
          <p:cNvGrpSpPr/>
          <p:nvPr/>
        </p:nvGrpSpPr>
        <p:grpSpPr>
          <a:xfrm>
            <a:off x="3852631" y="3679824"/>
            <a:ext cx="2486025" cy="1266825"/>
            <a:chOff x="3815953" y="3470274"/>
            <a:chExt cx="2486025" cy="1266825"/>
          </a:xfrm>
          <a:solidFill>
            <a:srgbClr val="8EBAE2"/>
          </a:solidFill>
        </p:grpSpPr>
        <p:sp>
          <p:nvSpPr>
            <p:cNvPr id="27" name="îsḷïḋe">
              <a:extLst>
                <a:ext uri="{FF2B5EF4-FFF2-40B4-BE49-F238E27FC236}">
                  <a16:creationId xmlns="" xmlns:a16="http://schemas.microsoft.com/office/drawing/2014/main" id="{4694196A-C1C5-4B8C-BB54-788718D5611B}"/>
                </a:ext>
              </a:extLst>
            </p:cNvPr>
            <p:cNvSpPr/>
            <p:nvPr/>
          </p:nvSpPr>
          <p:spPr>
            <a:xfrm>
              <a:off x="3815953" y="3470274"/>
              <a:ext cx="2486025" cy="1266825"/>
            </a:xfrm>
            <a:prstGeom prst="parallelogram">
              <a:avLst>
                <a:gd name="adj" fmla="val 3409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8" name="îšľîḑe">
              <a:extLst>
                <a:ext uri="{FF2B5EF4-FFF2-40B4-BE49-F238E27FC236}">
                  <a16:creationId xmlns="" xmlns:a16="http://schemas.microsoft.com/office/drawing/2014/main" id="{2DA6E699-8B5F-4691-A419-B28A90F7E47A}"/>
                </a:ext>
              </a:extLst>
            </p:cNvPr>
            <p:cNvGrpSpPr/>
            <p:nvPr/>
          </p:nvGrpSpPr>
          <p:grpSpPr>
            <a:xfrm>
              <a:off x="4216666" y="3627854"/>
              <a:ext cx="1684599" cy="951664"/>
              <a:chOff x="6278300" y="1991000"/>
              <a:chExt cx="1684599" cy="951664"/>
            </a:xfrm>
            <a:grpFill/>
          </p:grpSpPr>
          <p:sp>
            <p:nvSpPr>
              <p:cNvPr id="29" name="íśļiḓe">
                <a:extLst>
                  <a:ext uri="{FF2B5EF4-FFF2-40B4-BE49-F238E27FC236}">
                    <a16:creationId xmlns="" xmlns:a16="http://schemas.microsoft.com/office/drawing/2014/main" id="{E7216AED-AA25-45DB-BED0-581611DFB2A6}"/>
                  </a:ext>
                </a:extLst>
              </p:cNvPr>
              <p:cNvSpPr/>
              <p:nvPr/>
            </p:nvSpPr>
            <p:spPr bwMode="auto">
              <a:xfrm>
                <a:off x="6278300" y="2432805"/>
                <a:ext cx="1684599" cy="50985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北大青鸟</a:t>
                </a:r>
                <a:r>
                  <a:rPr lang="en-US" altLang="zh-CN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(</a:t>
                </a: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北京</a:t>
                </a:r>
                <a:r>
                  <a:rPr lang="en-US" altLang="zh-CN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)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0" name="íslîḓe">
                <a:extLst>
                  <a:ext uri="{FF2B5EF4-FFF2-40B4-BE49-F238E27FC236}">
                    <a16:creationId xmlns="" xmlns:a16="http://schemas.microsoft.com/office/drawing/2014/main" id="{989D4EFF-F9BE-4C5F-B64A-52810B85D0CE}"/>
                  </a:ext>
                </a:extLst>
              </p:cNvPr>
              <p:cNvSpPr txBox="1"/>
              <p:nvPr/>
            </p:nvSpPr>
            <p:spPr bwMode="auto">
              <a:xfrm>
                <a:off x="6278300" y="1991000"/>
                <a:ext cx="1684599" cy="44180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培</a:t>
                </a: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训机构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31" name="组合 30">
            <a:extLst>
              <a:ext uri="{FF2B5EF4-FFF2-40B4-BE49-F238E27FC236}">
                <a16:creationId xmlns="" xmlns:a16="http://schemas.microsoft.com/office/drawing/2014/main" id="{EB59C58A-15D6-4332-99B6-092E0CB085C4}"/>
              </a:ext>
            </a:extLst>
          </p:cNvPr>
          <p:cNvGrpSpPr/>
          <p:nvPr/>
        </p:nvGrpSpPr>
        <p:grpSpPr>
          <a:xfrm>
            <a:off x="8419965" y="4150009"/>
            <a:ext cx="2716290" cy="326457"/>
            <a:chOff x="8383288" y="3940459"/>
            <a:chExt cx="2716290" cy="326457"/>
          </a:xfrm>
        </p:grpSpPr>
        <p:cxnSp>
          <p:nvCxnSpPr>
            <p:cNvPr id="32" name="直接连接符 31">
              <a:extLst>
                <a:ext uri="{FF2B5EF4-FFF2-40B4-BE49-F238E27FC236}">
                  <a16:creationId xmlns="" xmlns:a16="http://schemas.microsoft.com/office/drawing/2014/main" id="{B3F437BA-3552-4B2F-8BEF-914B9D7BECA9}"/>
                </a:ext>
              </a:extLst>
            </p:cNvPr>
            <p:cNvCxnSpPr/>
            <p:nvPr/>
          </p:nvCxnSpPr>
          <p:spPr>
            <a:xfrm>
              <a:off x="8534234" y="4103686"/>
              <a:ext cx="2565344" cy="0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îśḻïḋè">
              <a:extLst>
                <a:ext uri="{FF2B5EF4-FFF2-40B4-BE49-F238E27FC236}">
                  <a16:creationId xmlns="" xmlns:a16="http://schemas.microsoft.com/office/drawing/2014/main" id="{8B58AEF4-B8A0-4F1B-863B-7D4541EAFFAA}"/>
                </a:ext>
              </a:extLst>
            </p:cNvPr>
            <p:cNvSpPr/>
            <p:nvPr/>
          </p:nvSpPr>
          <p:spPr>
            <a:xfrm>
              <a:off x="8383288" y="3940459"/>
              <a:ext cx="301892" cy="326457"/>
            </a:xfrm>
            <a:prstGeom prst="chevron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="" xmlns:a16="http://schemas.microsoft.com/office/drawing/2014/main" id="{DA5EC293-278D-443D-BC37-9506AAD6E802}"/>
              </a:ext>
            </a:extLst>
          </p:cNvPr>
          <p:cNvGrpSpPr/>
          <p:nvPr/>
        </p:nvGrpSpPr>
        <p:grpSpPr>
          <a:xfrm>
            <a:off x="1111706" y="3219733"/>
            <a:ext cx="2733683" cy="326457"/>
            <a:chOff x="1075029" y="3010183"/>
            <a:chExt cx="2733683" cy="326457"/>
          </a:xfrm>
        </p:grpSpPr>
        <p:cxnSp>
          <p:nvCxnSpPr>
            <p:cNvPr id="35" name="直接连接符 34">
              <a:extLst>
                <a:ext uri="{FF2B5EF4-FFF2-40B4-BE49-F238E27FC236}">
                  <a16:creationId xmlns="" xmlns:a16="http://schemas.microsoft.com/office/drawing/2014/main" id="{5D1629DB-2838-4DAC-BF9F-30C18063F219}"/>
                </a:ext>
              </a:extLst>
            </p:cNvPr>
            <p:cNvCxnSpPr/>
            <p:nvPr/>
          </p:nvCxnSpPr>
          <p:spPr>
            <a:xfrm>
              <a:off x="1075029" y="3138665"/>
              <a:ext cx="2565344" cy="0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ïSlïḋé">
              <a:extLst>
                <a:ext uri="{FF2B5EF4-FFF2-40B4-BE49-F238E27FC236}">
                  <a16:creationId xmlns="" xmlns:a16="http://schemas.microsoft.com/office/drawing/2014/main" id="{D3F12547-9C76-4AD8-907C-86008C67C55F}"/>
                </a:ext>
              </a:extLst>
            </p:cNvPr>
            <p:cNvSpPr/>
            <p:nvPr/>
          </p:nvSpPr>
          <p:spPr>
            <a:xfrm flipH="1">
              <a:off x="3506820" y="3010183"/>
              <a:ext cx="301892" cy="326457"/>
            </a:xfrm>
            <a:prstGeom prst="chevron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7" name="îśļíḋè">
            <a:extLst>
              <a:ext uri="{FF2B5EF4-FFF2-40B4-BE49-F238E27FC236}">
                <a16:creationId xmlns="" xmlns:a16="http://schemas.microsoft.com/office/drawing/2014/main" id="{893CB1E2-AD4A-433A-9E21-0F1ED56D9A4D}"/>
              </a:ext>
            </a:extLst>
          </p:cNvPr>
          <p:cNvSpPr txBox="1"/>
          <p:nvPr/>
        </p:nvSpPr>
        <p:spPr>
          <a:xfrm flipH="1">
            <a:off x="1084577" y="2130650"/>
            <a:ext cx="2613075" cy="79786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zh-CN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2004.9-2007.6 </a:t>
            </a:r>
            <a:r>
              <a:rPr lang="zh-CN" altLang="en-US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在石家庄法商职业学院（河北工程技术学院）学习</a:t>
            </a:r>
            <a:endParaRPr lang="en-US" altLang="zh-CN" sz="1500" b="1" i="1" spc="150" dirty="0">
              <a:solidFill>
                <a:schemeClr val="bg2">
                  <a:lumMod val="1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îśļíḋè">
            <a:extLst>
              <a:ext uri="{FF2B5EF4-FFF2-40B4-BE49-F238E27FC236}">
                <a16:creationId xmlns="" xmlns:a16="http://schemas.microsoft.com/office/drawing/2014/main" id="{4F764AE6-F4E3-4071-995B-C0DCECAE3305}"/>
              </a:ext>
            </a:extLst>
          </p:cNvPr>
          <p:cNvSpPr txBox="1"/>
          <p:nvPr/>
        </p:nvSpPr>
        <p:spPr>
          <a:xfrm flipH="1">
            <a:off x="8873782" y="3114713"/>
            <a:ext cx="2650597" cy="839219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500" b="1" i="1" spc="150" dirty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</a:t>
            </a:r>
            <a:r>
              <a:rPr lang="zh-CN" altLang="en-US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习课程主要有：</a:t>
            </a:r>
            <a:r>
              <a:rPr lang="en-US" altLang="zh-CN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程序设计，局域网组网，数据库技术</a:t>
            </a:r>
            <a:endParaRPr lang="en-US" altLang="zh-CN" sz="1500" b="1" i="1" spc="150" dirty="0">
              <a:solidFill>
                <a:schemeClr val="bg2">
                  <a:lumMod val="1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îśļíḋè">
            <a:extLst>
              <a:ext uri="{FF2B5EF4-FFF2-40B4-BE49-F238E27FC236}">
                <a16:creationId xmlns="" xmlns:a16="http://schemas.microsoft.com/office/drawing/2014/main" id="{98E8EB5E-755A-452F-BFD7-9C1E1E763B0C}"/>
              </a:ext>
            </a:extLst>
          </p:cNvPr>
          <p:cNvSpPr txBox="1"/>
          <p:nvPr/>
        </p:nvSpPr>
        <p:spPr>
          <a:xfrm flipH="1">
            <a:off x="1047055" y="4126369"/>
            <a:ext cx="2650597" cy="82028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zh-CN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2011.7-2012.7</a:t>
            </a:r>
            <a:r>
              <a:rPr lang="zh-CN" altLang="en-US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在北京北大青鸟</a:t>
            </a:r>
            <a:r>
              <a:rPr lang="en-US" altLang="zh-CN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北大公学</a:t>
            </a:r>
            <a:r>
              <a:rPr lang="en-US" altLang="zh-CN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500" b="1" i="1" spc="150" dirty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校</a:t>
            </a:r>
            <a:r>
              <a:rPr lang="zh-CN" altLang="en-US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区培训</a:t>
            </a:r>
            <a:endParaRPr lang="en-US" altLang="zh-CN" sz="1500" b="1" i="1" spc="150" dirty="0">
              <a:solidFill>
                <a:schemeClr val="bg2">
                  <a:lumMod val="1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îśļíḋè">
            <a:extLst>
              <a:ext uri="{FF2B5EF4-FFF2-40B4-BE49-F238E27FC236}">
                <a16:creationId xmlns="" xmlns:a16="http://schemas.microsoft.com/office/drawing/2014/main" id="{226A17DB-DC89-45B1-8A0F-1067E2A7F224}"/>
              </a:ext>
            </a:extLst>
          </p:cNvPr>
          <p:cNvSpPr txBox="1"/>
          <p:nvPr/>
        </p:nvSpPr>
        <p:spPr>
          <a:xfrm flipH="1">
            <a:off x="8873783" y="4988583"/>
            <a:ext cx="2650597" cy="59924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500" b="1" spc="150" dirty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培</a:t>
            </a:r>
            <a:r>
              <a:rPr lang="zh-CN" altLang="en-US" sz="1500" b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训科目：</a:t>
            </a:r>
            <a:r>
              <a:rPr lang="en-US" altLang="zh-CN" sz="1500" b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JAVA</a:t>
            </a:r>
            <a:r>
              <a:rPr lang="zh-CN" altLang="en-US" sz="1500" b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基础，</a:t>
            </a:r>
            <a:r>
              <a:rPr lang="en-US" altLang="zh-CN" sz="1500" b="1" spc="150" dirty="0" err="1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JSP+Serverlet</a:t>
            </a:r>
            <a:r>
              <a:rPr lang="zh-CN" altLang="en-US" sz="1500" b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网页开发，</a:t>
            </a:r>
            <a:r>
              <a:rPr lang="en-US" altLang="zh-CN" sz="1500" b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JAVA EE </a:t>
            </a:r>
            <a:r>
              <a:rPr lang="zh-CN" altLang="en-US" sz="1500" b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企业级应用开发</a:t>
            </a:r>
            <a:endParaRPr lang="en-US" altLang="zh-CN" sz="1500" b="1" spc="150" dirty="0">
              <a:solidFill>
                <a:schemeClr val="bg2">
                  <a:lumMod val="1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0234686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Click="0" advTm="2000">
        <p15:prstTrans prst="pageCurlDouble"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9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Left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8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8" presetClass="entr" presetSubtype="9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Left)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8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/>
      <p:bldP spid="39" grpId="0"/>
      <p:bldP spid="4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=""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=""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=""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=""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1151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工作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经历</a:t>
                </a: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=""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Work experience 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=""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="" xmlns:a16="http://schemas.microsoft.com/office/drawing/2014/main" id="{DD9AD827-22F2-478A-8FEE-264ABF3E74AA}"/>
              </a:ext>
            </a:extLst>
          </p:cNvPr>
          <p:cNvGrpSpPr/>
          <p:nvPr/>
        </p:nvGrpSpPr>
        <p:grpSpPr>
          <a:xfrm>
            <a:off x="4299007" y="1902811"/>
            <a:ext cx="1481982" cy="1191014"/>
            <a:chOff x="4256516" y="1859205"/>
            <a:chExt cx="1481982" cy="1191014"/>
          </a:xfrm>
        </p:grpSpPr>
        <p:cxnSp>
          <p:nvCxnSpPr>
            <p:cNvPr id="12" name="直接连接符 11">
              <a:extLst>
                <a:ext uri="{FF2B5EF4-FFF2-40B4-BE49-F238E27FC236}">
                  <a16:creationId xmlns="" xmlns:a16="http://schemas.microsoft.com/office/drawing/2014/main" id="{CAA21FD0-C24A-4DA0-98BD-85EE7F82288C}"/>
                </a:ext>
              </a:extLst>
            </p:cNvPr>
            <p:cNvCxnSpPr/>
            <p:nvPr/>
          </p:nvCxnSpPr>
          <p:spPr>
            <a:xfrm>
              <a:off x="4666133" y="2237647"/>
              <a:ext cx="107236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prstDash val="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组合 12">
              <a:extLst>
                <a:ext uri="{FF2B5EF4-FFF2-40B4-BE49-F238E27FC236}">
                  <a16:creationId xmlns="" xmlns:a16="http://schemas.microsoft.com/office/drawing/2014/main" id="{E1974531-6C89-443C-ACD6-DAB94F66352D}"/>
                </a:ext>
              </a:extLst>
            </p:cNvPr>
            <p:cNvGrpSpPr/>
            <p:nvPr/>
          </p:nvGrpSpPr>
          <p:grpSpPr>
            <a:xfrm>
              <a:off x="4256516" y="1859205"/>
              <a:ext cx="409617" cy="1191014"/>
              <a:chOff x="4256516" y="1859205"/>
              <a:chExt cx="409617" cy="1191014"/>
            </a:xfrm>
          </p:grpSpPr>
          <p:cxnSp>
            <p:nvCxnSpPr>
              <p:cNvPr id="14" name="直接连接符 13">
                <a:extLst>
                  <a:ext uri="{FF2B5EF4-FFF2-40B4-BE49-F238E27FC236}">
                    <a16:creationId xmlns="" xmlns:a16="http://schemas.microsoft.com/office/drawing/2014/main" id="{30B90FE3-7824-4EBF-9E83-2C771C346416}"/>
                  </a:ext>
                </a:extLst>
              </p:cNvPr>
              <p:cNvCxnSpPr/>
              <p:nvPr/>
            </p:nvCxnSpPr>
            <p:spPr>
              <a:xfrm flipV="1">
                <a:off x="4259847" y="2237647"/>
                <a:ext cx="406286" cy="812572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dash"/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连接符 14">
                <a:extLst>
                  <a:ext uri="{FF2B5EF4-FFF2-40B4-BE49-F238E27FC236}">
                    <a16:creationId xmlns="" xmlns:a16="http://schemas.microsoft.com/office/drawing/2014/main" id="{170896DD-B154-49A2-9523-A868E927F68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256516" y="1859205"/>
                <a:ext cx="368711" cy="345074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dash"/>
                <a:headEnd type="non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6" name="直接连接符 15">
            <a:extLst>
              <a:ext uri="{FF2B5EF4-FFF2-40B4-BE49-F238E27FC236}">
                <a16:creationId xmlns="" xmlns:a16="http://schemas.microsoft.com/office/drawing/2014/main" id="{FE5DCEFF-B2C1-4C5F-878B-5B42A928F5A9}"/>
              </a:ext>
            </a:extLst>
          </p:cNvPr>
          <p:cNvCxnSpPr>
            <a:cxnSpLocks/>
          </p:cNvCxnSpPr>
          <p:nvPr/>
        </p:nvCxnSpPr>
        <p:spPr>
          <a:xfrm>
            <a:off x="7565045" y="3274062"/>
            <a:ext cx="366446" cy="73289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="" xmlns:a16="http://schemas.microsoft.com/office/drawing/2014/main" id="{CC176908-2C40-4751-993B-35078FB5CB30}"/>
              </a:ext>
            </a:extLst>
          </p:cNvPr>
          <p:cNvCxnSpPr/>
          <p:nvPr/>
        </p:nvCxnSpPr>
        <p:spPr>
          <a:xfrm>
            <a:off x="6365445" y="4997319"/>
            <a:ext cx="107236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îSlîdè">
            <a:extLst>
              <a:ext uri="{FF2B5EF4-FFF2-40B4-BE49-F238E27FC236}">
                <a16:creationId xmlns="" xmlns:a16="http://schemas.microsoft.com/office/drawing/2014/main" id="{DF7AEADF-2118-4817-8CEA-616C666A0851}"/>
              </a:ext>
            </a:extLst>
          </p:cNvPr>
          <p:cNvSpPr/>
          <p:nvPr/>
        </p:nvSpPr>
        <p:spPr>
          <a:xfrm>
            <a:off x="5973153" y="1451359"/>
            <a:ext cx="1883664" cy="1626114"/>
          </a:xfrm>
          <a:prstGeom prst="hexagon">
            <a:avLst/>
          </a:prstGeom>
          <a:blipFill dpi="0" rotWithShape="1">
            <a:blip r:embed="rId2"/>
            <a:srcRect/>
            <a:tile tx="0" ty="-215900" sx="100000" sy="100000" flip="none" algn="ctr"/>
          </a:blip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íṡlîďè">
            <a:extLst>
              <a:ext uri="{FF2B5EF4-FFF2-40B4-BE49-F238E27FC236}">
                <a16:creationId xmlns="" xmlns:a16="http://schemas.microsoft.com/office/drawing/2014/main" id="{F2CFBEBA-8D9B-4CF1-AD3F-0CEF4BB71ECC}"/>
              </a:ext>
            </a:extLst>
          </p:cNvPr>
          <p:cNvSpPr/>
          <p:nvPr/>
        </p:nvSpPr>
        <p:spPr>
          <a:xfrm>
            <a:off x="4367902" y="2356121"/>
            <a:ext cx="1883664" cy="1626114"/>
          </a:xfrm>
          <a:prstGeom prst="hexagon">
            <a:avLst/>
          </a:prstGeom>
          <a:solidFill>
            <a:srgbClr val="1257F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anchor="ctr">
            <a:normAutofit/>
          </a:bodyPr>
          <a:lstStyle/>
          <a:p>
            <a:pPr algn="ctr"/>
            <a:r>
              <a:rPr lang="zh-CN" altLang="en-US" sz="2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北京闻荫科技</a:t>
            </a:r>
            <a:endParaRPr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iṣ1îḍé">
            <a:extLst>
              <a:ext uri="{FF2B5EF4-FFF2-40B4-BE49-F238E27FC236}">
                <a16:creationId xmlns="" xmlns:a16="http://schemas.microsoft.com/office/drawing/2014/main" id="{53A216A4-74A1-4AE9-B340-7531B0E5B3D2}"/>
              </a:ext>
            </a:extLst>
          </p:cNvPr>
          <p:cNvSpPr/>
          <p:nvPr/>
        </p:nvSpPr>
        <p:spPr>
          <a:xfrm>
            <a:off x="2738613" y="3251254"/>
            <a:ext cx="1883664" cy="1626114"/>
          </a:xfrm>
          <a:prstGeom prst="hexagon">
            <a:avLst/>
          </a:prstGeom>
          <a:blipFill dpi="0" rotWithShape="1">
            <a:blip r:embed="rId3"/>
            <a:srcRect/>
            <a:stretch>
              <a:fillRect l="-14844" r="-14646"/>
            </a:stretch>
          </a:blip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islïḓe">
            <a:extLst>
              <a:ext uri="{FF2B5EF4-FFF2-40B4-BE49-F238E27FC236}">
                <a16:creationId xmlns="" xmlns:a16="http://schemas.microsoft.com/office/drawing/2014/main" id="{8685996B-66FF-456A-86BB-6A5DC97B5C7C}"/>
              </a:ext>
            </a:extLst>
          </p:cNvPr>
          <p:cNvSpPr/>
          <p:nvPr/>
        </p:nvSpPr>
        <p:spPr>
          <a:xfrm>
            <a:off x="5966474" y="3260630"/>
            <a:ext cx="1883664" cy="1626114"/>
          </a:xfrm>
          <a:prstGeom prst="hexagon">
            <a:avLst/>
          </a:prstGeom>
          <a:solidFill>
            <a:srgbClr val="1257F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anchor="ctr">
            <a:normAutofit fontScale="92500" lnSpcReduction="20000"/>
          </a:bodyPr>
          <a:lstStyle/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富智</a:t>
            </a:r>
            <a:r>
              <a:rPr lang="zh-CN" altLang="en-US" sz="2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康精密</a:t>
            </a:r>
            <a:endParaRPr lang="en-US" altLang="zh-CN" sz="20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2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电子</a:t>
            </a:r>
            <a:endParaRPr lang="en-US" altLang="zh-CN" sz="20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2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（廊坊）</a:t>
            </a:r>
            <a:endParaRPr lang="en-US" altLang="zh-CN" sz="20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2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有限公司</a:t>
            </a:r>
            <a:endParaRPr lang="en-US" altLang="zh-CN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íṧľiḑê">
            <a:extLst>
              <a:ext uri="{FF2B5EF4-FFF2-40B4-BE49-F238E27FC236}">
                <a16:creationId xmlns="" xmlns:a16="http://schemas.microsoft.com/office/drawing/2014/main" id="{79055E09-9A9B-4D4A-8A54-6632E3EA4343}"/>
              </a:ext>
            </a:extLst>
          </p:cNvPr>
          <p:cNvSpPr/>
          <p:nvPr/>
        </p:nvSpPr>
        <p:spPr>
          <a:xfrm>
            <a:off x="7569723" y="4126904"/>
            <a:ext cx="1883664" cy="1626114"/>
          </a:xfrm>
          <a:prstGeom prst="hexagon">
            <a:avLst/>
          </a:prstGeom>
          <a:blipFill dpi="0" rotWithShape="1">
            <a:blip r:embed="rId4"/>
            <a:srcRect/>
            <a:tile tx="527050" ty="152400" sx="100000" sy="100000" flip="none" algn="r"/>
          </a:blip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ïṥ1îḓé">
            <a:extLst>
              <a:ext uri="{FF2B5EF4-FFF2-40B4-BE49-F238E27FC236}">
                <a16:creationId xmlns="" xmlns:a16="http://schemas.microsoft.com/office/drawing/2014/main" id="{7C411E42-E51E-4E6D-B557-B5B0CD61EB73}"/>
              </a:ext>
            </a:extLst>
          </p:cNvPr>
          <p:cNvSpPr txBox="1"/>
          <p:nvPr/>
        </p:nvSpPr>
        <p:spPr>
          <a:xfrm>
            <a:off x="673100" y="1208858"/>
            <a:ext cx="3538267" cy="650348"/>
          </a:xfrm>
          <a:prstGeom prst="rect">
            <a:avLst/>
          </a:prstGeom>
          <a:solidFill>
            <a:srgbClr val="8EBAE2"/>
          </a:solidFill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defRPr/>
            </a:pPr>
            <a:r>
              <a:rPr lang="en-US" altLang="zh-CN" b="1" dirty="0" smtClea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Java </a:t>
            </a:r>
            <a:r>
              <a:rPr lang="zh-CN" alt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软</a:t>
            </a:r>
            <a:r>
              <a:rPr lang="zh-CN" altLang="en-US" b="1" dirty="0" smtClea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件工程师 </a:t>
            </a:r>
            <a:r>
              <a:rPr lang="en-US" altLang="zh-CN" b="1" dirty="0" smtClea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2012.7-2013.6</a:t>
            </a:r>
            <a:endParaRPr kumimoji="0" lang="de-DE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ïšľíḍê">
            <a:extLst>
              <a:ext uri="{FF2B5EF4-FFF2-40B4-BE49-F238E27FC236}">
                <a16:creationId xmlns="" xmlns:a16="http://schemas.microsoft.com/office/drawing/2014/main" id="{829472C4-6652-47C9-85BF-B914ADC0CE80}"/>
              </a:ext>
            </a:extLst>
          </p:cNvPr>
          <p:cNvSpPr txBox="1"/>
          <p:nvPr/>
        </p:nvSpPr>
        <p:spPr>
          <a:xfrm>
            <a:off x="673100" y="1859205"/>
            <a:ext cx="3538267" cy="75071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buNone/>
            </a:pPr>
            <a:r>
              <a:rPr lang="zh-CN" altLang="en-US" sz="1600" b="1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charset="-122"/>
              </a:rPr>
              <a:t>主要完成对企业内部定制应用程序的开发，测试，维护工作</a:t>
            </a:r>
            <a:endParaRPr lang="zh-CN" altLang="en-US" sz="1600" b="1" dirty="0">
              <a:solidFill>
                <a:schemeClr val="bg2">
                  <a:lumMod val="1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charset="-122"/>
            </a:endParaRPr>
          </a:p>
        </p:txBody>
      </p:sp>
      <p:sp>
        <p:nvSpPr>
          <p:cNvPr id="29" name="iṡḷïḑê">
            <a:extLst>
              <a:ext uri="{FF2B5EF4-FFF2-40B4-BE49-F238E27FC236}">
                <a16:creationId xmlns="" xmlns:a16="http://schemas.microsoft.com/office/drawing/2014/main" id="{92A5A592-2AE0-45C6-8420-7939175993FA}"/>
              </a:ext>
            </a:extLst>
          </p:cNvPr>
          <p:cNvSpPr txBox="1"/>
          <p:nvPr/>
        </p:nvSpPr>
        <p:spPr>
          <a:xfrm>
            <a:off x="673100" y="5518707"/>
            <a:ext cx="3600471" cy="6249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rmAutofit/>
          </a:bodyPr>
          <a:lstStyle/>
          <a:p>
            <a:pPr>
              <a:lnSpc>
                <a:spcPct val="110000"/>
              </a:lnSpc>
              <a:spcBef>
                <a:spcPct val="0"/>
              </a:spcBef>
              <a:buNone/>
            </a:pPr>
            <a:endParaRPr lang="zh-CN" altLang="en-US" sz="1200" dirty="0">
              <a:solidFill>
                <a:schemeClr val="bg2">
                  <a:lumMod val="1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charset="-122"/>
            </a:endParaRPr>
          </a:p>
        </p:txBody>
      </p:sp>
      <p:sp>
        <p:nvSpPr>
          <p:cNvPr id="30" name="iṡḷiḍe">
            <a:extLst>
              <a:ext uri="{FF2B5EF4-FFF2-40B4-BE49-F238E27FC236}">
                <a16:creationId xmlns="" xmlns:a16="http://schemas.microsoft.com/office/drawing/2014/main" id="{21BE4A19-8596-4569-AAF4-02FF698165C2}"/>
              </a:ext>
            </a:extLst>
          </p:cNvPr>
          <p:cNvSpPr txBox="1"/>
          <p:nvPr/>
        </p:nvSpPr>
        <p:spPr>
          <a:xfrm>
            <a:off x="7856817" y="2594168"/>
            <a:ext cx="3600471" cy="430455"/>
          </a:xfrm>
          <a:prstGeom prst="rect">
            <a:avLst/>
          </a:prstGeom>
          <a:solidFill>
            <a:srgbClr val="8EBAE2"/>
          </a:solidFill>
          <a:ln>
            <a:noFill/>
          </a:ln>
        </p:spPr>
        <p:txBody>
          <a:bodyPr wrap="square" lIns="91440" tIns="45720" rIns="91440" bIns="45720" anchor="ctr" anchorCtr="0">
            <a:normAutofit/>
          </a:bodyPr>
          <a:lstStyle/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defRPr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</a:t>
            </a:r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统管理工程师 </a:t>
            </a:r>
            <a:r>
              <a:rPr lang="en-US" altLang="zh-CN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2013.6-</a:t>
            </a:r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至今</a:t>
            </a:r>
            <a:endParaRPr kumimoji="0" lang="de-DE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iš1íďê">
            <a:extLst>
              <a:ext uri="{FF2B5EF4-FFF2-40B4-BE49-F238E27FC236}">
                <a16:creationId xmlns="" xmlns:a16="http://schemas.microsoft.com/office/drawing/2014/main" id="{0A930535-3C91-44BE-A898-AB3E9AD4457F}"/>
              </a:ext>
            </a:extLst>
          </p:cNvPr>
          <p:cNvSpPr txBox="1"/>
          <p:nvPr/>
        </p:nvSpPr>
        <p:spPr>
          <a:xfrm>
            <a:off x="7833511" y="2970791"/>
            <a:ext cx="3600471" cy="6249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buNone/>
            </a:pPr>
            <a:r>
              <a:rPr lang="zh-CN" altLang="en-US" sz="1600" b="1" dirty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charset="-122"/>
              </a:rPr>
              <a:t>负责</a:t>
            </a:r>
            <a:r>
              <a:rPr lang="zh-CN" altLang="en-US" sz="1600" b="1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charset="-122"/>
              </a:rPr>
              <a:t>企业生产管理软件的需求分析，系统设计，开发，维护，测试，交付等工作</a:t>
            </a:r>
            <a:endParaRPr lang="zh-CN" altLang="en-US" sz="1600" b="1" dirty="0">
              <a:solidFill>
                <a:schemeClr val="bg2">
                  <a:lumMod val="1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11129395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4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8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000"/>
                            </p:stCondLst>
                            <p:childTnLst>
                              <p:par>
                                <p:cTn id="62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4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 tmFilter="0, 0; .2, .5; .8, .5; 1, 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25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8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500" tmFilter="0, 0; .2, .5; .8, .5; 1, 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0" dur="25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0" grpId="1" animBg="1"/>
      <p:bldP spid="21" grpId="0" animBg="1"/>
      <p:bldP spid="22" grpId="0" animBg="1"/>
      <p:bldP spid="22" grpId="1" animBg="1"/>
      <p:bldP spid="24" grpId="0" animBg="1"/>
      <p:bldP spid="25" grpId="0" animBg="1"/>
      <p:bldP spid="25" grpId="1" animBg="1"/>
      <p:bldP spid="26" grpId="0" animBg="1"/>
      <p:bldP spid="27" grpId="0"/>
      <p:bldP spid="29" grpId="0"/>
      <p:bldP spid="30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="" xmlns:a16="http://schemas.microsoft.com/office/drawing/2014/main" id="{7C710A07-2A28-40EC-8D93-D7387474F0E6}"/>
              </a:ext>
            </a:extLst>
          </p:cNvPr>
          <p:cNvSpPr/>
          <p:nvPr/>
        </p:nvSpPr>
        <p:spPr>
          <a:xfrm>
            <a:off x="-28836" y="1053684"/>
            <a:ext cx="12192001" cy="5804316"/>
          </a:xfrm>
          <a:prstGeom prst="rect">
            <a:avLst/>
          </a:prstGeom>
          <a:blipFill dpi="0" rotWithShape="1">
            <a:blip r:embed="rId2">
              <a:alphaModFix amt="10000"/>
            </a:blip>
            <a:srcRect/>
            <a:stretch>
              <a:fillRect t="1" b="-1815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="" xmlns:a16="http://schemas.microsoft.com/office/drawing/2014/main" id="{E007A7BA-1DE5-4665-9D30-DF265963F3B3}"/>
              </a:ext>
            </a:extLst>
          </p:cNvPr>
          <p:cNvSpPr/>
          <p:nvPr/>
        </p:nvSpPr>
        <p:spPr>
          <a:xfrm>
            <a:off x="-57671" y="1657350"/>
            <a:ext cx="12249671" cy="390525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9" name="任意多边形: 形状 8">
            <a:extLst>
              <a:ext uri="{FF2B5EF4-FFF2-40B4-BE49-F238E27FC236}">
                <a16:creationId xmlns="" xmlns:a16="http://schemas.microsoft.com/office/drawing/2014/main" id="{D6B1D381-2032-4BBA-9BCC-3F2ED3F7A23C}"/>
              </a:ext>
            </a:extLst>
          </p:cNvPr>
          <p:cNvSpPr/>
          <p:nvPr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="" xmlns:a16="http://schemas.microsoft.com/office/drawing/2014/main" id="{D3C6F1E2-5A04-4423-A6C1-9B04901EF96E}"/>
              </a:ext>
            </a:extLst>
          </p:cNvPr>
          <p:cNvSpPr/>
          <p:nvPr/>
        </p:nvSpPr>
        <p:spPr>
          <a:xfrm flipH="1">
            <a:off x="-47886" y="2076450"/>
            <a:ext cx="12240000" cy="3009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="" xmlns:a16="http://schemas.microsoft.com/office/drawing/2014/main" id="{14B152BA-FB3A-4DEF-97AF-2D3132A6379B}"/>
              </a:ext>
            </a:extLst>
          </p:cNvPr>
          <p:cNvGrpSpPr/>
          <p:nvPr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10" name="任意多边形: 形状 9">
              <a:extLst>
                <a:ext uri="{FF2B5EF4-FFF2-40B4-BE49-F238E27FC236}">
                  <a16:creationId xmlns="" xmlns:a16="http://schemas.microsoft.com/office/drawing/2014/main" id="{616D1BA4-5DFB-495C-B4C0-D9BF0BD2A928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="" xmlns:a16="http://schemas.microsoft.com/office/drawing/2014/main" id="{A7585635-9F29-4E63-8ED6-2D0E97E9D29A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="" xmlns:a16="http://schemas.microsoft.com/office/drawing/2014/main" id="{5D8AB465-9371-4219-94C0-2D44DDA759B9}"/>
              </a:ext>
            </a:extLst>
          </p:cNvPr>
          <p:cNvSpPr txBox="1"/>
          <p:nvPr/>
        </p:nvSpPr>
        <p:spPr>
          <a:xfrm>
            <a:off x="504801" y="2381071"/>
            <a:ext cx="266059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5000" dirty="0">
                <a:ln w="15875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15000" dirty="0">
              <a:ln w="15875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="" xmlns:a16="http://schemas.microsoft.com/office/drawing/2014/main" id="{B4E23612-32A5-4085-A451-FACD073E4899}"/>
              </a:ext>
            </a:extLst>
          </p:cNvPr>
          <p:cNvSpPr txBox="1"/>
          <p:nvPr/>
        </p:nvSpPr>
        <p:spPr>
          <a:xfrm>
            <a:off x="4686426" y="2778864"/>
            <a:ext cx="4492584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7500" b="1" dirty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主</a:t>
            </a:r>
            <a:r>
              <a:rPr lang="zh-CN" altLang="en-US" sz="7500" b="1" dirty="0" smtClean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导项目</a:t>
            </a:r>
            <a:endParaRPr lang="zh-CN" altLang="en-US" sz="7500" b="1" dirty="0">
              <a:ln w="19050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="" xmlns:a16="http://schemas.microsoft.com/office/drawing/2014/main" id="{7C710A07-2A28-40EC-8D93-D7387474F0E6}"/>
              </a:ext>
            </a:extLst>
          </p:cNvPr>
          <p:cNvSpPr/>
          <p:nvPr/>
        </p:nvSpPr>
        <p:spPr>
          <a:xfrm>
            <a:off x="-28836" y="1053684"/>
            <a:ext cx="12192001" cy="5804316"/>
          </a:xfrm>
          <a:prstGeom prst="rect">
            <a:avLst/>
          </a:prstGeom>
          <a:blipFill dpi="0" rotWithShape="1">
            <a:blip r:embed="rId2">
              <a:alphaModFix amt="10000"/>
            </a:blip>
            <a:srcRect/>
            <a:stretch>
              <a:fillRect t="1" b="-1815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="" xmlns:a16="http://schemas.microsoft.com/office/drawing/2014/main" id="{E007A7BA-1DE5-4665-9D30-DF265963F3B3}"/>
              </a:ext>
            </a:extLst>
          </p:cNvPr>
          <p:cNvSpPr/>
          <p:nvPr/>
        </p:nvSpPr>
        <p:spPr>
          <a:xfrm>
            <a:off x="-57671" y="1657350"/>
            <a:ext cx="12249671" cy="390525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32" name="任意多边形: 形状 8">
            <a:extLst>
              <a:ext uri="{FF2B5EF4-FFF2-40B4-BE49-F238E27FC236}">
                <a16:creationId xmlns="" xmlns:a16="http://schemas.microsoft.com/office/drawing/2014/main" id="{D6B1D381-2032-4BBA-9BCC-3F2ED3F7A23C}"/>
              </a:ext>
            </a:extLst>
          </p:cNvPr>
          <p:cNvSpPr/>
          <p:nvPr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="" xmlns:a16="http://schemas.microsoft.com/office/drawing/2014/main" id="{D3C6F1E2-5A04-4423-A6C1-9B04901EF96E}"/>
              </a:ext>
            </a:extLst>
          </p:cNvPr>
          <p:cNvSpPr/>
          <p:nvPr/>
        </p:nvSpPr>
        <p:spPr>
          <a:xfrm flipH="1">
            <a:off x="-47886" y="2076450"/>
            <a:ext cx="12240000" cy="3009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grpSp>
        <p:nvGrpSpPr>
          <p:cNvPr id="34" name="组合 7">
            <a:extLst>
              <a:ext uri="{FF2B5EF4-FFF2-40B4-BE49-F238E27FC236}">
                <a16:creationId xmlns="" xmlns:a16="http://schemas.microsoft.com/office/drawing/2014/main" id="{14B152BA-FB3A-4DEF-97AF-2D3132A6379B}"/>
              </a:ext>
            </a:extLst>
          </p:cNvPr>
          <p:cNvGrpSpPr/>
          <p:nvPr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35" name="任意多边形: 形状 9">
              <a:extLst>
                <a:ext uri="{FF2B5EF4-FFF2-40B4-BE49-F238E27FC236}">
                  <a16:creationId xmlns="" xmlns:a16="http://schemas.microsoft.com/office/drawing/2014/main" id="{616D1BA4-5DFB-495C-B4C0-D9BF0BD2A928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  <p:sp>
          <p:nvSpPr>
            <p:cNvPr id="36" name="任意多边形: 形状 21">
              <a:extLst>
                <a:ext uri="{FF2B5EF4-FFF2-40B4-BE49-F238E27FC236}">
                  <a16:creationId xmlns="" xmlns:a16="http://schemas.microsoft.com/office/drawing/2014/main" id="{A7585635-9F29-4E63-8ED6-2D0E97E9D29A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</p:grpSp>
      <p:sp>
        <p:nvSpPr>
          <p:cNvPr id="37" name="文本框 27">
            <a:extLst>
              <a:ext uri="{FF2B5EF4-FFF2-40B4-BE49-F238E27FC236}">
                <a16:creationId xmlns="" xmlns:a16="http://schemas.microsoft.com/office/drawing/2014/main" id="{5D8AB465-9371-4219-94C0-2D44DDA759B9}"/>
              </a:ext>
            </a:extLst>
          </p:cNvPr>
          <p:cNvSpPr txBox="1"/>
          <p:nvPr/>
        </p:nvSpPr>
        <p:spPr>
          <a:xfrm>
            <a:off x="504801" y="2381071"/>
            <a:ext cx="266059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5000" dirty="0" smtClean="0">
                <a:ln w="15875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15000" dirty="0">
              <a:ln w="15875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文本框 28">
            <a:extLst>
              <a:ext uri="{FF2B5EF4-FFF2-40B4-BE49-F238E27FC236}">
                <a16:creationId xmlns="" xmlns:a16="http://schemas.microsoft.com/office/drawing/2014/main" id="{B4E23612-32A5-4085-A451-FACD073E4899}"/>
              </a:ext>
            </a:extLst>
          </p:cNvPr>
          <p:cNvSpPr txBox="1"/>
          <p:nvPr/>
        </p:nvSpPr>
        <p:spPr>
          <a:xfrm>
            <a:off x="4686426" y="2438042"/>
            <a:ext cx="4492584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7500" b="1" dirty="0" smtClean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主导项目</a:t>
            </a:r>
            <a:endParaRPr lang="zh-CN" altLang="en-US" sz="7500" b="1" dirty="0">
              <a:ln w="19050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39" name="íṧḷîḓé">
            <a:extLst>
              <a:ext uri="{FF2B5EF4-FFF2-40B4-BE49-F238E27FC236}">
                <a16:creationId xmlns="" xmlns:a16="http://schemas.microsoft.com/office/drawing/2014/main" id="{6EF993AD-9179-4D46-8B81-636085C1AF40}"/>
              </a:ext>
            </a:extLst>
          </p:cNvPr>
          <p:cNvSpPr/>
          <p:nvPr/>
        </p:nvSpPr>
        <p:spPr bwMode="auto">
          <a:xfrm>
            <a:off x="5408021" y="3861605"/>
            <a:ext cx="1768290" cy="3856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171450" indent="-1714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项</a:t>
            </a:r>
            <a:r>
              <a:rPr lang="zh-CN" altLang="en-US" sz="14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目信息</a:t>
            </a:r>
            <a:endParaRPr lang="zh-CN" altLang="en-US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40" name="íṧḷîḓé">
            <a:extLst>
              <a:ext uri="{FF2B5EF4-FFF2-40B4-BE49-F238E27FC236}">
                <a16:creationId xmlns="" xmlns:a16="http://schemas.microsoft.com/office/drawing/2014/main" id="{61C32C76-6039-421F-AD48-32668F12D82A}"/>
              </a:ext>
            </a:extLst>
          </p:cNvPr>
          <p:cNvSpPr/>
          <p:nvPr/>
        </p:nvSpPr>
        <p:spPr bwMode="auto">
          <a:xfrm>
            <a:off x="7073116" y="3856942"/>
            <a:ext cx="1768290" cy="3856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171450" indent="-1714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项</a:t>
            </a:r>
            <a:r>
              <a:rPr lang="zh-CN" altLang="en-US" sz="14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目功能</a:t>
            </a:r>
            <a:endParaRPr lang="zh-CN" altLang="en-US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4904197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7" grpId="0"/>
      <p:bldP spid="38" grpId="0"/>
      <p:bldP spid="39" grpId="0"/>
      <p:bldP spid="4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6025669" y="2347849"/>
            <a:ext cx="5315376" cy="4865004"/>
            <a:chOff x="6025669" y="2347849"/>
            <a:chExt cx="5315376" cy="4865004"/>
          </a:xfrm>
        </p:grpSpPr>
        <p:sp>
          <p:nvSpPr>
            <p:cNvPr id="4" name="五边形 30"/>
            <p:cNvSpPr/>
            <p:nvPr/>
          </p:nvSpPr>
          <p:spPr>
            <a:xfrm>
              <a:off x="6078230" y="2347849"/>
              <a:ext cx="5262815" cy="420047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219170"/>
              <a:r>
                <a:rPr lang="en-US" altLang="zh-CN" sz="2133" kern="0" dirty="0" smtClean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03 </a:t>
              </a:r>
              <a:r>
                <a:rPr lang="zh-CN" altLang="en-US" sz="2133" kern="0" dirty="0" smtClean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分析维修技享平台 </a:t>
              </a:r>
              <a:r>
                <a:rPr lang="en-US" altLang="zh-CN" sz="2133" kern="0" dirty="0" smtClean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2021</a:t>
              </a:r>
              <a:endParaRPr lang="zh-CN" altLang="en-US" sz="2133" kern="0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6025669" y="3227147"/>
              <a:ext cx="2520277" cy="398570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defTabSz="1219170">
                <a:lnSpc>
                  <a:spcPct val="150000"/>
                </a:lnSpc>
              </a:pPr>
              <a:r>
                <a:rPr lang="zh-CN" altLang="en-US" sz="1600" b="1" kern="0" dirty="0" smtClean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担任角色</a:t>
              </a:r>
              <a:r>
                <a:rPr lang="zh-CN" altLang="en-US" sz="1600" kern="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</a:t>
              </a:r>
              <a:r>
                <a:rPr lang="zh-CN" altLang="en-US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主程</a:t>
              </a:r>
              <a:endParaRPr lang="en-US" altLang="zh-CN" sz="1600" kern="0" dirty="0" smtClean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1219170">
                <a:lnSpc>
                  <a:spcPct val="150000"/>
                </a:lnSpc>
              </a:pPr>
              <a:r>
                <a:rPr lang="zh-CN" altLang="en-US" sz="1600" b="1" kern="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项</a:t>
              </a:r>
              <a:r>
                <a:rPr lang="zh-CN" altLang="en-US" sz="1600" b="1" kern="0" dirty="0" smtClean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目背景</a:t>
              </a:r>
              <a:r>
                <a:rPr lang="zh-CN" altLang="en-US" sz="1600" kern="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</a:t>
              </a:r>
              <a:r>
                <a:rPr lang="zh-CN" altLang="en-US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公司维修部门没有一套在线学习手机维修知识的网站系统，需要开发学习网站，实现在线学习，在线考试，在线评分功能。</a:t>
              </a:r>
              <a:endParaRPr lang="en-US" altLang="zh-CN" sz="1600" kern="0" dirty="0" smtClean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r>
                <a:rPr lang="zh-CN" altLang="en-US" sz="1600" b="1" kern="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语言与平台</a:t>
              </a:r>
              <a:r>
                <a:rPr lang="zh-CN" altLang="en-US" sz="1600" kern="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</a:t>
              </a:r>
              <a:endParaRPr lang="en-US" altLang="zh-CN" sz="1600" dirty="0">
                <a:solidFill>
                  <a:srgbClr val="0000FF"/>
                </a:solidFill>
                <a:latin typeface="Microsoft YaHei" panose="020B0503020204020204" pitchFamily="34" charset="-122"/>
                <a:ea typeface="站酷快乐体2016修订版" charset="-122"/>
              </a:endParaRPr>
            </a:p>
            <a:p>
              <a:r>
                <a:rPr lang="en-US" altLang="zh-CN" sz="1600" dirty="0" smtClean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Razor page</a:t>
              </a:r>
              <a:endParaRPr lang="en-US" altLang="zh-CN" sz="1600" dirty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endParaRPr>
            </a:p>
            <a:p>
              <a:r>
                <a:rPr lang="en-US" altLang="zh-CN" sz="1600" dirty="0" smtClean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.NET 5.0</a:t>
              </a:r>
            </a:p>
            <a:p>
              <a:r>
                <a:rPr lang="en-US" altLang="zh-CN" sz="1600" dirty="0" smtClean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C</a:t>
              </a:r>
              <a:r>
                <a:rPr lang="en-US" altLang="zh-CN" sz="1600" dirty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#,</a:t>
              </a:r>
              <a:r>
                <a:rPr lang="en-US" altLang="zh-CN" sz="1600" dirty="0" smtClean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SQL</a:t>
              </a:r>
              <a:r>
                <a:rPr lang="en-US" altLang="zh-CN" sz="1600" dirty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,</a:t>
              </a:r>
              <a:r>
                <a:rPr lang="en-US" altLang="zh-CN" sz="1600" dirty="0" smtClean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ABP</a:t>
              </a:r>
              <a:endParaRPr lang="en-US" altLang="zh-CN" sz="1600" dirty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endParaRPr>
            </a:p>
            <a:p>
              <a:pPr defTabSz="1219170">
                <a:lnSpc>
                  <a:spcPct val="150000"/>
                </a:lnSpc>
              </a:pPr>
              <a:r>
                <a:rPr lang="en-US" altLang="zh-CN" sz="1400" kern="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</a:t>
              </a:r>
            </a:p>
          </p:txBody>
        </p:sp>
      </p:grpSp>
      <p:grpSp>
        <p:nvGrpSpPr>
          <p:cNvPr id="21" name="组合 20"/>
          <p:cNvGrpSpPr/>
          <p:nvPr/>
        </p:nvGrpSpPr>
        <p:grpSpPr>
          <a:xfrm>
            <a:off x="725699" y="1508787"/>
            <a:ext cx="10615349" cy="5680983"/>
            <a:chOff x="725699" y="1508787"/>
            <a:chExt cx="10615349" cy="5680983"/>
          </a:xfrm>
        </p:grpSpPr>
        <p:sp>
          <p:nvSpPr>
            <p:cNvPr id="2" name="五边形 27"/>
            <p:cNvSpPr/>
            <p:nvPr/>
          </p:nvSpPr>
          <p:spPr>
            <a:xfrm>
              <a:off x="815417" y="1508787"/>
              <a:ext cx="10525631" cy="420047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219170"/>
              <a:r>
                <a:rPr lang="en-US" altLang="zh-CN" sz="2133" kern="0" dirty="0" smtClean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01 </a:t>
              </a:r>
              <a:r>
                <a:rPr lang="zh-CN" altLang="en-US" sz="2133" kern="0" dirty="0" smtClean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治具利旧管理系统 </a:t>
              </a:r>
              <a:r>
                <a:rPr lang="en-US" altLang="zh-CN" sz="2133" kern="0" dirty="0" smtClean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2018</a:t>
              </a:r>
              <a:endParaRPr lang="zh-CN" altLang="en-US" sz="2133" kern="0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725699" y="2096068"/>
              <a:ext cx="2522945" cy="50937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defTabSz="1219170">
                <a:lnSpc>
                  <a:spcPct val="150000"/>
                </a:lnSpc>
              </a:pPr>
              <a:r>
                <a:rPr lang="zh-CN" altLang="en-US" sz="1600" b="1" kern="0" dirty="0" smtClean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担任角色</a:t>
              </a:r>
              <a:r>
                <a:rPr lang="zh-CN" altLang="en-US" sz="1600" kern="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 </a:t>
              </a:r>
              <a:r>
                <a:rPr lang="zh-CN" altLang="en-US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项目负责人</a:t>
              </a:r>
              <a:endParaRPr lang="en-US" altLang="zh-CN" sz="1600" kern="0" dirty="0" smtClean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>
                <a:lnSpc>
                  <a:spcPct val="150000"/>
                </a:lnSpc>
                <a:spcBef>
                  <a:spcPct val="0"/>
                </a:spcBef>
                <a:defRPr/>
              </a:pPr>
              <a:r>
                <a:rPr lang="zh-CN" altLang="en-US" sz="1600" b="1" kern="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项</a:t>
              </a:r>
              <a:r>
                <a:rPr lang="zh-CN" altLang="en-US" sz="1600" b="1" kern="0" dirty="0" smtClean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目背景</a:t>
              </a:r>
              <a:r>
                <a:rPr lang="zh-CN" altLang="en-US" sz="1600" kern="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</a:t>
              </a:r>
              <a:r>
                <a:rPr lang="en-US" altLang="zh-CN" sz="160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1.</a:t>
              </a:r>
              <a:r>
                <a:rPr lang="zh-CN" altLang="en-US" sz="160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公司仓库部门无对应的系统对已经利旧的治具进行管理，仓库管理员采用纸档，电子档管理治具档案容易丢失。</a:t>
              </a:r>
              <a:r>
                <a:rPr lang="en-US" altLang="zh-CN" sz="160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            </a:t>
              </a:r>
            </a:p>
            <a:p>
              <a:pPr>
                <a:lnSpc>
                  <a:spcPct val="150000"/>
                </a:lnSpc>
                <a:spcBef>
                  <a:spcPct val="0"/>
                </a:spcBef>
                <a:defRPr/>
              </a:pPr>
              <a:r>
                <a:rPr lang="en-US" altLang="zh-CN" sz="160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                2.</a:t>
              </a:r>
              <a:r>
                <a:rPr lang="zh-CN" altLang="en-US" sz="160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希望可以实现作业无纸化</a:t>
              </a:r>
              <a:r>
                <a:rPr lang="en-US" altLang="zh-CN" sz="16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,</a:t>
              </a:r>
              <a:r>
                <a:rPr lang="zh-CN" altLang="en-US" sz="160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业务流程统一规范化，保证数据完整性，安全性。</a:t>
              </a:r>
              <a:endParaRPr lang="en-US" altLang="zh-CN" sz="1600" dirty="0" smtClean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r>
                <a:rPr lang="zh-CN" altLang="en-US" sz="1600" b="1" kern="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语言</a:t>
              </a:r>
              <a:r>
                <a:rPr lang="zh-CN" altLang="en-US" sz="1600" b="1" kern="0" dirty="0" smtClean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与平台</a:t>
              </a:r>
              <a:r>
                <a:rPr lang="zh-CN" altLang="en-US" sz="1600" kern="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</a:t>
              </a:r>
              <a:r>
                <a:rPr lang="en-US" altLang="zh-CN" sz="1600" dirty="0" err="1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Html+css+jquery+ajax</a:t>
              </a:r>
              <a:endParaRPr lang="en-US" altLang="zh-CN" sz="1600" dirty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endParaRPr>
            </a:p>
            <a:p>
              <a:r>
                <a:rPr lang="en-US" altLang="zh-CN" sz="1600" dirty="0" smtClean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Asp.net </a:t>
              </a:r>
              <a:r>
                <a:rPr lang="en-US" altLang="zh-CN" sz="1600" dirty="0" err="1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W</a:t>
              </a:r>
              <a:r>
                <a:rPr lang="en-US" altLang="zh-CN" sz="1600" dirty="0" err="1" smtClean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ebForm</a:t>
              </a:r>
              <a:r>
                <a:rPr lang="zh-CN" altLang="en-US" sz="1600" dirty="0" smtClean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，</a:t>
              </a:r>
              <a:endParaRPr lang="en-US" altLang="zh-CN" sz="1600" dirty="0" smtClean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endParaRPr>
            </a:p>
            <a:p>
              <a:r>
                <a:rPr lang="en-US" altLang="zh-CN" sz="1600" dirty="0" smtClean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C</a:t>
              </a:r>
              <a:r>
                <a:rPr lang="en-US" altLang="zh-CN" sz="1600" dirty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#,SQL</a:t>
              </a:r>
            </a:p>
            <a:p>
              <a:pPr>
                <a:lnSpc>
                  <a:spcPct val="150000"/>
                </a:lnSpc>
                <a:spcBef>
                  <a:spcPct val="0"/>
                </a:spcBef>
                <a:defRPr/>
              </a:pPr>
              <a:endParaRPr lang="zh-CN" altLang="en-US" sz="14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3335694" y="1927802"/>
            <a:ext cx="8005351" cy="5144417"/>
            <a:chOff x="3335694" y="1927802"/>
            <a:chExt cx="8005351" cy="5144417"/>
          </a:xfrm>
        </p:grpSpPr>
        <p:sp>
          <p:nvSpPr>
            <p:cNvPr id="3" name="五边形 28"/>
            <p:cNvSpPr/>
            <p:nvPr/>
          </p:nvSpPr>
          <p:spPr>
            <a:xfrm>
              <a:off x="3446821" y="1927802"/>
              <a:ext cx="7894224" cy="420047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219170"/>
              <a:r>
                <a:rPr lang="en-US" altLang="zh-CN" sz="2133" kern="0" dirty="0" smtClean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02 EMS1 </a:t>
              </a:r>
              <a:r>
                <a:rPr lang="zh-CN" altLang="en-US" sz="2133" kern="0" dirty="0" smtClean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知识管理系统 </a:t>
              </a:r>
              <a:r>
                <a:rPr lang="en-US" altLang="zh-CN" sz="2133" kern="0" dirty="0" smtClean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2019</a:t>
              </a:r>
              <a:endParaRPr lang="zh-CN" altLang="en-US" sz="2133" kern="0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3335694" y="2347849"/>
              <a:ext cx="2522945" cy="47243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defTabSz="1219170">
                <a:lnSpc>
                  <a:spcPct val="150000"/>
                </a:lnSpc>
              </a:pPr>
              <a:r>
                <a:rPr lang="zh-CN" altLang="en-US" sz="1600" b="1" kern="0" dirty="0" smtClean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担任角色</a:t>
              </a:r>
              <a:r>
                <a:rPr lang="zh-CN" altLang="en-US" sz="1600" kern="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</a:t>
              </a:r>
              <a:r>
                <a:rPr lang="zh-CN" altLang="en-US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主程</a:t>
              </a:r>
              <a:endParaRPr lang="en-US" altLang="zh-CN" sz="1600" kern="0" dirty="0" smtClean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1219170">
                <a:lnSpc>
                  <a:spcPct val="150000"/>
                </a:lnSpc>
              </a:pPr>
              <a:r>
                <a:rPr lang="zh-CN" altLang="en-US" sz="1600" b="1" kern="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项</a:t>
              </a:r>
              <a:r>
                <a:rPr lang="zh-CN" altLang="en-US" sz="1600" b="1" kern="0" dirty="0" smtClean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目背景</a:t>
              </a:r>
              <a:r>
                <a:rPr lang="zh-CN" altLang="en-US" sz="1600" kern="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</a:t>
              </a:r>
              <a:r>
                <a:rPr lang="zh-CN" altLang="en-US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公司品管部门对于一些机密的电子档文件需要统一进行管理，</a:t>
              </a:r>
              <a:r>
                <a:rPr lang="zh-CN" altLang="en-US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由于丢失</a:t>
              </a:r>
              <a:r>
                <a:rPr lang="zh-CN" altLang="en-US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了</a:t>
              </a:r>
              <a:r>
                <a:rPr lang="en-US" altLang="zh-CN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</a:t>
              </a:r>
              <a:r>
                <a:rPr lang="zh-CN" altLang="en-US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一些重要文件，需要开发文件管理系统，对文件进行统一管理。并实现机密文件的加密，解密，盖章，在线预</a:t>
              </a:r>
              <a:r>
                <a:rPr lang="zh-CN" altLang="en-US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览</a:t>
              </a:r>
              <a:r>
                <a:rPr lang="en-US" altLang="zh-CN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…</a:t>
              </a:r>
              <a:endParaRPr lang="en-US" altLang="zh-CN" sz="1600" kern="0" dirty="0" smtClean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r>
                <a:rPr lang="zh-CN" altLang="en-US" sz="1600" b="1" kern="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语言与平台</a:t>
              </a:r>
              <a:r>
                <a:rPr lang="zh-CN" altLang="en-US" sz="1600" kern="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</a:t>
              </a:r>
              <a:r>
                <a:rPr lang="en-US" altLang="zh-CN" sz="1600" dirty="0" err="1" smtClean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Razor,jquery,ajax</a:t>
              </a:r>
              <a:endParaRPr lang="en-US" altLang="zh-CN" sz="1600" dirty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endParaRPr>
            </a:p>
            <a:p>
              <a:r>
                <a:rPr lang="en-US" altLang="zh-CN" sz="1600" dirty="0" smtClean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Asp.net </a:t>
              </a:r>
              <a:r>
                <a:rPr lang="en-US" altLang="zh-CN" sz="1600" dirty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MVC</a:t>
              </a:r>
              <a:r>
                <a:rPr lang="en-US" altLang="zh-CN" sz="1600" dirty="0" smtClean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,</a:t>
              </a:r>
            </a:p>
            <a:p>
              <a:r>
                <a:rPr lang="en-US" altLang="zh-CN" sz="1600" dirty="0" smtClean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C</a:t>
              </a:r>
              <a:r>
                <a:rPr lang="en-US" altLang="zh-CN" sz="1600" dirty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#,SQL,ABP</a:t>
              </a:r>
            </a:p>
            <a:p>
              <a:pPr defTabSz="1219170">
                <a:lnSpc>
                  <a:spcPct val="150000"/>
                </a:lnSpc>
              </a:pPr>
              <a:endParaRPr lang="en-US" altLang="zh-CN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  <p:grpSp>
        <p:nvGrpSpPr>
          <p:cNvPr id="7" name="组合 6"/>
          <p:cNvGrpSpPr/>
          <p:nvPr/>
        </p:nvGrpSpPr>
        <p:grpSpPr>
          <a:xfrm>
            <a:off x="8336132" y="2766864"/>
            <a:ext cx="3004913" cy="4440380"/>
            <a:chOff x="8336132" y="2787498"/>
            <a:chExt cx="3004913" cy="4440380"/>
          </a:xfrm>
        </p:grpSpPr>
        <p:sp>
          <p:nvSpPr>
            <p:cNvPr id="5" name="五边形 32"/>
            <p:cNvSpPr/>
            <p:nvPr/>
          </p:nvSpPr>
          <p:spPr>
            <a:xfrm>
              <a:off x="8336132" y="2787498"/>
              <a:ext cx="3004913" cy="420047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219170"/>
              <a:r>
                <a:rPr lang="en-US" altLang="zh-CN" sz="2133" kern="0" dirty="0" smtClean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04 </a:t>
              </a:r>
              <a:r>
                <a:rPr lang="zh-CN" altLang="en-US" sz="2133" kern="0" dirty="0" smtClean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库存可视化 </a:t>
              </a:r>
              <a:r>
                <a:rPr lang="en-US" altLang="zh-CN" sz="2133" kern="0" dirty="0" smtClean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2022</a:t>
              </a:r>
              <a:endParaRPr lang="zh-CN" altLang="en-US" sz="2133" kern="0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8676287" y="3611503"/>
              <a:ext cx="2580283" cy="36163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defTabSz="1219170">
                <a:lnSpc>
                  <a:spcPct val="150000"/>
                </a:lnSpc>
              </a:pPr>
              <a:r>
                <a:rPr lang="zh-CN" altLang="en-US" sz="1600" b="1" kern="0" dirty="0" smtClean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担任角色</a:t>
              </a:r>
              <a:r>
                <a:rPr lang="zh-CN" altLang="en-US" sz="1600" kern="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</a:t>
              </a:r>
              <a:r>
                <a:rPr lang="zh-CN" altLang="en-US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主程</a:t>
              </a:r>
              <a:endParaRPr lang="en-US" altLang="zh-CN" sz="1600" kern="0" dirty="0" smtClean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1219170">
                <a:lnSpc>
                  <a:spcPct val="150000"/>
                </a:lnSpc>
              </a:pPr>
              <a:r>
                <a:rPr lang="zh-CN" altLang="en-US" sz="1600" b="1" kern="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项</a:t>
              </a:r>
              <a:r>
                <a:rPr lang="zh-CN" altLang="en-US" sz="1600" b="1" kern="0" dirty="0" smtClean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目背景</a:t>
              </a:r>
              <a:r>
                <a:rPr lang="zh-CN" altLang="en-US" sz="1600" kern="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</a:t>
              </a:r>
              <a:r>
                <a:rPr lang="en-US" altLang="zh-CN" sz="1600" kern="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</a:t>
              </a:r>
              <a:r>
                <a:rPr lang="zh-CN" altLang="en-US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公司产线部门需要一套实时查看库存数据的库存数据，但库存数据来自</a:t>
              </a:r>
              <a:r>
                <a:rPr lang="en-US" altLang="zh-CN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SAP</a:t>
              </a:r>
              <a:r>
                <a:rPr lang="zh-CN" altLang="en-US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系统，</a:t>
              </a:r>
              <a:r>
                <a:rPr lang="en-US" altLang="zh-CN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SAP</a:t>
              </a:r>
              <a:r>
                <a:rPr lang="zh-CN" altLang="en-US" sz="1600" kern="0" dirty="0" smtClean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系统无法满足可视化需求。</a:t>
              </a:r>
              <a:endParaRPr lang="en-US" altLang="zh-CN" sz="1600" kern="0" dirty="0" smtClean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r>
                <a:rPr lang="zh-CN" altLang="en-US" sz="1600" b="1" kern="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语言与平台</a:t>
              </a:r>
              <a:r>
                <a:rPr lang="zh-CN" altLang="en-US" sz="1600" kern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</a:t>
              </a:r>
              <a:endParaRPr lang="en-US" altLang="zh-CN" sz="1600" dirty="0">
                <a:solidFill>
                  <a:srgbClr val="0000FF"/>
                </a:solidFill>
                <a:latin typeface="Microsoft YaHei" panose="020B0503020204020204" pitchFamily="34" charset="-122"/>
                <a:ea typeface="站酷快乐体2016修订版" charset="-122"/>
              </a:endParaRPr>
            </a:p>
            <a:p>
              <a:r>
                <a:rPr lang="en-US" altLang="zh-CN" sz="1600" dirty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Razor page</a:t>
              </a:r>
            </a:p>
            <a:p>
              <a:r>
                <a:rPr lang="en-US" altLang="zh-CN" sz="1600" dirty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.NET 5.0</a:t>
              </a:r>
            </a:p>
            <a:p>
              <a:r>
                <a:rPr lang="en-US" altLang="zh-CN" sz="1600" dirty="0">
                  <a:solidFill>
                    <a:srgbClr val="0000FF"/>
                  </a:solidFill>
                  <a:latin typeface="站酷快乐体2016修订版" charset="-122"/>
                  <a:ea typeface="站酷快乐体2016修订版" charset="-122"/>
                </a:rPr>
                <a:t>C#,SQL,ABP</a:t>
              </a:r>
            </a:p>
            <a:p>
              <a:pPr defTabSz="1219170">
                <a:lnSpc>
                  <a:spcPct val="150000"/>
                </a:lnSpc>
              </a:pPr>
              <a:endParaRPr lang="zh-CN" altLang="en-US" sz="14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  <p:cxnSp>
        <p:nvCxnSpPr>
          <p:cNvPr id="14" name="直接连接符 47"/>
          <p:cNvCxnSpPr/>
          <p:nvPr/>
        </p:nvCxnSpPr>
        <p:spPr>
          <a:xfrm>
            <a:off x="3275687" y="3319755"/>
            <a:ext cx="0" cy="2405408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48"/>
          <p:cNvCxnSpPr/>
          <p:nvPr/>
        </p:nvCxnSpPr>
        <p:spPr>
          <a:xfrm>
            <a:off x="5975987" y="3788601"/>
            <a:ext cx="0" cy="177517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49"/>
          <p:cNvCxnSpPr/>
          <p:nvPr/>
        </p:nvCxnSpPr>
        <p:spPr>
          <a:xfrm>
            <a:off x="8616280" y="4162182"/>
            <a:ext cx="0" cy="1272993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组合 10">
            <a:extLst>
              <a:ext uri="{FF2B5EF4-FFF2-40B4-BE49-F238E27FC236}">
                <a16:creationId xmlns=""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29" name="矩形: 圆角 9">
              <a:extLst>
                <a:ext uri="{FF2B5EF4-FFF2-40B4-BE49-F238E27FC236}">
                  <a16:creationId xmlns=""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30" name="组合 3">
              <a:extLst>
                <a:ext uri="{FF2B5EF4-FFF2-40B4-BE49-F238E27FC236}">
                  <a16:creationId xmlns=""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32" name="文本框 4">
                <a:extLst>
                  <a:ext uri="{FF2B5EF4-FFF2-40B4-BE49-F238E27FC236}">
                    <a16:creationId xmlns=""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1151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项</a:t>
                </a:r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目信息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文本框 5">
                <a:extLst>
                  <a:ext uri="{FF2B5EF4-FFF2-40B4-BE49-F238E27FC236}">
                    <a16:creationId xmlns=""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Project information 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31" name="íśḻïḓè">
              <a:extLst>
                <a:ext uri="{FF2B5EF4-FFF2-40B4-BE49-F238E27FC236}">
                  <a16:creationId xmlns=""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01</a:t>
              </a:r>
              <a:endParaRPr lang="en-US" altLang="zh-CN" sz="2200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7512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0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1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2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3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4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5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6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7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4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000"/>
                            </p:stCondLst>
                            <p:childTnLst>
                              <p:par>
                                <p:cTn id="56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4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5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6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67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8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69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70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71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=""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=""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=""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=""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1151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项</a:t>
                </a:r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目功能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=""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Project function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=""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</a:p>
          </p:txBody>
        </p:sp>
      </p:grpSp>
      <p:sp>
        <p:nvSpPr>
          <p:cNvPr id="28" name="投影片編號版面配置區 4"/>
          <p:cNvSpPr txBox="1">
            <a:spLocks/>
          </p:cNvSpPr>
          <p:nvPr/>
        </p:nvSpPr>
        <p:spPr>
          <a:xfrm>
            <a:off x="9717861" y="6338888"/>
            <a:ext cx="2133600" cy="26828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742950" indent="-28575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2pPr>
            <a:lvl3pPr marL="1143000" indent="-228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3pPr>
            <a:lvl4pPr marL="1600200" indent="-228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4pPr>
            <a:lvl5pPr marL="2057400" indent="-228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5pPr>
            <a:lvl6pPr marL="25146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6pPr>
            <a:lvl7pPr marL="29718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7pPr>
            <a:lvl8pPr marL="34290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8pPr>
            <a:lvl9pPr marL="38862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9pPr>
          </a:lstStyle>
          <a:p>
            <a:fld id="{A64EF485-38DD-4AEE-96E4-A66646621CE0}" type="slidenum">
              <a:rPr lang="en-US" altLang="zh-TW" smtClean="0"/>
              <a:pPr/>
              <a:t>8</a:t>
            </a:fld>
            <a:endParaRPr lang="en-US" altLang="zh-TW"/>
          </a:p>
        </p:txBody>
      </p:sp>
      <p:pic>
        <p:nvPicPr>
          <p:cNvPr id="30" name="Picture 94" descr="j019538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1598" y="1304926"/>
            <a:ext cx="517525" cy="422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" name="AutoShape 33"/>
          <p:cNvSpPr>
            <a:spLocks noChangeArrowheads="1"/>
          </p:cNvSpPr>
          <p:nvPr/>
        </p:nvSpPr>
        <p:spPr bwMode="auto">
          <a:xfrm>
            <a:off x="6898461" y="2647951"/>
            <a:ext cx="1447800" cy="838200"/>
          </a:xfrm>
          <a:prstGeom prst="flowChartMagneticDisk">
            <a:avLst/>
          </a:prstGeom>
          <a:solidFill>
            <a:srgbClr val="FFCC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zh-CN" altLang="en-US" sz="1400" b="1" dirty="0">
                <a:solidFill>
                  <a:srgbClr val="000000"/>
                </a:solidFill>
              </a:rPr>
              <a:t>治</a:t>
            </a:r>
            <a:r>
              <a:rPr lang="zh-CN" altLang="en-US" sz="1400" b="1" dirty="0" smtClean="0">
                <a:solidFill>
                  <a:srgbClr val="000000"/>
                </a:solidFill>
              </a:rPr>
              <a:t>具利旧管理系统</a:t>
            </a:r>
            <a:endParaRPr lang="en-US" altLang="zh-CN" sz="1400" b="1" dirty="0">
              <a:solidFill>
                <a:srgbClr val="000000"/>
              </a:solidFill>
            </a:endParaRPr>
          </a:p>
        </p:txBody>
      </p:sp>
      <p:sp>
        <p:nvSpPr>
          <p:cNvPr id="32" name="AutoShape 9"/>
          <p:cNvSpPr>
            <a:spLocks noChangeArrowheads="1"/>
          </p:cNvSpPr>
          <p:nvPr/>
        </p:nvSpPr>
        <p:spPr bwMode="auto">
          <a:xfrm>
            <a:off x="5906221" y="874719"/>
            <a:ext cx="1325563" cy="514350"/>
          </a:xfrm>
          <a:prstGeom prst="flowChartMagneticDisk">
            <a:avLst/>
          </a:prstGeom>
          <a:solidFill>
            <a:srgbClr val="AFA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1400" b="1" dirty="0" smtClean="0">
                <a:solidFill>
                  <a:srgbClr val="000000"/>
                </a:solidFill>
                <a:cs typeface="Arial" panose="020B0604020202020204" pitchFamily="34" charset="0"/>
              </a:rPr>
              <a:t>JPOS</a:t>
            </a:r>
            <a:r>
              <a:rPr lang="zh-CN" altLang="en-US" sz="1400" b="1" dirty="0">
                <a:solidFill>
                  <a:srgbClr val="000000"/>
                </a:solidFill>
                <a:cs typeface="Arial" panose="020B0604020202020204" pitchFamily="34" charset="0"/>
              </a:rPr>
              <a:t>治</a:t>
            </a:r>
            <a:r>
              <a:rPr lang="zh-CN" altLang="en-US" sz="1400" b="1" dirty="0" smtClean="0">
                <a:solidFill>
                  <a:srgbClr val="000000"/>
                </a:solidFill>
                <a:cs typeface="Arial" panose="020B0604020202020204" pitchFamily="34" charset="0"/>
              </a:rPr>
              <a:t>具系统</a:t>
            </a:r>
            <a:endParaRPr lang="en-US" altLang="zh-CN" sz="1400" b="1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algn="ctr"/>
            <a:endParaRPr lang="en-US" altLang="zh-TW" sz="1400" b="1" dirty="0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38" name="Rectangle 39"/>
          <p:cNvSpPr>
            <a:spLocks noChangeArrowheads="1"/>
          </p:cNvSpPr>
          <p:nvPr/>
        </p:nvSpPr>
        <p:spPr bwMode="auto">
          <a:xfrm>
            <a:off x="9717861" y="5553076"/>
            <a:ext cx="720725" cy="144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r>
              <a:rPr lang="zh-CN" altLang="en-US" sz="1400" dirty="0"/>
              <a:t>已</a:t>
            </a:r>
            <a:r>
              <a:rPr lang="zh-CN" altLang="en-US" sz="1400" dirty="0" smtClean="0"/>
              <a:t>有系统</a:t>
            </a:r>
            <a:endParaRPr lang="zh-CN" altLang="en-US" sz="1400" dirty="0"/>
          </a:p>
        </p:txBody>
      </p:sp>
      <p:grpSp>
        <p:nvGrpSpPr>
          <p:cNvPr id="7" name="组合 6"/>
          <p:cNvGrpSpPr/>
          <p:nvPr/>
        </p:nvGrpSpPr>
        <p:grpSpPr>
          <a:xfrm>
            <a:off x="9284473" y="5553076"/>
            <a:ext cx="1225550" cy="909637"/>
            <a:chOff x="9284473" y="5553076"/>
            <a:chExt cx="1225550" cy="909637"/>
          </a:xfrm>
        </p:grpSpPr>
        <p:sp>
          <p:nvSpPr>
            <p:cNvPr id="33" name="Line 14"/>
            <p:cNvSpPr>
              <a:spLocks noChangeShapeType="1"/>
            </p:cNvSpPr>
            <p:nvPr/>
          </p:nvSpPr>
          <p:spPr bwMode="auto">
            <a:xfrm>
              <a:off x="9284473" y="6391276"/>
              <a:ext cx="360363" cy="0"/>
            </a:xfrm>
            <a:prstGeom prst="line">
              <a:avLst/>
            </a:prstGeom>
            <a:noFill/>
            <a:ln w="19050">
              <a:solidFill>
                <a:srgbClr val="0000CC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Rectangle 15"/>
            <p:cNvSpPr>
              <a:spLocks noChangeArrowheads="1"/>
            </p:cNvSpPr>
            <p:nvPr/>
          </p:nvSpPr>
          <p:spPr bwMode="auto">
            <a:xfrm>
              <a:off x="9716273" y="6319838"/>
              <a:ext cx="792163" cy="142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r>
                <a:rPr lang="zh-CN" altLang="en-US" sz="1400" dirty="0"/>
                <a:t>系</a:t>
              </a:r>
              <a:r>
                <a:rPr lang="zh-CN" altLang="en-US" sz="1400" dirty="0" smtClean="0"/>
                <a:t>统交互</a:t>
              </a:r>
              <a:endParaRPr lang="en-US" altLang="zh-CN" sz="1400" dirty="0">
                <a:solidFill>
                  <a:srgbClr val="0033CC"/>
                </a:solidFill>
              </a:endParaRPr>
            </a:p>
          </p:txBody>
        </p:sp>
        <p:sp>
          <p:nvSpPr>
            <p:cNvPr id="35" name="Line 16"/>
            <p:cNvSpPr>
              <a:spLocks noChangeShapeType="1"/>
            </p:cNvSpPr>
            <p:nvPr/>
          </p:nvSpPr>
          <p:spPr bwMode="auto">
            <a:xfrm>
              <a:off x="9286061" y="6154738"/>
              <a:ext cx="360362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Rectangle 17"/>
            <p:cNvSpPr>
              <a:spLocks noChangeArrowheads="1"/>
            </p:cNvSpPr>
            <p:nvPr/>
          </p:nvSpPr>
          <p:spPr bwMode="auto">
            <a:xfrm>
              <a:off x="9717861" y="6083301"/>
              <a:ext cx="792162" cy="142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r>
                <a:rPr lang="zh-CN" altLang="en-US" sz="1400" dirty="0"/>
                <a:t>手</a:t>
              </a:r>
              <a:r>
                <a:rPr lang="zh-CN" altLang="en-US" sz="1400" dirty="0" smtClean="0"/>
                <a:t>工作业</a:t>
              </a:r>
              <a:endParaRPr lang="zh-CN" altLang="en-US" sz="1400" dirty="0"/>
            </a:p>
          </p:txBody>
        </p:sp>
        <p:sp>
          <p:nvSpPr>
            <p:cNvPr id="37" name="AutoShape 38"/>
            <p:cNvSpPr>
              <a:spLocks noChangeArrowheads="1"/>
            </p:cNvSpPr>
            <p:nvPr/>
          </p:nvSpPr>
          <p:spPr bwMode="auto">
            <a:xfrm>
              <a:off x="9286061" y="5553076"/>
              <a:ext cx="360362" cy="144462"/>
            </a:xfrm>
            <a:prstGeom prst="flowChartMagneticDisk">
              <a:avLst/>
            </a:prstGeom>
            <a:solidFill>
              <a:srgbClr val="AFA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pPr algn="ctr"/>
              <a:endParaRPr lang="zh-TW" altLang="zh-TW" sz="1400">
                <a:solidFill>
                  <a:srgbClr val="000000"/>
                </a:solidFill>
              </a:endParaRPr>
            </a:p>
          </p:txBody>
        </p:sp>
        <p:sp>
          <p:nvSpPr>
            <p:cNvPr id="39" name="AutoShape 40"/>
            <p:cNvSpPr>
              <a:spLocks noChangeArrowheads="1"/>
            </p:cNvSpPr>
            <p:nvPr/>
          </p:nvSpPr>
          <p:spPr bwMode="auto">
            <a:xfrm>
              <a:off x="9286061" y="5794376"/>
              <a:ext cx="360362" cy="144462"/>
            </a:xfrm>
            <a:prstGeom prst="flowChartMagneticDisk">
              <a:avLst/>
            </a:prstGeom>
            <a:solidFill>
              <a:srgbClr val="FFCC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pPr algn="ctr"/>
              <a:endParaRPr lang="zh-TW" altLang="zh-TW" sz="1400">
                <a:solidFill>
                  <a:srgbClr val="000000"/>
                </a:solidFill>
              </a:endParaRPr>
            </a:p>
          </p:txBody>
        </p:sp>
        <p:sp>
          <p:nvSpPr>
            <p:cNvPr id="40" name="Rectangle 41"/>
            <p:cNvSpPr>
              <a:spLocks noChangeArrowheads="1"/>
            </p:cNvSpPr>
            <p:nvPr/>
          </p:nvSpPr>
          <p:spPr bwMode="auto">
            <a:xfrm>
              <a:off x="9717861" y="5794376"/>
              <a:ext cx="720725" cy="144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r>
                <a:rPr lang="zh-CN" altLang="en-US" sz="1400" dirty="0"/>
                <a:t>开</a:t>
              </a:r>
              <a:r>
                <a:rPr lang="zh-CN" altLang="en-US" sz="1400" dirty="0" smtClean="0"/>
                <a:t>发系统</a:t>
              </a:r>
              <a:endParaRPr lang="zh-CN" altLang="en-US" sz="1400" dirty="0"/>
            </a:p>
          </p:txBody>
        </p:sp>
      </p:grpSp>
      <p:sp>
        <p:nvSpPr>
          <p:cNvPr id="41" name="Rectangle 10"/>
          <p:cNvSpPr txBox="1">
            <a:spLocks noChangeArrowheads="1"/>
          </p:cNvSpPr>
          <p:nvPr/>
        </p:nvSpPr>
        <p:spPr>
          <a:xfrm>
            <a:off x="9644836" y="1449388"/>
            <a:ext cx="914400" cy="265113"/>
          </a:xfrm>
          <a:prstGeom prst="rect">
            <a:avLst/>
          </a:prstGeom>
          <a:ln/>
        </p:spPr>
        <p:txBody>
          <a:bodyPr spcCol="180000"/>
          <a:lstStyle/>
          <a:p>
            <a:pPr>
              <a:defRPr/>
            </a:pPr>
            <a:r>
              <a:rPr lang="zh-CN" altLang="en-US" sz="1400" kern="0" dirty="0" smtClean="0">
                <a:latin typeface="SimHei" pitchFamily="2" charset="-122"/>
                <a:ea typeface="SimHei" pitchFamily="2" charset="-122"/>
                <a:cs typeface="Arial Unicode MS" pitchFamily="34" charset="-120"/>
              </a:rPr>
              <a:t>工程企划</a:t>
            </a:r>
            <a:endParaRPr lang="en-US" altLang="zh-CN" sz="1400" kern="0" dirty="0">
              <a:latin typeface="SimHei" pitchFamily="2" charset="-122"/>
              <a:ea typeface="SimHei" pitchFamily="2" charset="-122"/>
              <a:cs typeface="Arial Unicode MS" pitchFamily="34" charset="-120"/>
            </a:endParaRPr>
          </a:p>
          <a:p>
            <a:pPr>
              <a:defRPr/>
            </a:pPr>
            <a:endParaRPr lang="zh-TW" altLang="en-US" sz="1400" kern="0" dirty="0">
              <a:latin typeface="SimHei" pitchFamily="2" charset="-122"/>
              <a:ea typeface="SimHei" pitchFamily="2" charset="-122"/>
              <a:cs typeface="Arial Unicode MS" pitchFamily="34" charset="-120"/>
            </a:endParaRPr>
          </a:p>
        </p:txBody>
      </p:sp>
      <p:pic>
        <p:nvPicPr>
          <p:cNvPr id="42" name="Picture 94" descr="j019538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311" y="4545013"/>
            <a:ext cx="5175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" name="Rectangle 10"/>
          <p:cNvSpPr txBox="1">
            <a:spLocks noChangeArrowheads="1"/>
          </p:cNvSpPr>
          <p:nvPr/>
        </p:nvSpPr>
        <p:spPr>
          <a:xfrm>
            <a:off x="6259695" y="5016501"/>
            <a:ext cx="685800" cy="196850"/>
          </a:xfrm>
          <a:prstGeom prst="rect">
            <a:avLst/>
          </a:prstGeom>
          <a:ln/>
        </p:spPr>
        <p:txBody>
          <a:bodyPr spcCol="180000"/>
          <a:lstStyle/>
          <a:p>
            <a:pPr>
              <a:defRPr/>
            </a:pPr>
            <a:r>
              <a:rPr lang="zh-CN" altLang="en-US" sz="1400" kern="0" dirty="0">
                <a:latin typeface="SimHei" pitchFamily="2" charset="-122"/>
                <a:ea typeface="SimHei" pitchFamily="2" charset="-122"/>
                <a:cs typeface="Arial Unicode MS" pitchFamily="34" charset="-120"/>
              </a:rPr>
              <a:t>仓库</a:t>
            </a:r>
            <a:endParaRPr lang="zh-TW" altLang="en-US" sz="1400" kern="0" dirty="0">
              <a:latin typeface="SimHei" pitchFamily="2" charset="-122"/>
              <a:ea typeface="SimHei" pitchFamily="2" charset="-122"/>
              <a:cs typeface="Arial Unicode MS" pitchFamily="34" charset="-120"/>
            </a:endParaRPr>
          </a:p>
        </p:txBody>
      </p:sp>
      <p:pic>
        <p:nvPicPr>
          <p:cNvPr id="44" name="Picture 94" descr="j019538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3761" y="4257676"/>
            <a:ext cx="517525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" name="Rectangle 10"/>
          <p:cNvSpPr txBox="1">
            <a:spLocks noChangeArrowheads="1"/>
          </p:cNvSpPr>
          <p:nvPr/>
        </p:nvSpPr>
        <p:spPr>
          <a:xfrm>
            <a:off x="9691368" y="4787901"/>
            <a:ext cx="914400" cy="282575"/>
          </a:xfrm>
          <a:prstGeom prst="rect">
            <a:avLst/>
          </a:prstGeom>
          <a:ln/>
        </p:spPr>
        <p:txBody>
          <a:bodyPr spcCol="180000"/>
          <a:lstStyle/>
          <a:p>
            <a:pPr>
              <a:defRPr/>
            </a:pPr>
            <a:r>
              <a:rPr lang="zh-CN" altLang="en-US" sz="1400" kern="0" dirty="0" smtClean="0">
                <a:latin typeface="SimHei" pitchFamily="2" charset="-122"/>
                <a:ea typeface="SimHei" pitchFamily="2" charset="-122"/>
                <a:cs typeface="Arial Unicode MS" pitchFamily="34" charset="-120"/>
              </a:rPr>
              <a:t>治具组立</a:t>
            </a:r>
            <a:endParaRPr lang="zh-TW" altLang="en-US" sz="1400" kern="0" dirty="0">
              <a:latin typeface="SimHei" pitchFamily="2" charset="-122"/>
              <a:ea typeface="SimHei" pitchFamily="2" charset="-122"/>
              <a:cs typeface="Arial Unicode MS" pitchFamily="34" charset="-120"/>
            </a:endParaRPr>
          </a:p>
        </p:txBody>
      </p:sp>
      <p:pic>
        <p:nvPicPr>
          <p:cNvPr id="46" name="Picture 94" descr="j019538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5198" y="2889251"/>
            <a:ext cx="517525" cy="430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7" name="Rectangle 10"/>
          <p:cNvSpPr txBox="1">
            <a:spLocks noChangeArrowheads="1"/>
          </p:cNvSpPr>
          <p:nvPr/>
        </p:nvSpPr>
        <p:spPr>
          <a:xfrm>
            <a:off x="9789298" y="3394076"/>
            <a:ext cx="914400" cy="282575"/>
          </a:xfrm>
          <a:prstGeom prst="rect">
            <a:avLst/>
          </a:prstGeom>
          <a:ln/>
        </p:spPr>
        <p:txBody>
          <a:bodyPr spcCol="180000"/>
          <a:lstStyle/>
          <a:p>
            <a:pPr>
              <a:defRPr/>
            </a:pPr>
            <a:r>
              <a:rPr lang="zh-CN" altLang="en-US" sz="1400" kern="0" dirty="0">
                <a:latin typeface="SimHei" pitchFamily="2" charset="-122"/>
                <a:ea typeface="SimHei" pitchFamily="2" charset="-122"/>
                <a:cs typeface="Arial Unicode MS" pitchFamily="34" charset="-120"/>
              </a:rPr>
              <a:t>治</a:t>
            </a:r>
            <a:r>
              <a:rPr lang="zh-CN" altLang="en-US" sz="1400" kern="0" dirty="0" smtClean="0">
                <a:latin typeface="SimHei" pitchFamily="2" charset="-122"/>
                <a:ea typeface="SimHei" pitchFamily="2" charset="-122"/>
                <a:cs typeface="Arial Unicode MS" pitchFamily="34" charset="-120"/>
              </a:rPr>
              <a:t>具检测</a:t>
            </a:r>
            <a:endParaRPr lang="zh-TW" altLang="en-US" sz="1400" kern="0" dirty="0">
              <a:latin typeface="SimHei" pitchFamily="2" charset="-122"/>
              <a:ea typeface="SimHei" pitchFamily="2" charset="-122"/>
              <a:cs typeface="Arial Unicode MS" pitchFamily="34" charset="-120"/>
            </a:endParaRPr>
          </a:p>
        </p:txBody>
      </p:sp>
      <p:grpSp>
        <p:nvGrpSpPr>
          <p:cNvPr id="48" name="群組 38"/>
          <p:cNvGrpSpPr>
            <a:grpSpLocks/>
          </p:cNvGrpSpPr>
          <p:nvPr/>
        </p:nvGrpSpPr>
        <p:grpSpPr bwMode="auto">
          <a:xfrm>
            <a:off x="6044386" y="1164920"/>
            <a:ext cx="4406900" cy="4019524"/>
            <a:chOff x="3114601" y="1683443"/>
            <a:chExt cx="4176463" cy="3237302"/>
          </a:xfrm>
        </p:grpSpPr>
        <p:sp>
          <p:nvSpPr>
            <p:cNvPr id="49" name="Line 57"/>
            <p:cNvSpPr>
              <a:spLocks noChangeShapeType="1"/>
            </p:cNvSpPr>
            <p:nvPr/>
          </p:nvSpPr>
          <p:spPr bwMode="auto">
            <a:xfrm>
              <a:off x="4232787" y="1744609"/>
              <a:ext cx="349934" cy="1219201"/>
            </a:xfrm>
            <a:prstGeom prst="line">
              <a:avLst/>
            </a:prstGeom>
            <a:noFill/>
            <a:ln w="28575">
              <a:solidFill>
                <a:srgbClr val="0000CC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0" name="AutoShape 35"/>
            <p:cNvSpPr>
              <a:spLocks noChangeArrowheads="1"/>
            </p:cNvSpPr>
            <p:nvPr/>
          </p:nvSpPr>
          <p:spPr bwMode="auto">
            <a:xfrm>
              <a:off x="3114601" y="2258119"/>
              <a:ext cx="1219200" cy="574675"/>
            </a:xfrm>
            <a:prstGeom prst="flowChartDocument">
              <a:avLst/>
            </a:prstGeom>
            <a:solidFill>
              <a:srgbClr val="FFFF99"/>
            </a:solidFill>
            <a:ln w="9525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r>
                <a:rPr lang="zh-CN" altLang="en-US" sz="1200" dirty="0" smtClean="0">
                  <a:solidFill>
                    <a:srgbClr val="000000"/>
                  </a:solidFill>
                </a:rPr>
                <a:t>提供基础资料</a:t>
              </a:r>
              <a:endParaRPr lang="en-US" altLang="zh-CN" sz="1200" dirty="0">
                <a:solidFill>
                  <a:srgbClr val="000000"/>
                </a:solidFill>
              </a:endParaRPr>
            </a:p>
            <a:p>
              <a:endParaRPr lang="en-US" altLang="zh-CN" sz="1200" dirty="0">
                <a:solidFill>
                  <a:srgbClr val="000000"/>
                </a:solidFill>
              </a:endParaRPr>
            </a:p>
          </p:txBody>
        </p:sp>
        <p:sp>
          <p:nvSpPr>
            <p:cNvPr id="51" name="Line 57"/>
            <p:cNvSpPr>
              <a:spLocks noChangeShapeType="1"/>
            </p:cNvSpPr>
            <p:nvPr/>
          </p:nvSpPr>
          <p:spPr bwMode="auto">
            <a:xfrm flipH="1">
              <a:off x="4650423" y="2042095"/>
              <a:ext cx="1704538" cy="918592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2" name="AutoShape 35"/>
            <p:cNvSpPr>
              <a:spLocks noChangeArrowheads="1"/>
            </p:cNvSpPr>
            <p:nvPr/>
          </p:nvSpPr>
          <p:spPr bwMode="auto">
            <a:xfrm>
              <a:off x="4706690" y="1683443"/>
              <a:ext cx="1219200" cy="574675"/>
            </a:xfrm>
            <a:prstGeom prst="flowChartDocument">
              <a:avLst/>
            </a:prstGeom>
            <a:solidFill>
              <a:srgbClr val="FFFF99"/>
            </a:solidFill>
            <a:ln w="9525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r>
                <a:rPr lang="en-US" altLang="zh-CN" sz="1200" dirty="0">
                  <a:solidFill>
                    <a:srgbClr val="000000"/>
                  </a:solidFill>
                </a:rPr>
                <a:t>1. </a:t>
              </a:r>
              <a:r>
                <a:rPr lang="zh-CN" altLang="en-US" sz="1200" dirty="0">
                  <a:solidFill>
                    <a:srgbClr val="000000"/>
                  </a:solidFill>
                </a:rPr>
                <a:t>维</a:t>
              </a:r>
              <a:r>
                <a:rPr lang="zh-CN" altLang="en-US" sz="1200" dirty="0" smtClean="0">
                  <a:solidFill>
                    <a:srgbClr val="000000"/>
                  </a:solidFill>
                </a:rPr>
                <a:t>护基础资料</a:t>
              </a:r>
              <a:endParaRPr lang="en-US" altLang="zh-CN" sz="1200" dirty="0">
                <a:solidFill>
                  <a:srgbClr val="000000"/>
                </a:solidFill>
              </a:endParaRPr>
            </a:p>
            <a:p>
              <a:r>
                <a:rPr lang="en-US" altLang="zh-CN" sz="1200" dirty="0">
                  <a:solidFill>
                    <a:srgbClr val="000000"/>
                  </a:solidFill>
                </a:rPr>
                <a:t>2.</a:t>
              </a:r>
              <a:r>
                <a:rPr lang="zh-CN" altLang="en-US" sz="1200" dirty="0">
                  <a:solidFill>
                    <a:srgbClr val="000000"/>
                  </a:solidFill>
                </a:rPr>
                <a:t> </a:t>
              </a:r>
              <a:r>
                <a:rPr lang="zh-CN" altLang="en-US" sz="1200" dirty="0" smtClean="0">
                  <a:solidFill>
                    <a:srgbClr val="000000"/>
                  </a:solidFill>
                </a:rPr>
                <a:t>制定回收计划</a:t>
              </a:r>
              <a:endParaRPr lang="en-US" altLang="zh-CN" sz="1200" dirty="0">
                <a:solidFill>
                  <a:srgbClr val="000000"/>
                </a:solidFill>
              </a:endParaRPr>
            </a:p>
          </p:txBody>
        </p:sp>
        <p:sp>
          <p:nvSpPr>
            <p:cNvPr id="53" name="Line 57"/>
            <p:cNvSpPr>
              <a:spLocks noChangeShapeType="1"/>
            </p:cNvSpPr>
            <p:nvPr/>
          </p:nvSpPr>
          <p:spPr bwMode="auto">
            <a:xfrm flipV="1">
              <a:off x="3618657" y="3536282"/>
              <a:ext cx="864096" cy="870107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4" name="AutoShape 35"/>
            <p:cNvSpPr>
              <a:spLocks noChangeArrowheads="1"/>
            </p:cNvSpPr>
            <p:nvPr/>
          </p:nvSpPr>
          <p:spPr bwMode="auto">
            <a:xfrm>
              <a:off x="3903264" y="4222612"/>
              <a:ext cx="1219200" cy="642143"/>
            </a:xfrm>
            <a:prstGeom prst="flowChartDocument">
              <a:avLst/>
            </a:prstGeom>
            <a:solidFill>
              <a:srgbClr val="FFFF99"/>
            </a:solidFill>
            <a:ln w="9525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marL="2286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r>
                <a:rPr lang="en-US" altLang="zh-CN" sz="1200" dirty="0">
                  <a:solidFill>
                    <a:srgbClr val="000000"/>
                  </a:solidFill>
                </a:rPr>
                <a:t>1</a:t>
              </a:r>
              <a:r>
                <a:rPr lang="en-US" altLang="zh-CN" sz="1200" dirty="0" smtClean="0">
                  <a:solidFill>
                    <a:srgbClr val="000000"/>
                  </a:solidFill>
                </a:rPr>
                <a:t>.</a:t>
              </a:r>
              <a:r>
                <a:rPr lang="zh-CN" altLang="en-US" sz="1200" dirty="0">
                  <a:solidFill>
                    <a:srgbClr val="000000"/>
                  </a:solidFill>
                </a:rPr>
                <a:t>零件</a:t>
              </a:r>
              <a:r>
                <a:rPr lang="zh-CN" altLang="en-US" sz="1200" dirty="0" smtClean="0">
                  <a:solidFill>
                    <a:srgbClr val="000000"/>
                  </a:solidFill>
                </a:rPr>
                <a:t>接收</a:t>
              </a:r>
              <a:endParaRPr lang="en-US" altLang="zh-CN" sz="1200" dirty="0" smtClean="0">
                <a:solidFill>
                  <a:srgbClr val="000000"/>
                </a:solidFill>
              </a:endParaRPr>
            </a:p>
            <a:p>
              <a:r>
                <a:rPr lang="en-US" altLang="zh-CN" sz="1200" dirty="0" smtClean="0">
                  <a:solidFill>
                    <a:srgbClr val="000000"/>
                  </a:solidFill>
                </a:rPr>
                <a:t>2.</a:t>
              </a:r>
              <a:r>
                <a:rPr lang="zh-CN" altLang="en-US" sz="1200" dirty="0" smtClean="0">
                  <a:solidFill>
                    <a:srgbClr val="000000"/>
                  </a:solidFill>
                </a:rPr>
                <a:t>零件出库</a:t>
              </a:r>
              <a:endParaRPr lang="en-US" altLang="zh-CN" sz="1200" dirty="0">
                <a:solidFill>
                  <a:srgbClr val="000000"/>
                </a:solidFill>
              </a:endParaRPr>
            </a:p>
            <a:p>
              <a:r>
                <a:rPr lang="en-US" altLang="zh-CN" sz="1200" dirty="0" smtClean="0">
                  <a:solidFill>
                    <a:srgbClr val="000000"/>
                  </a:solidFill>
                </a:rPr>
                <a:t>3.</a:t>
              </a:r>
              <a:r>
                <a:rPr lang="zh-CN" altLang="en-US" sz="1200" dirty="0" smtClean="0">
                  <a:solidFill>
                    <a:srgbClr val="000000"/>
                  </a:solidFill>
                </a:rPr>
                <a:t>零件盘点</a:t>
              </a:r>
              <a:endParaRPr lang="en-US" altLang="zh-CN" sz="1200" dirty="0">
                <a:solidFill>
                  <a:srgbClr val="000000"/>
                </a:solidFill>
              </a:endParaRPr>
            </a:p>
          </p:txBody>
        </p:sp>
        <p:sp>
          <p:nvSpPr>
            <p:cNvPr id="55" name="Line 57"/>
            <p:cNvSpPr>
              <a:spLocks noChangeShapeType="1"/>
            </p:cNvSpPr>
            <p:nvPr/>
          </p:nvSpPr>
          <p:spPr bwMode="auto">
            <a:xfrm flipH="1" flipV="1">
              <a:off x="4986808" y="3536281"/>
              <a:ext cx="2304256" cy="812101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6" name="AutoShape 35"/>
            <p:cNvSpPr>
              <a:spLocks noChangeArrowheads="1"/>
            </p:cNvSpPr>
            <p:nvPr/>
          </p:nvSpPr>
          <p:spPr bwMode="auto">
            <a:xfrm>
              <a:off x="5588126" y="4186527"/>
              <a:ext cx="1036638" cy="734218"/>
            </a:xfrm>
            <a:prstGeom prst="flowChartDocument">
              <a:avLst/>
            </a:prstGeom>
            <a:solidFill>
              <a:srgbClr val="FFFF99"/>
            </a:solidFill>
            <a:ln w="9525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marL="2286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r>
                <a:rPr lang="en-US" altLang="zh-CN" sz="1200" dirty="0">
                  <a:solidFill>
                    <a:srgbClr val="000000"/>
                  </a:solidFill>
                </a:rPr>
                <a:t>1</a:t>
              </a:r>
              <a:r>
                <a:rPr lang="en-US" altLang="zh-CN" sz="1200" dirty="0" smtClean="0">
                  <a:solidFill>
                    <a:srgbClr val="000000"/>
                  </a:solidFill>
                </a:rPr>
                <a:t>.</a:t>
              </a:r>
              <a:r>
                <a:rPr lang="zh-CN" altLang="en-US" sz="1200" dirty="0" smtClean="0">
                  <a:solidFill>
                    <a:srgbClr val="000000"/>
                  </a:solidFill>
                </a:rPr>
                <a:t>零件发送</a:t>
              </a:r>
              <a:endParaRPr lang="en-US" altLang="zh-CN" sz="1200" dirty="0">
                <a:solidFill>
                  <a:srgbClr val="000000"/>
                </a:solidFill>
              </a:endParaRPr>
            </a:p>
            <a:p>
              <a:r>
                <a:rPr lang="en-US" altLang="zh-CN" sz="1200" dirty="0">
                  <a:solidFill>
                    <a:srgbClr val="000000"/>
                  </a:solidFill>
                </a:rPr>
                <a:t>2</a:t>
              </a:r>
              <a:r>
                <a:rPr lang="en-US" altLang="zh-CN" sz="1200" dirty="0" smtClean="0">
                  <a:solidFill>
                    <a:srgbClr val="000000"/>
                  </a:solidFill>
                </a:rPr>
                <a:t>.</a:t>
              </a:r>
              <a:r>
                <a:rPr lang="zh-CN" altLang="en-US" sz="1200" dirty="0" smtClean="0">
                  <a:solidFill>
                    <a:srgbClr val="000000"/>
                  </a:solidFill>
                </a:rPr>
                <a:t>零件入库</a:t>
              </a:r>
              <a:endParaRPr lang="en-US" altLang="zh-CN" sz="1200" dirty="0">
                <a:solidFill>
                  <a:srgbClr val="000000"/>
                </a:solidFill>
              </a:endParaRPr>
            </a:p>
          </p:txBody>
        </p:sp>
        <p:sp>
          <p:nvSpPr>
            <p:cNvPr id="57" name="Line 57"/>
            <p:cNvSpPr>
              <a:spLocks noChangeShapeType="1"/>
            </p:cNvSpPr>
            <p:nvPr/>
          </p:nvSpPr>
          <p:spPr bwMode="auto">
            <a:xfrm flipH="1" flipV="1">
              <a:off x="5418856" y="3304253"/>
              <a:ext cx="1800199" cy="155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8" name="AutoShape 35"/>
            <p:cNvSpPr>
              <a:spLocks noChangeArrowheads="1"/>
            </p:cNvSpPr>
            <p:nvPr/>
          </p:nvSpPr>
          <p:spPr bwMode="auto">
            <a:xfrm>
              <a:off x="6282975" y="2550895"/>
              <a:ext cx="936080" cy="574675"/>
            </a:xfrm>
            <a:prstGeom prst="flowChartDocument">
              <a:avLst/>
            </a:prstGeom>
            <a:solidFill>
              <a:srgbClr val="FFFF99"/>
            </a:solidFill>
            <a:ln w="9525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r>
                <a:rPr lang="zh-CN" altLang="en-US" sz="1200" dirty="0" smtClean="0">
                  <a:solidFill>
                    <a:srgbClr val="000000"/>
                  </a:solidFill>
                </a:rPr>
                <a:t>维护零件信息</a:t>
              </a:r>
              <a:endParaRPr lang="en-US" altLang="zh-CN" sz="1200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9724" y="880476"/>
            <a:ext cx="4727575" cy="5689600"/>
            <a:chOff x="1027558" y="908051"/>
            <a:chExt cx="4727575" cy="5689600"/>
          </a:xfrm>
        </p:grpSpPr>
        <p:sp>
          <p:nvSpPr>
            <p:cNvPr id="59" name="AutoShape 3"/>
            <p:cNvSpPr>
              <a:spLocks noChangeArrowheads="1"/>
            </p:cNvSpPr>
            <p:nvPr/>
          </p:nvSpPr>
          <p:spPr bwMode="ltGray">
            <a:xfrm>
              <a:off x="1027558" y="908051"/>
              <a:ext cx="4727575" cy="5689600"/>
            </a:xfrm>
            <a:prstGeom prst="rightArrow">
              <a:avLst>
                <a:gd name="adj1" fmla="val 79306"/>
                <a:gd name="adj2" fmla="val 32395"/>
              </a:avLst>
            </a:pr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>
              <a:noFill/>
            </a:ln>
            <a:effectLst/>
            <a:extLst/>
          </p:spPr>
          <p:txBody>
            <a:bodyPr wrap="none" anchor="ctr"/>
            <a:lstStyle/>
            <a:p>
              <a:pPr>
                <a:defRPr/>
              </a:pPr>
              <a:endParaRPr lang="zh-TW" altLang="en-US"/>
            </a:p>
          </p:txBody>
        </p:sp>
        <p:sp>
          <p:nvSpPr>
            <p:cNvPr id="60" name="AutoShape 4"/>
            <p:cNvSpPr>
              <a:spLocks noChangeArrowheads="1"/>
            </p:cNvSpPr>
            <p:nvPr/>
          </p:nvSpPr>
          <p:spPr bwMode="blackWhite">
            <a:xfrm>
              <a:off x="2594748" y="1660526"/>
              <a:ext cx="1433513" cy="581025"/>
            </a:xfrm>
            <a:prstGeom prst="roundRect">
              <a:avLst>
                <a:gd name="adj" fmla="val 9106"/>
              </a:avLst>
            </a:prstGeom>
            <a:gradFill rotWithShape="1">
              <a:gsLst>
                <a:gs pos="0">
                  <a:schemeClr val="accent2"/>
                </a:gs>
                <a:gs pos="50000">
                  <a:schemeClr val="accent2">
                    <a:gamma/>
                    <a:tint val="69804"/>
                    <a:invGamma/>
                  </a:schemeClr>
                </a:gs>
                <a:gs pos="100000">
                  <a:schemeClr val="accent2"/>
                </a:gs>
              </a:gsLst>
              <a:lin ang="2700000" scaled="1"/>
            </a:gradFill>
            <a:ln w="25400">
              <a:solidFill>
                <a:schemeClr val="bg1"/>
              </a:solidFill>
              <a:round/>
              <a:headEnd/>
              <a:tailEnd/>
            </a:ln>
            <a:effectLst/>
            <a:extLst/>
          </p:spPr>
          <p:txBody>
            <a:bodyPr wrap="none" anchor="ctr"/>
            <a:lstStyle/>
            <a:p>
              <a:pPr algn="ctr">
                <a:defRPr/>
              </a:pPr>
              <a:r>
                <a:rPr lang="zh-CN" altLang="en-US" b="1" dirty="0" smtClean="0">
                  <a:solidFill>
                    <a:schemeClr val="bg1"/>
                  </a:solidFill>
                  <a:ea typeface="宋体" charset="-122"/>
                </a:rPr>
                <a:t>基础资料</a:t>
              </a:r>
              <a:endParaRPr lang="en-US" altLang="zh-CN" b="1" dirty="0">
                <a:solidFill>
                  <a:schemeClr val="bg1"/>
                </a:solidFill>
                <a:ea typeface="宋体" charset="-122"/>
              </a:endParaRPr>
            </a:p>
          </p:txBody>
        </p:sp>
        <p:sp>
          <p:nvSpPr>
            <p:cNvPr id="61" name="AutoShape 5"/>
            <p:cNvSpPr>
              <a:spLocks noChangeArrowheads="1"/>
            </p:cNvSpPr>
            <p:nvPr/>
          </p:nvSpPr>
          <p:spPr bwMode="blackWhite">
            <a:xfrm>
              <a:off x="2588398" y="2386013"/>
              <a:ext cx="1433513" cy="895350"/>
            </a:xfrm>
            <a:prstGeom prst="roundRect">
              <a:avLst>
                <a:gd name="adj" fmla="val 9106"/>
              </a:avLst>
            </a:prstGeom>
            <a:gradFill rotWithShape="1">
              <a:gsLst>
                <a:gs pos="0">
                  <a:srgbClr val="699D5F"/>
                </a:gs>
                <a:gs pos="50000">
                  <a:srgbClr val="96BB8F"/>
                </a:gs>
                <a:gs pos="100000">
                  <a:srgbClr val="699D5F"/>
                </a:gs>
              </a:gsLst>
              <a:lin ang="2700000" scaled="1"/>
            </a:gradFill>
            <a:ln w="25400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pPr algn="ctr"/>
              <a:r>
                <a:rPr lang="zh-CN" altLang="en-US" b="1" dirty="0" smtClean="0">
                  <a:solidFill>
                    <a:schemeClr val="bg1"/>
                  </a:solidFill>
                  <a:ea typeface="SimSun" panose="02010600030101010101" pitchFamily="2" charset="-122"/>
                </a:rPr>
                <a:t>零件入库</a:t>
              </a:r>
              <a:endParaRPr lang="en-US" altLang="zh-CN" b="1" dirty="0">
                <a:solidFill>
                  <a:schemeClr val="bg1"/>
                </a:solidFill>
                <a:ea typeface="SimSun" panose="02010600030101010101" pitchFamily="2" charset="-122"/>
              </a:endParaRPr>
            </a:p>
          </p:txBody>
        </p:sp>
        <p:sp>
          <p:nvSpPr>
            <p:cNvPr id="62" name="AutoShape 6"/>
            <p:cNvSpPr>
              <a:spLocks noChangeArrowheads="1"/>
            </p:cNvSpPr>
            <p:nvPr/>
          </p:nvSpPr>
          <p:spPr bwMode="blackWhite">
            <a:xfrm>
              <a:off x="2588398" y="4473576"/>
              <a:ext cx="1433513" cy="576262"/>
            </a:xfrm>
            <a:prstGeom prst="roundRect">
              <a:avLst>
                <a:gd name="adj" fmla="val 9106"/>
              </a:avLst>
            </a:prstGeom>
            <a:gradFill rotWithShape="1">
              <a:gsLst>
                <a:gs pos="0">
                  <a:schemeClr val="hlink"/>
                </a:gs>
                <a:gs pos="50000">
                  <a:schemeClr val="hlink">
                    <a:gamma/>
                    <a:tint val="69804"/>
                    <a:invGamma/>
                  </a:schemeClr>
                </a:gs>
                <a:gs pos="100000">
                  <a:schemeClr val="hlink"/>
                </a:gs>
              </a:gsLst>
              <a:lin ang="2700000" scaled="1"/>
            </a:gradFill>
            <a:ln w="25400">
              <a:solidFill>
                <a:schemeClr val="bg1"/>
              </a:solidFill>
              <a:round/>
              <a:headEnd/>
              <a:tailEnd/>
            </a:ln>
            <a:effectLst/>
            <a:extLst/>
          </p:spPr>
          <p:txBody>
            <a:bodyPr wrap="none" anchor="ctr"/>
            <a:lstStyle/>
            <a:p>
              <a:pPr algn="ctr">
                <a:defRPr/>
              </a:pPr>
              <a:r>
                <a:rPr lang="zh-CN" altLang="en-US" b="1" dirty="0">
                  <a:solidFill>
                    <a:schemeClr val="bg1"/>
                  </a:solidFill>
                  <a:ea typeface="宋体" charset="-122"/>
                </a:rPr>
                <a:t>系</a:t>
              </a:r>
              <a:r>
                <a:rPr lang="zh-CN" altLang="en-US" b="1" dirty="0" smtClean="0">
                  <a:solidFill>
                    <a:schemeClr val="bg1"/>
                  </a:solidFill>
                  <a:ea typeface="宋体" charset="-122"/>
                </a:rPr>
                <a:t>统管理</a:t>
              </a:r>
              <a:endParaRPr lang="en-US" altLang="zh-CN" b="1" dirty="0">
                <a:solidFill>
                  <a:schemeClr val="bg1"/>
                </a:solidFill>
                <a:ea typeface="宋体" charset="-122"/>
              </a:endParaRPr>
            </a:p>
          </p:txBody>
        </p:sp>
        <p:sp>
          <p:nvSpPr>
            <p:cNvPr id="63" name="AutoShape 4"/>
            <p:cNvSpPr>
              <a:spLocks noChangeArrowheads="1"/>
            </p:cNvSpPr>
            <p:nvPr/>
          </p:nvSpPr>
          <p:spPr bwMode="blackWhite">
            <a:xfrm>
              <a:off x="2588398" y="5194301"/>
              <a:ext cx="1439863" cy="503237"/>
            </a:xfrm>
            <a:prstGeom prst="roundRect">
              <a:avLst>
                <a:gd name="adj" fmla="val 9106"/>
              </a:avLst>
            </a:prstGeom>
            <a:gradFill rotWithShape="1">
              <a:gsLst>
                <a:gs pos="0">
                  <a:srgbClr val="FFC000"/>
                </a:gs>
                <a:gs pos="50000">
                  <a:srgbClr val="C28D3E"/>
                </a:gs>
                <a:gs pos="100000">
                  <a:srgbClr val="FFC000"/>
                </a:gs>
              </a:gsLst>
              <a:lin ang="2700000" scaled="1"/>
            </a:gradFill>
            <a:ln w="25400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pPr algn="ctr"/>
              <a:r>
                <a:rPr lang="zh-CN" altLang="en-US" b="1" dirty="0">
                  <a:solidFill>
                    <a:schemeClr val="bg1"/>
                  </a:solidFill>
                  <a:ea typeface="SimSun" panose="02010600030101010101" pitchFamily="2" charset="-122"/>
                </a:rPr>
                <a:t>开发</a:t>
              </a:r>
              <a:r>
                <a:rPr lang="zh-CN" altLang="en-US" b="1" dirty="0" smtClean="0">
                  <a:solidFill>
                    <a:schemeClr val="bg1"/>
                  </a:solidFill>
                  <a:ea typeface="SimSun" panose="02010600030101010101" pitchFamily="2" charset="-122"/>
                </a:rPr>
                <a:t>者功能</a:t>
              </a:r>
              <a:endParaRPr lang="en-US" altLang="zh-CN" b="1" dirty="0">
                <a:solidFill>
                  <a:schemeClr val="bg1"/>
                </a:solidFill>
                <a:ea typeface="SimSun" panose="02010600030101010101" pitchFamily="2" charset="-122"/>
              </a:endParaRPr>
            </a:p>
          </p:txBody>
        </p:sp>
        <p:sp>
          <p:nvSpPr>
            <p:cNvPr id="64" name="AutoShape 4"/>
            <p:cNvSpPr>
              <a:spLocks noChangeArrowheads="1"/>
            </p:cNvSpPr>
            <p:nvPr/>
          </p:nvSpPr>
          <p:spPr bwMode="blackWhite">
            <a:xfrm>
              <a:off x="4101286" y="1660526"/>
              <a:ext cx="1582737" cy="254000"/>
            </a:xfrm>
            <a:prstGeom prst="roundRect">
              <a:avLst>
                <a:gd name="adj" fmla="val 9106"/>
              </a:avLst>
            </a:prstGeom>
            <a:gradFill rotWithShape="1">
              <a:gsLst>
                <a:gs pos="0">
                  <a:schemeClr val="accent2"/>
                </a:gs>
                <a:gs pos="50000">
                  <a:schemeClr val="accent2">
                    <a:gamma/>
                    <a:tint val="69804"/>
                    <a:invGamma/>
                  </a:schemeClr>
                </a:gs>
                <a:gs pos="100000">
                  <a:schemeClr val="accent2"/>
                </a:gs>
              </a:gsLst>
              <a:lin ang="2700000" scaled="1"/>
            </a:gradFill>
            <a:ln w="25400">
              <a:solidFill>
                <a:schemeClr val="bg1"/>
              </a:solidFill>
              <a:round/>
              <a:headEnd/>
              <a:tailEnd/>
            </a:ln>
            <a:effectLst/>
            <a:extLst/>
          </p:spPr>
          <p:txBody>
            <a:bodyPr wrap="none" anchor="ctr"/>
            <a:lstStyle/>
            <a:p>
              <a:pPr algn="ctr">
                <a:defRPr/>
              </a:pPr>
              <a:r>
                <a:rPr lang="zh-CN" altLang="en-US" sz="1400" b="1" dirty="0" smtClean="0">
                  <a:solidFill>
                    <a:schemeClr val="bg1"/>
                  </a:solidFill>
                  <a:ea typeface="宋体" charset="-122"/>
                </a:rPr>
                <a:t>零件主档资料</a:t>
              </a:r>
              <a:endParaRPr lang="en-US" altLang="zh-CN" sz="1400" b="1" dirty="0">
                <a:solidFill>
                  <a:schemeClr val="bg1"/>
                </a:solidFill>
                <a:ea typeface="宋体" charset="-122"/>
              </a:endParaRPr>
            </a:p>
          </p:txBody>
        </p:sp>
        <p:sp>
          <p:nvSpPr>
            <p:cNvPr id="65" name="AutoShape 4"/>
            <p:cNvSpPr>
              <a:spLocks noChangeArrowheads="1"/>
            </p:cNvSpPr>
            <p:nvPr/>
          </p:nvSpPr>
          <p:spPr bwMode="blackWhite">
            <a:xfrm>
              <a:off x="4101286" y="1987551"/>
              <a:ext cx="1582737" cy="254000"/>
            </a:xfrm>
            <a:prstGeom prst="roundRect">
              <a:avLst>
                <a:gd name="adj" fmla="val 9106"/>
              </a:avLst>
            </a:prstGeom>
            <a:gradFill rotWithShape="1">
              <a:gsLst>
                <a:gs pos="0">
                  <a:schemeClr val="accent2"/>
                </a:gs>
                <a:gs pos="50000">
                  <a:schemeClr val="accent2">
                    <a:gamma/>
                    <a:tint val="69804"/>
                    <a:invGamma/>
                  </a:schemeClr>
                </a:gs>
                <a:gs pos="100000">
                  <a:schemeClr val="accent2"/>
                </a:gs>
              </a:gsLst>
              <a:lin ang="2700000" scaled="1"/>
            </a:gradFill>
            <a:ln w="25400">
              <a:solidFill>
                <a:schemeClr val="bg1"/>
              </a:solidFill>
              <a:round/>
              <a:headEnd/>
              <a:tailEnd/>
            </a:ln>
            <a:effectLst/>
            <a:extLst/>
          </p:spPr>
          <p:txBody>
            <a:bodyPr wrap="none" anchor="ctr"/>
            <a:lstStyle/>
            <a:p>
              <a:pPr algn="ctr">
                <a:defRPr/>
              </a:pPr>
              <a:r>
                <a:rPr lang="zh-CN" altLang="en-US" sz="1400" b="1" dirty="0">
                  <a:solidFill>
                    <a:schemeClr val="bg1"/>
                  </a:solidFill>
                  <a:ea typeface="宋体" charset="-122"/>
                </a:rPr>
                <a:t>治</a:t>
              </a:r>
              <a:r>
                <a:rPr lang="zh-CN" altLang="en-US" sz="1400" b="1" dirty="0" smtClean="0">
                  <a:solidFill>
                    <a:schemeClr val="bg1"/>
                  </a:solidFill>
                  <a:ea typeface="宋体" charset="-122"/>
                </a:rPr>
                <a:t>具信息</a:t>
              </a:r>
              <a:endParaRPr lang="en-US" altLang="zh-CN" sz="1400" b="1" dirty="0">
                <a:solidFill>
                  <a:schemeClr val="bg1"/>
                </a:solidFill>
                <a:ea typeface="宋体" charset="-122"/>
              </a:endParaRPr>
            </a:p>
          </p:txBody>
        </p:sp>
        <p:sp>
          <p:nvSpPr>
            <p:cNvPr id="66" name="AutoShape 5"/>
            <p:cNvSpPr>
              <a:spLocks noChangeArrowheads="1"/>
            </p:cNvSpPr>
            <p:nvPr/>
          </p:nvSpPr>
          <p:spPr bwMode="blackWhite">
            <a:xfrm>
              <a:off x="4101286" y="2417763"/>
              <a:ext cx="1582737" cy="255588"/>
            </a:xfrm>
            <a:prstGeom prst="roundRect">
              <a:avLst>
                <a:gd name="adj" fmla="val 9106"/>
              </a:avLst>
            </a:prstGeom>
            <a:gradFill rotWithShape="1">
              <a:gsLst>
                <a:gs pos="0">
                  <a:srgbClr val="699D5F"/>
                </a:gs>
                <a:gs pos="50000">
                  <a:srgbClr val="96BB8F"/>
                </a:gs>
                <a:gs pos="100000">
                  <a:srgbClr val="699D5F"/>
                </a:gs>
              </a:gsLst>
              <a:lin ang="2700000" scaled="1"/>
            </a:gradFill>
            <a:ln w="25400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ea typeface="SimSun" panose="02010600030101010101" pitchFamily="2" charset="-122"/>
                </a:rPr>
                <a:t>治</a:t>
              </a:r>
              <a:r>
                <a:rPr lang="zh-CN" altLang="en-US" sz="1400" b="1" dirty="0" smtClean="0">
                  <a:solidFill>
                    <a:schemeClr val="bg1"/>
                  </a:solidFill>
                  <a:ea typeface="SimSun" panose="02010600030101010101" pitchFamily="2" charset="-122"/>
                </a:rPr>
                <a:t>具拆解</a:t>
              </a:r>
              <a:endParaRPr lang="en-US" altLang="zh-CN" sz="1400" b="1" dirty="0">
                <a:solidFill>
                  <a:schemeClr val="bg1"/>
                </a:solidFill>
                <a:ea typeface="SimSun" panose="02010600030101010101" pitchFamily="2" charset="-122"/>
              </a:endParaRPr>
            </a:p>
          </p:txBody>
        </p:sp>
        <p:sp>
          <p:nvSpPr>
            <p:cNvPr id="67" name="AutoShape 5"/>
            <p:cNvSpPr>
              <a:spLocks noChangeArrowheads="1"/>
            </p:cNvSpPr>
            <p:nvPr/>
          </p:nvSpPr>
          <p:spPr bwMode="blackWhite">
            <a:xfrm>
              <a:off x="4101286" y="2744788"/>
              <a:ext cx="1582737" cy="255588"/>
            </a:xfrm>
            <a:prstGeom prst="roundRect">
              <a:avLst>
                <a:gd name="adj" fmla="val 9106"/>
              </a:avLst>
            </a:prstGeom>
            <a:gradFill rotWithShape="1">
              <a:gsLst>
                <a:gs pos="0">
                  <a:srgbClr val="699D5F"/>
                </a:gs>
                <a:gs pos="50000">
                  <a:srgbClr val="96BB8F"/>
                </a:gs>
                <a:gs pos="100000">
                  <a:srgbClr val="699D5F"/>
                </a:gs>
              </a:gsLst>
              <a:lin ang="2700000" scaled="1"/>
            </a:gradFill>
            <a:ln w="25400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ea typeface="SimSun" panose="02010600030101010101" pitchFamily="2" charset="-122"/>
                </a:rPr>
                <a:t>入库单</a:t>
              </a:r>
              <a:endParaRPr lang="en-US" altLang="zh-CN" sz="1400" b="1" dirty="0">
                <a:solidFill>
                  <a:schemeClr val="bg1"/>
                </a:solidFill>
                <a:ea typeface="SimSun" panose="02010600030101010101" pitchFamily="2" charset="-122"/>
              </a:endParaRPr>
            </a:p>
          </p:txBody>
        </p:sp>
        <p:sp>
          <p:nvSpPr>
            <p:cNvPr id="68" name="AutoShape 5"/>
            <p:cNvSpPr>
              <a:spLocks noChangeArrowheads="1"/>
            </p:cNvSpPr>
            <p:nvPr/>
          </p:nvSpPr>
          <p:spPr bwMode="blackWhite">
            <a:xfrm>
              <a:off x="4101286" y="3065463"/>
              <a:ext cx="1582737" cy="255588"/>
            </a:xfrm>
            <a:prstGeom prst="roundRect">
              <a:avLst>
                <a:gd name="adj" fmla="val 9106"/>
              </a:avLst>
            </a:prstGeom>
            <a:gradFill rotWithShape="1">
              <a:gsLst>
                <a:gs pos="0">
                  <a:srgbClr val="699D5F"/>
                </a:gs>
                <a:gs pos="50000">
                  <a:srgbClr val="96BB8F"/>
                </a:gs>
                <a:gs pos="100000">
                  <a:srgbClr val="699D5F"/>
                </a:gs>
              </a:gsLst>
              <a:lin ang="2700000" scaled="1"/>
            </a:gradFill>
            <a:ln w="25400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pPr algn="ctr"/>
              <a:r>
                <a:rPr lang="zh-CN" altLang="en-US" sz="1400" b="1" dirty="0" smtClean="0">
                  <a:solidFill>
                    <a:schemeClr val="bg1"/>
                  </a:solidFill>
                  <a:ea typeface="SimSun" panose="02010600030101010101" pitchFamily="2" charset="-122"/>
                </a:rPr>
                <a:t>回收计划</a:t>
              </a:r>
              <a:endParaRPr lang="en-US" altLang="zh-CN" sz="1400" b="1" dirty="0">
                <a:solidFill>
                  <a:schemeClr val="bg1"/>
                </a:solidFill>
                <a:ea typeface="SimSun" panose="02010600030101010101" pitchFamily="2" charset="-122"/>
              </a:endParaRPr>
            </a:p>
          </p:txBody>
        </p:sp>
        <p:sp>
          <p:nvSpPr>
            <p:cNvPr id="69" name="AutoShape 6"/>
            <p:cNvSpPr>
              <a:spLocks noChangeArrowheads="1"/>
            </p:cNvSpPr>
            <p:nvPr/>
          </p:nvSpPr>
          <p:spPr bwMode="blackWhite">
            <a:xfrm>
              <a:off x="4101286" y="4473576"/>
              <a:ext cx="1582737" cy="255587"/>
            </a:xfrm>
            <a:prstGeom prst="roundRect">
              <a:avLst>
                <a:gd name="adj" fmla="val 9106"/>
              </a:avLst>
            </a:prstGeom>
            <a:gradFill rotWithShape="1">
              <a:gsLst>
                <a:gs pos="0">
                  <a:schemeClr val="hlink"/>
                </a:gs>
                <a:gs pos="50000">
                  <a:schemeClr val="hlink">
                    <a:gamma/>
                    <a:tint val="69804"/>
                    <a:invGamma/>
                  </a:schemeClr>
                </a:gs>
                <a:gs pos="100000">
                  <a:schemeClr val="hlink"/>
                </a:gs>
              </a:gsLst>
              <a:lin ang="2700000" scaled="1"/>
            </a:gradFill>
            <a:ln w="25400">
              <a:solidFill>
                <a:schemeClr val="bg1"/>
              </a:solidFill>
              <a:round/>
              <a:headEnd/>
              <a:tailEnd/>
            </a:ln>
            <a:effectLst/>
            <a:extLst/>
          </p:spPr>
          <p:txBody>
            <a:bodyPr wrap="none" anchor="ctr"/>
            <a:lstStyle/>
            <a:p>
              <a:pPr algn="ctr">
                <a:defRPr/>
              </a:pPr>
              <a:r>
                <a:rPr lang="zh-CN" altLang="en-US" sz="1200" b="1" dirty="0">
                  <a:solidFill>
                    <a:schemeClr val="bg1"/>
                  </a:solidFill>
                  <a:ea typeface="宋体" charset="-122"/>
                </a:rPr>
                <a:t>用</a:t>
              </a:r>
              <a:r>
                <a:rPr lang="zh-CN" altLang="en-US" sz="1200" b="1" dirty="0" smtClean="0">
                  <a:solidFill>
                    <a:schemeClr val="bg1"/>
                  </a:solidFill>
                  <a:ea typeface="宋体" charset="-122"/>
                </a:rPr>
                <a:t>户管理</a:t>
              </a:r>
              <a:endParaRPr lang="en-US" altLang="zh-CN" sz="1400" b="1" dirty="0">
                <a:solidFill>
                  <a:schemeClr val="bg1"/>
                </a:solidFill>
                <a:ea typeface="宋体" charset="-122"/>
              </a:endParaRPr>
            </a:p>
          </p:txBody>
        </p:sp>
        <p:sp>
          <p:nvSpPr>
            <p:cNvPr id="70" name="AutoShape 4"/>
            <p:cNvSpPr>
              <a:spLocks noChangeArrowheads="1"/>
            </p:cNvSpPr>
            <p:nvPr/>
          </p:nvSpPr>
          <p:spPr bwMode="blackWhite">
            <a:xfrm>
              <a:off x="4101286" y="5194301"/>
              <a:ext cx="1582737" cy="255587"/>
            </a:xfrm>
            <a:prstGeom prst="roundRect">
              <a:avLst>
                <a:gd name="adj" fmla="val 9106"/>
              </a:avLst>
            </a:prstGeom>
            <a:gradFill rotWithShape="1">
              <a:gsLst>
                <a:gs pos="0">
                  <a:srgbClr val="FFC000"/>
                </a:gs>
                <a:gs pos="50000">
                  <a:srgbClr val="C28D3E"/>
                </a:gs>
                <a:gs pos="100000">
                  <a:srgbClr val="FFC000"/>
                </a:gs>
              </a:gsLst>
              <a:lin ang="2700000" scaled="1"/>
            </a:gradFill>
            <a:ln w="25400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ea typeface="SimSun" panose="02010600030101010101" pitchFamily="2" charset="-122"/>
                </a:rPr>
                <a:t>系</a:t>
              </a:r>
              <a:r>
                <a:rPr lang="zh-CN" altLang="en-US" sz="1400" b="1" dirty="0" smtClean="0">
                  <a:solidFill>
                    <a:schemeClr val="bg1"/>
                  </a:solidFill>
                  <a:ea typeface="SimSun" panose="02010600030101010101" pitchFamily="2" charset="-122"/>
                </a:rPr>
                <a:t>统功能管理</a:t>
              </a:r>
              <a:endParaRPr lang="en-US" altLang="zh-CN" sz="1400" b="1" dirty="0">
                <a:solidFill>
                  <a:schemeClr val="bg1"/>
                </a:solidFill>
                <a:ea typeface="SimSun" panose="02010600030101010101" pitchFamily="2" charset="-122"/>
              </a:endParaRPr>
            </a:p>
          </p:txBody>
        </p:sp>
        <p:sp>
          <p:nvSpPr>
            <p:cNvPr id="71" name="AutoShape 5"/>
            <p:cNvSpPr>
              <a:spLocks noChangeArrowheads="1"/>
            </p:cNvSpPr>
            <p:nvPr/>
          </p:nvSpPr>
          <p:spPr bwMode="blackWhite">
            <a:xfrm>
              <a:off x="2588398" y="3465513"/>
              <a:ext cx="1433513" cy="896938"/>
            </a:xfrm>
            <a:prstGeom prst="roundRect">
              <a:avLst>
                <a:gd name="adj" fmla="val 9106"/>
              </a:avLst>
            </a:prstGeom>
            <a:solidFill>
              <a:srgbClr val="00B0F0"/>
            </a:solidFill>
            <a:ln w="25400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pPr algn="ctr"/>
              <a:r>
                <a:rPr lang="zh-CN" altLang="en-US" b="1" dirty="0" smtClean="0">
                  <a:solidFill>
                    <a:schemeClr val="bg1"/>
                  </a:solidFill>
                  <a:ea typeface="SimSun" panose="02010600030101010101" pitchFamily="2" charset="-122"/>
                </a:rPr>
                <a:t>零件出库</a:t>
              </a:r>
              <a:endParaRPr lang="en-US" altLang="zh-CN" b="1" dirty="0">
                <a:solidFill>
                  <a:schemeClr val="bg1"/>
                </a:solidFill>
                <a:ea typeface="SimSun" panose="02010600030101010101" pitchFamily="2" charset="-122"/>
              </a:endParaRPr>
            </a:p>
          </p:txBody>
        </p:sp>
        <p:sp>
          <p:nvSpPr>
            <p:cNvPr id="72" name="AutoShape 5"/>
            <p:cNvSpPr>
              <a:spLocks noChangeArrowheads="1"/>
            </p:cNvSpPr>
            <p:nvPr/>
          </p:nvSpPr>
          <p:spPr bwMode="blackWhite">
            <a:xfrm>
              <a:off x="4101286" y="3497263"/>
              <a:ext cx="1582737" cy="255588"/>
            </a:xfrm>
            <a:prstGeom prst="roundRect">
              <a:avLst>
                <a:gd name="adj" fmla="val 9106"/>
              </a:avLst>
            </a:prstGeom>
            <a:solidFill>
              <a:srgbClr val="00B0F0"/>
            </a:solidFill>
            <a:ln w="25400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ea typeface="SimSun" panose="02010600030101010101" pitchFamily="2" charset="-122"/>
                </a:rPr>
                <a:t>设</a:t>
              </a:r>
              <a:r>
                <a:rPr lang="zh-CN" altLang="en-US" sz="1400" b="1" dirty="0" smtClean="0">
                  <a:solidFill>
                    <a:schemeClr val="bg1"/>
                  </a:solidFill>
                  <a:ea typeface="SimSun" panose="02010600030101010101" pitchFamily="2" charset="-122"/>
                </a:rPr>
                <a:t>计单</a:t>
              </a:r>
              <a:endParaRPr lang="en-US" altLang="zh-CN" sz="1400" b="1" dirty="0">
                <a:solidFill>
                  <a:schemeClr val="bg1"/>
                </a:solidFill>
                <a:ea typeface="SimSun" panose="02010600030101010101" pitchFamily="2" charset="-122"/>
              </a:endParaRPr>
            </a:p>
          </p:txBody>
        </p:sp>
        <p:sp>
          <p:nvSpPr>
            <p:cNvPr id="73" name="AutoShape 5"/>
            <p:cNvSpPr>
              <a:spLocks noChangeArrowheads="1"/>
            </p:cNvSpPr>
            <p:nvPr/>
          </p:nvSpPr>
          <p:spPr bwMode="blackWhite">
            <a:xfrm>
              <a:off x="4101286" y="3825876"/>
              <a:ext cx="1582737" cy="255587"/>
            </a:xfrm>
            <a:prstGeom prst="roundRect">
              <a:avLst>
                <a:gd name="adj" fmla="val 9106"/>
              </a:avLst>
            </a:prstGeom>
            <a:solidFill>
              <a:srgbClr val="00B0F0"/>
            </a:solidFill>
            <a:ln w="25400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ea typeface="SimSun" panose="02010600030101010101" pitchFamily="2" charset="-122"/>
                </a:rPr>
                <a:t>利</a:t>
              </a:r>
              <a:r>
                <a:rPr lang="zh-CN" altLang="en-US" sz="1400" b="1" dirty="0" smtClean="0">
                  <a:solidFill>
                    <a:schemeClr val="bg1"/>
                  </a:solidFill>
                  <a:ea typeface="SimSun" panose="02010600030101010101" pitchFamily="2" charset="-122"/>
                </a:rPr>
                <a:t>旧数据查询</a:t>
              </a:r>
              <a:endParaRPr lang="en-US" altLang="zh-CN" sz="1400" b="1" dirty="0">
                <a:solidFill>
                  <a:schemeClr val="bg1"/>
                </a:solidFill>
                <a:ea typeface="SimSun" panose="02010600030101010101" pitchFamily="2" charset="-122"/>
              </a:endParaRPr>
            </a:p>
          </p:txBody>
        </p:sp>
        <p:sp>
          <p:nvSpPr>
            <p:cNvPr id="74" name="AutoShape 5"/>
            <p:cNvSpPr>
              <a:spLocks noChangeArrowheads="1"/>
            </p:cNvSpPr>
            <p:nvPr/>
          </p:nvSpPr>
          <p:spPr bwMode="blackWhite">
            <a:xfrm>
              <a:off x="4097319" y="4146173"/>
              <a:ext cx="1582737" cy="255587"/>
            </a:xfrm>
            <a:prstGeom prst="roundRect">
              <a:avLst>
                <a:gd name="adj" fmla="val 9106"/>
              </a:avLst>
            </a:prstGeom>
            <a:solidFill>
              <a:srgbClr val="00B0F0"/>
            </a:solidFill>
            <a:ln w="25400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ea typeface="SimSun" panose="02010600030101010101" pitchFamily="2" charset="-122"/>
                </a:rPr>
                <a:t>库</a:t>
              </a:r>
              <a:r>
                <a:rPr lang="zh-CN" altLang="en-US" sz="1400" b="1" dirty="0" smtClean="0">
                  <a:solidFill>
                    <a:schemeClr val="bg1"/>
                  </a:solidFill>
                  <a:ea typeface="SimSun" panose="02010600030101010101" pitchFamily="2" charset="-122"/>
                </a:rPr>
                <a:t>存管理</a:t>
              </a:r>
              <a:endParaRPr lang="en-US" altLang="zh-CN" sz="1400" b="1" dirty="0">
                <a:solidFill>
                  <a:schemeClr val="bg1"/>
                </a:solidFill>
                <a:ea typeface="SimSun" panose="02010600030101010101" pitchFamily="2" charset="-122"/>
              </a:endParaRPr>
            </a:p>
          </p:txBody>
        </p:sp>
        <p:sp>
          <p:nvSpPr>
            <p:cNvPr id="75" name="AutoShape 6"/>
            <p:cNvSpPr>
              <a:spLocks noChangeArrowheads="1"/>
            </p:cNvSpPr>
            <p:nvPr/>
          </p:nvSpPr>
          <p:spPr bwMode="blackWhite">
            <a:xfrm>
              <a:off x="4101286" y="4760913"/>
              <a:ext cx="1582737" cy="255588"/>
            </a:xfrm>
            <a:prstGeom prst="roundRect">
              <a:avLst>
                <a:gd name="adj" fmla="val 9106"/>
              </a:avLst>
            </a:prstGeom>
            <a:gradFill rotWithShape="1">
              <a:gsLst>
                <a:gs pos="0">
                  <a:schemeClr val="hlink"/>
                </a:gs>
                <a:gs pos="50000">
                  <a:schemeClr val="hlink">
                    <a:gamma/>
                    <a:tint val="69804"/>
                    <a:invGamma/>
                  </a:schemeClr>
                </a:gs>
                <a:gs pos="100000">
                  <a:schemeClr val="hlink"/>
                </a:gs>
              </a:gsLst>
              <a:lin ang="2700000" scaled="1"/>
            </a:gradFill>
            <a:ln w="25400">
              <a:solidFill>
                <a:schemeClr val="bg1"/>
              </a:solidFill>
              <a:round/>
              <a:headEnd/>
              <a:tailEnd/>
            </a:ln>
            <a:effectLst/>
            <a:extLst/>
          </p:spPr>
          <p:txBody>
            <a:bodyPr wrap="none" anchor="ctr"/>
            <a:lstStyle/>
            <a:p>
              <a:pPr algn="ctr">
                <a:defRPr/>
              </a:pPr>
              <a:r>
                <a:rPr lang="zh-CN" altLang="en-US" sz="1400" b="1" dirty="0" smtClean="0">
                  <a:solidFill>
                    <a:schemeClr val="bg1"/>
                  </a:solidFill>
                  <a:ea typeface="宋体" charset="-122"/>
                </a:rPr>
                <a:t>部门管理</a:t>
              </a:r>
              <a:endParaRPr lang="en-US" altLang="zh-CN" sz="1400" b="1" dirty="0">
                <a:solidFill>
                  <a:schemeClr val="bg1"/>
                </a:solidFill>
                <a:ea typeface="宋体" charset="-122"/>
              </a:endParaRPr>
            </a:p>
          </p:txBody>
        </p:sp>
        <p:sp>
          <p:nvSpPr>
            <p:cNvPr id="76" name="AutoShape 4"/>
            <p:cNvSpPr>
              <a:spLocks noChangeArrowheads="1"/>
            </p:cNvSpPr>
            <p:nvPr/>
          </p:nvSpPr>
          <p:spPr bwMode="blackWhite">
            <a:xfrm>
              <a:off x="4101286" y="5481638"/>
              <a:ext cx="1582737" cy="255588"/>
            </a:xfrm>
            <a:prstGeom prst="roundRect">
              <a:avLst>
                <a:gd name="adj" fmla="val 9106"/>
              </a:avLst>
            </a:prstGeom>
            <a:gradFill rotWithShape="1">
              <a:gsLst>
                <a:gs pos="0">
                  <a:srgbClr val="FFC000"/>
                </a:gs>
                <a:gs pos="50000">
                  <a:srgbClr val="C28D3E"/>
                </a:gs>
                <a:gs pos="100000">
                  <a:srgbClr val="FFC000"/>
                </a:gs>
              </a:gsLst>
              <a:lin ang="2700000" scaled="1"/>
            </a:gradFill>
            <a:ln w="25400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ea typeface="SimSun" panose="02010600030101010101" pitchFamily="2" charset="-122"/>
                </a:rPr>
                <a:t>日</a:t>
              </a:r>
              <a:r>
                <a:rPr lang="zh-CN" altLang="en-US" sz="1400" b="1" dirty="0" smtClean="0">
                  <a:solidFill>
                    <a:schemeClr val="bg1"/>
                  </a:solidFill>
                  <a:ea typeface="SimSun" panose="02010600030101010101" pitchFamily="2" charset="-122"/>
                </a:rPr>
                <a:t>志管理</a:t>
              </a:r>
              <a:endParaRPr lang="en-US" altLang="zh-CN" sz="1400" b="1" dirty="0">
                <a:solidFill>
                  <a:schemeClr val="bg1"/>
                </a:solidFill>
                <a:ea typeface="SimSun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74508022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1" dur="2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4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7" dur="2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0" dur="2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2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6" dur="2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9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0"/>
                            </p:stCondLst>
                            <p:childTnLst>
                              <p:par>
                                <p:cTn id="41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2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500"/>
                            </p:stCondLst>
                            <p:childTnLst>
                              <p:par>
                                <p:cTn id="45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41" grpId="0" animBg="1"/>
      <p:bldP spid="43" grpId="0" animBg="1"/>
      <p:bldP spid="45" grpId="0" animBg="1"/>
      <p:bldP spid="4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="" xmlns:a16="http://schemas.microsoft.com/office/drawing/2014/main" id="{7C710A07-2A28-40EC-8D93-D7387474F0E6}"/>
              </a:ext>
            </a:extLst>
          </p:cNvPr>
          <p:cNvSpPr/>
          <p:nvPr/>
        </p:nvSpPr>
        <p:spPr>
          <a:xfrm>
            <a:off x="-28836" y="1053684"/>
            <a:ext cx="12192001" cy="5804316"/>
          </a:xfrm>
          <a:prstGeom prst="rect">
            <a:avLst/>
          </a:prstGeom>
          <a:blipFill dpi="0" rotWithShape="1">
            <a:blip r:embed="rId2">
              <a:alphaModFix amt="10000"/>
            </a:blip>
            <a:srcRect/>
            <a:stretch>
              <a:fillRect t="1" b="-1815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="" xmlns:a16="http://schemas.microsoft.com/office/drawing/2014/main" id="{E007A7BA-1DE5-4665-9D30-DF265963F3B3}"/>
              </a:ext>
            </a:extLst>
          </p:cNvPr>
          <p:cNvSpPr/>
          <p:nvPr/>
        </p:nvSpPr>
        <p:spPr>
          <a:xfrm>
            <a:off x="-57671" y="1657350"/>
            <a:ext cx="12249671" cy="390525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9" name="任意多边形: 形状 8">
            <a:extLst>
              <a:ext uri="{FF2B5EF4-FFF2-40B4-BE49-F238E27FC236}">
                <a16:creationId xmlns="" xmlns:a16="http://schemas.microsoft.com/office/drawing/2014/main" id="{D6B1D381-2032-4BBA-9BCC-3F2ED3F7A23C}"/>
              </a:ext>
            </a:extLst>
          </p:cNvPr>
          <p:cNvSpPr/>
          <p:nvPr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="" xmlns:a16="http://schemas.microsoft.com/office/drawing/2014/main" id="{D3C6F1E2-5A04-4423-A6C1-9B04901EF96E}"/>
              </a:ext>
            </a:extLst>
          </p:cNvPr>
          <p:cNvSpPr/>
          <p:nvPr/>
        </p:nvSpPr>
        <p:spPr>
          <a:xfrm flipH="1">
            <a:off x="-47886" y="2076450"/>
            <a:ext cx="12240000" cy="3009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="" xmlns:a16="http://schemas.microsoft.com/office/drawing/2014/main" id="{14B152BA-FB3A-4DEF-97AF-2D3132A6379B}"/>
              </a:ext>
            </a:extLst>
          </p:cNvPr>
          <p:cNvGrpSpPr/>
          <p:nvPr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10" name="任意多边形: 形状 9">
              <a:extLst>
                <a:ext uri="{FF2B5EF4-FFF2-40B4-BE49-F238E27FC236}">
                  <a16:creationId xmlns="" xmlns:a16="http://schemas.microsoft.com/office/drawing/2014/main" id="{616D1BA4-5DFB-495C-B4C0-D9BF0BD2A928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="" xmlns:a16="http://schemas.microsoft.com/office/drawing/2014/main" id="{A7585635-9F29-4E63-8ED6-2D0E97E9D29A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="" xmlns:a16="http://schemas.microsoft.com/office/drawing/2014/main" id="{5D8AB465-9371-4219-94C0-2D44DDA759B9}"/>
              </a:ext>
            </a:extLst>
          </p:cNvPr>
          <p:cNvSpPr txBox="1"/>
          <p:nvPr/>
        </p:nvSpPr>
        <p:spPr>
          <a:xfrm>
            <a:off x="504801" y="2381071"/>
            <a:ext cx="266059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5000" dirty="0">
                <a:ln w="15875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zh-CN" altLang="en-US" sz="15000" dirty="0">
              <a:ln w="15875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="" xmlns:a16="http://schemas.microsoft.com/office/drawing/2014/main" id="{B4E23612-32A5-4085-A451-FACD073E4899}"/>
              </a:ext>
            </a:extLst>
          </p:cNvPr>
          <p:cNvSpPr txBox="1"/>
          <p:nvPr/>
        </p:nvSpPr>
        <p:spPr>
          <a:xfrm>
            <a:off x="4686426" y="2438042"/>
            <a:ext cx="4492584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7500" b="1" dirty="0" smtClean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工作</a:t>
            </a:r>
            <a:r>
              <a:rPr lang="zh-CN" altLang="en-US" sz="7500" b="1" dirty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成果</a:t>
            </a:r>
          </a:p>
        </p:txBody>
      </p:sp>
      <p:sp>
        <p:nvSpPr>
          <p:cNvPr id="16" name="íṧḷîḓé">
            <a:extLst>
              <a:ext uri="{FF2B5EF4-FFF2-40B4-BE49-F238E27FC236}">
                <a16:creationId xmlns="" xmlns:a16="http://schemas.microsoft.com/office/drawing/2014/main" id="{6EF993AD-9179-4D46-8B81-636085C1AF40}"/>
              </a:ext>
            </a:extLst>
          </p:cNvPr>
          <p:cNvSpPr/>
          <p:nvPr/>
        </p:nvSpPr>
        <p:spPr bwMode="auto">
          <a:xfrm>
            <a:off x="5408021" y="3861605"/>
            <a:ext cx="1768290" cy="3856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171450" indent="-1714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效益</a:t>
            </a:r>
          </a:p>
        </p:txBody>
      </p:sp>
      <p:sp>
        <p:nvSpPr>
          <p:cNvPr id="23" name="íṧḷîḓé">
            <a:extLst>
              <a:ext uri="{FF2B5EF4-FFF2-40B4-BE49-F238E27FC236}">
                <a16:creationId xmlns="" xmlns:a16="http://schemas.microsoft.com/office/drawing/2014/main" id="{61C32C76-6039-421F-AD48-32668F12D82A}"/>
              </a:ext>
            </a:extLst>
          </p:cNvPr>
          <p:cNvSpPr/>
          <p:nvPr/>
        </p:nvSpPr>
        <p:spPr bwMode="auto">
          <a:xfrm>
            <a:off x="7073116" y="3856942"/>
            <a:ext cx="1768290" cy="3856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171450" indent="-1714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系</a:t>
            </a:r>
            <a:r>
              <a:rPr lang="zh-CN" altLang="en-US" sz="14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统页面</a:t>
            </a:r>
            <a:endParaRPr lang="zh-CN" altLang="en-US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8010274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Click="0" advTm="2000">
        <p15:prstTrans prst="peelOff"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16" grpId="0"/>
      <p:bldP spid="2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=""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0" y="375326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=""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=""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=""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10643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效益</a:t>
                </a: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=""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Benefit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=""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01</a:t>
              </a:r>
              <a:endParaRPr lang="en-US" altLang="zh-CN" sz="2200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="" xmlns:a16="http://schemas.microsoft.com/office/drawing/2014/main" id="{33D35270-2587-4966-B4EB-BA1DF7F7CA25}"/>
              </a:ext>
            </a:extLst>
          </p:cNvPr>
          <p:cNvGrpSpPr/>
          <p:nvPr/>
        </p:nvGrpSpPr>
        <p:grpSpPr>
          <a:xfrm>
            <a:off x="6016322" y="2547240"/>
            <a:ext cx="1656379" cy="1656378"/>
            <a:chOff x="6120832" y="2499442"/>
            <a:chExt cx="1656379" cy="1656378"/>
          </a:xfrm>
        </p:grpSpPr>
        <p:sp>
          <p:nvSpPr>
            <p:cNvPr id="12" name="ïśľïḓê">
              <a:extLst>
                <a:ext uri="{FF2B5EF4-FFF2-40B4-BE49-F238E27FC236}">
                  <a16:creationId xmlns="" xmlns:a16="http://schemas.microsoft.com/office/drawing/2014/main" id="{884A0FAD-1EF1-49C2-94D4-774094F87209}"/>
                </a:ext>
              </a:extLst>
            </p:cNvPr>
            <p:cNvSpPr/>
            <p:nvPr/>
          </p:nvSpPr>
          <p:spPr>
            <a:xfrm rot="10800000">
              <a:off x="6120832" y="2499442"/>
              <a:ext cx="1656379" cy="1656378"/>
            </a:xfrm>
            <a:prstGeom prst="teardrop">
              <a:avLst/>
            </a:prstGeom>
            <a:solidFill>
              <a:srgbClr val="1257F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iṩľíďè">
              <a:extLst>
                <a:ext uri="{FF2B5EF4-FFF2-40B4-BE49-F238E27FC236}">
                  <a16:creationId xmlns="" xmlns:a16="http://schemas.microsoft.com/office/drawing/2014/main" id="{2C30EBE2-B188-488E-8048-D8D3FA7BA762}"/>
                </a:ext>
              </a:extLst>
            </p:cNvPr>
            <p:cNvSpPr txBox="1"/>
            <p:nvPr/>
          </p:nvSpPr>
          <p:spPr>
            <a:xfrm>
              <a:off x="6330425" y="2977380"/>
              <a:ext cx="1313980" cy="643363"/>
            </a:xfrm>
            <a:prstGeom prst="rect">
              <a:avLst/>
            </a:prstGeom>
            <a:noFill/>
          </p:spPr>
          <p:txBody>
            <a:bodyPr wrap="square" lIns="91440" tIns="45720" rIns="91440" bIns="45720" anchor="ctr" anchorCtr="1">
              <a:normAutofit/>
            </a:bodyPr>
            <a:lstStyle/>
            <a:p>
              <a:pPr algn="ctr"/>
              <a:r>
                <a:rPr lang="zh-CN" altLang="en-US" sz="2000" b="1" i="1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有形效益</a:t>
              </a:r>
              <a:endParaRPr lang="zh-CN" altLang="en-US" sz="2000" i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="" xmlns:a16="http://schemas.microsoft.com/office/drawing/2014/main" id="{91F56F14-FC49-4C5D-8312-0D01FF2F477A}"/>
              </a:ext>
            </a:extLst>
          </p:cNvPr>
          <p:cNvGrpSpPr/>
          <p:nvPr/>
        </p:nvGrpSpPr>
        <p:grpSpPr>
          <a:xfrm>
            <a:off x="4269098" y="3366287"/>
            <a:ext cx="1656379" cy="1656378"/>
            <a:chOff x="4373608" y="3318489"/>
            <a:chExt cx="1656379" cy="1656378"/>
          </a:xfrm>
        </p:grpSpPr>
        <p:sp>
          <p:nvSpPr>
            <p:cNvPr id="15" name="ïşḻiḋé">
              <a:extLst>
                <a:ext uri="{FF2B5EF4-FFF2-40B4-BE49-F238E27FC236}">
                  <a16:creationId xmlns="" xmlns:a16="http://schemas.microsoft.com/office/drawing/2014/main" id="{014361BA-59B1-4453-95FC-993934D40854}"/>
                </a:ext>
              </a:extLst>
            </p:cNvPr>
            <p:cNvSpPr/>
            <p:nvPr/>
          </p:nvSpPr>
          <p:spPr>
            <a:xfrm>
              <a:off x="4373608" y="3318489"/>
              <a:ext cx="1656379" cy="1656378"/>
            </a:xfrm>
            <a:prstGeom prst="teardrop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iš1iḓe">
              <a:extLst>
                <a:ext uri="{FF2B5EF4-FFF2-40B4-BE49-F238E27FC236}">
                  <a16:creationId xmlns="" xmlns:a16="http://schemas.microsoft.com/office/drawing/2014/main" id="{24AE6C51-9D75-4960-A74B-C6D604AF4755}"/>
                </a:ext>
              </a:extLst>
            </p:cNvPr>
            <p:cNvSpPr txBox="1"/>
            <p:nvPr/>
          </p:nvSpPr>
          <p:spPr>
            <a:xfrm>
              <a:off x="4517912" y="3796426"/>
              <a:ext cx="1379699" cy="643363"/>
            </a:xfrm>
            <a:prstGeom prst="rect">
              <a:avLst/>
            </a:prstGeom>
            <a:noFill/>
          </p:spPr>
          <p:txBody>
            <a:bodyPr wrap="square" lIns="91440" tIns="45720" rIns="91440" bIns="45720" anchor="ctr" anchorCtr="1">
              <a:normAutofit/>
            </a:bodyPr>
            <a:lstStyle/>
            <a:p>
              <a:pPr algn="ctr"/>
              <a:r>
                <a:rPr lang="zh-CN" altLang="en-US" sz="2000" b="1" i="1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无形效益</a:t>
              </a:r>
              <a:endParaRPr lang="zh-CN" altLang="en-US" sz="2000" b="1" i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="" xmlns:a16="http://schemas.microsoft.com/office/drawing/2014/main" id="{F0B576B5-7B3E-462C-8FCE-EA8821438B41}"/>
              </a:ext>
            </a:extLst>
          </p:cNvPr>
          <p:cNvGrpSpPr/>
          <p:nvPr/>
        </p:nvGrpSpPr>
        <p:grpSpPr>
          <a:xfrm>
            <a:off x="442697" y="920881"/>
            <a:ext cx="3457175" cy="929718"/>
            <a:chOff x="649333" y="1988637"/>
            <a:chExt cx="3457175" cy="929718"/>
          </a:xfrm>
        </p:grpSpPr>
        <p:sp>
          <p:nvSpPr>
            <p:cNvPr id="18" name="îṡḻïďè">
              <a:extLst>
                <a:ext uri="{FF2B5EF4-FFF2-40B4-BE49-F238E27FC236}">
                  <a16:creationId xmlns="" xmlns:a16="http://schemas.microsoft.com/office/drawing/2014/main" id="{5A46C238-CF40-4232-AA46-BDC8DC879515}"/>
                </a:ext>
              </a:extLst>
            </p:cNvPr>
            <p:cNvSpPr/>
            <p:nvPr/>
          </p:nvSpPr>
          <p:spPr>
            <a:xfrm>
              <a:off x="649333" y="2394384"/>
              <a:ext cx="2809070" cy="5239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Autofit/>
            </a:bodyPr>
            <a:lstStyle/>
            <a:p>
              <a:pPr algn="r">
                <a:lnSpc>
                  <a:spcPct val="150000"/>
                </a:lnSpc>
              </a:pPr>
              <a:r>
                <a:rPr lang="zh-CN" altLang="en-US" sz="1400" b="1" spc="15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平衡了员工的劳动强度</a:t>
              </a:r>
              <a:endParaRPr lang="zh-CN" altLang="en-US" sz="1400" b="1" spc="15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îŝļíḋé">
              <a:extLst>
                <a:ext uri="{FF2B5EF4-FFF2-40B4-BE49-F238E27FC236}">
                  <a16:creationId xmlns="" xmlns:a16="http://schemas.microsoft.com/office/drawing/2014/main" id="{C4BAB4D9-03FC-4A44-9336-2B66A896DCC4}"/>
                </a:ext>
              </a:extLst>
            </p:cNvPr>
            <p:cNvSpPr/>
            <p:nvPr/>
          </p:nvSpPr>
          <p:spPr>
            <a:xfrm>
              <a:off x="649333" y="1988637"/>
              <a:ext cx="2809070" cy="4057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algn="r">
                <a:spcBef>
                  <a:spcPct val="0"/>
                </a:spcBef>
              </a:pPr>
              <a:r>
                <a:rPr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劳</a:t>
              </a:r>
              <a:r>
                <a:rPr lang="zh-CN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动强度</a:t>
              </a:r>
              <a:endPara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0" name="组合 19">
              <a:extLst>
                <a:ext uri="{FF2B5EF4-FFF2-40B4-BE49-F238E27FC236}">
                  <a16:creationId xmlns="" xmlns:a16="http://schemas.microsoft.com/office/drawing/2014/main" id="{BB14A81A-7E51-4A3F-B536-B1B0D531C3B3}"/>
                </a:ext>
              </a:extLst>
            </p:cNvPr>
            <p:cNvGrpSpPr/>
            <p:nvPr/>
          </p:nvGrpSpPr>
          <p:grpSpPr>
            <a:xfrm>
              <a:off x="3584042" y="2266387"/>
              <a:ext cx="522466" cy="522466"/>
              <a:chOff x="3584042" y="2266387"/>
              <a:chExt cx="522466" cy="522466"/>
            </a:xfrm>
          </p:grpSpPr>
          <p:sp>
            <p:nvSpPr>
              <p:cNvPr id="21" name="iṣḻíḋe">
                <a:extLst>
                  <a:ext uri="{FF2B5EF4-FFF2-40B4-BE49-F238E27FC236}">
                    <a16:creationId xmlns="" xmlns:a16="http://schemas.microsoft.com/office/drawing/2014/main" id="{287EEE40-FA34-4469-8E5E-2FDEE2A06211}"/>
                  </a:ext>
                </a:extLst>
              </p:cNvPr>
              <p:cNvSpPr/>
              <p:nvPr/>
            </p:nvSpPr>
            <p:spPr>
              <a:xfrm>
                <a:off x="3584042" y="2266387"/>
                <a:ext cx="522466" cy="522466"/>
              </a:xfrm>
              <a:prstGeom prst="ellipse">
                <a:avLst/>
              </a:prstGeom>
              <a:noFill/>
              <a:ln>
                <a:solidFill>
                  <a:srgbClr val="1FBEC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2" name="iṡḷíḑé">
                <a:extLst>
                  <a:ext uri="{FF2B5EF4-FFF2-40B4-BE49-F238E27FC236}">
                    <a16:creationId xmlns="" xmlns:a16="http://schemas.microsoft.com/office/drawing/2014/main" id="{CD149BA6-684F-45CD-9557-6A34915024D9}"/>
                  </a:ext>
                </a:extLst>
              </p:cNvPr>
              <p:cNvSpPr/>
              <p:nvPr/>
            </p:nvSpPr>
            <p:spPr>
              <a:xfrm>
                <a:off x="3736622" y="2424491"/>
                <a:ext cx="217308" cy="206260"/>
              </a:xfrm>
              <a:custGeom>
                <a:avLst/>
                <a:gdLst/>
                <a:ahLst/>
                <a:cxnLst/>
                <a:rect l="0" t="0" r="0" b="0"/>
                <a:pathLst>
                  <a:path w="120000" h="120000" extrusionOk="0">
                    <a:moveTo>
                      <a:pt x="119800" y="63664"/>
                    </a:moveTo>
                    <a:lnTo>
                      <a:pt x="119800" y="63664"/>
                    </a:lnTo>
                    <a:cubicBezTo>
                      <a:pt x="119800" y="66596"/>
                      <a:pt x="118405" y="69528"/>
                      <a:pt x="114219" y="69528"/>
                    </a:cubicBezTo>
                    <a:cubicBezTo>
                      <a:pt x="112823" y="69528"/>
                      <a:pt x="111428" y="68062"/>
                      <a:pt x="111428" y="68062"/>
                    </a:cubicBezTo>
                    <a:lnTo>
                      <a:pt x="111428" y="68062"/>
                    </a:lnTo>
                    <a:cubicBezTo>
                      <a:pt x="60598" y="14869"/>
                      <a:pt x="60598" y="14869"/>
                      <a:pt x="60598" y="14869"/>
                    </a:cubicBezTo>
                    <a:lnTo>
                      <a:pt x="60598" y="14869"/>
                    </a:lnTo>
                    <a:lnTo>
                      <a:pt x="60598" y="14869"/>
                    </a:lnTo>
                    <a:lnTo>
                      <a:pt x="60598" y="14869"/>
                    </a:lnTo>
                    <a:cubicBezTo>
                      <a:pt x="9966" y="68062"/>
                      <a:pt x="9966" y="68062"/>
                      <a:pt x="9966" y="68062"/>
                    </a:cubicBezTo>
                    <a:lnTo>
                      <a:pt x="9966" y="68062"/>
                    </a:lnTo>
                    <a:cubicBezTo>
                      <a:pt x="8571" y="68062"/>
                      <a:pt x="7176" y="69528"/>
                      <a:pt x="5780" y="69528"/>
                    </a:cubicBezTo>
                    <a:cubicBezTo>
                      <a:pt x="2990" y="69528"/>
                      <a:pt x="0" y="66596"/>
                      <a:pt x="0" y="63664"/>
                    </a:cubicBezTo>
                    <a:cubicBezTo>
                      <a:pt x="0" y="62198"/>
                      <a:pt x="0" y="60523"/>
                      <a:pt x="1395" y="59057"/>
                    </a:cubicBezTo>
                    <a:cubicBezTo>
                      <a:pt x="56411" y="1465"/>
                      <a:pt x="56411" y="1465"/>
                      <a:pt x="56411" y="1465"/>
                    </a:cubicBezTo>
                    <a:cubicBezTo>
                      <a:pt x="57807" y="0"/>
                      <a:pt x="59202" y="0"/>
                      <a:pt x="60598" y="0"/>
                    </a:cubicBez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cubicBezTo>
                      <a:pt x="61993" y="0"/>
                      <a:pt x="63388" y="1465"/>
                      <a:pt x="64784" y="1465"/>
                    </a:cubicBezTo>
                    <a:lnTo>
                      <a:pt x="64784" y="1465"/>
                    </a:lnTo>
                    <a:cubicBezTo>
                      <a:pt x="85913" y="25130"/>
                      <a:pt x="85913" y="25130"/>
                      <a:pt x="85913" y="25130"/>
                    </a:cubicBezTo>
                    <a:cubicBezTo>
                      <a:pt x="85913" y="19267"/>
                      <a:pt x="85913" y="19267"/>
                      <a:pt x="85913" y="19267"/>
                    </a:cubicBezTo>
                    <a:cubicBezTo>
                      <a:pt x="85913" y="16335"/>
                      <a:pt x="88903" y="13193"/>
                      <a:pt x="91694" y="13193"/>
                    </a:cubicBezTo>
                    <a:cubicBezTo>
                      <a:pt x="95880" y="13193"/>
                      <a:pt x="97275" y="16335"/>
                      <a:pt x="97275" y="19267"/>
                    </a:cubicBezTo>
                    <a:cubicBezTo>
                      <a:pt x="97275" y="36858"/>
                      <a:pt x="97275" y="36858"/>
                      <a:pt x="97275" y="36858"/>
                    </a:cubicBezTo>
                    <a:cubicBezTo>
                      <a:pt x="118405" y="59057"/>
                      <a:pt x="118405" y="59057"/>
                      <a:pt x="118405" y="59057"/>
                    </a:cubicBezTo>
                    <a:lnTo>
                      <a:pt x="118405" y="59057"/>
                    </a:lnTo>
                    <a:cubicBezTo>
                      <a:pt x="119800" y="60523"/>
                      <a:pt x="119800" y="62198"/>
                      <a:pt x="119800" y="63664"/>
                    </a:cubicBezTo>
                    <a:close/>
                    <a:moveTo>
                      <a:pt x="108438" y="72460"/>
                    </a:moveTo>
                    <a:lnTo>
                      <a:pt x="108438" y="72460"/>
                    </a:lnTo>
                    <a:cubicBezTo>
                      <a:pt x="108438" y="90261"/>
                      <a:pt x="108438" y="90261"/>
                      <a:pt x="108438" y="90261"/>
                    </a:cubicBezTo>
                    <a:cubicBezTo>
                      <a:pt x="108438" y="99057"/>
                      <a:pt x="108438" y="99057"/>
                      <a:pt x="108438" y="99057"/>
                    </a:cubicBezTo>
                    <a:cubicBezTo>
                      <a:pt x="108438" y="113926"/>
                      <a:pt x="108438" y="113926"/>
                      <a:pt x="108438" y="113926"/>
                    </a:cubicBezTo>
                    <a:cubicBezTo>
                      <a:pt x="108438" y="118324"/>
                      <a:pt x="107043" y="119790"/>
                      <a:pt x="102857" y="119790"/>
                    </a:cubicBezTo>
                    <a:cubicBezTo>
                      <a:pt x="91694" y="119790"/>
                      <a:pt x="91694" y="119790"/>
                      <a:pt x="91694" y="119790"/>
                    </a:cubicBezTo>
                    <a:cubicBezTo>
                      <a:pt x="91694" y="72460"/>
                      <a:pt x="91694" y="72460"/>
                      <a:pt x="91694" y="72460"/>
                    </a:cubicBezTo>
                    <a:cubicBezTo>
                      <a:pt x="69169" y="72460"/>
                      <a:pt x="69169" y="72460"/>
                      <a:pt x="69169" y="72460"/>
                    </a:cubicBezTo>
                    <a:cubicBezTo>
                      <a:pt x="69169" y="119790"/>
                      <a:pt x="69169" y="119790"/>
                      <a:pt x="69169" y="119790"/>
                    </a:cubicBezTo>
                    <a:cubicBezTo>
                      <a:pt x="16943" y="119790"/>
                      <a:pt x="16943" y="119790"/>
                      <a:pt x="16943" y="119790"/>
                    </a:cubicBezTo>
                    <a:cubicBezTo>
                      <a:pt x="14152" y="119790"/>
                      <a:pt x="11362" y="118324"/>
                      <a:pt x="11362" y="113926"/>
                    </a:cubicBezTo>
                    <a:cubicBezTo>
                      <a:pt x="11362" y="99057"/>
                      <a:pt x="11362" y="99057"/>
                      <a:pt x="11362" y="99057"/>
                    </a:cubicBezTo>
                    <a:cubicBezTo>
                      <a:pt x="11362" y="90261"/>
                      <a:pt x="11362" y="90261"/>
                      <a:pt x="11362" y="90261"/>
                    </a:cubicBezTo>
                    <a:cubicBezTo>
                      <a:pt x="11362" y="72460"/>
                      <a:pt x="11362" y="72460"/>
                      <a:pt x="11362" y="72460"/>
                    </a:cubicBezTo>
                    <a:cubicBezTo>
                      <a:pt x="60598" y="22198"/>
                      <a:pt x="60598" y="22198"/>
                      <a:pt x="60598" y="22198"/>
                    </a:cubicBezTo>
                    <a:lnTo>
                      <a:pt x="108438" y="72460"/>
                    </a:lnTo>
                    <a:close/>
                    <a:moveTo>
                      <a:pt x="50830" y="72460"/>
                    </a:moveTo>
                    <a:lnTo>
                      <a:pt x="50830" y="72460"/>
                    </a:lnTo>
                    <a:cubicBezTo>
                      <a:pt x="28305" y="72460"/>
                      <a:pt x="28305" y="72460"/>
                      <a:pt x="28305" y="72460"/>
                    </a:cubicBezTo>
                    <a:cubicBezTo>
                      <a:pt x="28305" y="96125"/>
                      <a:pt x="28305" y="96125"/>
                      <a:pt x="28305" y="96125"/>
                    </a:cubicBezTo>
                    <a:cubicBezTo>
                      <a:pt x="50830" y="96125"/>
                      <a:pt x="50830" y="96125"/>
                      <a:pt x="50830" y="96125"/>
                    </a:cubicBezTo>
                    <a:lnTo>
                      <a:pt x="50830" y="72460"/>
                    </a:lnTo>
                    <a:close/>
                  </a:path>
                </a:pathLst>
              </a:custGeom>
              <a:solidFill>
                <a:srgbClr val="8EBAE2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23" name="组合 22">
            <a:extLst>
              <a:ext uri="{FF2B5EF4-FFF2-40B4-BE49-F238E27FC236}">
                <a16:creationId xmlns="" xmlns:a16="http://schemas.microsoft.com/office/drawing/2014/main" id="{888DFF27-F098-40C9-8A71-E88DC1BA1DFC}"/>
              </a:ext>
            </a:extLst>
          </p:cNvPr>
          <p:cNvGrpSpPr/>
          <p:nvPr/>
        </p:nvGrpSpPr>
        <p:grpSpPr>
          <a:xfrm>
            <a:off x="437597" y="2220400"/>
            <a:ext cx="3457175" cy="929720"/>
            <a:chOff x="649333" y="3159155"/>
            <a:chExt cx="3457175" cy="929720"/>
          </a:xfrm>
        </p:grpSpPr>
        <p:sp>
          <p:nvSpPr>
            <p:cNvPr id="24" name="î$ḷídé">
              <a:extLst>
                <a:ext uri="{FF2B5EF4-FFF2-40B4-BE49-F238E27FC236}">
                  <a16:creationId xmlns="" xmlns:a16="http://schemas.microsoft.com/office/drawing/2014/main" id="{312C961E-0296-4245-B844-048FF6D10E4B}"/>
                </a:ext>
              </a:extLst>
            </p:cNvPr>
            <p:cNvSpPr/>
            <p:nvPr/>
          </p:nvSpPr>
          <p:spPr>
            <a:xfrm>
              <a:off x="649333" y="3564904"/>
              <a:ext cx="2809070" cy="5239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Autofit/>
            </a:bodyPr>
            <a:lstStyle/>
            <a:p>
              <a:pPr algn="r">
                <a:lnSpc>
                  <a:spcPct val="150000"/>
                </a:lnSpc>
              </a:pPr>
              <a:r>
                <a:rPr lang="zh-CN" altLang="en-US" sz="1400" b="1" spc="15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</a:t>
              </a:r>
              <a:r>
                <a:rPr lang="zh-CN" altLang="en-US" sz="1400" b="1" spc="15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现了零件的统一管理，下发，签收，使丢失的零件有迹可循</a:t>
              </a:r>
              <a:endParaRPr lang="zh-CN" altLang="en-US" sz="1400" b="1" spc="15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ïS1iḑè">
              <a:extLst>
                <a:ext uri="{FF2B5EF4-FFF2-40B4-BE49-F238E27FC236}">
                  <a16:creationId xmlns="" xmlns:a16="http://schemas.microsoft.com/office/drawing/2014/main" id="{8C6A37A1-2C83-48E3-A6E3-DC8C2469E978}"/>
                </a:ext>
              </a:extLst>
            </p:cNvPr>
            <p:cNvSpPr/>
            <p:nvPr/>
          </p:nvSpPr>
          <p:spPr>
            <a:xfrm>
              <a:off x="649333" y="3159155"/>
              <a:ext cx="2809070" cy="4057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algn="r">
                <a:spcBef>
                  <a:spcPct val="0"/>
                </a:spcBef>
              </a:pPr>
              <a:r>
                <a:rPr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风</a:t>
              </a:r>
              <a:r>
                <a:rPr lang="zh-CN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险控制</a:t>
              </a:r>
              <a:endPara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6" name="组合 25">
              <a:extLst>
                <a:ext uri="{FF2B5EF4-FFF2-40B4-BE49-F238E27FC236}">
                  <a16:creationId xmlns="" xmlns:a16="http://schemas.microsoft.com/office/drawing/2014/main" id="{1DC616FA-1968-4ADD-9D4A-715FECF3C684}"/>
                </a:ext>
              </a:extLst>
            </p:cNvPr>
            <p:cNvGrpSpPr/>
            <p:nvPr/>
          </p:nvGrpSpPr>
          <p:grpSpPr>
            <a:xfrm>
              <a:off x="3584042" y="3418872"/>
              <a:ext cx="522466" cy="522466"/>
              <a:chOff x="3584042" y="3418872"/>
              <a:chExt cx="522466" cy="522466"/>
            </a:xfrm>
          </p:grpSpPr>
          <p:sp>
            <p:nvSpPr>
              <p:cNvPr id="27" name="ïŝḻïḍe">
                <a:extLst>
                  <a:ext uri="{FF2B5EF4-FFF2-40B4-BE49-F238E27FC236}">
                    <a16:creationId xmlns="" xmlns:a16="http://schemas.microsoft.com/office/drawing/2014/main" id="{1ABF8E62-827D-405D-9246-8DE3CD0CD21D}"/>
                  </a:ext>
                </a:extLst>
              </p:cNvPr>
              <p:cNvSpPr/>
              <p:nvPr/>
            </p:nvSpPr>
            <p:spPr>
              <a:xfrm>
                <a:off x="3584042" y="3418872"/>
                <a:ext cx="522466" cy="522466"/>
              </a:xfrm>
              <a:prstGeom prst="ellipse">
                <a:avLst/>
              </a:prstGeom>
              <a:noFill/>
              <a:ln>
                <a:solidFill>
                  <a:srgbClr val="1FBEC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8" name="îs1îḍê">
                <a:extLst>
                  <a:ext uri="{FF2B5EF4-FFF2-40B4-BE49-F238E27FC236}">
                    <a16:creationId xmlns="" xmlns:a16="http://schemas.microsoft.com/office/drawing/2014/main" id="{2F492022-6888-4B9E-B001-E91313E15AD7}"/>
                  </a:ext>
                </a:extLst>
              </p:cNvPr>
              <p:cNvSpPr/>
              <p:nvPr/>
            </p:nvSpPr>
            <p:spPr>
              <a:xfrm>
                <a:off x="3736622" y="3584908"/>
                <a:ext cx="217308" cy="190394"/>
              </a:xfrm>
              <a:custGeom>
                <a:avLst/>
                <a:gdLst/>
                <a:ahLst/>
                <a:cxnLst/>
                <a:rect l="0" t="0" r="0" b="0"/>
                <a:pathLst>
                  <a:path w="120000" h="120000" extrusionOk="0">
                    <a:moveTo>
                      <a:pt x="117009" y="65310"/>
                    </a:moveTo>
                    <a:lnTo>
                      <a:pt x="117009" y="65310"/>
                    </a:lnTo>
                    <a:lnTo>
                      <a:pt x="117009" y="65310"/>
                    </a:lnTo>
                    <a:cubicBezTo>
                      <a:pt x="61993" y="91073"/>
                      <a:pt x="61993" y="91073"/>
                      <a:pt x="61993" y="91073"/>
                    </a:cubicBezTo>
                    <a:lnTo>
                      <a:pt x="61993" y="91073"/>
                    </a:lnTo>
                    <a:lnTo>
                      <a:pt x="61993" y="91073"/>
                    </a:lnTo>
                    <a:lnTo>
                      <a:pt x="61993" y="91073"/>
                    </a:lnTo>
                    <a:cubicBezTo>
                      <a:pt x="61993" y="92655"/>
                      <a:pt x="60598" y="92655"/>
                      <a:pt x="60598" y="92655"/>
                    </a:cubicBezTo>
                    <a:cubicBezTo>
                      <a:pt x="59202" y="92655"/>
                      <a:pt x="59202" y="92655"/>
                      <a:pt x="57807" y="91073"/>
                    </a:cubicBezTo>
                    <a:lnTo>
                      <a:pt x="57807" y="91073"/>
                    </a:lnTo>
                    <a:lnTo>
                      <a:pt x="57807" y="91073"/>
                    </a:lnTo>
                    <a:lnTo>
                      <a:pt x="57807" y="91073"/>
                    </a:lnTo>
                    <a:cubicBezTo>
                      <a:pt x="2990" y="65310"/>
                      <a:pt x="2990" y="65310"/>
                      <a:pt x="2990" y="65310"/>
                    </a:cubicBezTo>
                    <a:lnTo>
                      <a:pt x="2990" y="65310"/>
                    </a:lnTo>
                    <a:cubicBezTo>
                      <a:pt x="1395" y="65310"/>
                      <a:pt x="0" y="62146"/>
                      <a:pt x="0" y="60564"/>
                    </a:cubicBezTo>
                    <a:cubicBezTo>
                      <a:pt x="0" y="55819"/>
                      <a:pt x="2990" y="54237"/>
                      <a:pt x="5780" y="54237"/>
                    </a:cubicBezTo>
                    <a:cubicBezTo>
                      <a:pt x="7176" y="54237"/>
                      <a:pt x="7176" y="54237"/>
                      <a:pt x="8571" y="54237"/>
                    </a:cubicBezTo>
                    <a:lnTo>
                      <a:pt x="8571" y="54237"/>
                    </a:lnTo>
                    <a:lnTo>
                      <a:pt x="8571" y="54237"/>
                    </a:lnTo>
                    <a:lnTo>
                      <a:pt x="8571" y="54237"/>
                    </a:lnTo>
                    <a:cubicBezTo>
                      <a:pt x="60598" y="78192"/>
                      <a:pt x="60598" y="78192"/>
                      <a:pt x="60598" y="78192"/>
                    </a:cubicBezTo>
                    <a:cubicBezTo>
                      <a:pt x="112823" y="54237"/>
                      <a:pt x="112823" y="54237"/>
                      <a:pt x="112823" y="54237"/>
                    </a:cubicBezTo>
                    <a:lnTo>
                      <a:pt x="112823" y="54237"/>
                    </a:lnTo>
                    <a:lnTo>
                      <a:pt x="112823" y="54237"/>
                    </a:lnTo>
                    <a:lnTo>
                      <a:pt x="112823" y="54237"/>
                    </a:lnTo>
                    <a:lnTo>
                      <a:pt x="114219" y="54237"/>
                    </a:lnTo>
                    <a:cubicBezTo>
                      <a:pt x="118405" y="54237"/>
                      <a:pt x="119800" y="55819"/>
                      <a:pt x="119800" y="60564"/>
                    </a:cubicBezTo>
                    <a:cubicBezTo>
                      <a:pt x="119800" y="62146"/>
                      <a:pt x="118405" y="65310"/>
                      <a:pt x="117009" y="65310"/>
                    </a:cubicBezTo>
                    <a:close/>
                    <a:moveTo>
                      <a:pt x="117009" y="38192"/>
                    </a:moveTo>
                    <a:lnTo>
                      <a:pt x="117009" y="38192"/>
                    </a:lnTo>
                    <a:lnTo>
                      <a:pt x="117009" y="38192"/>
                    </a:lnTo>
                    <a:cubicBezTo>
                      <a:pt x="61993" y="63728"/>
                      <a:pt x="61993" y="63728"/>
                      <a:pt x="61993" y="63728"/>
                    </a:cubicBezTo>
                    <a:lnTo>
                      <a:pt x="61993" y="63728"/>
                    </a:lnTo>
                    <a:lnTo>
                      <a:pt x="61993" y="63728"/>
                    </a:lnTo>
                    <a:lnTo>
                      <a:pt x="61993" y="63728"/>
                    </a:lnTo>
                    <a:lnTo>
                      <a:pt x="60598" y="63728"/>
                    </a:lnTo>
                    <a:cubicBezTo>
                      <a:pt x="59202" y="63728"/>
                      <a:pt x="59202" y="63728"/>
                      <a:pt x="57807" y="63728"/>
                    </a:cubicBezTo>
                    <a:lnTo>
                      <a:pt x="57807" y="63728"/>
                    </a:lnTo>
                    <a:lnTo>
                      <a:pt x="57807" y="63728"/>
                    </a:lnTo>
                    <a:lnTo>
                      <a:pt x="57807" y="63728"/>
                    </a:lnTo>
                    <a:cubicBezTo>
                      <a:pt x="2990" y="38192"/>
                      <a:pt x="2990" y="38192"/>
                      <a:pt x="2990" y="38192"/>
                    </a:cubicBezTo>
                    <a:lnTo>
                      <a:pt x="2990" y="38192"/>
                    </a:lnTo>
                    <a:cubicBezTo>
                      <a:pt x="1395" y="36610"/>
                      <a:pt x="0" y="35028"/>
                      <a:pt x="0" y="31864"/>
                    </a:cubicBezTo>
                    <a:cubicBezTo>
                      <a:pt x="0" y="30282"/>
                      <a:pt x="1395" y="27118"/>
                      <a:pt x="2990" y="27118"/>
                    </a:cubicBezTo>
                    <a:lnTo>
                      <a:pt x="2990" y="27118"/>
                    </a:lnTo>
                    <a:cubicBezTo>
                      <a:pt x="57807" y="1581"/>
                      <a:pt x="57807" y="1581"/>
                      <a:pt x="57807" y="1581"/>
                    </a:cubicBezTo>
                    <a:lnTo>
                      <a:pt x="57807" y="1581"/>
                    </a:lnTo>
                    <a:lnTo>
                      <a:pt x="57807" y="1581"/>
                    </a:lnTo>
                    <a:lnTo>
                      <a:pt x="57807" y="1581"/>
                    </a:lnTo>
                    <a:cubicBezTo>
                      <a:pt x="59202" y="0"/>
                      <a:pt x="59202" y="0"/>
                      <a:pt x="60598" y="0"/>
                    </a:cubicBezTo>
                    <a:cubicBezTo>
                      <a:pt x="60598" y="0"/>
                      <a:pt x="61993" y="0"/>
                      <a:pt x="61993" y="1581"/>
                    </a:cubicBezTo>
                    <a:lnTo>
                      <a:pt x="61993" y="1581"/>
                    </a:lnTo>
                    <a:lnTo>
                      <a:pt x="61993" y="1581"/>
                    </a:lnTo>
                    <a:lnTo>
                      <a:pt x="61993" y="1581"/>
                    </a:lnTo>
                    <a:cubicBezTo>
                      <a:pt x="117009" y="27118"/>
                      <a:pt x="117009" y="27118"/>
                      <a:pt x="117009" y="27118"/>
                    </a:cubicBezTo>
                    <a:lnTo>
                      <a:pt x="117009" y="27118"/>
                    </a:lnTo>
                    <a:cubicBezTo>
                      <a:pt x="118405" y="27118"/>
                      <a:pt x="119800" y="30282"/>
                      <a:pt x="119800" y="31864"/>
                    </a:cubicBezTo>
                    <a:cubicBezTo>
                      <a:pt x="119800" y="35028"/>
                      <a:pt x="118405" y="36610"/>
                      <a:pt x="117009" y="38192"/>
                    </a:cubicBezTo>
                    <a:close/>
                    <a:moveTo>
                      <a:pt x="5780" y="81355"/>
                    </a:moveTo>
                    <a:lnTo>
                      <a:pt x="5780" y="81355"/>
                    </a:lnTo>
                    <a:cubicBezTo>
                      <a:pt x="7176" y="81355"/>
                      <a:pt x="7176" y="81355"/>
                      <a:pt x="8571" y="81355"/>
                    </a:cubicBezTo>
                    <a:lnTo>
                      <a:pt x="8571" y="81355"/>
                    </a:lnTo>
                    <a:lnTo>
                      <a:pt x="8571" y="81355"/>
                    </a:lnTo>
                    <a:lnTo>
                      <a:pt x="8571" y="81355"/>
                    </a:lnTo>
                    <a:cubicBezTo>
                      <a:pt x="60598" y="106892"/>
                      <a:pt x="60598" y="106892"/>
                      <a:pt x="60598" y="106892"/>
                    </a:cubicBezTo>
                    <a:cubicBezTo>
                      <a:pt x="112823" y="81355"/>
                      <a:pt x="112823" y="81355"/>
                      <a:pt x="112823" y="81355"/>
                    </a:cubicBezTo>
                    <a:lnTo>
                      <a:pt x="112823" y="81355"/>
                    </a:lnTo>
                    <a:lnTo>
                      <a:pt x="112823" y="81355"/>
                    </a:lnTo>
                    <a:lnTo>
                      <a:pt x="112823" y="81355"/>
                    </a:lnTo>
                    <a:lnTo>
                      <a:pt x="114219" y="81355"/>
                    </a:lnTo>
                    <a:cubicBezTo>
                      <a:pt x="118405" y="81355"/>
                      <a:pt x="119800" y="84519"/>
                      <a:pt x="119800" y="87683"/>
                    </a:cubicBezTo>
                    <a:cubicBezTo>
                      <a:pt x="119800" y="91073"/>
                      <a:pt x="118405" y="92655"/>
                      <a:pt x="117009" y="94237"/>
                    </a:cubicBezTo>
                    <a:lnTo>
                      <a:pt x="117009" y="94237"/>
                    </a:lnTo>
                    <a:cubicBezTo>
                      <a:pt x="61993" y="119774"/>
                      <a:pt x="61993" y="119774"/>
                      <a:pt x="61993" y="119774"/>
                    </a:cubicBezTo>
                    <a:lnTo>
                      <a:pt x="61993" y="119774"/>
                    </a:lnTo>
                    <a:lnTo>
                      <a:pt x="61993" y="119774"/>
                    </a:lnTo>
                    <a:lnTo>
                      <a:pt x="61993" y="119774"/>
                    </a:lnTo>
                    <a:lnTo>
                      <a:pt x="60598" y="119774"/>
                    </a:lnTo>
                    <a:cubicBezTo>
                      <a:pt x="59202" y="119774"/>
                      <a:pt x="59202" y="119774"/>
                      <a:pt x="57807" y="119774"/>
                    </a:cubicBezTo>
                    <a:lnTo>
                      <a:pt x="57807" y="119774"/>
                    </a:lnTo>
                    <a:lnTo>
                      <a:pt x="57807" y="119774"/>
                    </a:lnTo>
                    <a:lnTo>
                      <a:pt x="57807" y="119774"/>
                    </a:lnTo>
                    <a:cubicBezTo>
                      <a:pt x="2990" y="94237"/>
                      <a:pt x="2990" y="94237"/>
                      <a:pt x="2990" y="94237"/>
                    </a:cubicBezTo>
                    <a:lnTo>
                      <a:pt x="2990" y="94237"/>
                    </a:lnTo>
                    <a:cubicBezTo>
                      <a:pt x="1395" y="92655"/>
                      <a:pt x="0" y="91073"/>
                      <a:pt x="0" y="87683"/>
                    </a:cubicBezTo>
                    <a:cubicBezTo>
                      <a:pt x="0" y="84519"/>
                      <a:pt x="2990" y="81355"/>
                      <a:pt x="5780" y="81355"/>
                    </a:cubicBezTo>
                    <a:close/>
                  </a:path>
                </a:pathLst>
              </a:custGeom>
              <a:solidFill>
                <a:srgbClr val="8EBAE2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29" name="组合 28">
            <a:extLst>
              <a:ext uri="{FF2B5EF4-FFF2-40B4-BE49-F238E27FC236}">
                <a16:creationId xmlns="" xmlns:a16="http://schemas.microsoft.com/office/drawing/2014/main" id="{5775CF4F-0452-4A91-8142-A3B98B53E5E6}"/>
              </a:ext>
            </a:extLst>
          </p:cNvPr>
          <p:cNvGrpSpPr/>
          <p:nvPr/>
        </p:nvGrpSpPr>
        <p:grpSpPr>
          <a:xfrm>
            <a:off x="444503" y="3700921"/>
            <a:ext cx="3457175" cy="929720"/>
            <a:chOff x="649333" y="4435229"/>
            <a:chExt cx="3457175" cy="929720"/>
          </a:xfrm>
        </p:grpSpPr>
        <p:sp>
          <p:nvSpPr>
            <p:cNvPr id="30" name="îṥļíďe">
              <a:extLst>
                <a:ext uri="{FF2B5EF4-FFF2-40B4-BE49-F238E27FC236}">
                  <a16:creationId xmlns="" xmlns:a16="http://schemas.microsoft.com/office/drawing/2014/main" id="{194EC214-2BE5-4EED-AB09-0257FBFBC2F3}"/>
                </a:ext>
              </a:extLst>
            </p:cNvPr>
            <p:cNvSpPr/>
            <p:nvPr/>
          </p:nvSpPr>
          <p:spPr>
            <a:xfrm>
              <a:off x="649333" y="4840978"/>
              <a:ext cx="2809070" cy="5239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Autofit/>
            </a:bodyPr>
            <a:lstStyle/>
            <a:p>
              <a:pPr algn="r">
                <a:lnSpc>
                  <a:spcPct val="150000"/>
                </a:lnSpc>
              </a:pPr>
              <a:r>
                <a:rPr lang="zh-CN" altLang="en-US" sz="1400" b="1" kern="0" dirty="0" smtClean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取消了纸档作业</a:t>
              </a:r>
              <a:r>
                <a:rPr lang="en-US" altLang="zh-CN" sz="1400" b="1" kern="0" dirty="0" smtClean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,</a:t>
              </a:r>
              <a:r>
                <a:rPr lang="zh-CN" altLang="en-US" sz="1400" b="1" kern="0" dirty="0" smtClean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实现了自动化签核，提高了数据准确度，并自动汇总成报表</a:t>
              </a:r>
              <a:endParaRPr lang="zh-CN" altLang="en-US" sz="1400" b="1" spc="15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ïṣḻíḍè">
              <a:extLst>
                <a:ext uri="{FF2B5EF4-FFF2-40B4-BE49-F238E27FC236}">
                  <a16:creationId xmlns="" xmlns:a16="http://schemas.microsoft.com/office/drawing/2014/main" id="{D5B05BB7-FBB3-4943-878B-C5382C97CA7F}"/>
                </a:ext>
              </a:extLst>
            </p:cNvPr>
            <p:cNvSpPr/>
            <p:nvPr/>
          </p:nvSpPr>
          <p:spPr>
            <a:xfrm>
              <a:off x="649333" y="4435229"/>
              <a:ext cx="2809070" cy="4057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algn="r">
                <a:spcBef>
                  <a:spcPct val="0"/>
                </a:spcBef>
              </a:pPr>
              <a:r>
                <a:rPr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自</a:t>
              </a:r>
              <a:r>
                <a:rPr lang="zh-CN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动化</a:t>
              </a:r>
              <a:endPara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32" name="组合 31">
              <a:extLst>
                <a:ext uri="{FF2B5EF4-FFF2-40B4-BE49-F238E27FC236}">
                  <a16:creationId xmlns="" xmlns:a16="http://schemas.microsoft.com/office/drawing/2014/main" id="{2AB3AACC-BDCD-4E44-8CE8-89482E0DCCBD}"/>
                </a:ext>
              </a:extLst>
            </p:cNvPr>
            <p:cNvGrpSpPr/>
            <p:nvPr/>
          </p:nvGrpSpPr>
          <p:grpSpPr>
            <a:xfrm>
              <a:off x="3584042" y="4672567"/>
              <a:ext cx="522466" cy="522466"/>
              <a:chOff x="3584042" y="4672567"/>
              <a:chExt cx="522466" cy="522466"/>
            </a:xfrm>
          </p:grpSpPr>
          <p:sp>
            <p:nvSpPr>
              <p:cNvPr id="33" name="íşḻiḑè">
                <a:extLst>
                  <a:ext uri="{FF2B5EF4-FFF2-40B4-BE49-F238E27FC236}">
                    <a16:creationId xmlns="" xmlns:a16="http://schemas.microsoft.com/office/drawing/2014/main" id="{17DB5A02-D64E-4E20-80D6-238C55C395ED}"/>
                  </a:ext>
                </a:extLst>
              </p:cNvPr>
              <p:cNvSpPr/>
              <p:nvPr/>
            </p:nvSpPr>
            <p:spPr>
              <a:xfrm>
                <a:off x="3584042" y="4672567"/>
                <a:ext cx="522466" cy="522466"/>
              </a:xfrm>
              <a:prstGeom prst="ellipse">
                <a:avLst/>
              </a:prstGeom>
              <a:noFill/>
              <a:ln>
                <a:solidFill>
                  <a:srgbClr val="1FBEC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4" name="îṡľïḋè">
                <a:extLst>
                  <a:ext uri="{FF2B5EF4-FFF2-40B4-BE49-F238E27FC236}">
                    <a16:creationId xmlns="" xmlns:a16="http://schemas.microsoft.com/office/drawing/2014/main" id="{B1E5F859-DF77-4B07-9E71-F80C35B1F28F}"/>
                  </a:ext>
                </a:extLst>
              </p:cNvPr>
              <p:cNvSpPr/>
              <p:nvPr/>
            </p:nvSpPr>
            <p:spPr>
              <a:xfrm>
                <a:off x="3757241" y="4825914"/>
                <a:ext cx="176066" cy="215776"/>
              </a:xfrm>
              <a:custGeom>
                <a:avLst/>
                <a:gdLst/>
                <a:ahLst/>
                <a:cxnLst/>
                <a:rect l="0" t="0" r="0" b="0"/>
                <a:pathLst>
                  <a:path w="120000" h="120000" extrusionOk="0">
                    <a:moveTo>
                      <a:pt x="112868" y="119800"/>
                    </a:moveTo>
                    <a:lnTo>
                      <a:pt x="112868" y="119800"/>
                    </a:lnTo>
                    <a:cubicBezTo>
                      <a:pt x="6885" y="119800"/>
                      <a:pt x="6885" y="119800"/>
                      <a:pt x="6885" y="119800"/>
                    </a:cubicBezTo>
                    <a:cubicBezTo>
                      <a:pt x="1721" y="119800"/>
                      <a:pt x="0" y="117004"/>
                      <a:pt x="0" y="114209"/>
                    </a:cubicBezTo>
                    <a:cubicBezTo>
                      <a:pt x="0" y="64891"/>
                      <a:pt x="0" y="64891"/>
                      <a:pt x="0" y="64891"/>
                    </a:cubicBezTo>
                    <a:cubicBezTo>
                      <a:pt x="0" y="62096"/>
                      <a:pt x="1721" y="59101"/>
                      <a:pt x="6885" y="59101"/>
                    </a:cubicBezTo>
                    <a:cubicBezTo>
                      <a:pt x="17213" y="59101"/>
                      <a:pt x="17213" y="59101"/>
                      <a:pt x="17213" y="59101"/>
                    </a:cubicBezTo>
                    <a:cubicBezTo>
                      <a:pt x="17213" y="33743"/>
                      <a:pt x="17213" y="33743"/>
                      <a:pt x="17213" y="33743"/>
                    </a:cubicBezTo>
                    <a:cubicBezTo>
                      <a:pt x="17213" y="13976"/>
                      <a:pt x="36393" y="0"/>
                      <a:pt x="59016" y="0"/>
                    </a:cubicBezTo>
                    <a:cubicBezTo>
                      <a:pt x="83360" y="0"/>
                      <a:pt x="100573" y="13976"/>
                      <a:pt x="100573" y="33743"/>
                    </a:cubicBezTo>
                    <a:cubicBezTo>
                      <a:pt x="100573" y="36539"/>
                      <a:pt x="98852" y="39534"/>
                      <a:pt x="93688" y="39534"/>
                    </a:cubicBezTo>
                    <a:cubicBezTo>
                      <a:pt x="90245" y="39534"/>
                      <a:pt x="86803" y="36539"/>
                      <a:pt x="86803" y="33743"/>
                    </a:cubicBezTo>
                    <a:cubicBezTo>
                      <a:pt x="86803" y="21164"/>
                      <a:pt x="74754" y="11181"/>
                      <a:pt x="59016" y="11181"/>
                    </a:cubicBezTo>
                    <a:cubicBezTo>
                      <a:pt x="43278" y="11181"/>
                      <a:pt x="31229" y="21164"/>
                      <a:pt x="31229" y="33743"/>
                    </a:cubicBezTo>
                    <a:cubicBezTo>
                      <a:pt x="31229" y="59101"/>
                      <a:pt x="31229" y="59101"/>
                      <a:pt x="31229" y="59101"/>
                    </a:cubicBezTo>
                    <a:cubicBezTo>
                      <a:pt x="86803" y="59101"/>
                      <a:pt x="86803" y="59101"/>
                      <a:pt x="86803" y="59101"/>
                    </a:cubicBezTo>
                    <a:cubicBezTo>
                      <a:pt x="100573" y="59101"/>
                      <a:pt x="100573" y="59101"/>
                      <a:pt x="100573" y="59101"/>
                    </a:cubicBezTo>
                    <a:cubicBezTo>
                      <a:pt x="112868" y="59101"/>
                      <a:pt x="112868" y="59101"/>
                      <a:pt x="112868" y="59101"/>
                    </a:cubicBezTo>
                    <a:cubicBezTo>
                      <a:pt x="116311" y="59101"/>
                      <a:pt x="119754" y="62096"/>
                      <a:pt x="119754" y="64891"/>
                    </a:cubicBezTo>
                    <a:cubicBezTo>
                      <a:pt x="119754" y="114209"/>
                      <a:pt x="119754" y="114209"/>
                      <a:pt x="119754" y="114209"/>
                    </a:cubicBezTo>
                    <a:cubicBezTo>
                      <a:pt x="119754" y="117004"/>
                      <a:pt x="116311" y="119800"/>
                      <a:pt x="112868" y="119800"/>
                    </a:cubicBezTo>
                    <a:close/>
                    <a:moveTo>
                      <a:pt x="59016" y="70482"/>
                    </a:moveTo>
                    <a:lnTo>
                      <a:pt x="59016" y="70482"/>
                    </a:lnTo>
                    <a:cubicBezTo>
                      <a:pt x="52131" y="70482"/>
                      <a:pt x="45000" y="76073"/>
                      <a:pt x="45000" y="81863"/>
                    </a:cubicBezTo>
                    <a:cubicBezTo>
                      <a:pt x="45000" y="86056"/>
                      <a:pt x="48688" y="90249"/>
                      <a:pt x="52131" y="91647"/>
                    </a:cubicBezTo>
                    <a:cubicBezTo>
                      <a:pt x="52131" y="103028"/>
                      <a:pt x="52131" y="103028"/>
                      <a:pt x="52131" y="103028"/>
                    </a:cubicBezTo>
                    <a:cubicBezTo>
                      <a:pt x="52131" y="105823"/>
                      <a:pt x="55573" y="108618"/>
                      <a:pt x="59016" y="108618"/>
                    </a:cubicBezTo>
                    <a:cubicBezTo>
                      <a:pt x="64180" y="108618"/>
                      <a:pt x="65901" y="105823"/>
                      <a:pt x="65901" y="103028"/>
                    </a:cubicBezTo>
                    <a:cubicBezTo>
                      <a:pt x="65901" y="91647"/>
                      <a:pt x="65901" y="91647"/>
                      <a:pt x="65901" y="91647"/>
                    </a:cubicBezTo>
                    <a:cubicBezTo>
                      <a:pt x="71065" y="90249"/>
                      <a:pt x="72786" y="86056"/>
                      <a:pt x="72786" y="81863"/>
                    </a:cubicBezTo>
                    <a:cubicBezTo>
                      <a:pt x="72786" y="76073"/>
                      <a:pt x="67622" y="70482"/>
                      <a:pt x="59016" y="70482"/>
                    </a:cubicBezTo>
                    <a:close/>
                  </a:path>
                </a:pathLst>
              </a:custGeom>
              <a:solidFill>
                <a:srgbClr val="8EBAE2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35" name="组合 34">
            <a:extLst>
              <a:ext uri="{FF2B5EF4-FFF2-40B4-BE49-F238E27FC236}">
                <a16:creationId xmlns="" xmlns:a16="http://schemas.microsoft.com/office/drawing/2014/main" id="{04FFB9D0-636B-4D36-B213-B2849057E304}"/>
              </a:ext>
            </a:extLst>
          </p:cNvPr>
          <p:cNvGrpSpPr/>
          <p:nvPr/>
        </p:nvGrpSpPr>
        <p:grpSpPr>
          <a:xfrm>
            <a:off x="7745675" y="861487"/>
            <a:ext cx="3520025" cy="932125"/>
            <a:chOff x="7965942" y="1988637"/>
            <a:chExt cx="3520025" cy="929718"/>
          </a:xfrm>
        </p:grpSpPr>
        <p:sp>
          <p:nvSpPr>
            <p:cNvPr id="36" name="išļiḍè">
              <a:extLst>
                <a:ext uri="{FF2B5EF4-FFF2-40B4-BE49-F238E27FC236}">
                  <a16:creationId xmlns="" xmlns:a16="http://schemas.microsoft.com/office/drawing/2014/main" id="{A9EC1242-8743-4B4D-827E-4300E58B2930}"/>
                </a:ext>
              </a:extLst>
            </p:cNvPr>
            <p:cNvSpPr/>
            <p:nvPr/>
          </p:nvSpPr>
          <p:spPr>
            <a:xfrm>
              <a:off x="8544045" y="2394384"/>
              <a:ext cx="2941922" cy="5239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400" b="1" spc="15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没有使用系统前，至少需要</a:t>
              </a:r>
              <a:r>
                <a:rPr lang="en-US" altLang="zh-CN" sz="1400" b="1" spc="15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r>
                <a:rPr lang="zh-CN" altLang="en-US" sz="1400" b="1" spc="15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个人力去跑纸档签核单，需要各级主管审批</a:t>
              </a:r>
              <a:endParaRPr lang="zh-CN" altLang="en-US" sz="1400" b="1" spc="15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išľíḓê">
              <a:extLst>
                <a:ext uri="{FF2B5EF4-FFF2-40B4-BE49-F238E27FC236}">
                  <a16:creationId xmlns="" xmlns:a16="http://schemas.microsoft.com/office/drawing/2014/main" id="{7AEAE74E-1E23-4852-81E8-E109761FD084}"/>
                </a:ext>
              </a:extLst>
            </p:cNvPr>
            <p:cNvSpPr/>
            <p:nvPr/>
          </p:nvSpPr>
          <p:spPr>
            <a:xfrm>
              <a:off x="8544045" y="1988637"/>
              <a:ext cx="2941922" cy="4057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>
                <a:spcBef>
                  <a:spcPct val="0"/>
                </a:spcBef>
              </a:pPr>
              <a:r>
                <a:rPr lang="zh-CN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人力成本</a:t>
              </a:r>
              <a:endPara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="" xmlns:a16="http://schemas.microsoft.com/office/drawing/2014/main" id="{E053B9C5-64EA-4114-90CE-ABDB84B77931}"/>
                </a:ext>
              </a:extLst>
            </p:cNvPr>
            <p:cNvGrpSpPr/>
            <p:nvPr/>
          </p:nvGrpSpPr>
          <p:grpSpPr>
            <a:xfrm>
              <a:off x="7965942" y="2266387"/>
              <a:ext cx="522466" cy="522466"/>
              <a:chOff x="7965942" y="2266387"/>
              <a:chExt cx="522466" cy="522466"/>
            </a:xfrm>
          </p:grpSpPr>
          <p:sp>
            <p:nvSpPr>
              <p:cNvPr id="39" name="îṥļide">
                <a:extLst>
                  <a:ext uri="{FF2B5EF4-FFF2-40B4-BE49-F238E27FC236}">
                    <a16:creationId xmlns="" xmlns:a16="http://schemas.microsoft.com/office/drawing/2014/main" id="{777CE2EF-E681-4574-8101-1F6E90D49E18}"/>
                  </a:ext>
                </a:extLst>
              </p:cNvPr>
              <p:cNvSpPr/>
              <p:nvPr/>
            </p:nvSpPr>
            <p:spPr>
              <a:xfrm>
                <a:off x="7965942" y="2266387"/>
                <a:ext cx="522466" cy="522466"/>
              </a:xfrm>
              <a:prstGeom prst="ellipse">
                <a:avLst/>
              </a:prstGeom>
              <a:noFill/>
              <a:ln>
                <a:solidFill>
                  <a:srgbClr val="1257F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0" name="íSḷíḑê">
                <a:extLst>
                  <a:ext uri="{FF2B5EF4-FFF2-40B4-BE49-F238E27FC236}">
                    <a16:creationId xmlns="" xmlns:a16="http://schemas.microsoft.com/office/drawing/2014/main" id="{25C3ED48-9023-489C-B1AE-F6506AB7F594}"/>
                  </a:ext>
                </a:extLst>
              </p:cNvPr>
              <p:cNvSpPr/>
              <p:nvPr/>
            </p:nvSpPr>
            <p:spPr>
              <a:xfrm>
                <a:off x="8133272" y="2424492"/>
                <a:ext cx="217308" cy="206260"/>
              </a:xfrm>
              <a:custGeom>
                <a:avLst/>
                <a:gdLst/>
                <a:ahLst/>
                <a:cxnLst/>
                <a:rect l="0" t="0" r="0" b="0"/>
                <a:pathLst>
                  <a:path w="120000" h="120000" extrusionOk="0">
                    <a:moveTo>
                      <a:pt x="119800" y="63664"/>
                    </a:moveTo>
                    <a:lnTo>
                      <a:pt x="119800" y="63664"/>
                    </a:lnTo>
                    <a:cubicBezTo>
                      <a:pt x="119800" y="66596"/>
                      <a:pt x="118405" y="69528"/>
                      <a:pt x="114219" y="69528"/>
                    </a:cubicBezTo>
                    <a:cubicBezTo>
                      <a:pt x="112823" y="69528"/>
                      <a:pt x="111428" y="68062"/>
                      <a:pt x="111428" y="68062"/>
                    </a:cubicBezTo>
                    <a:lnTo>
                      <a:pt x="111428" y="68062"/>
                    </a:lnTo>
                    <a:cubicBezTo>
                      <a:pt x="60598" y="14869"/>
                      <a:pt x="60598" y="14869"/>
                      <a:pt x="60598" y="14869"/>
                    </a:cubicBezTo>
                    <a:lnTo>
                      <a:pt x="60598" y="14869"/>
                    </a:lnTo>
                    <a:lnTo>
                      <a:pt x="60598" y="14869"/>
                    </a:lnTo>
                    <a:lnTo>
                      <a:pt x="60598" y="14869"/>
                    </a:lnTo>
                    <a:cubicBezTo>
                      <a:pt x="9966" y="68062"/>
                      <a:pt x="9966" y="68062"/>
                      <a:pt x="9966" y="68062"/>
                    </a:cubicBezTo>
                    <a:lnTo>
                      <a:pt x="9966" y="68062"/>
                    </a:lnTo>
                    <a:cubicBezTo>
                      <a:pt x="8571" y="68062"/>
                      <a:pt x="7176" y="69528"/>
                      <a:pt x="5780" y="69528"/>
                    </a:cubicBezTo>
                    <a:cubicBezTo>
                      <a:pt x="2990" y="69528"/>
                      <a:pt x="0" y="66596"/>
                      <a:pt x="0" y="63664"/>
                    </a:cubicBezTo>
                    <a:cubicBezTo>
                      <a:pt x="0" y="62198"/>
                      <a:pt x="0" y="60523"/>
                      <a:pt x="1395" y="59057"/>
                    </a:cubicBezTo>
                    <a:cubicBezTo>
                      <a:pt x="56411" y="1465"/>
                      <a:pt x="56411" y="1465"/>
                      <a:pt x="56411" y="1465"/>
                    </a:cubicBezTo>
                    <a:cubicBezTo>
                      <a:pt x="57807" y="0"/>
                      <a:pt x="59202" y="0"/>
                      <a:pt x="60598" y="0"/>
                    </a:cubicBez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cubicBezTo>
                      <a:pt x="61993" y="0"/>
                      <a:pt x="63388" y="1465"/>
                      <a:pt x="64784" y="1465"/>
                    </a:cubicBezTo>
                    <a:lnTo>
                      <a:pt x="64784" y="1465"/>
                    </a:lnTo>
                    <a:cubicBezTo>
                      <a:pt x="85913" y="25130"/>
                      <a:pt x="85913" y="25130"/>
                      <a:pt x="85913" y="25130"/>
                    </a:cubicBezTo>
                    <a:cubicBezTo>
                      <a:pt x="85913" y="19267"/>
                      <a:pt x="85913" y="19267"/>
                      <a:pt x="85913" y="19267"/>
                    </a:cubicBezTo>
                    <a:cubicBezTo>
                      <a:pt x="85913" y="16335"/>
                      <a:pt x="88903" y="13193"/>
                      <a:pt x="91694" y="13193"/>
                    </a:cubicBezTo>
                    <a:cubicBezTo>
                      <a:pt x="95880" y="13193"/>
                      <a:pt x="97275" y="16335"/>
                      <a:pt x="97275" y="19267"/>
                    </a:cubicBezTo>
                    <a:cubicBezTo>
                      <a:pt x="97275" y="36858"/>
                      <a:pt x="97275" y="36858"/>
                      <a:pt x="97275" y="36858"/>
                    </a:cubicBezTo>
                    <a:cubicBezTo>
                      <a:pt x="118405" y="59057"/>
                      <a:pt x="118405" y="59057"/>
                      <a:pt x="118405" y="59057"/>
                    </a:cubicBezTo>
                    <a:lnTo>
                      <a:pt x="118405" y="59057"/>
                    </a:lnTo>
                    <a:cubicBezTo>
                      <a:pt x="119800" y="60523"/>
                      <a:pt x="119800" y="62198"/>
                      <a:pt x="119800" y="63664"/>
                    </a:cubicBezTo>
                    <a:close/>
                    <a:moveTo>
                      <a:pt x="108438" y="72460"/>
                    </a:moveTo>
                    <a:lnTo>
                      <a:pt x="108438" y="72460"/>
                    </a:lnTo>
                    <a:cubicBezTo>
                      <a:pt x="108438" y="90261"/>
                      <a:pt x="108438" y="90261"/>
                      <a:pt x="108438" y="90261"/>
                    </a:cubicBezTo>
                    <a:cubicBezTo>
                      <a:pt x="108438" y="99057"/>
                      <a:pt x="108438" y="99057"/>
                      <a:pt x="108438" y="99057"/>
                    </a:cubicBezTo>
                    <a:cubicBezTo>
                      <a:pt x="108438" y="113926"/>
                      <a:pt x="108438" y="113926"/>
                      <a:pt x="108438" y="113926"/>
                    </a:cubicBezTo>
                    <a:cubicBezTo>
                      <a:pt x="108438" y="118324"/>
                      <a:pt x="107043" y="119790"/>
                      <a:pt x="102857" y="119790"/>
                    </a:cubicBezTo>
                    <a:cubicBezTo>
                      <a:pt x="91694" y="119790"/>
                      <a:pt x="91694" y="119790"/>
                      <a:pt x="91694" y="119790"/>
                    </a:cubicBezTo>
                    <a:cubicBezTo>
                      <a:pt x="91694" y="72460"/>
                      <a:pt x="91694" y="72460"/>
                      <a:pt x="91694" y="72460"/>
                    </a:cubicBezTo>
                    <a:cubicBezTo>
                      <a:pt x="69169" y="72460"/>
                      <a:pt x="69169" y="72460"/>
                      <a:pt x="69169" y="72460"/>
                    </a:cubicBezTo>
                    <a:cubicBezTo>
                      <a:pt x="69169" y="119790"/>
                      <a:pt x="69169" y="119790"/>
                      <a:pt x="69169" y="119790"/>
                    </a:cubicBezTo>
                    <a:cubicBezTo>
                      <a:pt x="16943" y="119790"/>
                      <a:pt x="16943" y="119790"/>
                      <a:pt x="16943" y="119790"/>
                    </a:cubicBezTo>
                    <a:cubicBezTo>
                      <a:pt x="14152" y="119790"/>
                      <a:pt x="11362" y="118324"/>
                      <a:pt x="11362" y="113926"/>
                    </a:cubicBezTo>
                    <a:cubicBezTo>
                      <a:pt x="11362" y="99057"/>
                      <a:pt x="11362" y="99057"/>
                      <a:pt x="11362" y="99057"/>
                    </a:cubicBezTo>
                    <a:cubicBezTo>
                      <a:pt x="11362" y="90261"/>
                      <a:pt x="11362" y="90261"/>
                      <a:pt x="11362" y="90261"/>
                    </a:cubicBezTo>
                    <a:cubicBezTo>
                      <a:pt x="11362" y="72460"/>
                      <a:pt x="11362" y="72460"/>
                      <a:pt x="11362" y="72460"/>
                    </a:cubicBezTo>
                    <a:cubicBezTo>
                      <a:pt x="60598" y="22198"/>
                      <a:pt x="60598" y="22198"/>
                      <a:pt x="60598" y="22198"/>
                    </a:cubicBezTo>
                    <a:lnTo>
                      <a:pt x="108438" y="72460"/>
                    </a:lnTo>
                    <a:close/>
                    <a:moveTo>
                      <a:pt x="50830" y="72460"/>
                    </a:moveTo>
                    <a:lnTo>
                      <a:pt x="50830" y="72460"/>
                    </a:lnTo>
                    <a:cubicBezTo>
                      <a:pt x="28305" y="72460"/>
                      <a:pt x="28305" y="72460"/>
                      <a:pt x="28305" y="72460"/>
                    </a:cubicBezTo>
                    <a:cubicBezTo>
                      <a:pt x="28305" y="96125"/>
                      <a:pt x="28305" y="96125"/>
                      <a:pt x="28305" y="96125"/>
                    </a:cubicBezTo>
                    <a:cubicBezTo>
                      <a:pt x="50830" y="96125"/>
                      <a:pt x="50830" y="96125"/>
                      <a:pt x="50830" y="96125"/>
                    </a:cubicBezTo>
                    <a:lnTo>
                      <a:pt x="50830" y="72460"/>
                    </a:lnTo>
                    <a:close/>
                  </a:path>
                </a:pathLst>
              </a:custGeom>
              <a:solidFill>
                <a:srgbClr val="1257F1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47" name="组合 46">
            <a:extLst>
              <a:ext uri="{FF2B5EF4-FFF2-40B4-BE49-F238E27FC236}">
                <a16:creationId xmlns="" xmlns:a16="http://schemas.microsoft.com/office/drawing/2014/main" id="{FF4D0828-F677-4056-8432-5DBBDAD143CA}"/>
              </a:ext>
            </a:extLst>
          </p:cNvPr>
          <p:cNvGrpSpPr/>
          <p:nvPr/>
        </p:nvGrpSpPr>
        <p:grpSpPr>
          <a:xfrm>
            <a:off x="7762780" y="3638241"/>
            <a:ext cx="3520025" cy="1501194"/>
            <a:chOff x="7965942" y="4432981"/>
            <a:chExt cx="3520025" cy="1501194"/>
          </a:xfrm>
        </p:grpSpPr>
        <p:sp>
          <p:nvSpPr>
            <p:cNvPr id="48" name="îṧľîdê">
              <a:extLst>
                <a:ext uri="{FF2B5EF4-FFF2-40B4-BE49-F238E27FC236}">
                  <a16:creationId xmlns="" xmlns:a16="http://schemas.microsoft.com/office/drawing/2014/main" id="{97DFC16C-32ED-4183-8107-13B8077909F5}"/>
                </a:ext>
              </a:extLst>
            </p:cNvPr>
            <p:cNvSpPr/>
            <p:nvPr/>
          </p:nvSpPr>
          <p:spPr>
            <a:xfrm>
              <a:off x="8544045" y="4848083"/>
              <a:ext cx="2941922" cy="10860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zh-CN" sz="1400" b="1" dirty="0" smtClean="0">
                  <a:solidFill>
                    <a:srgbClr val="0000FF"/>
                  </a:solidFill>
                </a:rPr>
                <a:t>1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年节</a:t>
              </a:r>
              <a:r>
                <a:rPr lang="zh-CN" altLang="en-US" sz="1400" b="1" dirty="0">
                  <a:solidFill>
                    <a:srgbClr val="0000FF"/>
                  </a:solidFill>
                </a:rPr>
                <a:t>约金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额</a:t>
              </a:r>
              <a:r>
                <a:rPr lang="en-US" altLang="zh-CN" sz="1400" b="1" dirty="0" smtClean="0">
                  <a:solidFill>
                    <a:srgbClr val="0000FF"/>
                  </a:solidFill>
                </a:rPr>
                <a:t>(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人力</a:t>
              </a:r>
              <a:r>
                <a:rPr lang="en-US" altLang="zh-CN" sz="1400" b="1" dirty="0" smtClean="0">
                  <a:solidFill>
                    <a:srgbClr val="0000FF"/>
                  </a:solidFill>
                </a:rPr>
                <a:t>)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 </a:t>
              </a:r>
              <a:r>
                <a:rPr lang="en-US" altLang="zh-TW" sz="1400" b="1" dirty="0">
                  <a:solidFill>
                    <a:srgbClr val="0000FF"/>
                  </a:solidFill>
                </a:rPr>
                <a:t>=</a:t>
              </a:r>
              <a:r>
                <a:rPr lang="zh-CN" altLang="en-US" sz="1400" b="1" dirty="0">
                  <a:solidFill>
                    <a:srgbClr val="0000FF"/>
                  </a:solidFill>
                </a:rPr>
                <a:t>节约</a:t>
              </a:r>
              <a:r>
                <a:rPr lang="zh-TW" altLang="zh-TW" sz="1400" b="1" dirty="0">
                  <a:solidFill>
                    <a:srgbClr val="0000FF"/>
                  </a:solidFill>
                </a:rPr>
                <a:t>人力</a:t>
              </a:r>
              <a:r>
                <a:rPr lang="en-US" altLang="zh-TW" sz="1400" b="1" dirty="0">
                  <a:solidFill>
                    <a:srgbClr val="0000FF"/>
                  </a:solidFill>
                </a:rPr>
                <a:t>*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4000/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月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*12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个月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=1*4000*12</a:t>
              </a:r>
              <a:r>
                <a:rPr lang="en-US" altLang="zh-CN" sz="1400" b="1" dirty="0" smtClean="0">
                  <a:solidFill>
                    <a:srgbClr val="0000FF"/>
                  </a:solidFill>
                </a:rPr>
                <a:t>=</a:t>
              </a:r>
              <a:r>
                <a:rPr lang="en-US" altLang="zh-CN" b="1" dirty="0" smtClean="0">
                  <a:solidFill>
                    <a:srgbClr val="FF0000"/>
                  </a:solidFill>
                </a:rPr>
                <a:t>48000</a:t>
              </a:r>
              <a:r>
                <a:rPr lang="en-US" altLang="zh-CN" sz="1400" b="1" dirty="0" smtClean="0">
                  <a:solidFill>
                    <a:srgbClr val="0000FF"/>
                  </a:solidFill>
                </a:rPr>
                <a:t> RMB</a:t>
              </a:r>
            </a:p>
            <a:p>
              <a:pPr>
                <a:lnSpc>
                  <a:spcPct val="150000"/>
                </a:lnSpc>
              </a:pPr>
              <a:r>
                <a:rPr lang="en-US" altLang="zh-TW" sz="1400" b="1" dirty="0" smtClean="0">
                  <a:solidFill>
                    <a:srgbClr val="0000FF"/>
                  </a:solidFill>
                </a:rPr>
                <a:t>1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年节约</a:t>
              </a:r>
              <a:r>
                <a:rPr lang="zh-CN" altLang="en-US" sz="1400" b="1" dirty="0">
                  <a:solidFill>
                    <a:srgbClr val="0000FF"/>
                  </a:solidFill>
                </a:rPr>
                <a:t>金额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(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时间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)=</a:t>
              </a:r>
              <a:r>
                <a:rPr lang="zh-CN" altLang="en-US" sz="1400" b="1" dirty="0">
                  <a:solidFill>
                    <a:srgbClr val="0000FF"/>
                  </a:solidFill>
                </a:rPr>
                <a:t>节约</a:t>
              </a:r>
              <a:r>
                <a:rPr lang="zh-TW" altLang="zh-TW" sz="1400" b="1" dirty="0" smtClean="0">
                  <a:solidFill>
                    <a:srgbClr val="0000FF"/>
                  </a:solidFill>
                </a:rPr>
                <a:t>时</a:t>
              </a:r>
              <a:r>
                <a:rPr lang="zh-TW" altLang="zh-TW" sz="1400" b="1" dirty="0">
                  <a:solidFill>
                    <a:srgbClr val="0000FF"/>
                  </a:solidFill>
                </a:rPr>
                <a:t>间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*</a:t>
              </a:r>
              <a:r>
                <a:rPr lang="zh-CN" altLang="en-US" sz="1400" b="1" dirty="0">
                  <a:solidFill>
                    <a:srgbClr val="0000FF"/>
                  </a:solidFill>
                </a:rPr>
                <a:t>人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均薪资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*12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个月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*</a:t>
              </a:r>
              <a:r>
                <a:rPr lang="zh-TW" altLang="zh-TW" sz="1400" b="1" dirty="0" smtClean="0">
                  <a:solidFill>
                    <a:srgbClr val="0000FF"/>
                  </a:solidFill>
                </a:rPr>
                <a:t>人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数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 </a:t>
              </a:r>
              <a:r>
                <a:rPr lang="en-US" altLang="zh-TW" sz="1400" b="1" dirty="0">
                  <a:solidFill>
                    <a:srgbClr val="0000FF"/>
                  </a:solidFill>
                </a:rPr>
                <a:t>=0.5*23</a:t>
              </a:r>
              <a:r>
                <a:rPr lang="zh-TW" altLang="zh-TW" sz="1400" b="1" dirty="0">
                  <a:solidFill>
                    <a:srgbClr val="0000FF"/>
                  </a:solidFill>
                </a:rPr>
                <a:t>元</a:t>
              </a:r>
              <a:r>
                <a:rPr lang="en-US" altLang="zh-TW" sz="1400" b="1" dirty="0">
                  <a:solidFill>
                    <a:srgbClr val="0000FF"/>
                  </a:solidFill>
                </a:rPr>
                <a:t>/</a:t>
              </a:r>
              <a:r>
                <a:rPr lang="zh-TW" altLang="zh-TW" sz="1400" b="1" dirty="0">
                  <a:solidFill>
                    <a:srgbClr val="0000FF"/>
                  </a:solidFill>
                </a:rPr>
                <a:t>小時</a:t>
              </a:r>
              <a:r>
                <a:rPr lang="en-US" altLang="zh-TW" sz="1400" b="1" dirty="0">
                  <a:solidFill>
                    <a:srgbClr val="0000FF"/>
                  </a:solidFill>
                </a:rPr>
                <a:t>*21.75</a:t>
              </a:r>
              <a:r>
                <a:rPr lang="zh-TW" altLang="zh-TW" sz="1400" b="1" dirty="0">
                  <a:solidFill>
                    <a:srgbClr val="0000FF"/>
                  </a:solidFill>
                </a:rPr>
                <a:t>天</a:t>
              </a:r>
              <a:r>
                <a:rPr lang="en-US" altLang="zh-TW" sz="1400" b="1" dirty="0">
                  <a:solidFill>
                    <a:srgbClr val="0000FF"/>
                  </a:solidFill>
                </a:rPr>
                <a:t>/</a:t>
              </a:r>
              <a:r>
                <a:rPr lang="zh-TW" altLang="zh-TW" sz="1400" b="1" dirty="0">
                  <a:solidFill>
                    <a:srgbClr val="0000FF"/>
                  </a:solidFill>
                </a:rPr>
                <a:t>月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*12*125</a:t>
              </a:r>
              <a:r>
                <a:rPr lang="en-US" altLang="zh-CN" sz="1400" b="1" dirty="0" smtClean="0">
                  <a:solidFill>
                    <a:srgbClr val="0000FF"/>
                  </a:solidFill>
                </a:rPr>
                <a:t>=</a:t>
              </a:r>
              <a:r>
                <a:rPr lang="en-US" altLang="zh-CN" b="1" dirty="0" smtClean="0">
                  <a:solidFill>
                    <a:srgbClr val="FF0000"/>
                  </a:solidFill>
                </a:rPr>
                <a:t>375187.5</a:t>
              </a:r>
              <a:r>
                <a:rPr lang="en-US" altLang="zh-CN" b="1" dirty="0" smtClean="0">
                  <a:solidFill>
                    <a:srgbClr val="0000FF"/>
                  </a:solidFill>
                </a:rPr>
                <a:t> </a:t>
              </a:r>
              <a:r>
                <a:rPr lang="en-US" altLang="zh-CN" sz="1400" b="1" dirty="0">
                  <a:solidFill>
                    <a:srgbClr val="0000FF"/>
                  </a:solidFill>
                </a:rPr>
                <a:t>RMB</a:t>
              </a:r>
              <a:endParaRPr lang="zh-TW" altLang="zh-TW" sz="1400" b="1" dirty="0">
                <a:solidFill>
                  <a:srgbClr val="0000FF"/>
                </a:solidFill>
              </a:endParaRPr>
            </a:p>
            <a:p>
              <a:endParaRPr lang="en-US" altLang="zh-CN" sz="1200" dirty="0">
                <a:solidFill>
                  <a:srgbClr val="0000FF"/>
                </a:solidFill>
              </a:endParaRPr>
            </a:p>
            <a:p>
              <a:pPr>
                <a:lnSpc>
                  <a:spcPct val="150000"/>
                </a:lnSpc>
              </a:pPr>
              <a:endParaRPr lang="zh-CN" altLang="en-US" sz="1200" spc="15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ïṣ1iḓe">
              <a:extLst>
                <a:ext uri="{FF2B5EF4-FFF2-40B4-BE49-F238E27FC236}">
                  <a16:creationId xmlns="" xmlns:a16="http://schemas.microsoft.com/office/drawing/2014/main" id="{F00529C3-59E6-41D4-850F-2117B779AD37}"/>
                </a:ext>
              </a:extLst>
            </p:cNvPr>
            <p:cNvSpPr/>
            <p:nvPr/>
          </p:nvSpPr>
          <p:spPr>
            <a:xfrm>
              <a:off x="8544045" y="4432981"/>
              <a:ext cx="2941922" cy="41510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>
                <a:spcBef>
                  <a:spcPct val="0"/>
                </a:spcBef>
              </a:pPr>
              <a:r>
                <a:rPr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经</a:t>
              </a:r>
              <a:r>
                <a:rPr lang="zh-CN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济成本</a:t>
              </a:r>
              <a:endPara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50" name="组合 49">
              <a:extLst>
                <a:ext uri="{FF2B5EF4-FFF2-40B4-BE49-F238E27FC236}">
                  <a16:creationId xmlns="" xmlns:a16="http://schemas.microsoft.com/office/drawing/2014/main" id="{5B74FFA5-6CE4-458F-8E60-B467A20C795D}"/>
                </a:ext>
              </a:extLst>
            </p:cNvPr>
            <p:cNvGrpSpPr/>
            <p:nvPr/>
          </p:nvGrpSpPr>
          <p:grpSpPr>
            <a:xfrm>
              <a:off x="7965942" y="4672567"/>
              <a:ext cx="522466" cy="522466"/>
              <a:chOff x="7965942" y="4672567"/>
              <a:chExt cx="522466" cy="522466"/>
            </a:xfrm>
          </p:grpSpPr>
          <p:sp>
            <p:nvSpPr>
              <p:cNvPr id="51" name="ïS1iďé">
                <a:extLst>
                  <a:ext uri="{FF2B5EF4-FFF2-40B4-BE49-F238E27FC236}">
                    <a16:creationId xmlns="" xmlns:a16="http://schemas.microsoft.com/office/drawing/2014/main" id="{E4FEB158-D2F8-4354-A570-002084CD39E1}"/>
                  </a:ext>
                </a:extLst>
              </p:cNvPr>
              <p:cNvSpPr/>
              <p:nvPr/>
            </p:nvSpPr>
            <p:spPr>
              <a:xfrm>
                <a:off x="7965942" y="4672567"/>
                <a:ext cx="522466" cy="522466"/>
              </a:xfrm>
              <a:prstGeom prst="ellipse">
                <a:avLst/>
              </a:prstGeom>
              <a:noFill/>
              <a:ln>
                <a:solidFill>
                  <a:srgbClr val="1257F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2" name="îs1îďè">
                <a:extLst>
                  <a:ext uri="{FF2B5EF4-FFF2-40B4-BE49-F238E27FC236}">
                    <a16:creationId xmlns="" xmlns:a16="http://schemas.microsoft.com/office/drawing/2014/main" id="{223D15EA-ED37-437F-8EDE-D2E28718F075}"/>
                  </a:ext>
                </a:extLst>
              </p:cNvPr>
              <p:cNvSpPr/>
              <p:nvPr/>
            </p:nvSpPr>
            <p:spPr>
              <a:xfrm>
                <a:off x="8153890" y="4825914"/>
                <a:ext cx="176066" cy="215776"/>
              </a:xfrm>
              <a:custGeom>
                <a:avLst/>
                <a:gdLst/>
                <a:ahLst/>
                <a:cxnLst/>
                <a:rect l="0" t="0" r="0" b="0"/>
                <a:pathLst>
                  <a:path w="120000" h="120000" extrusionOk="0">
                    <a:moveTo>
                      <a:pt x="112868" y="119800"/>
                    </a:moveTo>
                    <a:lnTo>
                      <a:pt x="112868" y="119800"/>
                    </a:lnTo>
                    <a:cubicBezTo>
                      <a:pt x="6885" y="119800"/>
                      <a:pt x="6885" y="119800"/>
                      <a:pt x="6885" y="119800"/>
                    </a:cubicBezTo>
                    <a:cubicBezTo>
                      <a:pt x="1721" y="119800"/>
                      <a:pt x="0" y="117004"/>
                      <a:pt x="0" y="114209"/>
                    </a:cubicBezTo>
                    <a:cubicBezTo>
                      <a:pt x="0" y="64891"/>
                      <a:pt x="0" y="64891"/>
                      <a:pt x="0" y="64891"/>
                    </a:cubicBezTo>
                    <a:cubicBezTo>
                      <a:pt x="0" y="62096"/>
                      <a:pt x="1721" y="59101"/>
                      <a:pt x="6885" y="59101"/>
                    </a:cubicBezTo>
                    <a:cubicBezTo>
                      <a:pt x="17213" y="59101"/>
                      <a:pt x="17213" y="59101"/>
                      <a:pt x="17213" y="59101"/>
                    </a:cubicBezTo>
                    <a:cubicBezTo>
                      <a:pt x="17213" y="33743"/>
                      <a:pt x="17213" y="33743"/>
                      <a:pt x="17213" y="33743"/>
                    </a:cubicBezTo>
                    <a:cubicBezTo>
                      <a:pt x="17213" y="13976"/>
                      <a:pt x="36393" y="0"/>
                      <a:pt x="59016" y="0"/>
                    </a:cubicBezTo>
                    <a:cubicBezTo>
                      <a:pt x="83360" y="0"/>
                      <a:pt x="100573" y="13976"/>
                      <a:pt x="100573" y="33743"/>
                    </a:cubicBezTo>
                    <a:cubicBezTo>
                      <a:pt x="100573" y="36539"/>
                      <a:pt x="98852" y="39534"/>
                      <a:pt x="93688" y="39534"/>
                    </a:cubicBezTo>
                    <a:cubicBezTo>
                      <a:pt x="90245" y="39534"/>
                      <a:pt x="86803" y="36539"/>
                      <a:pt x="86803" y="33743"/>
                    </a:cubicBezTo>
                    <a:cubicBezTo>
                      <a:pt x="86803" y="21164"/>
                      <a:pt x="74754" y="11181"/>
                      <a:pt x="59016" y="11181"/>
                    </a:cubicBezTo>
                    <a:cubicBezTo>
                      <a:pt x="43278" y="11181"/>
                      <a:pt x="31229" y="21164"/>
                      <a:pt x="31229" y="33743"/>
                    </a:cubicBezTo>
                    <a:cubicBezTo>
                      <a:pt x="31229" y="59101"/>
                      <a:pt x="31229" y="59101"/>
                      <a:pt x="31229" y="59101"/>
                    </a:cubicBezTo>
                    <a:cubicBezTo>
                      <a:pt x="86803" y="59101"/>
                      <a:pt x="86803" y="59101"/>
                      <a:pt x="86803" y="59101"/>
                    </a:cubicBezTo>
                    <a:cubicBezTo>
                      <a:pt x="100573" y="59101"/>
                      <a:pt x="100573" y="59101"/>
                      <a:pt x="100573" y="59101"/>
                    </a:cubicBezTo>
                    <a:cubicBezTo>
                      <a:pt x="112868" y="59101"/>
                      <a:pt x="112868" y="59101"/>
                      <a:pt x="112868" y="59101"/>
                    </a:cubicBezTo>
                    <a:cubicBezTo>
                      <a:pt x="116311" y="59101"/>
                      <a:pt x="119754" y="62096"/>
                      <a:pt x="119754" y="64891"/>
                    </a:cubicBezTo>
                    <a:cubicBezTo>
                      <a:pt x="119754" y="114209"/>
                      <a:pt x="119754" y="114209"/>
                      <a:pt x="119754" y="114209"/>
                    </a:cubicBezTo>
                    <a:cubicBezTo>
                      <a:pt x="119754" y="117004"/>
                      <a:pt x="116311" y="119800"/>
                      <a:pt x="112868" y="119800"/>
                    </a:cubicBezTo>
                    <a:close/>
                    <a:moveTo>
                      <a:pt x="59016" y="70482"/>
                    </a:moveTo>
                    <a:lnTo>
                      <a:pt x="59016" y="70482"/>
                    </a:lnTo>
                    <a:cubicBezTo>
                      <a:pt x="52131" y="70482"/>
                      <a:pt x="45000" y="76073"/>
                      <a:pt x="45000" y="81863"/>
                    </a:cubicBezTo>
                    <a:cubicBezTo>
                      <a:pt x="45000" y="86056"/>
                      <a:pt x="48688" y="90249"/>
                      <a:pt x="52131" y="91647"/>
                    </a:cubicBezTo>
                    <a:cubicBezTo>
                      <a:pt x="52131" y="103028"/>
                      <a:pt x="52131" y="103028"/>
                      <a:pt x="52131" y="103028"/>
                    </a:cubicBezTo>
                    <a:cubicBezTo>
                      <a:pt x="52131" y="105823"/>
                      <a:pt x="55573" y="108618"/>
                      <a:pt x="59016" y="108618"/>
                    </a:cubicBezTo>
                    <a:cubicBezTo>
                      <a:pt x="64180" y="108618"/>
                      <a:pt x="65901" y="105823"/>
                      <a:pt x="65901" y="103028"/>
                    </a:cubicBezTo>
                    <a:cubicBezTo>
                      <a:pt x="65901" y="91647"/>
                      <a:pt x="65901" y="91647"/>
                      <a:pt x="65901" y="91647"/>
                    </a:cubicBezTo>
                    <a:cubicBezTo>
                      <a:pt x="71065" y="90249"/>
                      <a:pt x="72786" y="86056"/>
                      <a:pt x="72786" y="81863"/>
                    </a:cubicBezTo>
                    <a:cubicBezTo>
                      <a:pt x="72786" y="76073"/>
                      <a:pt x="67622" y="70482"/>
                      <a:pt x="59016" y="70482"/>
                    </a:cubicBezTo>
                    <a:close/>
                  </a:path>
                </a:pathLst>
              </a:custGeom>
              <a:solidFill>
                <a:srgbClr val="1257F1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66" name="群組 65"/>
          <p:cNvGrpSpPr/>
          <p:nvPr/>
        </p:nvGrpSpPr>
        <p:grpSpPr>
          <a:xfrm>
            <a:off x="7741103" y="2306959"/>
            <a:ext cx="3520025" cy="916848"/>
            <a:chOff x="7870478" y="2571643"/>
            <a:chExt cx="3520025" cy="916848"/>
          </a:xfrm>
        </p:grpSpPr>
        <p:grpSp>
          <p:nvGrpSpPr>
            <p:cNvPr id="41" name="组合 40">
              <a:extLst>
                <a:ext uri="{FF2B5EF4-FFF2-40B4-BE49-F238E27FC236}">
                  <a16:creationId xmlns="" xmlns:a16="http://schemas.microsoft.com/office/drawing/2014/main" id="{70E6C5C4-A690-4094-8C67-9D477C1E9DA2}"/>
                </a:ext>
              </a:extLst>
            </p:cNvPr>
            <p:cNvGrpSpPr/>
            <p:nvPr/>
          </p:nvGrpSpPr>
          <p:grpSpPr>
            <a:xfrm>
              <a:off x="7870478" y="2571643"/>
              <a:ext cx="3520025" cy="916848"/>
              <a:chOff x="7965942" y="3172027"/>
              <a:chExt cx="3520025" cy="916848"/>
            </a:xfrm>
          </p:grpSpPr>
          <p:sp>
            <p:nvSpPr>
              <p:cNvPr id="42" name="iṥľîḓé">
                <a:extLst>
                  <a:ext uri="{FF2B5EF4-FFF2-40B4-BE49-F238E27FC236}">
                    <a16:creationId xmlns="" xmlns:a16="http://schemas.microsoft.com/office/drawing/2014/main" id="{6A41A686-FDE8-4FFB-A900-2F440FBAE8BB}"/>
                  </a:ext>
                </a:extLst>
              </p:cNvPr>
              <p:cNvSpPr/>
              <p:nvPr/>
            </p:nvSpPr>
            <p:spPr>
              <a:xfrm>
                <a:off x="8544045" y="3564904"/>
                <a:ext cx="2941922" cy="52397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:endParaRPr lang="zh-CN" altLang="en-US" sz="1200" spc="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3" name="íṥḷîďe">
                <a:extLst>
                  <a:ext uri="{FF2B5EF4-FFF2-40B4-BE49-F238E27FC236}">
                    <a16:creationId xmlns="" xmlns:a16="http://schemas.microsoft.com/office/drawing/2014/main" id="{AD08BE38-40E7-448A-8904-9795F8C3B7A3}"/>
                  </a:ext>
                </a:extLst>
              </p:cNvPr>
              <p:cNvSpPr/>
              <p:nvPr/>
            </p:nvSpPr>
            <p:spPr>
              <a:xfrm>
                <a:off x="8486261" y="3172027"/>
                <a:ext cx="2941922" cy="3928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zh-CN" altLang="en-US" b="1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时</a:t>
                </a:r>
                <a:r>
                  <a:rPr lang="zh-CN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间</a:t>
                </a:r>
                <a:r>
                  <a:rPr lang="zh-CN" altLang="en-US" b="1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成本</a:t>
                </a:r>
                <a:endPara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44" name="组合 43">
                <a:extLst>
                  <a:ext uri="{FF2B5EF4-FFF2-40B4-BE49-F238E27FC236}">
                    <a16:creationId xmlns="" xmlns:a16="http://schemas.microsoft.com/office/drawing/2014/main" id="{21A63ADB-0097-4AED-88F5-511BEA6870AF}"/>
                  </a:ext>
                </a:extLst>
              </p:cNvPr>
              <p:cNvGrpSpPr/>
              <p:nvPr/>
            </p:nvGrpSpPr>
            <p:grpSpPr>
              <a:xfrm>
                <a:off x="7965942" y="3418872"/>
                <a:ext cx="522466" cy="522466"/>
                <a:chOff x="7965942" y="3418872"/>
                <a:chExt cx="522466" cy="522466"/>
              </a:xfrm>
            </p:grpSpPr>
            <p:sp>
              <p:nvSpPr>
                <p:cNvPr id="45" name="í$lîḋé">
                  <a:extLst>
                    <a:ext uri="{FF2B5EF4-FFF2-40B4-BE49-F238E27FC236}">
                      <a16:creationId xmlns="" xmlns:a16="http://schemas.microsoft.com/office/drawing/2014/main" id="{490B62C9-4DF4-4CCA-87DE-3260F47562A4}"/>
                    </a:ext>
                  </a:extLst>
                </p:cNvPr>
                <p:cNvSpPr/>
                <p:nvPr/>
              </p:nvSpPr>
              <p:spPr>
                <a:xfrm>
                  <a:off x="7965942" y="3418872"/>
                  <a:ext cx="522466" cy="522466"/>
                </a:xfrm>
                <a:prstGeom prst="ellipse">
                  <a:avLst/>
                </a:prstGeom>
                <a:noFill/>
                <a:ln>
                  <a:solidFill>
                    <a:srgbClr val="1257F1"/>
                  </a:soli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46" name="i$1íḑe">
                  <a:extLst>
                    <a:ext uri="{FF2B5EF4-FFF2-40B4-BE49-F238E27FC236}">
                      <a16:creationId xmlns="" xmlns:a16="http://schemas.microsoft.com/office/drawing/2014/main" id="{60592479-5DDC-41A8-B187-8BBBD66DBE20}"/>
                    </a:ext>
                  </a:extLst>
                </p:cNvPr>
                <p:cNvSpPr/>
                <p:nvPr/>
              </p:nvSpPr>
              <p:spPr>
                <a:xfrm>
                  <a:off x="8133272" y="3599656"/>
                  <a:ext cx="217308" cy="1903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20000" h="120000" extrusionOk="0">
                      <a:moveTo>
                        <a:pt x="117009" y="65310"/>
                      </a:moveTo>
                      <a:lnTo>
                        <a:pt x="117009" y="65310"/>
                      </a:lnTo>
                      <a:lnTo>
                        <a:pt x="117009" y="65310"/>
                      </a:lnTo>
                      <a:cubicBezTo>
                        <a:pt x="61993" y="91073"/>
                        <a:pt x="61993" y="91073"/>
                        <a:pt x="61993" y="91073"/>
                      </a:cubicBezTo>
                      <a:lnTo>
                        <a:pt x="61993" y="91073"/>
                      </a:lnTo>
                      <a:lnTo>
                        <a:pt x="61993" y="91073"/>
                      </a:lnTo>
                      <a:lnTo>
                        <a:pt x="61993" y="91073"/>
                      </a:lnTo>
                      <a:cubicBezTo>
                        <a:pt x="61993" y="92655"/>
                        <a:pt x="60598" y="92655"/>
                        <a:pt x="60598" y="92655"/>
                      </a:cubicBezTo>
                      <a:cubicBezTo>
                        <a:pt x="59202" y="92655"/>
                        <a:pt x="59202" y="92655"/>
                        <a:pt x="57807" y="91073"/>
                      </a:cubicBezTo>
                      <a:lnTo>
                        <a:pt x="57807" y="91073"/>
                      </a:lnTo>
                      <a:lnTo>
                        <a:pt x="57807" y="91073"/>
                      </a:lnTo>
                      <a:lnTo>
                        <a:pt x="57807" y="91073"/>
                      </a:lnTo>
                      <a:cubicBezTo>
                        <a:pt x="2990" y="65310"/>
                        <a:pt x="2990" y="65310"/>
                        <a:pt x="2990" y="65310"/>
                      </a:cubicBezTo>
                      <a:lnTo>
                        <a:pt x="2990" y="65310"/>
                      </a:lnTo>
                      <a:cubicBezTo>
                        <a:pt x="1395" y="65310"/>
                        <a:pt x="0" y="62146"/>
                        <a:pt x="0" y="60564"/>
                      </a:cubicBezTo>
                      <a:cubicBezTo>
                        <a:pt x="0" y="55819"/>
                        <a:pt x="2990" y="54237"/>
                        <a:pt x="5780" y="54237"/>
                      </a:cubicBezTo>
                      <a:cubicBezTo>
                        <a:pt x="7176" y="54237"/>
                        <a:pt x="7176" y="54237"/>
                        <a:pt x="8571" y="54237"/>
                      </a:cubicBezTo>
                      <a:lnTo>
                        <a:pt x="8571" y="54237"/>
                      </a:lnTo>
                      <a:lnTo>
                        <a:pt x="8571" y="54237"/>
                      </a:lnTo>
                      <a:lnTo>
                        <a:pt x="8571" y="54237"/>
                      </a:lnTo>
                      <a:cubicBezTo>
                        <a:pt x="60598" y="78192"/>
                        <a:pt x="60598" y="78192"/>
                        <a:pt x="60598" y="78192"/>
                      </a:cubicBezTo>
                      <a:cubicBezTo>
                        <a:pt x="112823" y="54237"/>
                        <a:pt x="112823" y="54237"/>
                        <a:pt x="112823" y="54237"/>
                      </a:cubicBezTo>
                      <a:lnTo>
                        <a:pt x="112823" y="54237"/>
                      </a:lnTo>
                      <a:lnTo>
                        <a:pt x="112823" y="54237"/>
                      </a:lnTo>
                      <a:lnTo>
                        <a:pt x="112823" y="54237"/>
                      </a:lnTo>
                      <a:lnTo>
                        <a:pt x="114219" y="54237"/>
                      </a:lnTo>
                      <a:cubicBezTo>
                        <a:pt x="118405" y="54237"/>
                        <a:pt x="119800" y="55819"/>
                        <a:pt x="119800" y="60564"/>
                      </a:cubicBezTo>
                      <a:cubicBezTo>
                        <a:pt x="119800" y="62146"/>
                        <a:pt x="118405" y="65310"/>
                        <a:pt x="117009" y="65310"/>
                      </a:cubicBezTo>
                      <a:close/>
                      <a:moveTo>
                        <a:pt x="117009" y="38192"/>
                      </a:moveTo>
                      <a:lnTo>
                        <a:pt x="117009" y="38192"/>
                      </a:lnTo>
                      <a:lnTo>
                        <a:pt x="117009" y="38192"/>
                      </a:lnTo>
                      <a:cubicBezTo>
                        <a:pt x="61993" y="63728"/>
                        <a:pt x="61993" y="63728"/>
                        <a:pt x="61993" y="63728"/>
                      </a:cubicBezTo>
                      <a:lnTo>
                        <a:pt x="61993" y="63728"/>
                      </a:lnTo>
                      <a:lnTo>
                        <a:pt x="61993" y="63728"/>
                      </a:lnTo>
                      <a:lnTo>
                        <a:pt x="61993" y="63728"/>
                      </a:lnTo>
                      <a:lnTo>
                        <a:pt x="60598" y="63728"/>
                      </a:lnTo>
                      <a:cubicBezTo>
                        <a:pt x="59202" y="63728"/>
                        <a:pt x="59202" y="63728"/>
                        <a:pt x="57807" y="63728"/>
                      </a:cubicBezTo>
                      <a:lnTo>
                        <a:pt x="57807" y="63728"/>
                      </a:lnTo>
                      <a:lnTo>
                        <a:pt x="57807" y="63728"/>
                      </a:lnTo>
                      <a:lnTo>
                        <a:pt x="57807" y="63728"/>
                      </a:lnTo>
                      <a:cubicBezTo>
                        <a:pt x="2990" y="38192"/>
                        <a:pt x="2990" y="38192"/>
                        <a:pt x="2990" y="38192"/>
                      </a:cubicBezTo>
                      <a:lnTo>
                        <a:pt x="2990" y="38192"/>
                      </a:lnTo>
                      <a:cubicBezTo>
                        <a:pt x="1395" y="36610"/>
                        <a:pt x="0" y="35028"/>
                        <a:pt x="0" y="31864"/>
                      </a:cubicBezTo>
                      <a:cubicBezTo>
                        <a:pt x="0" y="30282"/>
                        <a:pt x="1395" y="27118"/>
                        <a:pt x="2990" y="27118"/>
                      </a:cubicBezTo>
                      <a:lnTo>
                        <a:pt x="2990" y="27118"/>
                      </a:lnTo>
                      <a:cubicBezTo>
                        <a:pt x="57807" y="1581"/>
                        <a:pt x="57807" y="1581"/>
                        <a:pt x="57807" y="1581"/>
                      </a:cubicBezTo>
                      <a:lnTo>
                        <a:pt x="57807" y="1581"/>
                      </a:lnTo>
                      <a:lnTo>
                        <a:pt x="57807" y="1581"/>
                      </a:lnTo>
                      <a:lnTo>
                        <a:pt x="57807" y="1581"/>
                      </a:lnTo>
                      <a:cubicBezTo>
                        <a:pt x="59202" y="0"/>
                        <a:pt x="59202" y="0"/>
                        <a:pt x="60598" y="0"/>
                      </a:cubicBezTo>
                      <a:cubicBezTo>
                        <a:pt x="60598" y="0"/>
                        <a:pt x="61993" y="0"/>
                        <a:pt x="61993" y="1581"/>
                      </a:cubicBezTo>
                      <a:lnTo>
                        <a:pt x="61993" y="1581"/>
                      </a:lnTo>
                      <a:lnTo>
                        <a:pt x="61993" y="1581"/>
                      </a:lnTo>
                      <a:lnTo>
                        <a:pt x="61993" y="1581"/>
                      </a:lnTo>
                      <a:cubicBezTo>
                        <a:pt x="117009" y="27118"/>
                        <a:pt x="117009" y="27118"/>
                        <a:pt x="117009" y="27118"/>
                      </a:cubicBezTo>
                      <a:lnTo>
                        <a:pt x="117009" y="27118"/>
                      </a:lnTo>
                      <a:cubicBezTo>
                        <a:pt x="118405" y="27118"/>
                        <a:pt x="119800" y="30282"/>
                        <a:pt x="119800" y="31864"/>
                      </a:cubicBezTo>
                      <a:cubicBezTo>
                        <a:pt x="119800" y="35028"/>
                        <a:pt x="118405" y="36610"/>
                        <a:pt x="117009" y="38192"/>
                      </a:cubicBezTo>
                      <a:close/>
                      <a:moveTo>
                        <a:pt x="5780" y="81355"/>
                      </a:moveTo>
                      <a:lnTo>
                        <a:pt x="5780" y="81355"/>
                      </a:lnTo>
                      <a:cubicBezTo>
                        <a:pt x="7176" y="81355"/>
                        <a:pt x="7176" y="81355"/>
                        <a:pt x="8571" y="81355"/>
                      </a:cubicBezTo>
                      <a:lnTo>
                        <a:pt x="8571" y="81355"/>
                      </a:lnTo>
                      <a:lnTo>
                        <a:pt x="8571" y="81355"/>
                      </a:lnTo>
                      <a:lnTo>
                        <a:pt x="8571" y="81355"/>
                      </a:lnTo>
                      <a:cubicBezTo>
                        <a:pt x="60598" y="106892"/>
                        <a:pt x="60598" y="106892"/>
                        <a:pt x="60598" y="106892"/>
                      </a:cubicBezTo>
                      <a:cubicBezTo>
                        <a:pt x="112823" y="81355"/>
                        <a:pt x="112823" y="81355"/>
                        <a:pt x="112823" y="81355"/>
                      </a:cubicBezTo>
                      <a:lnTo>
                        <a:pt x="112823" y="81355"/>
                      </a:lnTo>
                      <a:lnTo>
                        <a:pt x="112823" y="81355"/>
                      </a:lnTo>
                      <a:lnTo>
                        <a:pt x="112823" y="81355"/>
                      </a:lnTo>
                      <a:lnTo>
                        <a:pt x="114219" y="81355"/>
                      </a:lnTo>
                      <a:cubicBezTo>
                        <a:pt x="118405" y="81355"/>
                        <a:pt x="119800" y="84519"/>
                        <a:pt x="119800" y="87683"/>
                      </a:cubicBezTo>
                      <a:cubicBezTo>
                        <a:pt x="119800" y="91073"/>
                        <a:pt x="118405" y="92655"/>
                        <a:pt x="117009" y="94237"/>
                      </a:cubicBezTo>
                      <a:lnTo>
                        <a:pt x="117009" y="94237"/>
                      </a:lnTo>
                      <a:cubicBezTo>
                        <a:pt x="61993" y="119774"/>
                        <a:pt x="61993" y="119774"/>
                        <a:pt x="61993" y="119774"/>
                      </a:cubicBezTo>
                      <a:lnTo>
                        <a:pt x="61993" y="119774"/>
                      </a:lnTo>
                      <a:lnTo>
                        <a:pt x="61993" y="119774"/>
                      </a:lnTo>
                      <a:lnTo>
                        <a:pt x="61993" y="119774"/>
                      </a:lnTo>
                      <a:lnTo>
                        <a:pt x="60598" y="119774"/>
                      </a:lnTo>
                      <a:cubicBezTo>
                        <a:pt x="59202" y="119774"/>
                        <a:pt x="59202" y="119774"/>
                        <a:pt x="57807" y="119774"/>
                      </a:cubicBezTo>
                      <a:lnTo>
                        <a:pt x="57807" y="119774"/>
                      </a:lnTo>
                      <a:lnTo>
                        <a:pt x="57807" y="119774"/>
                      </a:lnTo>
                      <a:lnTo>
                        <a:pt x="57807" y="119774"/>
                      </a:lnTo>
                      <a:cubicBezTo>
                        <a:pt x="2990" y="94237"/>
                        <a:pt x="2990" y="94237"/>
                        <a:pt x="2990" y="94237"/>
                      </a:cubicBezTo>
                      <a:lnTo>
                        <a:pt x="2990" y="94237"/>
                      </a:lnTo>
                      <a:cubicBezTo>
                        <a:pt x="1395" y="92655"/>
                        <a:pt x="0" y="91073"/>
                        <a:pt x="0" y="87683"/>
                      </a:cubicBezTo>
                      <a:cubicBezTo>
                        <a:pt x="0" y="84519"/>
                        <a:pt x="2990" y="81355"/>
                        <a:pt x="5780" y="81355"/>
                      </a:cubicBezTo>
                      <a:close/>
                    </a:path>
                  </a:pathLst>
                </a:custGeom>
                <a:solidFill>
                  <a:srgbClr val="1257F1"/>
                </a:solidFill>
                <a:ln>
                  <a:noFill/>
                </a:ln>
                <a:effectLst/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</p:grpSp>
        <p:sp>
          <p:nvSpPr>
            <p:cNvPr id="65" name="文字方塊 64"/>
            <p:cNvSpPr txBox="1"/>
            <p:nvPr/>
          </p:nvSpPr>
          <p:spPr>
            <a:xfrm>
              <a:off x="8569287" y="3119159"/>
              <a:ext cx="19202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zh-TW" altLang="en-US" dirty="0"/>
            </a:p>
          </p:txBody>
        </p:sp>
      </p:grpSp>
      <p:sp>
        <p:nvSpPr>
          <p:cNvPr id="68" name="矩形 67"/>
          <p:cNvSpPr/>
          <p:nvPr/>
        </p:nvSpPr>
        <p:spPr>
          <a:xfrm>
            <a:off x="8358602" y="2929877"/>
            <a:ext cx="6096000" cy="738664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系统推广到37个部门,用户125人</a:t>
            </a:r>
            <a:r>
              <a:rPr lang="zh-TW" altLang="en-US" sz="1400" b="1" dirty="0" smtClean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,</a:t>
            </a:r>
            <a:endParaRPr lang="en-US" altLang="zh-TW" sz="1400" b="1" dirty="0" smtClean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TW" altLang="en-US" sz="1400" b="1" dirty="0" smtClean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</a:t>
            </a:r>
            <a:r>
              <a:rPr lang="zh-TW" altLang="en-US" sz="1400" dirty="0" smtClean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照</a:t>
            </a:r>
            <a:r>
              <a:rPr lang="zh-TW" altLang="en-US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每人每天节约0.5小时计算 </a:t>
            </a:r>
          </a:p>
        </p:txBody>
      </p:sp>
    </p:spTree>
    <p:extLst>
      <p:ext uri="{BB962C8B-B14F-4D97-AF65-F5344CB8AC3E}">
        <p14:creationId xmlns:p14="http://schemas.microsoft.com/office/powerpoint/2010/main" val="1479237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 advClick="0" advTm="2000">
        <p14:pan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0"/>
                            </p:stCondLst>
                            <p:childTnLst>
                              <p:par>
                                <p:cTn id="3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=""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=""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=""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=""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83914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系统页面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=""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System page 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=""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lang="en-US" altLang="zh-CN" sz="2200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32" name="任意多边形: 形状 31">
            <a:extLst>
              <a:ext uri="{FF2B5EF4-FFF2-40B4-BE49-F238E27FC236}">
                <a16:creationId xmlns="" xmlns:a16="http://schemas.microsoft.com/office/drawing/2014/main" id="{3222FBE8-CE17-4A64-8CA7-B69D21DFAA15}"/>
              </a:ext>
            </a:extLst>
          </p:cNvPr>
          <p:cNvSpPr/>
          <p:nvPr/>
        </p:nvSpPr>
        <p:spPr>
          <a:xfrm>
            <a:off x="-14242" y="4747924"/>
            <a:ext cx="1875476" cy="1839602"/>
          </a:xfrm>
          <a:custGeom>
            <a:avLst/>
            <a:gdLst>
              <a:gd name="connsiteX0" fmla="*/ 585307 w 1875476"/>
              <a:gd name="connsiteY0" fmla="*/ 0 h 1839602"/>
              <a:gd name="connsiteX1" fmla="*/ 1875476 w 1875476"/>
              <a:gd name="connsiteY1" fmla="*/ 1280367 h 1839602"/>
              <a:gd name="connsiteX2" fmla="*/ 1774088 w 1875476"/>
              <a:gd name="connsiteY2" fmla="*/ 1778744 h 1839602"/>
              <a:gd name="connsiteX3" fmla="*/ 1744547 w 1875476"/>
              <a:gd name="connsiteY3" fmla="*/ 1839602 h 1839602"/>
              <a:gd name="connsiteX4" fmla="*/ 0 w 1875476"/>
              <a:gd name="connsiteY4" fmla="*/ 1839602 h 1839602"/>
              <a:gd name="connsiteX5" fmla="*/ 0 w 1875476"/>
              <a:gd name="connsiteY5" fmla="*/ 140352 h 1839602"/>
              <a:gd name="connsiteX6" fmla="*/ 83115 w 1875476"/>
              <a:gd name="connsiteY6" fmla="*/ 100618 h 1839602"/>
              <a:gd name="connsiteX7" fmla="*/ 585307 w 1875476"/>
              <a:gd name="connsiteY7" fmla="*/ 0 h 1839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75476" h="1839602">
                <a:moveTo>
                  <a:pt x="585307" y="0"/>
                </a:moveTo>
                <a:cubicBezTo>
                  <a:pt x="1297848" y="0"/>
                  <a:pt x="1875476" y="573240"/>
                  <a:pt x="1875476" y="1280367"/>
                </a:cubicBezTo>
                <a:cubicBezTo>
                  <a:pt x="1875476" y="1457149"/>
                  <a:pt x="1839374" y="1625563"/>
                  <a:pt x="1774088" y="1778744"/>
                </a:cubicBezTo>
                <a:lnTo>
                  <a:pt x="1744547" y="1839602"/>
                </a:lnTo>
                <a:lnTo>
                  <a:pt x="0" y="1839602"/>
                </a:lnTo>
                <a:lnTo>
                  <a:pt x="0" y="140352"/>
                </a:lnTo>
                <a:lnTo>
                  <a:pt x="83115" y="100618"/>
                </a:lnTo>
                <a:cubicBezTo>
                  <a:pt x="237469" y="35828"/>
                  <a:pt x="407172" y="0"/>
                  <a:pt x="585307" y="0"/>
                </a:cubicBezTo>
                <a:close/>
              </a:path>
            </a:pathLst>
          </a:custGeom>
          <a:blipFill dpi="0" rotWithShape="1">
            <a:blip r:embed="rId2"/>
            <a:srcRect/>
            <a:tile tx="0" ty="0" sx="100000" sy="100000" flip="none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="" xmlns:a16="http://schemas.microsoft.com/office/drawing/2014/main" id="{7B0A18B4-6AD6-41C8-9C2A-638DC6263D01}"/>
              </a:ext>
            </a:extLst>
          </p:cNvPr>
          <p:cNvSpPr txBox="1"/>
          <p:nvPr/>
        </p:nvSpPr>
        <p:spPr>
          <a:xfrm>
            <a:off x="851762" y="1076190"/>
            <a:ext cx="2839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库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存可视化图</a:t>
            </a:r>
            <a:r>
              <a:rPr lang="en-US" altLang="zh-CN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-1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1334" y="1537856"/>
            <a:ext cx="9810802" cy="4905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113439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4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=""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=""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=""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=""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61054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系</a:t>
                </a:r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统页面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=""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System page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=""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</a:p>
          </p:txBody>
        </p:sp>
      </p:grpSp>
      <p:pic>
        <p:nvPicPr>
          <p:cNvPr id="34" name="圖片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533" y="1445522"/>
            <a:ext cx="9787467" cy="5048411"/>
          </a:xfrm>
          <a:prstGeom prst="rect">
            <a:avLst/>
          </a:prstGeom>
        </p:spPr>
      </p:pic>
      <p:sp>
        <p:nvSpPr>
          <p:cNvPr id="35" name="文本框 42">
            <a:extLst>
              <a:ext uri="{FF2B5EF4-FFF2-40B4-BE49-F238E27FC236}">
                <a16:creationId xmlns="" xmlns:a16="http://schemas.microsoft.com/office/drawing/2014/main" id="{7B0A18B4-6AD6-41C8-9C2A-638DC6263D01}"/>
              </a:ext>
            </a:extLst>
          </p:cNvPr>
          <p:cNvSpPr txBox="1"/>
          <p:nvPr/>
        </p:nvSpPr>
        <p:spPr>
          <a:xfrm>
            <a:off x="851762" y="1076190"/>
            <a:ext cx="2839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库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存可视化图</a:t>
            </a:r>
            <a:r>
              <a:rPr lang="en-US" altLang="zh-CN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65950466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=""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=""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=""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=""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1151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系</a:t>
                </a:r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统页面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=""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System page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=""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</a:p>
          </p:txBody>
        </p:sp>
      </p:grpSp>
      <p:pic>
        <p:nvPicPr>
          <p:cNvPr id="20" name="圖片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06" y="1509532"/>
            <a:ext cx="5925377" cy="4949457"/>
          </a:xfrm>
          <a:prstGeom prst="rect">
            <a:avLst/>
          </a:prstGeom>
        </p:spPr>
      </p:pic>
      <p:pic>
        <p:nvPicPr>
          <p:cNvPr id="3" name="圖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3778" y="1509532"/>
            <a:ext cx="6044616" cy="4852552"/>
          </a:xfrm>
          <a:prstGeom prst="rect">
            <a:avLst/>
          </a:prstGeom>
        </p:spPr>
      </p:pic>
      <p:sp>
        <p:nvSpPr>
          <p:cNvPr id="22" name="文本框 42">
            <a:extLst>
              <a:ext uri="{FF2B5EF4-FFF2-40B4-BE49-F238E27FC236}">
                <a16:creationId xmlns="" xmlns:a16="http://schemas.microsoft.com/office/drawing/2014/main" id="{7B0A18B4-6AD6-41C8-9C2A-638DC6263D01}"/>
              </a:ext>
            </a:extLst>
          </p:cNvPr>
          <p:cNvSpPr txBox="1"/>
          <p:nvPr/>
        </p:nvSpPr>
        <p:spPr>
          <a:xfrm>
            <a:off x="851762" y="1076190"/>
            <a:ext cx="2839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治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具利旧系统：</a:t>
            </a:r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48884352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=""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=""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=""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=""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61054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系</a:t>
                </a:r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统页面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=""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System page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=""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</a:p>
          </p:txBody>
        </p:sp>
      </p:grpSp>
      <p:sp>
        <p:nvSpPr>
          <p:cNvPr id="35" name="文本框 42">
            <a:extLst>
              <a:ext uri="{FF2B5EF4-FFF2-40B4-BE49-F238E27FC236}">
                <a16:creationId xmlns="" xmlns:a16="http://schemas.microsoft.com/office/drawing/2014/main" id="{7B0A18B4-6AD6-41C8-9C2A-638DC6263D01}"/>
              </a:ext>
            </a:extLst>
          </p:cNvPr>
          <p:cNvSpPr txBox="1"/>
          <p:nvPr/>
        </p:nvSpPr>
        <p:spPr>
          <a:xfrm>
            <a:off x="851762" y="1076190"/>
            <a:ext cx="2839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EMS1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知识管理图</a:t>
            </a:r>
            <a:r>
              <a:rPr lang="en-US" altLang="zh-CN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-1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2" name="圖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8058" y="1621979"/>
            <a:ext cx="9771574" cy="4781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835447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=""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=""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=""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=""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61054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系</a:t>
                </a:r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统页面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=""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System page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=""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</a:p>
          </p:txBody>
        </p:sp>
      </p:grpSp>
      <p:sp>
        <p:nvSpPr>
          <p:cNvPr id="35" name="文本框 42">
            <a:extLst>
              <a:ext uri="{FF2B5EF4-FFF2-40B4-BE49-F238E27FC236}">
                <a16:creationId xmlns="" xmlns:a16="http://schemas.microsoft.com/office/drawing/2014/main" id="{7B0A18B4-6AD6-41C8-9C2A-638DC6263D01}"/>
              </a:ext>
            </a:extLst>
          </p:cNvPr>
          <p:cNvSpPr txBox="1"/>
          <p:nvPr/>
        </p:nvSpPr>
        <p:spPr>
          <a:xfrm>
            <a:off x="851762" y="1076190"/>
            <a:ext cx="2839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EMS1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知识管理图</a:t>
            </a:r>
            <a:r>
              <a:rPr lang="en-US" altLang="zh-CN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圖片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812" y="1545034"/>
            <a:ext cx="9318983" cy="4918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662889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="" xmlns:a16="http://schemas.microsoft.com/office/drawing/2014/main" id="{7C710A07-2A28-40EC-8D93-D7387474F0E6}"/>
              </a:ext>
            </a:extLst>
          </p:cNvPr>
          <p:cNvSpPr/>
          <p:nvPr/>
        </p:nvSpPr>
        <p:spPr>
          <a:xfrm>
            <a:off x="-28836" y="1053684"/>
            <a:ext cx="12192001" cy="5804316"/>
          </a:xfrm>
          <a:prstGeom prst="rect">
            <a:avLst/>
          </a:prstGeom>
          <a:blipFill dpi="0" rotWithShape="1">
            <a:blip r:embed="rId2">
              <a:alphaModFix amt="10000"/>
            </a:blip>
            <a:srcRect/>
            <a:stretch>
              <a:fillRect t="1" b="-1815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="" xmlns:a16="http://schemas.microsoft.com/office/drawing/2014/main" id="{E007A7BA-1DE5-4665-9D30-DF265963F3B3}"/>
              </a:ext>
            </a:extLst>
          </p:cNvPr>
          <p:cNvSpPr/>
          <p:nvPr/>
        </p:nvSpPr>
        <p:spPr>
          <a:xfrm>
            <a:off x="-57671" y="1657350"/>
            <a:ext cx="12249671" cy="390525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9" name="任意多边形: 形状 8">
            <a:extLst>
              <a:ext uri="{FF2B5EF4-FFF2-40B4-BE49-F238E27FC236}">
                <a16:creationId xmlns="" xmlns:a16="http://schemas.microsoft.com/office/drawing/2014/main" id="{D6B1D381-2032-4BBA-9BCC-3F2ED3F7A23C}"/>
              </a:ext>
            </a:extLst>
          </p:cNvPr>
          <p:cNvSpPr/>
          <p:nvPr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="" xmlns:a16="http://schemas.microsoft.com/office/drawing/2014/main" id="{D3C6F1E2-5A04-4423-A6C1-9B04901EF96E}"/>
              </a:ext>
            </a:extLst>
          </p:cNvPr>
          <p:cNvSpPr/>
          <p:nvPr/>
        </p:nvSpPr>
        <p:spPr>
          <a:xfrm flipH="1">
            <a:off x="-47886" y="2076450"/>
            <a:ext cx="12240000" cy="3009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="" xmlns:a16="http://schemas.microsoft.com/office/drawing/2014/main" id="{14B152BA-FB3A-4DEF-97AF-2D3132A6379B}"/>
              </a:ext>
            </a:extLst>
          </p:cNvPr>
          <p:cNvGrpSpPr/>
          <p:nvPr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10" name="任意多边形: 形状 9">
              <a:extLst>
                <a:ext uri="{FF2B5EF4-FFF2-40B4-BE49-F238E27FC236}">
                  <a16:creationId xmlns="" xmlns:a16="http://schemas.microsoft.com/office/drawing/2014/main" id="{616D1BA4-5DFB-495C-B4C0-D9BF0BD2A928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="" xmlns:a16="http://schemas.microsoft.com/office/drawing/2014/main" id="{A7585635-9F29-4E63-8ED6-2D0E97E9D29A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="" xmlns:a16="http://schemas.microsoft.com/office/drawing/2014/main" id="{5D8AB465-9371-4219-94C0-2D44DDA759B9}"/>
              </a:ext>
            </a:extLst>
          </p:cNvPr>
          <p:cNvSpPr txBox="1"/>
          <p:nvPr/>
        </p:nvSpPr>
        <p:spPr>
          <a:xfrm>
            <a:off x="504801" y="2381071"/>
            <a:ext cx="266059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5000" dirty="0">
                <a:ln w="15875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zh-CN" altLang="en-US" sz="15000" dirty="0">
              <a:ln w="15875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="" xmlns:a16="http://schemas.microsoft.com/office/drawing/2014/main" id="{B4E23612-32A5-4085-A451-FACD073E4899}"/>
              </a:ext>
            </a:extLst>
          </p:cNvPr>
          <p:cNvSpPr txBox="1"/>
          <p:nvPr/>
        </p:nvSpPr>
        <p:spPr>
          <a:xfrm>
            <a:off x="4678113" y="2870304"/>
            <a:ext cx="4492584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7500" b="1" dirty="0" smtClean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职涯规划</a:t>
            </a:r>
            <a:endParaRPr lang="zh-CN" altLang="en-US" sz="7500" b="1" dirty="0">
              <a:ln w="19050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68519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 advClick="0" advTm="2000">
        <p14:pan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=""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=""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=""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=""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1151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职涯规划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=""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Career plan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=""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01</a:t>
              </a:r>
              <a:endParaRPr lang="en-US" altLang="zh-CN" sz="2200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8" name="文本框 7">
            <a:extLst>
              <a:ext uri="{FF2B5EF4-FFF2-40B4-BE49-F238E27FC236}">
                <a16:creationId xmlns="" xmlns:a16="http://schemas.microsoft.com/office/drawing/2014/main" id="{9BEF466E-6733-42E8-A15E-7B87B49AD0F6}"/>
              </a:ext>
            </a:extLst>
          </p:cNvPr>
          <p:cNvSpPr txBox="1"/>
          <p:nvPr/>
        </p:nvSpPr>
        <p:spPr>
          <a:xfrm>
            <a:off x="1413592" y="2957510"/>
            <a:ext cx="1030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chemeClr val="bg1"/>
                </a:solidFill>
                <a:latin typeface="Impact" panose="020B0806030902050204" pitchFamily="34" charset="0"/>
              </a:rPr>
              <a:t>01</a:t>
            </a:r>
            <a:endParaRPr lang="zh-CN" altLang="en-US" sz="40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="" xmlns:a16="http://schemas.microsoft.com/office/drawing/2014/main" id="{B7D6A8D9-8C6F-45AA-AA31-E1004CB7BCF2}"/>
              </a:ext>
            </a:extLst>
          </p:cNvPr>
          <p:cNvSpPr txBox="1"/>
          <p:nvPr/>
        </p:nvSpPr>
        <p:spPr>
          <a:xfrm>
            <a:off x="5039102" y="2957014"/>
            <a:ext cx="1030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chemeClr val="bg1"/>
                </a:solidFill>
                <a:latin typeface="Impact" panose="020B0806030902050204" pitchFamily="34" charset="0"/>
              </a:rPr>
              <a:t>02</a:t>
            </a:r>
            <a:endParaRPr lang="zh-CN" altLang="en-US" sz="40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3" name="文本框 12" descr="e7d195523061f1c0deeec63e560781cfd59afb0ea006f2a87ABB68BF51EA6619813959095094C18C62A12F549504892A4AAA8C1554C6663626E05CA27F281A14E6983772AFC3FB97135759321DEA3D704CB8FFD9D2544D205DFD9452AF5C24171A02DC413C4E9E95A0259E43A29C8CF0063CADF8A4F89C6E74ABA5E43AE0EF4BB9CE24E58B8BC46C898B2DB6E1B2C577">
            <a:extLst>
              <a:ext uri="{FF2B5EF4-FFF2-40B4-BE49-F238E27FC236}">
                <a16:creationId xmlns="" xmlns:a16="http://schemas.microsoft.com/office/drawing/2014/main" id="{5129855A-9CFA-45EA-8D29-A01D49A972AF}"/>
              </a:ext>
            </a:extLst>
          </p:cNvPr>
          <p:cNvSpPr txBox="1"/>
          <p:nvPr/>
        </p:nvSpPr>
        <p:spPr>
          <a:xfrm>
            <a:off x="1028139" y="4867540"/>
            <a:ext cx="1886508" cy="101566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altLang="zh-CN" sz="1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</a:t>
            </a:r>
            <a:r>
              <a:rPr lang="zh-CN" altLang="en-US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开发的系统扩展性，兼容性，安全性更</a:t>
            </a:r>
            <a:endParaRPr lang="en-US" altLang="zh-CN" sz="1400" b="1" dirty="0" smtClean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ts val="2400"/>
              </a:lnSpc>
            </a:pPr>
            <a:r>
              <a:rPr lang="en-US" altLang="zh-CN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</a:t>
            </a:r>
            <a:r>
              <a:rPr lang="zh-CN" altLang="en-US" sz="1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</a:t>
            </a:r>
            <a:r>
              <a:rPr lang="zh-CN" altLang="en-US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统独立设计能力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 descr="e7d195523061f1c0deeec63e560781cfd59afb0ea006f2a87ABB68BF51EA6619813959095094C18C62A12F549504892A4AAA8C1554C6663626E05CA27F281A14E6983772AFC3FB97135759321DEA3D704CB8FFD9D2544D205DFD9452AF5C24171A02DC413C4E9E95A0259E43A29C8CF0063CADF8A4F89C6E74ABA5E43AE0EF4BB9CE24E58B8BC46C898B2DB6E1B2C577">
            <a:extLst>
              <a:ext uri="{FF2B5EF4-FFF2-40B4-BE49-F238E27FC236}">
                <a16:creationId xmlns="" xmlns:a16="http://schemas.microsoft.com/office/drawing/2014/main" id="{CBB963AB-3826-4ECD-88D9-7FE803BBDD00}"/>
              </a:ext>
            </a:extLst>
          </p:cNvPr>
          <p:cNvSpPr txBox="1"/>
          <p:nvPr/>
        </p:nvSpPr>
        <p:spPr>
          <a:xfrm>
            <a:off x="3692438" y="4800715"/>
            <a:ext cx="1910126" cy="132343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altLang="zh-CN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</a:t>
            </a:r>
            <a:r>
              <a:rPr lang="zh-CN" altLang="en-US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把控项目进度，完善项目管理能力</a:t>
            </a:r>
            <a:endParaRPr lang="en-US" altLang="zh-CN" sz="1400" b="1" dirty="0" smtClean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ts val="2400"/>
              </a:lnSpc>
            </a:pPr>
            <a:r>
              <a:rPr lang="en-US" altLang="zh-CN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</a:t>
            </a:r>
            <a:r>
              <a:rPr lang="zh-CN" altLang="en-US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提高系统架构与设计能力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íšļîde">
            <a:extLst>
              <a:ext uri="{FF2B5EF4-FFF2-40B4-BE49-F238E27FC236}">
                <a16:creationId xmlns="" xmlns:a16="http://schemas.microsoft.com/office/drawing/2014/main" id="{DA85132F-A3DD-4AFC-912D-B56A1547E6F7}"/>
              </a:ext>
            </a:extLst>
          </p:cNvPr>
          <p:cNvSpPr/>
          <p:nvPr/>
        </p:nvSpPr>
        <p:spPr bwMode="auto">
          <a:xfrm>
            <a:off x="879624" y="1757572"/>
            <a:ext cx="4998140" cy="2608697"/>
          </a:xfrm>
          <a:custGeom>
            <a:avLst/>
            <a:gdLst/>
            <a:ahLst/>
            <a:cxnLst>
              <a:cxn ang="0">
                <a:pos x="1558" y="337"/>
              </a:cxn>
              <a:cxn ang="0">
                <a:pos x="1221" y="0"/>
              </a:cxn>
              <a:cxn ang="0">
                <a:pos x="407" y="814"/>
              </a:cxn>
              <a:cxn ang="0">
                <a:pos x="0" y="407"/>
              </a:cxn>
              <a:cxn ang="0">
                <a:pos x="402" y="5"/>
              </a:cxn>
              <a:cxn ang="0">
                <a:pos x="734" y="337"/>
              </a:cxn>
            </a:cxnLst>
            <a:rect l="0" t="0" r="r" b="b"/>
            <a:pathLst>
              <a:path w="1558" h="814">
                <a:moveTo>
                  <a:pt x="1558" y="337"/>
                </a:moveTo>
                <a:lnTo>
                  <a:pt x="1221" y="0"/>
                </a:lnTo>
                <a:lnTo>
                  <a:pt x="407" y="814"/>
                </a:lnTo>
                <a:lnTo>
                  <a:pt x="0" y="407"/>
                </a:lnTo>
                <a:lnTo>
                  <a:pt x="402" y="5"/>
                </a:lnTo>
                <a:lnTo>
                  <a:pt x="734" y="337"/>
                </a:lnTo>
              </a:path>
            </a:pathLst>
          </a:custGeom>
          <a:noFill/>
          <a:ln w="25400" cap="flat" cmpd="sng">
            <a:solidFill>
              <a:srgbClr val="1257F1"/>
            </a:solidFill>
            <a:prstDash val="solid"/>
            <a:round/>
            <a:headEnd/>
            <a:tailEnd/>
          </a:ln>
          <a:effectLst/>
        </p:spPr>
        <p:txBody>
          <a:bodyPr wrap="square" lIns="91440" tIns="45720" rIns="91440" bIns="45720" anchor="ctr">
            <a:normAutofit/>
          </a:bodyPr>
          <a:lstStyle/>
          <a:p>
            <a:pPr algn="ctr"/>
            <a:endParaRPr/>
          </a:p>
        </p:txBody>
      </p:sp>
      <p:grpSp>
        <p:nvGrpSpPr>
          <p:cNvPr id="17" name="组合 16">
            <a:extLst>
              <a:ext uri="{FF2B5EF4-FFF2-40B4-BE49-F238E27FC236}">
                <a16:creationId xmlns="" xmlns:a16="http://schemas.microsoft.com/office/drawing/2014/main" id="{50C47F02-30C1-4BBB-B03D-144C8CDB1425}"/>
              </a:ext>
            </a:extLst>
          </p:cNvPr>
          <p:cNvGrpSpPr/>
          <p:nvPr/>
        </p:nvGrpSpPr>
        <p:grpSpPr>
          <a:xfrm>
            <a:off x="1283615" y="2163595"/>
            <a:ext cx="1770259" cy="1770259"/>
            <a:chOff x="1270767" y="1896895"/>
            <a:chExt cx="1770259" cy="1770259"/>
          </a:xfrm>
          <a:solidFill>
            <a:srgbClr val="8EBAE2"/>
          </a:solidFill>
        </p:grpSpPr>
        <p:sp>
          <p:nvSpPr>
            <p:cNvPr id="18" name="íṧlîdê">
              <a:extLst>
                <a:ext uri="{FF2B5EF4-FFF2-40B4-BE49-F238E27FC236}">
                  <a16:creationId xmlns="" xmlns:a16="http://schemas.microsoft.com/office/drawing/2014/main" id="{C636C4F1-71B3-43F4-B7FA-E81C9E2CAB59}"/>
                </a:ext>
              </a:extLst>
            </p:cNvPr>
            <p:cNvSpPr/>
            <p:nvPr/>
          </p:nvSpPr>
          <p:spPr>
            <a:xfrm>
              <a:off x="1270767" y="1896895"/>
              <a:ext cx="1770259" cy="1770259"/>
            </a:xfrm>
            <a:custGeom>
              <a:avLst/>
              <a:gdLst>
                <a:gd name="connsiteX0" fmla="*/ 692680 w 1385360"/>
                <a:gd name="connsiteY0" fmla="*/ 0 h 1385360"/>
                <a:gd name="connsiteX1" fmla="*/ 1385360 w 1385360"/>
                <a:gd name="connsiteY1" fmla="*/ 692679 h 1385360"/>
                <a:gd name="connsiteX2" fmla="*/ 692680 w 1385360"/>
                <a:gd name="connsiteY2" fmla="*/ 1385360 h 1385360"/>
                <a:gd name="connsiteX3" fmla="*/ 0 w 1385360"/>
                <a:gd name="connsiteY3" fmla="*/ 692680 h 1385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5360" h="1385360">
                  <a:moveTo>
                    <a:pt x="692680" y="0"/>
                  </a:moveTo>
                  <a:lnTo>
                    <a:pt x="1385360" y="692679"/>
                  </a:lnTo>
                  <a:lnTo>
                    <a:pt x="692680" y="1385360"/>
                  </a:lnTo>
                  <a:lnTo>
                    <a:pt x="0" y="69268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>
                <a:defRPr/>
              </a:pPr>
              <a:r>
                <a:rPr lang="zh-CN" altLang="en-US" sz="200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</a:t>
              </a:r>
              <a:r>
                <a:rPr lang="zh-CN" altLang="en-US" sz="2000" dirty="0" smtClean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级工程师</a:t>
              </a:r>
              <a:endParaRPr lang="zh-CN" altLang="en-US" sz="20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ïşľiḑé">
              <a:extLst>
                <a:ext uri="{FF2B5EF4-FFF2-40B4-BE49-F238E27FC236}">
                  <a16:creationId xmlns="" xmlns:a16="http://schemas.microsoft.com/office/drawing/2014/main" id="{3FEEB6F8-C975-487D-878A-8D9EA40701FE}"/>
                </a:ext>
              </a:extLst>
            </p:cNvPr>
            <p:cNvSpPr/>
            <p:nvPr/>
          </p:nvSpPr>
          <p:spPr>
            <a:xfrm>
              <a:off x="1985367" y="2036974"/>
              <a:ext cx="332939" cy="332939"/>
            </a:xfrm>
            <a:custGeom>
              <a:avLst/>
              <a:gdLst>
                <a:gd name="connsiteX0" fmla="*/ 130460 w 260920"/>
                <a:gd name="connsiteY0" fmla="*/ 0 h 260921"/>
                <a:gd name="connsiteX1" fmla="*/ 260920 w 260920"/>
                <a:gd name="connsiteY1" fmla="*/ 130461 h 260921"/>
                <a:gd name="connsiteX2" fmla="*/ 130460 w 260920"/>
                <a:gd name="connsiteY2" fmla="*/ 260921 h 260921"/>
                <a:gd name="connsiteX3" fmla="*/ 0 w 260920"/>
                <a:gd name="connsiteY3" fmla="*/ 130460 h 2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920" h="260921">
                  <a:moveTo>
                    <a:pt x="130460" y="0"/>
                  </a:moveTo>
                  <a:lnTo>
                    <a:pt x="260920" y="130461"/>
                  </a:lnTo>
                  <a:lnTo>
                    <a:pt x="130460" y="260921"/>
                  </a:lnTo>
                  <a:lnTo>
                    <a:pt x="0" y="13046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>
                <a:defRPr/>
              </a:pPr>
              <a:r>
                <a:rPr lang="en-US" altLang="zh-CN" sz="1400" b="1" dirty="0">
                  <a:solidFill>
                    <a:schemeClr val="bg1"/>
                  </a:solidFill>
                </a:rPr>
                <a:t>1</a:t>
              </a:r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="" xmlns:a16="http://schemas.microsoft.com/office/drawing/2014/main" id="{4D7A649F-4A38-4100-A868-5288D77C2506}"/>
              </a:ext>
            </a:extLst>
          </p:cNvPr>
          <p:cNvGrpSpPr/>
          <p:nvPr/>
        </p:nvGrpSpPr>
        <p:grpSpPr>
          <a:xfrm>
            <a:off x="3896373" y="2179836"/>
            <a:ext cx="1772289" cy="1770259"/>
            <a:chOff x="3883525" y="1913136"/>
            <a:chExt cx="1772289" cy="1770259"/>
          </a:xfrm>
          <a:solidFill>
            <a:srgbClr val="8EBAE2"/>
          </a:solidFill>
        </p:grpSpPr>
        <p:sp>
          <p:nvSpPr>
            <p:cNvPr id="21" name="ïšḷîḑê">
              <a:extLst>
                <a:ext uri="{FF2B5EF4-FFF2-40B4-BE49-F238E27FC236}">
                  <a16:creationId xmlns="" xmlns:a16="http://schemas.microsoft.com/office/drawing/2014/main" id="{A98A0412-C1FC-4C15-9B60-678160BC7AF4}"/>
                </a:ext>
              </a:extLst>
            </p:cNvPr>
            <p:cNvSpPr/>
            <p:nvPr/>
          </p:nvSpPr>
          <p:spPr>
            <a:xfrm>
              <a:off x="3883525" y="1913136"/>
              <a:ext cx="1772289" cy="1770259"/>
            </a:xfrm>
            <a:custGeom>
              <a:avLst/>
              <a:gdLst>
                <a:gd name="connsiteX0" fmla="*/ 692680 w 1385360"/>
                <a:gd name="connsiteY0" fmla="*/ 0 h 1385360"/>
                <a:gd name="connsiteX1" fmla="*/ 1385360 w 1385360"/>
                <a:gd name="connsiteY1" fmla="*/ 692679 h 1385360"/>
                <a:gd name="connsiteX2" fmla="*/ 692680 w 1385360"/>
                <a:gd name="connsiteY2" fmla="*/ 1385360 h 1385360"/>
                <a:gd name="connsiteX3" fmla="*/ 0 w 1385360"/>
                <a:gd name="connsiteY3" fmla="*/ 692680 h 1385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5360" h="1385360">
                  <a:moveTo>
                    <a:pt x="692680" y="0"/>
                  </a:moveTo>
                  <a:lnTo>
                    <a:pt x="1385360" y="692679"/>
                  </a:lnTo>
                  <a:lnTo>
                    <a:pt x="692680" y="1385360"/>
                  </a:lnTo>
                  <a:lnTo>
                    <a:pt x="0" y="69268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>
                <a:defRPr/>
              </a:pPr>
              <a:r>
                <a:rPr lang="zh-CN" altLang="en-US" sz="20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高</a:t>
              </a:r>
              <a:r>
                <a:rPr lang="zh-CN" altLang="en-US" sz="2000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级工程师</a:t>
              </a:r>
              <a:endPara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ïṥ1íḑe">
              <a:extLst>
                <a:ext uri="{FF2B5EF4-FFF2-40B4-BE49-F238E27FC236}">
                  <a16:creationId xmlns="" xmlns:a16="http://schemas.microsoft.com/office/drawing/2014/main" id="{96E16095-B95D-4C61-A346-F9EFFA45257E}"/>
                </a:ext>
              </a:extLst>
            </p:cNvPr>
            <p:cNvSpPr/>
            <p:nvPr/>
          </p:nvSpPr>
          <p:spPr>
            <a:xfrm>
              <a:off x="4602185" y="2053215"/>
              <a:ext cx="334968" cy="332939"/>
            </a:xfrm>
            <a:custGeom>
              <a:avLst/>
              <a:gdLst>
                <a:gd name="connsiteX0" fmla="*/ 130460 w 260920"/>
                <a:gd name="connsiteY0" fmla="*/ 0 h 260921"/>
                <a:gd name="connsiteX1" fmla="*/ 260920 w 260920"/>
                <a:gd name="connsiteY1" fmla="*/ 130461 h 260921"/>
                <a:gd name="connsiteX2" fmla="*/ 130460 w 260920"/>
                <a:gd name="connsiteY2" fmla="*/ 260921 h 260921"/>
                <a:gd name="connsiteX3" fmla="*/ 0 w 260920"/>
                <a:gd name="connsiteY3" fmla="*/ 130460 h 2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920" h="260921">
                  <a:moveTo>
                    <a:pt x="130460" y="0"/>
                  </a:moveTo>
                  <a:lnTo>
                    <a:pt x="260920" y="130461"/>
                  </a:lnTo>
                  <a:lnTo>
                    <a:pt x="130460" y="260921"/>
                  </a:lnTo>
                  <a:lnTo>
                    <a:pt x="0" y="13046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>
                <a:defRPr/>
              </a:pPr>
              <a:r>
                <a:rPr lang="en-US" altLang="zh-CN" sz="1400" b="1">
                  <a:solidFill>
                    <a:schemeClr val="bg1"/>
                  </a:solidFill>
                </a:rPr>
                <a:t>2</a:t>
              </a:r>
              <a:endParaRPr lang="en-US" altLang="zh-CN" sz="14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="" xmlns:a16="http://schemas.microsoft.com/office/drawing/2014/main" id="{AA5B59F4-F89E-4D75-B55C-B7A943A2EDD1}"/>
              </a:ext>
            </a:extLst>
          </p:cNvPr>
          <p:cNvGrpSpPr/>
          <p:nvPr/>
        </p:nvGrpSpPr>
        <p:grpSpPr>
          <a:xfrm>
            <a:off x="6525368" y="2179836"/>
            <a:ext cx="1772290" cy="1770259"/>
            <a:chOff x="6512520" y="1913136"/>
            <a:chExt cx="1772290" cy="1770259"/>
          </a:xfrm>
          <a:solidFill>
            <a:srgbClr val="8EBAE2"/>
          </a:solidFill>
        </p:grpSpPr>
        <p:sp>
          <p:nvSpPr>
            <p:cNvPr id="24" name="ïṥḷïḓe">
              <a:extLst>
                <a:ext uri="{FF2B5EF4-FFF2-40B4-BE49-F238E27FC236}">
                  <a16:creationId xmlns="" xmlns:a16="http://schemas.microsoft.com/office/drawing/2014/main" id="{437049BD-0EFA-454D-9C17-C2D320DA6F2E}"/>
                </a:ext>
              </a:extLst>
            </p:cNvPr>
            <p:cNvSpPr/>
            <p:nvPr/>
          </p:nvSpPr>
          <p:spPr>
            <a:xfrm>
              <a:off x="6512520" y="1913136"/>
              <a:ext cx="1772290" cy="1770259"/>
            </a:xfrm>
            <a:custGeom>
              <a:avLst/>
              <a:gdLst>
                <a:gd name="connsiteX0" fmla="*/ 692680 w 1385360"/>
                <a:gd name="connsiteY0" fmla="*/ 0 h 1385360"/>
                <a:gd name="connsiteX1" fmla="*/ 1385360 w 1385360"/>
                <a:gd name="connsiteY1" fmla="*/ 692679 h 1385360"/>
                <a:gd name="connsiteX2" fmla="*/ 692680 w 1385360"/>
                <a:gd name="connsiteY2" fmla="*/ 1385360 h 1385360"/>
                <a:gd name="connsiteX3" fmla="*/ 0 w 1385360"/>
                <a:gd name="connsiteY3" fmla="*/ 692680 h 1385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5360" h="1385360">
                  <a:moveTo>
                    <a:pt x="692680" y="0"/>
                  </a:moveTo>
                  <a:lnTo>
                    <a:pt x="1385360" y="692679"/>
                  </a:lnTo>
                  <a:lnTo>
                    <a:pt x="692680" y="1385360"/>
                  </a:lnTo>
                  <a:lnTo>
                    <a:pt x="0" y="69268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>
                <a:defRPr/>
              </a:pPr>
              <a:r>
                <a:rPr lang="zh-CN" altLang="en-US" sz="20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</a:t>
              </a:r>
              <a:r>
                <a:rPr lang="zh-CN" altLang="en-US" sz="2000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目管理师</a:t>
              </a:r>
              <a:endPara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ïŝļíḍé">
              <a:extLst>
                <a:ext uri="{FF2B5EF4-FFF2-40B4-BE49-F238E27FC236}">
                  <a16:creationId xmlns="" xmlns:a16="http://schemas.microsoft.com/office/drawing/2014/main" id="{69E34651-F511-4FE0-BC75-8D272FAB314E}"/>
                </a:ext>
              </a:extLst>
            </p:cNvPr>
            <p:cNvSpPr/>
            <p:nvPr/>
          </p:nvSpPr>
          <p:spPr>
            <a:xfrm>
              <a:off x="7225091" y="2053215"/>
              <a:ext cx="332939" cy="332939"/>
            </a:xfrm>
            <a:custGeom>
              <a:avLst/>
              <a:gdLst>
                <a:gd name="connsiteX0" fmla="*/ 130460 w 260920"/>
                <a:gd name="connsiteY0" fmla="*/ 0 h 260921"/>
                <a:gd name="connsiteX1" fmla="*/ 260920 w 260920"/>
                <a:gd name="connsiteY1" fmla="*/ 130461 h 260921"/>
                <a:gd name="connsiteX2" fmla="*/ 130460 w 260920"/>
                <a:gd name="connsiteY2" fmla="*/ 260921 h 260921"/>
                <a:gd name="connsiteX3" fmla="*/ 0 w 260920"/>
                <a:gd name="connsiteY3" fmla="*/ 130460 h 2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920" h="260921">
                  <a:moveTo>
                    <a:pt x="130460" y="0"/>
                  </a:moveTo>
                  <a:lnTo>
                    <a:pt x="260920" y="130461"/>
                  </a:lnTo>
                  <a:lnTo>
                    <a:pt x="130460" y="260921"/>
                  </a:lnTo>
                  <a:lnTo>
                    <a:pt x="0" y="13046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>
                <a:defRPr/>
              </a:pPr>
              <a:r>
                <a:rPr lang="en-US" altLang="zh-CN" sz="1400" b="1">
                  <a:solidFill>
                    <a:schemeClr val="bg1"/>
                  </a:solidFill>
                </a:rPr>
                <a:t>3</a:t>
              </a:r>
              <a:endParaRPr lang="en-US" altLang="zh-CN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6" name="iṩ1íḑé">
            <a:extLst>
              <a:ext uri="{FF2B5EF4-FFF2-40B4-BE49-F238E27FC236}">
                <a16:creationId xmlns="" xmlns:a16="http://schemas.microsoft.com/office/drawing/2014/main" id="{5352FF59-9349-469F-B601-B7A51C474BDD}"/>
              </a:ext>
            </a:extLst>
          </p:cNvPr>
          <p:cNvSpPr/>
          <p:nvPr/>
        </p:nvSpPr>
        <p:spPr>
          <a:xfrm>
            <a:off x="3697421" y="1751484"/>
            <a:ext cx="4797158" cy="2626967"/>
          </a:xfrm>
          <a:custGeom>
            <a:avLst/>
            <a:gdLst>
              <a:gd name="connsiteX0" fmla="*/ 0 w 3902075"/>
              <a:gd name="connsiteY0" fmla="*/ 1047871 h 2096659"/>
              <a:gd name="connsiteX1" fmla="*/ 1019175 w 3902075"/>
              <a:gd name="connsiteY1" fmla="*/ 2067046 h 2096659"/>
              <a:gd name="connsiteX2" fmla="*/ 3063875 w 3902075"/>
              <a:gd name="connsiteY2" fmla="*/ 25521 h 2096659"/>
              <a:gd name="connsiteX3" fmla="*/ 3902075 w 3902075"/>
              <a:gd name="connsiteY3" fmla="*/ 866896 h 2096659"/>
              <a:gd name="connsiteX4" fmla="*/ 3902075 w 3902075"/>
              <a:gd name="connsiteY4" fmla="*/ 866896 h 2096659"/>
              <a:gd name="connsiteX0" fmla="*/ 0 w 3902075"/>
              <a:gd name="connsiteY0" fmla="*/ 1047871 h 2096659"/>
              <a:gd name="connsiteX1" fmla="*/ 1019175 w 3902075"/>
              <a:gd name="connsiteY1" fmla="*/ 2067046 h 2096659"/>
              <a:gd name="connsiteX2" fmla="*/ 3063875 w 3902075"/>
              <a:gd name="connsiteY2" fmla="*/ 25521 h 2096659"/>
              <a:gd name="connsiteX3" fmla="*/ 3902075 w 3902075"/>
              <a:gd name="connsiteY3" fmla="*/ 866896 h 2096659"/>
              <a:gd name="connsiteX4" fmla="*/ 3902075 w 3902075"/>
              <a:gd name="connsiteY4" fmla="*/ 866896 h 2096659"/>
              <a:gd name="connsiteX0" fmla="*/ 0 w 3902075"/>
              <a:gd name="connsiteY0" fmla="*/ 1047871 h 2067046"/>
              <a:gd name="connsiteX1" fmla="*/ 1019175 w 3902075"/>
              <a:gd name="connsiteY1" fmla="*/ 2067046 h 2067046"/>
              <a:gd name="connsiteX2" fmla="*/ 3063875 w 3902075"/>
              <a:gd name="connsiteY2" fmla="*/ 25521 h 2067046"/>
              <a:gd name="connsiteX3" fmla="*/ 3902075 w 3902075"/>
              <a:gd name="connsiteY3" fmla="*/ 866896 h 2067046"/>
              <a:gd name="connsiteX4" fmla="*/ 3902075 w 3902075"/>
              <a:gd name="connsiteY4" fmla="*/ 866896 h 2067046"/>
              <a:gd name="connsiteX0" fmla="*/ 0 w 3902075"/>
              <a:gd name="connsiteY0" fmla="*/ 1047871 h 2067046"/>
              <a:gd name="connsiteX1" fmla="*/ 1019175 w 3902075"/>
              <a:gd name="connsiteY1" fmla="*/ 2067046 h 2067046"/>
              <a:gd name="connsiteX2" fmla="*/ 3063875 w 3902075"/>
              <a:gd name="connsiteY2" fmla="*/ 25521 h 2067046"/>
              <a:gd name="connsiteX3" fmla="*/ 3902075 w 3902075"/>
              <a:gd name="connsiteY3" fmla="*/ 866896 h 2067046"/>
              <a:gd name="connsiteX4" fmla="*/ 3902075 w 3902075"/>
              <a:gd name="connsiteY4" fmla="*/ 866896 h 2067046"/>
              <a:gd name="connsiteX0" fmla="*/ 0 w 3902075"/>
              <a:gd name="connsiteY0" fmla="*/ 1047871 h 2067046"/>
              <a:gd name="connsiteX1" fmla="*/ 1019175 w 3902075"/>
              <a:gd name="connsiteY1" fmla="*/ 2067046 h 2067046"/>
              <a:gd name="connsiteX2" fmla="*/ 3063875 w 3902075"/>
              <a:gd name="connsiteY2" fmla="*/ 25521 h 2067046"/>
              <a:gd name="connsiteX3" fmla="*/ 3902075 w 3902075"/>
              <a:gd name="connsiteY3" fmla="*/ 866896 h 2067046"/>
              <a:gd name="connsiteX4" fmla="*/ 3902075 w 3902075"/>
              <a:gd name="connsiteY4" fmla="*/ 866896 h 2067046"/>
              <a:gd name="connsiteX0" fmla="*/ 0 w 3902075"/>
              <a:gd name="connsiteY0" fmla="*/ 1047871 h 2067046"/>
              <a:gd name="connsiteX1" fmla="*/ 1019175 w 3902075"/>
              <a:gd name="connsiteY1" fmla="*/ 2067046 h 2067046"/>
              <a:gd name="connsiteX2" fmla="*/ 3063875 w 3902075"/>
              <a:gd name="connsiteY2" fmla="*/ 25521 h 2067046"/>
              <a:gd name="connsiteX3" fmla="*/ 3902075 w 3902075"/>
              <a:gd name="connsiteY3" fmla="*/ 866896 h 2067046"/>
              <a:gd name="connsiteX4" fmla="*/ 3902075 w 3902075"/>
              <a:gd name="connsiteY4" fmla="*/ 866896 h 2067046"/>
              <a:gd name="connsiteX0" fmla="*/ 0 w 3902075"/>
              <a:gd name="connsiteY0" fmla="*/ 1047871 h 2067046"/>
              <a:gd name="connsiteX1" fmla="*/ 1019175 w 3902075"/>
              <a:gd name="connsiteY1" fmla="*/ 2067046 h 2067046"/>
              <a:gd name="connsiteX2" fmla="*/ 3063875 w 3902075"/>
              <a:gd name="connsiteY2" fmla="*/ 25521 h 2067046"/>
              <a:gd name="connsiteX3" fmla="*/ 3902075 w 3902075"/>
              <a:gd name="connsiteY3" fmla="*/ 866896 h 2067046"/>
              <a:gd name="connsiteX4" fmla="*/ 3902075 w 3902075"/>
              <a:gd name="connsiteY4" fmla="*/ 866896 h 2067046"/>
              <a:gd name="connsiteX0" fmla="*/ 0 w 3902075"/>
              <a:gd name="connsiteY0" fmla="*/ 1047871 h 2067046"/>
              <a:gd name="connsiteX1" fmla="*/ 1019175 w 3902075"/>
              <a:gd name="connsiteY1" fmla="*/ 2067046 h 2067046"/>
              <a:gd name="connsiteX2" fmla="*/ 3063875 w 3902075"/>
              <a:gd name="connsiteY2" fmla="*/ 25521 h 2067046"/>
              <a:gd name="connsiteX3" fmla="*/ 3902075 w 3902075"/>
              <a:gd name="connsiteY3" fmla="*/ 866896 h 2067046"/>
              <a:gd name="connsiteX4" fmla="*/ 3902075 w 3902075"/>
              <a:gd name="connsiteY4" fmla="*/ 866896 h 2067046"/>
              <a:gd name="connsiteX0" fmla="*/ 0 w 3902075"/>
              <a:gd name="connsiteY0" fmla="*/ 1022350 h 2041525"/>
              <a:gd name="connsiteX1" fmla="*/ 1019175 w 3902075"/>
              <a:gd name="connsiteY1" fmla="*/ 2041525 h 2041525"/>
              <a:gd name="connsiteX2" fmla="*/ 3063875 w 3902075"/>
              <a:gd name="connsiteY2" fmla="*/ 0 h 2041525"/>
              <a:gd name="connsiteX3" fmla="*/ 3902075 w 3902075"/>
              <a:gd name="connsiteY3" fmla="*/ 841375 h 2041525"/>
              <a:gd name="connsiteX4" fmla="*/ 3902075 w 3902075"/>
              <a:gd name="connsiteY4" fmla="*/ 841375 h 2041525"/>
              <a:gd name="connsiteX0" fmla="*/ 0 w 3902075"/>
              <a:gd name="connsiteY0" fmla="*/ 1022350 h 1879600"/>
              <a:gd name="connsiteX1" fmla="*/ 847725 w 3902075"/>
              <a:gd name="connsiteY1" fmla="*/ 1879600 h 1879600"/>
              <a:gd name="connsiteX2" fmla="*/ 3063875 w 3902075"/>
              <a:gd name="connsiteY2" fmla="*/ 0 h 1879600"/>
              <a:gd name="connsiteX3" fmla="*/ 3902075 w 3902075"/>
              <a:gd name="connsiteY3" fmla="*/ 841375 h 1879600"/>
              <a:gd name="connsiteX4" fmla="*/ 3902075 w 3902075"/>
              <a:gd name="connsiteY4" fmla="*/ 841375 h 1879600"/>
              <a:gd name="connsiteX0" fmla="*/ 0 w 3902075"/>
              <a:gd name="connsiteY0" fmla="*/ 1196975 h 2054225"/>
              <a:gd name="connsiteX1" fmla="*/ 847725 w 3902075"/>
              <a:gd name="connsiteY1" fmla="*/ 2054225 h 2054225"/>
              <a:gd name="connsiteX2" fmla="*/ 2895600 w 3902075"/>
              <a:gd name="connsiteY2" fmla="*/ 0 h 2054225"/>
              <a:gd name="connsiteX3" fmla="*/ 3902075 w 3902075"/>
              <a:gd name="connsiteY3" fmla="*/ 1016000 h 2054225"/>
              <a:gd name="connsiteX4" fmla="*/ 3902075 w 3902075"/>
              <a:gd name="connsiteY4" fmla="*/ 1016000 h 2054225"/>
              <a:gd name="connsiteX0" fmla="*/ 0 w 3902075"/>
              <a:gd name="connsiteY0" fmla="*/ 1196975 h 2054225"/>
              <a:gd name="connsiteX1" fmla="*/ 847725 w 3902075"/>
              <a:gd name="connsiteY1" fmla="*/ 2054225 h 2054225"/>
              <a:gd name="connsiteX2" fmla="*/ 2895600 w 3902075"/>
              <a:gd name="connsiteY2" fmla="*/ 0 h 2054225"/>
              <a:gd name="connsiteX3" fmla="*/ 3751060 w 3902075"/>
              <a:gd name="connsiteY3" fmla="*/ 864864 h 2054225"/>
              <a:gd name="connsiteX4" fmla="*/ 3902075 w 3902075"/>
              <a:gd name="connsiteY4" fmla="*/ 1016000 h 2054225"/>
              <a:gd name="connsiteX5" fmla="*/ 3902075 w 3902075"/>
              <a:gd name="connsiteY5" fmla="*/ 1016000 h 2054225"/>
              <a:gd name="connsiteX0" fmla="*/ 0 w 3902075"/>
              <a:gd name="connsiteY0" fmla="*/ 1196975 h 2054225"/>
              <a:gd name="connsiteX1" fmla="*/ 847725 w 3902075"/>
              <a:gd name="connsiteY1" fmla="*/ 2054225 h 2054225"/>
              <a:gd name="connsiteX2" fmla="*/ 2895600 w 3902075"/>
              <a:gd name="connsiteY2" fmla="*/ 0 h 2054225"/>
              <a:gd name="connsiteX3" fmla="*/ 3751060 w 3902075"/>
              <a:gd name="connsiteY3" fmla="*/ 864864 h 2054225"/>
              <a:gd name="connsiteX4" fmla="*/ 3902075 w 3902075"/>
              <a:gd name="connsiteY4" fmla="*/ 1016000 h 2054225"/>
              <a:gd name="connsiteX0" fmla="*/ 0 w 3751060"/>
              <a:gd name="connsiteY0" fmla="*/ 1196975 h 2054225"/>
              <a:gd name="connsiteX1" fmla="*/ 847725 w 3751060"/>
              <a:gd name="connsiteY1" fmla="*/ 2054225 h 2054225"/>
              <a:gd name="connsiteX2" fmla="*/ 2895600 w 3751060"/>
              <a:gd name="connsiteY2" fmla="*/ 0 h 2054225"/>
              <a:gd name="connsiteX3" fmla="*/ 3751060 w 3751060"/>
              <a:gd name="connsiteY3" fmla="*/ 864864 h 2054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51060" h="2054225">
                <a:moveTo>
                  <a:pt x="0" y="1196975"/>
                </a:moveTo>
                <a:cubicBezTo>
                  <a:pt x="339725" y="1536700"/>
                  <a:pt x="508000" y="1714500"/>
                  <a:pt x="847725" y="2054225"/>
                </a:cubicBezTo>
                <a:lnTo>
                  <a:pt x="2895600" y="0"/>
                </a:lnTo>
                <a:lnTo>
                  <a:pt x="3751060" y="864864"/>
                </a:lnTo>
              </a:path>
            </a:pathLst>
          </a:custGeom>
          <a:noFill/>
          <a:ln w="25400">
            <a:solidFill>
              <a:srgbClr val="1257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endParaRPr/>
          </a:p>
        </p:txBody>
      </p:sp>
      <p:cxnSp>
        <p:nvCxnSpPr>
          <p:cNvPr id="31" name="直接连接符 30">
            <a:extLst>
              <a:ext uri="{FF2B5EF4-FFF2-40B4-BE49-F238E27FC236}">
                <a16:creationId xmlns="" xmlns:a16="http://schemas.microsoft.com/office/drawing/2014/main" id="{1ED937D2-B1C3-400B-BC03-73FC64A969E5}"/>
              </a:ext>
            </a:extLst>
          </p:cNvPr>
          <p:cNvCxnSpPr/>
          <p:nvPr/>
        </p:nvCxnSpPr>
        <p:spPr>
          <a:xfrm>
            <a:off x="3516560" y="4772292"/>
            <a:ext cx="0" cy="908538"/>
          </a:xfrm>
          <a:prstGeom prst="line">
            <a:avLst/>
          </a:prstGeom>
          <a:ln w="3175" cap="rnd">
            <a:solidFill>
              <a:schemeClr val="bg1">
                <a:lumMod val="8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="" xmlns:a16="http://schemas.microsoft.com/office/drawing/2014/main" id="{BD9CA482-9060-4B3F-8B6F-34EEDF915441}"/>
              </a:ext>
            </a:extLst>
          </p:cNvPr>
          <p:cNvCxnSpPr/>
          <p:nvPr/>
        </p:nvCxnSpPr>
        <p:spPr>
          <a:xfrm>
            <a:off x="6108848" y="4772292"/>
            <a:ext cx="0" cy="908538"/>
          </a:xfrm>
          <a:prstGeom prst="line">
            <a:avLst/>
          </a:prstGeom>
          <a:ln w="3175" cap="rnd">
            <a:solidFill>
              <a:schemeClr val="bg1">
                <a:lumMod val="8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="" xmlns:a16="http://schemas.microsoft.com/office/drawing/2014/main" id="{D1DFD0FE-96E2-4DFC-A0C1-94971C396484}"/>
              </a:ext>
            </a:extLst>
          </p:cNvPr>
          <p:cNvCxnSpPr/>
          <p:nvPr/>
        </p:nvCxnSpPr>
        <p:spPr>
          <a:xfrm>
            <a:off x="8769752" y="4772292"/>
            <a:ext cx="0" cy="908538"/>
          </a:xfrm>
          <a:prstGeom prst="line">
            <a:avLst/>
          </a:prstGeom>
          <a:ln w="3175" cap="rnd">
            <a:solidFill>
              <a:schemeClr val="bg1">
                <a:lumMod val="8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 descr="e7d195523061f1c0deeec63e560781cfd59afb0ea006f2a87ABB68BF51EA6619813959095094C18C62A12F549504892A4AAA8C1554C6663626E05CA27F281A14E6983772AFC3FB97135759321DEA3D704CB8FFD9D2544D205DFD9452AF5C24171A02DC413C4E9E95A0259E43A29C8CF0063CADF8A4F89C6E74ABA5E43AE0EF4BB9CE24E58B8BC46C898B2DB6E1B2C577">
            <a:extLst>
              <a:ext uri="{FF2B5EF4-FFF2-40B4-BE49-F238E27FC236}">
                <a16:creationId xmlns="" xmlns:a16="http://schemas.microsoft.com/office/drawing/2014/main" id="{65D55020-5FD5-40E3-AA28-0F3390D2966C}"/>
              </a:ext>
            </a:extLst>
          </p:cNvPr>
          <p:cNvSpPr txBox="1"/>
          <p:nvPr/>
        </p:nvSpPr>
        <p:spPr>
          <a:xfrm>
            <a:off x="6380355" y="4848998"/>
            <a:ext cx="2114224" cy="95410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</a:t>
            </a:r>
            <a:r>
              <a:rPr lang="zh-CN" altLang="en-US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项目管理全过程管理控制</a:t>
            </a:r>
            <a:endParaRPr lang="en-US" altLang="zh-CN" sz="1400" b="1" dirty="0" smtClean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2.</a:t>
            </a:r>
            <a:r>
              <a:rPr lang="zh-CN" altLang="en-US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团队管理</a:t>
            </a:r>
            <a:endParaRPr lang="en-US" altLang="zh-CN" sz="1400" b="1" dirty="0" smtClean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endParaRPr lang="en-US" altLang="zh-CN" sz="1400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49901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 advClick="0" advTm="2000">
        <p14:pan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0"/>
                            </p:stCondLst>
                            <p:childTnLst>
                              <p:par>
                                <p:cTn id="3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500"/>
                            </p:stCondLst>
                            <p:childTnLst>
                              <p:par>
                                <p:cTn id="4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000"/>
                            </p:stCondLst>
                            <p:childTnLst>
                              <p:par>
                                <p:cTn id="5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6" grpId="0" animBg="1"/>
      <p:bldP spid="26" grpId="0" animBg="1"/>
      <p:bldP spid="3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="" xmlns:a16="http://schemas.microsoft.com/office/drawing/2014/main" id="{7C710A07-2A28-40EC-8D93-D7387474F0E6}"/>
              </a:ext>
            </a:extLst>
          </p:cNvPr>
          <p:cNvSpPr/>
          <p:nvPr/>
        </p:nvSpPr>
        <p:spPr>
          <a:xfrm>
            <a:off x="-28836" y="1053684"/>
            <a:ext cx="12192001" cy="5804316"/>
          </a:xfrm>
          <a:prstGeom prst="rect">
            <a:avLst/>
          </a:prstGeom>
          <a:blipFill dpi="0" rotWithShape="1">
            <a:blip r:embed="rId4">
              <a:alphaModFix amt="10000"/>
            </a:blip>
            <a:srcRect/>
            <a:stretch>
              <a:fillRect t="1" b="-1815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="" xmlns:a16="http://schemas.microsoft.com/office/drawing/2014/main" id="{E007A7BA-1DE5-4665-9D30-DF265963F3B3}"/>
              </a:ext>
            </a:extLst>
          </p:cNvPr>
          <p:cNvSpPr/>
          <p:nvPr/>
        </p:nvSpPr>
        <p:spPr>
          <a:xfrm>
            <a:off x="7281261" y="0"/>
            <a:ext cx="4472589" cy="685800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8">
            <a:extLst>
              <a:ext uri="{FF2B5EF4-FFF2-40B4-BE49-F238E27FC236}">
                <a16:creationId xmlns="" xmlns:a16="http://schemas.microsoft.com/office/drawing/2014/main" id="{D6B1D381-2032-4BBA-9BCC-3F2ED3F7A23C}"/>
              </a:ext>
            </a:extLst>
          </p:cNvPr>
          <p:cNvSpPr/>
          <p:nvPr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rgbClr val="0070C0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="" xmlns:a16="http://schemas.microsoft.com/office/drawing/2014/main" id="{D3C6F1E2-5A04-4423-A6C1-9B04901EF96E}"/>
              </a:ext>
            </a:extLst>
          </p:cNvPr>
          <p:cNvSpPr/>
          <p:nvPr/>
        </p:nvSpPr>
        <p:spPr>
          <a:xfrm flipH="1">
            <a:off x="7707298" y="0"/>
            <a:ext cx="3636974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PA_文本框 18">
            <a:extLst>
              <a:ext uri="{FF2B5EF4-FFF2-40B4-BE49-F238E27FC236}">
                <a16:creationId xmlns="" xmlns:a16="http://schemas.microsoft.com/office/drawing/2014/main" id="{85DB1B22-E95D-4460-B4D9-8349FB7A6AAD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2544011" y="4012467"/>
            <a:ext cx="2513214" cy="519351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ctr" defTabSz="9143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MP</a:t>
            </a:r>
            <a:r>
              <a:rPr lang="zh-CN" altLang="en-US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：</a:t>
            </a:r>
            <a:r>
              <a:rPr lang="en-US" altLang="zh-CN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15630606399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18" name="PA_文本框 18">
            <a:extLst>
              <a:ext uri="{FF2B5EF4-FFF2-40B4-BE49-F238E27FC236}">
                <a16:creationId xmlns="" xmlns:a16="http://schemas.microsoft.com/office/drawing/2014/main" id="{613F8FCA-D71A-4DB0-BEA6-1CE17527F1B4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731437" y="4755705"/>
            <a:ext cx="4138362" cy="519351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none" lIns="91440" tIns="45720" rIns="91440" bIns="45720" rtlCol="0" anchor="ctr">
            <a:spAutoFit/>
          </a:bodyPr>
          <a:lstStyle/>
          <a:p>
            <a:pPr lvl="0" algn="ctr" defTabSz="914377">
              <a:defRPr/>
            </a:pP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BLOG</a:t>
            </a:r>
            <a:r>
              <a:rPr lang="zh-CN" altLang="en-US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https://blog.csdn.net/l350z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="" xmlns:a16="http://schemas.microsoft.com/office/drawing/2014/main" id="{14B152BA-FB3A-4DEF-97AF-2D3132A6379B}"/>
              </a:ext>
            </a:extLst>
          </p:cNvPr>
          <p:cNvGrpSpPr/>
          <p:nvPr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10" name="任意多边形: 形状 9">
              <a:extLst>
                <a:ext uri="{FF2B5EF4-FFF2-40B4-BE49-F238E27FC236}">
                  <a16:creationId xmlns="" xmlns:a16="http://schemas.microsoft.com/office/drawing/2014/main" id="{616D1BA4-5DFB-495C-B4C0-D9BF0BD2A928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="" xmlns:a16="http://schemas.microsoft.com/office/drawing/2014/main" id="{A7585635-9F29-4E63-8ED6-2D0E97E9D29A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28" name="Rectangle 4">
            <a:hlinkClick r:id="rId5"/>
          </p:cNvPr>
          <p:cNvSpPr>
            <a:spLocks noChangeArrowheads="1"/>
          </p:cNvSpPr>
          <p:nvPr/>
        </p:nvSpPr>
        <p:spPr bwMode="auto">
          <a:xfrm>
            <a:off x="614490" y="1330294"/>
            <a:ext cx="7162800" cy="1098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 eaLnBrk="1" hangingPunct="1"/>
            <a:r>
              <a:rPr kumimoji="0" lang="zh-CN" altLang="en-US" sz="6600" b="1" dirty="0">
                <a:solidFill>
                  <a:srgbClr val="0000FF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报</a:t>
            </a:r>
            <a:r>
              <a:rPr kumimoji="0" lang="zh-CN" altLang="en-US" sz="6600" b="1" dirty="0" smtClean="0">
                <a:solidFill>
                  <a:srgbClr val="0000FF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告完毕，谢谢！</a:t>
            </a:r>
            <a:endParaRPr kumimoji="0" lang="zh-TW" altLang="en-US" sz="6600" b="1" dirty="0">
              <a:solidFill>
                <a:srgbClr val="0000FF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29" name="Rectangle 6"/>
          <p:cNvSpPr>
            <a:spLocks noChangeArrowheads="1"/>
          </p:cNvSpPr>
          <p:nvPr/>
        </p:nvSpPr>
        <p:spPr bwMode="auto">
          <a:xfrm>
            <a:off x="1852011" y="2773764"/>
            <a:ext cx="389722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r" eaLnBrk="1" hangingPunct="1">
              <a:spcBef>
                <a:spcPct val="50000"/>
              </a:spcBef>
            </a:pPr>
            <a:r>
              <a:rPr kumimoji="0" lang="zh-CN" altLang="en-US" sz="4800" b="1" dirty="0">
                <a:solidFill>
                  <a:srgbClr val="FF0000"/>
                </a:solidFill>
                <a:latin typeface="Times New Roman" panose="02020603050405020304" pitchFamily="18" charset="0"/>
                <a:ea typeface="SimHei" panose="02010609060101010101" pitchFamily="49" charset="-122"/>
              </a:rPr>
              <a:t>欢</a:t>
            </a:r>
            <a:r>
              <a:rPr kumimoji="0" lang="zh-CN" altLang="en-US" sz="4800" b="1" dirty="0" smtClean="0">
                <a:solidFill>
                  <a:srgbClr val="FF0000"/>
                </a:solidFill>
                <a:latin typeface="Times New Roman" panose="02020603050405020304" pitchFamily="18" charset="0"/>
                <a:ea typeface="SimHei" panose="02010609060101010101" pitchFamily="49" charset="-122"/>
              </a:rPr>
              <a:t>迎提问指导</a:t>
            </a:r>
            <a:endParaRPr kumimoji="0" lang="zh-TW" altLang="en-US" sz="4800" b="1" dirty="0">
              <a:solidFill>
                <a:srgbClr val="FF0000"/>
              </a:solidFill>
              <a:latin typeface="Times New Roman" panose="02020603050405020304" pitchFamily="18" charset="0"/>
              <a:ea typeface="SimHei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28285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8000">
        <p:split orient="vert"/>
      </p:transition>
    </mc:Choice>
    <mc:Fallback xmlns="">
      <p:transition spd="slow" advClick="0" advTm="8000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 animBg="1"/>
      <p:bldP spid="17" grpId="0" animBg="1"/>
      <p:bldP spid="18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1104</TotalTime>
  <Words>898</Words>
  <Application>Microsoft Office PowerPoint</Application>
  <PresentationFormat>宽屏</PresentationFormat>
  <Paragraphs>194</Paragraphs>
  <Slides>18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4" baseType="lpstr">
      <vt:lpstr>Arial Unicode MS</vt:lpstr>
      <vt:lpstr>新細明體</vt:lpstr>
      <vt:lpstr>等线</vt:lpstr>
      <vt:lpstr>等线 Light</vt:lpstr>
      <vt:lpstr>SimHei</vt:lpstr>
      <vt:lpstr>思源黑体 CN ExtraLight</vt:lpstr>
      <vt:lpstr>思源宋体</vt:lpstr>
      <vt:lpstr>SimSun</vt:lpstr>
      <vt:lpstr>SimSun</vt:lpstr>
      <vt:lpstr>微软雅黑</vt:lpstr>
      <vt:lpstr>微软雅黑</vt:lpstr>
      <vt:lpstr>站酷快乐体2016修订版</vt:lpstr>
      <vt:lpstr>Arial</vt:lpstr>
      <vt:lpstr>Impact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swl20</dc:creator>
  <cp:lastModifiedBy>H0594499</cp:lastModifiedBy>
  <cp:revision>93</cp:revision>
  <dcterms:created xsi:type="dcterms:W3CDTF">2020-05-23T02:50:13Z</dcterms:created>
  <dcterms:modified xsi:type="dcterms:W3CDTF">2023-02-26T11:59:49Z</dcterms:modified>
</cp:coreProperties>
</file>