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5"/>
  </p:notesMasterIdLst>
  <p:sldIdLst>
    <p:sldId id="284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8" r:id="rId12"/>
    <p:sldId id="269" r:id="rId13"/>
    <p:sldId id="271" r:id="rId14"/>
    <p:sldId id="270" r:id="rId15"/>
    <p:sldId id="272" r:id="rId16"/>
    <p:sldId id="275" r:id="rId17"/>
    <p:sldId id="273" r:id="rId18"/>
    <p:sldId id="277" r:id="rId19"/>
    <p:sldId id="278" r:id="rId20"/>
    <p:sldId id="280" r:id="rId21"/>
    <p:sldId id="281" r:id="rId22"/>
    <p:sldId id="282" r:id="rId23"/>
    <p:sldId id="283" r:id="rId24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92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41E4140-C149-48DD-A1F9-466DBAFEF9B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22118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CA17F0CC-9DAF-4C4D-BE52-6888A22E80C4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32771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2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/>
          </a:p>
        </p:txBody>
      </p:sp>
      <p:sp>
        <p:nvSpPr>
          <p:cNvPr id="32773" name="投影片編號版面配置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ACE9C4D5-BC75-4C36-838A-EFC72D514169}" type="slidenum">
              <a:rPr kumimoji="0" lang="en-US" altLang="zh-TW" sz="1200"/>
              <a:pPr algn="r" eaLnBrk="1" hangingPunct="1"/>
              <a:t>15</a:t>
            </a:fld>
            <a:endParaRPr kumimoji="0" lang="en-US" altLang="zh-TW" sz="1200"/>
          </a:p>
        </p:txBody>
      </p:sp>
    </p:spTree>
    <p:extLst>
      <p:ext uri="{BB962C8B-B14F-4D97-AF65-F5344CB8AC3E}">
        <p14:creationId xmlns:p14="http://schemas.microsoft.com/office/powerpoint/2010/main" val="2411735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68C8B41E-2186-41B2-B45D-0404F1CEB377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33795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6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  <p:sp>
        <p:nvSpPr>
          <p:cNvPr id="33797" name="投影片編號版面配置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fld id="{EE1FDF5D-CFBE-4566-9721-E96A8FB0ACEF}" type="slidenum">
              <a:rPr kumimoji="0" lang="en-US" altLang="zh-TW" sz="1200"/>
              <a:pPr algn="r" eaLnBrk="1" hangingPunct="1"/>
              <a:t>21</a:t>
            </a:fld>
            <a:endParaRPr kumimoji="0" lang="en-US" altLang="zh-TW" sz="1200"/>
          </a:p>
        </p:txBody>
      </p:sp>
    </p:spTree>
    <p:extLst>
      <p:ext uri="{BB962C8B-B14F-4D97-AF65-F5344CB8AC3E}">
        <p14:creationId xmlns:p14="http://schemas.microsoft.com/office/powerpoint/2010/main" val="32895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57BA4-2CF3-4FB7-B457-F3361F2AE5C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822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960722-E3D5-42DD-86E7-0B4F9DF3BA2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965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6E6684-70A9-407A-8929-A15E56D812B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871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30D2E-A3DF-4DD0-A2F2-D70BD2A861F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895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55191-436A-4642-96AE-D170060A598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960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1739F-7828-4F54-BD97-C1EBBC1ADCB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931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 Box 14"/>
          <p:cNvSpPr txBox="1">
            <a:spLocks noChangeArrowheads="1"/>
          </p:cNvSpPr>
          <p:nvPr userDrawn="1"/>
        </p:nvSpPr>
        <p:spPr bwMode="auto">
          <a:xfrm>
            <a:off x="0" y="0"/>
            <a:ext cx="1371600" cy="7016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4000" b="1" dirty="0" smtClean="0">
                <a:solidFill>
                  <a:srgbClr val="D1DBEB"/>
                </a:solidFill>
                <a:ea typeface="SimSun" panose="02010600030101010101" pitchFamily="2" charset="-122"/>
              </a:rPr>
              <a:t>FIH</a:t>
            </a:r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D2ACC-FDE7-4EBD-B3DD-9003D2A258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5469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1FCB6F-9926-4855-A808-F557D09C3BF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549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FACDA5-E844-4D61-A383-BA8665EA149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833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BE372-AE3D-46EF-B046-0F3144D4CC3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011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77AC0-EDEE-42C1-AD4F-793698BA798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526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 cap="all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FFFFFF"/>
                </a:solidFill>
              </a:defRPr>
            </a:lvl1pPr>
          </a:lstStyle>
          <a:p>
            <a:fld id="{6B62E661-CF2D-41F4-A79E-601C0F3E632C}" type="slidenum">
              <a:rPr lang="en-US" altLang="zh-TW"/>
              <a:pPr/>
              <a:t>‹#›</a:t>
            </a:fld>
            <a:endParaRPr lang="en-US" altLang="zh-TW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1" r:id="rId2"/>
    <p:sldLayoutId id="2147483787" r:id="rId3"/>
    <p:sldLayoutId id="2147483782" r:id="rId4"/>
    <p:sldLayoutId id="2147483783" r:id="rId5"/>
    <p:sldLayoutId id="2147483784" r:id="rId6"/>
    <p:sldLayoutId id="2147483788" r:id="rId7"/>
    <p:sldLayoutId id="2147483789" r:id="rId8"/>
    <p:sldLayoutId id="2147483790" r:id="rId9"/>
    <p:sldLayoutId id="2147483785" r:id="rId10"/>
    <p:sldLayoutId id="2147483791" r:id="rId11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5.xml"/><Relationship Id="rId7" Type="http://schemas.openxmlformats.org/officeDocument/2006/relationships/slide" Target="slide18.xm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16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slide" Target="slide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22325" y="758825"/>
            <a:ext cx="7543800" cy="274637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6000" dirty="0" smtClean="0"/>
              <a:t>FIH </a:t>
            </a:r>
            <a:r>
              <a:rPr lang="zh-CN" altLang="en-US" sz="6000" dirty="0" smtClean="0"/>
              <a:t>績效考核系統</a:t>
            </a:r>
            <a:endParaRPr lang="zh-TW" altLang="en-US" sz="6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eaLnBrk="1" fontAlgn="auto" hangingPunct="1">
              <a:defRPr/>
            </a:pPr>
            <a:r>
              <a:rPr lang="zh-CN" altLang="en-US" dirty="0" smtClean="0"/>
              <a:t>主管操作說明</a:t>
            </a:r>
            <a:endParaRPr lang="zh-TW" altLang="en-US" dirty="0"/>
          </a:p>
        </p:txBody>
      </p:sp>
      <p:sp>
        <p:nvSpPr>
          <p:cNvPr id="8196" name="Text Box 14"/>
          <p:cNvSpPr txBox="1">
            <a:spLocks noChangeArrowheads="1"/>
          </p:cNvSpPr>
          <p:nvPr/>
        </p:nvSpPr>
        <p:spPr bwMode="auto">
          <a:xfrm>
            <a:off x="0" y="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000" b="1">
                <a:solidFill>
                  <a:srgbClr val="D1DBEB"/>
                </a:solidFill>
                <a:latin typeface="Verdana" panose="020B0604030504040204" pitchFamily="34" charset="0"/>
                <a:ea typeface="SimSun" panose="02010600030101010101" pitchFamily="2" charset="-122"/>
              </a:rPr>
              <a:t>FIH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0" y="1001713"/>
            <a:ext cx="2667000" cy="8191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導航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</a:p>
        </p:txBody>
      </p:sp>
      <p:pic>
        <p:nvPicPr>
          <p:cNvPr id="9219" name="Picture 71" descr="loadin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865813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68"/>
          <p:cNvSpPr txBox="1">
            <a:spLocks noChangeArrowheads="1"/>
          </p:cNvSpPr>
          <p:nvPr/>
        </p:nvSpPr>
        <p:spPr bwMode="auto">
          <a:xfrm>
            <a:off x="1828800" y="5791200"/>
            <a:ext cx="4953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單擊要查看的標題，直接跳轉到該部分内容介紹頁面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6" name="TextBox 5">
            <a:hlinkClick r:id="rId3" action="ppaction://hlinksldjump"/>
          </p:cNvPr>
          <p:cNvSpPr txBox="1"/>
          <p:nvPr/>
        </p:nvSpPr>
        <p:spPr>
          <a:xfrm>
            <a:off x="838200" y="3592513"/>
            <a:ext cx="16002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0" lang="zh-CN" alt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標楷體" pitchFamily="65" charset="-120"/>
                <a:ea typeface="標楷體" pitchFamily="65" charset="-120"/>
              </a:rPr>
              <a:t>系統登陸界面</a:t>
            </a:r>
            <a:endParaRPr kumimoji="0" lang="zh-TW" altLang="en-US" b="1" u="sng" dirty="0">
              <a:solidFill>
                <a:schemeClr val="accent1">
                  <a:lumMod val="60000"/>
                  <a:lumOff val="40000"/>
                </a:schemeClr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6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5105400" y="3316288"/>
            <a:ext cx="23622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主直屬主管審評</a:t>
            </a:r>
            <a:endParaRPr kumimoji="0"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8" name="Text Box 6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105400" y="2725738"/>
            <a:ext cx="2209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系統登陸后的首界面</a:t>
            </a:r>
            <a:endParaRPr kumimoji="0"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10" name="Text Box 68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5105400" y="3932238"/>
            <a:ext cx="2971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合評主管審核</a:t>
            </a:r>
            <a:endParaRPr kumimoji="0"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12" name="Text Box 68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5105400" y="5114925"/>
            <a:ext cx="2057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系統操作注意事項</a:t>
            </a:r>
            <a:endParaRPr kumimoji="0"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13" name="Text Box 68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5105400" y="4522788"/>
            <a:ext cx="2971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復評主管審核</a:t>
            </a:r>
            <a:endParaRPr kumimoji="0"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14" name="Text Box 68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5105400" y="2133600"/>
            <a:ext cx="29718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主管識掌</a:t>
            </a:r>
            <a:endParaRPr kumimoji="0"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grpSp>
        <p:nvGrpSpPr>
          <p:cNvPr id="9228" name="群組 2"/>
          <p:cNvGrpSpPr>
            <a:grpSpLocks/>
          </p:cNvGrpSpPr>
          <p:nvPr/>
        </p:nvGrpSpPr>
        <p:grpSpPr bwMode="auto">
          <a:xfrm>
            <a:off x="2514600" y="2347913"/>
            <a:ext cx="2514600" cy="2986087"/>
            <a:chOff x="2590800" y="1828800"/>
            <a:chExt cx="2514600" cy="2986736"/>
          </a:xfrm>
        </p:grpSpPr>
        <p:cxnSp>
          <p:nvCxnSpPr>
            <p:cNvPr id="9229" name="直線單箭頭接點 15"/>
            <p:cNvCxnSpPr>
              <a:cxnSpLocks noChangeShapeType="1"/>
            </p:cNvCxnSpPr>
            <p:nvPr/>
          </p:nvCxnSpPr>
          <p:spPr bwMode="auto">
            <a:xfrm>
              <a:off x="3962400" y="1828800"/>
              <a:ext cx="114300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0" name="直線接點 17"/>
            <p:cNvCxnSpPr>
              <a:cxnSpLocks noChangeShapeType="1"/>
            </p:cNvCxnSpPr>
            <p:nvPr/>
          </p:nvCxnSpPr>
          <p:spPr bwMode="auto">
            <a:xfrm>
              <a:off x="3962399" y="1829594"/>
              <a:ext cx="1" cy="2984354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1" name="直線接點 19"/>
            <p:cNvCxnSpPr>
              <a:cxnSpLocks noChangeShapeType="1"/>
            </p:cNvCxnSpPr>
            <p:nvPr/>
          </p:nvCxnSpPr>
          <p:spPr bwMode="auto">
            <a:xfrm>
              <a:off x="2590800" y="3275012"/>
              <a:ext cx="137160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2" name="直線單箭頭接點 22"/>
            <p:cNvCxnSpPr>
              <a:cxnSpLocks noChangeShapeType="1"/>
            </p:cNvCxnSpPr>
            <p:nvPr/>
          </p:nvCxnSpPr>
          <p:spPr bwMode="auto">
            <a:xfrm>
              <a:off x="3962400" y="2425830"/>
              <a:ext cx="114300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3" name="直線單箭頭接點 23"/>
            <p:cNvCxnSpPr>
              <a:cxnSpLocks noChangeShapeType="1"/>
            </p:cNvCxnSpPr>
            <p:nvPr/>
          </p:nvCxnSpPr>
          <p:spPr bwMode="auto">
            <a:xfrm>
              <a:off x="3962400" y="3022859"/>
              <a:ext cx="114300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4" name="直線單箭頭接點 24"/>
            <p:cNvCxnSpPr>
              <a:cxnSpLocks noChangeShapeType="1"/>
            </p:cNvCxnSpPr>
            <p:nvPr/>
          </p:nvCxnSpPr>
          <p:spPr bwMode="auto">
            <a:xfrm>
              <a:off x="3962400" y="3581780"/>
              <a:ext cx="114300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5" name="直線單箭頭接點 25"/>
            <p:cNvCxnSpPr>
              <a:cxnSpLocks noChangeShapeType="1"/>
            </p:cNvCxnSpPr>
            <p:nvPr/>
          </p:nvCxnSpPr>
          <p:spPr bwMode="auto">
            <a:xfrm>
              <a:off x="3962400" y="4216918"/>
              <a:ext cx="114300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36" name="直線單箭頭接點 26"/>
            <p:cNvCxnSpPr>
              <a:cxnSpLocks noChangeShapeType="1"/>
            </p:cNvCxnSpPr>
            <p:nvPr/>
          </p:nvCxnSpPr>
          <p:spPr bwMode="auto">
            <a:xfrm>
              <a:off x="3962400" y="4813948"/>
              <a:ext cx="114300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4"/>
          <p:cNvSpPr>
            <a:spLocks noGrp="1"/>
          </p:cNvSpPr>
          <p:nvPr>
            <p:ph type="title" idx="4294967295"/>
          </p:nvPr>
        </p:nvSpPr>
        <p:spPr>
          <a:xfrm>
            <a:off x="514350" y="609600"/>
            <a:ext cx="8229600" cy="8080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初</a:t>
            </a:r>
            <a:r>
              <a:rPr lang="zh-TW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主管主要職掌</a:t>
            </a:r>
            <a:endParaRPr lang="zh-TW" altLang="en-US" dirty="0">
              <a:solidFill>
                <a:schemeClr val="tx1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243" name="矩形 15"/>
          <p:cNvSpPr>
            <a:spLocks noChangeArrowheads="1"/>
          </p:cNvSpPr>
          <p:nvPr/>
        </p:nvSpPr>
        <p:spPr bwMode="auto">
          <a:xfrm>
            <a:off x="533400" y="1371600"/>
            <a:ext cx="8229600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0238" indent="-5381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評核員工確認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員工自評作業指導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師級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個人自評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部門員工初評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師級逐個審核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,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員級批量處理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指定部門員工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師三及以上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會評主管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部門員工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KPI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及目標訂定與溝通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考核比例管控</a:t>
            </a:r>
          </a:p>
          <a:p>
            <a:pPr eaLnBrk="1" hangingPunct="1">
              <a:lnSpc>
                <a:spcPct val="15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績效面談與溝通</a:t>
            </a:r>
            <a:endParaRPr kumimoji="0" lang="zh-TW" altLang="en-US" sz="2400">
              <a:solidFill>
                <a:srgbClr val="3333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5"/>
          <p:cNvSpPr>
            <a:spLocks noChangeArrowheads="1"/>
          </p:cNvSpPr>
          <p:nvPr/>
        </p:nvSpPr>
        <p:spPr bwMode="auto">
          <a:xfrm>
            <a:off x="304800" y="1600200"/>
            <a:ext cx="8382000" cy="365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1087438" indent="-53816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1" eaLnBrk="1" hangingPunct="1">
              <a:lnSpc>
                <a:spcPct val="20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個人自評</a:t>
            </a:r>
          </a:p>
          <a:p>
            <a:pPr lvl="1" eaLnBrk="1" hangingPunct="1">
              <a:lnSpc>
                <a:spcPct val="20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直屬員工初評及會評主管指定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績效面談溝通</a:t>
            </a:r>
            <a:endParaRPr kumimoji="0" lang="en-US" altLang="zh-CN" sz="2400" b="1">
              <a:solidFill>
                <a:srgbClr val="3333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 eaLnBrk="1" hangingPunct="1">
              <a:lnSpc>
                <a:spcPct val="20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複評</a:t>
            </a:r>
          </a:p>
          <a:p>
            <a:pPr lvl="1" eaLnBrk="1" hangingPunct="1">
              <a:lnSpc>
                <a:spcPct val="20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部門員工</a:t>
            </a:r>
            <a:r>
              <a:rPr kumimoji="0" lang="en-US" altLang="zh-CN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KPI</a:t>
            </a: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及目標審核</a:t>
            </a:r>
          </a:p>
          <a:p>
            <a:pPr lvl="1" eaLnBrk="1" hangingPunct="1">
              <a:lnSpc>
                <a:spcPct val="200000"/>
              </a:lnSpc>
              <a:buFontTx/>
              <a:buAutoNum type="ea1ChsPeriod"/>
            </a:pPr>
            <a:r>
              <a:rPr kumimoji="0" lang="zh-CN" altLang="en-US" sz="2400" b="1">
                <a:solidFill>
                  <a:srgbClr val="3333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考核比例管控</a:t>
            </a:r>
          </a:p>
        </p:txBody>
      </p:sp>
      <p:sp>
        <p:nvSpPr>
          <p:cNvPr id="6" name="標題 14"/>
          <p:cNvSpPr txBox="1">
            <a:spLocks/>
          </p:cNvSpPr>
          <p:nvPr/>
        </p:nvSpPr>
        <p:spPr>
          <a:xfrm>
            <a:off x="514350" y="609600"/>
            <a:ext cx="8229600" cy="808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zh-CN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復</a:t>
            </a:r>
            <a:r>
              <a:rPr kumimoji="0" lang="zh-TW" altLang="zh-CN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評</a:t>
            </a:r>
            <a:r>
              <a:rPr kumimoji="0" lang="zh-CN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主管主要職掌</a:t>
            </a:r>
            <a:endParaRPr kumimoji="0"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71600"/>
            <a:ext cx="4876800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2292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 Box 68"/>
          <p:cNvSpPr txBox="1">
            <a:spLocks noChangeArrowheads="1"/>
          </p:cNvSpPr>
          <p:nvPr/>
        </p:nvSpPr>
        <p:spPr bwMode="auto">
          <a:xfrm>
            <a:off x="381000" y="5181600"/>
            <a:ext cx="121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注意點：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641350" y="5486400"/>
            <a:ext cx="7816850" cy="83026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1.  </a:t>
            </a:r>
            <a:r>
              <a:rPr lang="zh-CN" altLang="en-US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根據需要選擇語言</a:t>
            </a:r>
            <a:endParaRPr lang="en-US" altLang="zh-CN" sz="1200" b="1" dirty="0" smtClean="0"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2.</a:t>
            </a:r>
            <a:r>
              <a:rPr lang="zh-CN" altLang="en-US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 ‘用戶帳號’為員工工號，‘用戶密碼’同</a:t>
            </a:r>
            <a:r>
              <a:rPr lang="en-US" altLang="zh-CN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Workflow Portal</a:t>
            </a:r>
            <a:r>
              <a:rPr lang="zh-CN" altLang="en-US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和考勤系統；</a:t>
            </a:r>
            <a:endParaRPr lang="en-US" altLang="zh-CN" sz="1200" b="1" dirty="0" smtClean="0"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zh-CN" sz="1200" b="1" dirty="0" smtClean="0">
                <a:latin typeface="Arial" charset="0"/>
                <a:ea typeface="標楷體" pitchFamily="65" charset="-120"/>
              </a:rPr>
              <a:t>3.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  若用戶忘記密碼或想要聯係該系統相關負責人，請單擊‘</a:t>
            </a:r>
            <a:r>
              <a:rPr lang="zh-CN" alt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忘記密碼？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’、‘</a:t>
            </a:r>
            <a:r>
              <a:rPr lang="zh-CN" alt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聯係窗口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’、‘</a:t>
            </a:r>
            <a:r>
              <a:rPr lang="zh-CN" alt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幫助信息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’等按鈕；</a:t>
            </a:r>
            <a:endParaRPr lang="en-US" altLang="zh-TW" sz="1200" b="1" dirty="0" smtClean="0">
              <a:latin typeface="Arial" charset="0"/>
              <a:ea typeface="標楷體" pitchFamily="65" charset="-120"/>
            </a:endParaRPr>
          </a:p>
        </p:txBody>
      </p:sp>
      <p:sp>
        <p:nvSpPr>
          <p:cNvPr id="12295" name="矩形 63"/>
          <p:cNvSpPr>
            <a:spLocks noChangeArrowheads="1"/>
          </p:cNvSpPr>
          <p:nvPr/>
        </p:nvSpPr>
        <p:spPr bwMode="auto">
          <a:xfrm>
            <a:off x="3505200" y="1308100"/>
            <a:ext cx="2362200" cy="4445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r>
              <a:rPr lang="en-US" altLang="zh-TW">
                <a:solidFill>
                  <a:srgbClr val="FFFFFF"/>
                </a:solidFill>
              </a:rPr>
              <a:t>1.</a:t>
            </a: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2296" name="矩形 63"/>
          <p:cNvSpPr>
            <a:spLocks noChangeArrowheads="1"/>
          </p:cNvSpPr>
          <p:nvPr/>
        </p:nvSpPr>
        <p:spPr bwMode="auto">
          <a:xfrm>
            <a:off x="3222625" y="3074988"/>
            <a:ext cx="3178175" cy="887412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r>
              <a:rPr lang="en-US" altLang="zh-TW">
                <a:solidFill>
                  <a:srgbClr val="FFFFFF"/>
                </a:solidFill>
              </a:rPr>
              <a:t>2.</a:t>
            </a: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2297" name="矩形 63"/>
          <p:cNvSpPr>
            <a:spLocks noChangeArrowheads="1"/>
          </p:cNvSpPr>
          <p:nvPr/>
        </p:nvSpPr>
        <p:spPr bwMode="auto">
          <a:xfrm>
            <a:off x="3368675" y="4724400"/>
            <a:ext cx="3032125" cy="2921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/>
            <a:r>
              <a:rPr lang="en-US" altLang="zh-TW">
                <a:solidFill>
                  <a:srgbClr val="FFFFFF"/>
                </a:solidFill>
              </a:rPr>
              <a:t>3.</a:t>
            </a: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系統登陸界面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86000"/>
            <a:ext cx="1219200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3315" name="Picture 60" descr="png-173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68"/>
          <p:cNvSpPr txBox="1">
            <a:spLocks noChangeArrowheads="1"/>
          </p:cNvSpPr>
          <p:nvPr/>
        </p:nvSpPr>
        <p:spPr bwMode="auto">
          <a:xfrm>
            <a:off x="5486400" y="2447925"/>
            <a:ext cx="37338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dirty="0">
                <a:latin typeface="Arial" charset="0"/>
                <a:ea typeface="標楷體" pitchFamily="65" charset="-120"/>
              </a:rPr>
              <a:t>單擊登陸頁面中的‘</a:t>
            </a:r>
            <a:r>
              <a:rPr lang="zh-CN" altLang="en-US" sz="1600" b="1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</a:rPr>
              <a:t>忘記密碼？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’按鈕</a:t>
            </a:r>
            <a:endParaRPr lang="en-US" altLang="zh-TW" sz="1600" b="1" dirty="0">
              <a:latin typeface="Arial" charset="0"/>
              <a:ea typeface="標楷體" pitchFamily="65" charset="-120"/>
            </a:endParaRPr>
          </a:p>
        </p:txBody>
      </p:sp>
      <p:sp>
        <p:nvSpPr>
          <p:cNvPr id="13317" name="右箭头 8"/>
          <p:cNvSpPr>
            <a:spLocks noChangeArrowheads="1"/>
          </p:cNvSpPr>
          <p:nvPr/>
        </p:nvSpPr>
        <p:spPr bwMode="auto">
          <a:xfrm flipH="1">
            <a:off x="5257800" y="2541588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zh-TW" altLang="en-US"/>
          </a:p>
        </p:txBody>
      </p:sp>
      <p:sp>
        <p:nvSpPr>
          <p:cNvPr id="15" name="Text Box 68"/>
          <p:cNvSpPr txBox="1">
            <a:spLocks noChangeArrowheads="1"/>
          </p:cNvSpPr>
          <p:nvPr/>
        </p:nvSpPr>
        <p:spPr bwMode="auto">
          <a:xfrm>
            <a:off x="304800" y="3962400"/>
            <a:ext cx="1905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dirty="0">
                <a:latin typeface="Arial" charset="0"/>
                <a:ea typeface="標楷體" pitchFamily="65" charset="-120"/>
              </a:rPr>
              <a:t>單擊登陸頁面中的</a:t>
            </a:r>
            <a:endParaRPr lang="en-US" altLang="zh-CN" sz="1600" b="1" dirty="0">
              <a:latin typeface="Arial" charset="0"/>
              <a:ea typeface="標楷體" pitchFamily="65" charset="-12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dirty="0">
                <a:latin typeface="Arial" charset="0"/>
                <a:ea typeface="標楷體" pitchFamily="65" charset="-120"/>
              </a:rPr>
              <a:t>‘</a:t>
            </a:r>
            <a:r>
              <a:rPr lang="zh-CN" altLang="en-US" sz="1600" b="1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</a:rPr>
              <a:t>聯係窗口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’按鈕</a:t>
            </a:r>
            <a:endParaRPr lang="en-US" altLang="zh-TW" sz="1600" b="1" dirty="0">
              <a:latin typeface="Arial" charset="0"/>
              <a:ea typeface="標楷體" pitchFamily="65" charset="-120"/>
            </a:endParaRPr>
          </a:p>
        </p:txBody>
      </p:sp>
      <p:sp>
        <p:nvSpPr>
          <p:cNvPr id="13319" name="右箭头 10"/>
          <p:cNvSpPr>
            <a:spLocks noChangeArrowheads="1"/>
          </p:cNvSpPr>
          <p:nvPr/>
        </p:nvSpPr>
        <p:spPr bwMode="auto">
          <a:xfrm>
            <a:off x="1066800" y="4800600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zh-TW" altLang="en-US"/>
          </a:p>
        </p:txBody>
      </p:sp>
      <p:pic>
        <p:nvPicPr>
          <p:cNvPr id="13320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75"/>
          <a:stretch>
            <a:fillRect/>
          </a:stretch>
        </p:blipFill>
        <p:spPr bwMode="auto">
          <a:xfrm>
            <a:off x="2209800" y="3733800"/>
            <a:ext cx="3249613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92288"/>
            <a:ext cx="44227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忘記密碼的處理方法及聯係方式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2819400"/>
            <a:ext cx="3571875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450783"/>
            <a:ext cx="6887528" cy="3873817"/>
          </a:xfrm>
          <a:prstGeom prst="rect">
            <a:avLst/>
          </a:prstGeom>
        </p:spPr>
      </p:pic>
      <p:sp>
        <p:nvSpPr>
          <p:cNvPr id="15363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5364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68"/>
          <p:cNvSpPr txBox="1">
            <a:spLocks noChangeArrowheads="1"/>
          </p:cNvSpPr>
          <p:nvPr/>
        </p:nvSpPr>
        <p:spPr bwMode="auto">
          <a:xfrm>
            <a:off x="228600" y="1414462"/>
            <a:ext cx="2590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 dirty="0">
                <a:ea typeface="標楷體" panose="03000509000000000000" pitchFamily="65" charset="-120"/>
              </a:rPr>
              <a:t>進入審核頁面的方式：</a:t>
            </a:r>
            <a:endParaRPr kumimoji="0" lang="zh-TW" altLang="en-US" sz="1600" b="1" dirty="0">
              <a:ea typeface="標楷體" panose="03000509000000000000" pitchFamily="65" charset="-120"/>
            </a:endParaRPr>
          </a:p>
        </p:txBody>
      </p:sp>
      <p:sp>
        <p:nvSpPr>
          <p:cNvPr id="15366" name="Text Box 68"/>
          <p:cNvSpPr txBox="1">
            <a:spLocks noChangeArrowheads="1"/>
          </p:cNvSpPr>
          <p:nvPr/>
        </p:nvSpPr>
        <p:spPr bwMode="auto">
          <a:xfrm>
            <a:off x="762000" y="1752600"/>
            <a:ext cx="7391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 dirty="0">
                <a:ea typeface="標楷體" panose="03000509000000000000" pitchFamily="65" charset="-120"/>
              </a:rPr>
              <a:t>自評員工填寫完成並成功提交單據后，系統自動發送郵件通知審核主管，審核主管通過郵件通知鏈接直接登錄</a:t>
            </a:r>
            <a:r>
              <a:rPr kumimoji="0" lang="en-US" altLang="zh-CN" sz="1600" b="1" dirty="0">
                <a:ea typeface="標楷體" panose="03000509000000000000" pitchFamily="65" charset="-120"/>
              </a:rPr>
              <a:t>workflow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系統查看‘待辦任務’進行審核操作。</a:t>
            </a:r>
            <a:endParaRPr kumimoji="0" lang="zh-TW" altLang="en-US" sz="1600" b="1" dirty="0">
              <a:ea typeface="標楷體" panose="03000509000000000000" pitchFamily="65" charset="-120"/>
            </a:endParaRPr>
          </a:p>
        </p:txBody>
      </p:sp>
      <p:sp>
        <p:nvSpPr>
          <p:cNvPr id="15367" name="矩形 14"/>
          <p:cNvSpPr>
            <a:spLocks noChangeArrowheads="1"/>
          </p:cNvSpPr>
          <p:nvPr/>
        </p:nvSpPr>
        <p:spPr bwMode="auto">
          <a:xfrm>
            <a:off x="2285999" y="3629025"/>
            <a:ext cx="5572125" cy="304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主管審核頁面操作介紹 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61159"/>
            <a:ext cx="7058025" cy="4143375"/>
          </a:xfrm>
          <a:prstGeom prst="rect">
            <a:avLst/>
          </a:prstGeom>
        </p:spPr>
      </p:pic>
      <p:sp>
        <p:nvSpPr>
          <p:cNvPr id="14339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4340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 Box 68"/>
          <p:cNvSpPr txBox="1">
            <a:spLocks noChangeArrowheads="1"/>
          </p:cNvSpPr>
          <p:nvPr/>
        </p:nvSpPr>
        <p:spPr bwMode="auto">
          <a:xfrm>
            <a:off x="228600" y="5529263"/>
            <a:ext cx="8305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 dirty="0">
                <a:solidFill>
                  <a:srgbClr val="FF0000"/>
                </a:solidFill>
                <a:ea typeface="標楷體" panose="03000509000000000000" pitchFamily="65" charset="-120"/>
              </a:rPr>
              <a:t>*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  系統管理員角色有權限看到</a:t>
            </a:r>
            <a:r>
              <a:rPr kumimoji="0" lang="zh-CN" altLang="en-US" sz="1600" b="1" dirty="0">
                <a:solidFill>
                  <a:srgbClr val="FF0000"/>
                </a:solidFill>
                <a:ea typeface="標楷體" panose="03000509000000000000" pitchFamily="65" charset="-120"/>
              </a:rPr>
              <a:t>所有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菜單項；普通用戶角色只可以看到‘員工自</a:t>
            </a:r>
            <a:r>
              <a:rPr kumimoji="0" lang="zh-CN" altLang="en-US" sz="1600" b="1" dirty="0" smtClean="0">
                <a:ea typeface="標楷體" panose="03000509000000000000" pitchFamily="65" charset="-120"/>
              </a:rPr>
              <a:t>評’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。</a:t>
            </a:r>
            <a:endParaRPr kumimoji="0" lang="zh-TW" altLang="en-US" sz="1600" b="1" dirty="0">
              <a:ea typeface="標楷體" panose="03000509000000000000" pitchFamily="65" charset="-120"/>
            </a:endParaRPr>
          </a:p>
        </p:txBody>
      </p:sp>
      <p:sp>
        <p:nvSpPr>
          <p:cNvPr id="14342" name="Text Box 68"/>
          <p:cNvSpPr txBox="1">
            <a:spLocks noChangeArrowheads="1"/>
          </p:cNvSpPr>
          <p:nvPr/>
        </p:nvSpPr>
        <p:spPr bwMode="auto">
          <a:xfrm>
            <a:off x="228600" y="5867400"/>
            <a:ext cx="8915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 dirty="0">
                <a:solidFill>
                  <a:srgbClr val="FF0000"/>
                </a:solidFill>
                <a:ea typeface="標楷體" panose="03000509000000000000" pitchFamily="65" charset="-120"/>
              </a:rPr>
              <a:t>*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  </a:t>
            </a:r>
            <a:r>
              <a:rPr kumimoji="0" lang="zh-CN" altLang="en-US" sz="1600" b="1" u="sng" dirty="0">
                <a:ea typeface="標楷體" panose="03000509000000000000" pitchFamily="65" charset="-120"/>
              </a:rPr>
              <a:t>主管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登陸本系統</a:t>
            </a:r>
            <a:r>
              <a:rPr kumimoji="0" lang="zh-CN" altLang="en-US" sz="1600" b="1" dirty="0" smtClean="0">
                <a:ea typeface="標楷體" panose="03000509000000000000" pitchFamily="65" charset="-120"/>
              </a:rPr>
              <a:t>后可以看到為</a:t>
            </a:r>
            <a:r>
              <a:rPr kumimoji="0" lang="zh-CN" altLang="en-US" sz="1600" b="1" dirty="0">
                <a:ea typeface="標楷體" panose="03000509000000000000" pitchFamily="65" charset="-120"/>
              </a:rPr>
              <a:t>‘</a:t>
            </a:r>
            <a:r>
              <a:rPr kumimoji="0" lang="zh-CN" altLang="en-US" sz="1600" b="1" dirty="0">
                <a:solidFill>
                  <a:srgbClr val="FF0000"/>
                </a:solidFill>
                <a:ea typeface="標楷體" panose="03000509000000000000" pitchFamily="65" charset="-120"/>
              </a:rPr>
              <a:t>員工自</a:t>
            </a:r>
            <a:r>
              <a:rPr kumimoji="0" lang="zh-CN" altLang="en-US" sz="1600" b="1" dirty="0" smtClean="0">
                <a:solidFill>
                  <a:srgbClr val="FF0000"/>
                </a:solidFill>
                <a:ea typeface="標楷體" panose="03000509000000000000" pitchFamily="65" charset="-120"/>
              </a:rPr>
              <a:t>評</a:t>
            </a:r>
            <a:r>
              <a:rPr kumimoji="0" lang="zh-CN" altLang="en-US" sz="1600" dirty="0" smtClean="0">
                <a:ea typeface="標楷體" panose="03000509000000000000" pitchFamily="65" charset="-120"/>
              </a:rPr>
              <a:t>’</a:t>
            </a:r>
            <a:r>
              <a:rPr kumimoji="0" lang="zh-CN" altLang="en-US" sz="1600" b="1" dirty="0" smtClean="0">
                <a:ea typeface="標楷體" panose="03000509000000000000" pitchFamily="65" charset="-120"/>
              </a:rPr>
              <a:t>，和主管待簽核的單據。</a:t>
            </a:r>
            <a:endParaRPr kumimoji="0" lang="zh-TW" altLang="en-US" sz="1600" b="1" dirty="0">
              <a:ea typeface="標楷體" panose="03000509000000000000" pitchFamily="65" charset="-120"/>
            </a:endParaRPr>
          </a:p>
        </p:txBody>
      </p:sp>
      <p:sp>
        <p:nvSpPr>
          <p:cNvPr id="12" name="圆角矩形标注 12"/>
          <p:cNvSpPr/>
          <p:nvPr/>
        </p:nvSpPr>
        <p:spPr bwMode="auto">
          <a:xfrm>
            <a:off x="3124200" y="3974429"/>
            <a:ext cx="2590800" cy="1096963"/>
          </a:xfrm>
          <a:prstGeom prst="wedgeRoundRectCallout">
            <a:avLst>
              <a:gd name="adj1" fmla="val 70272"/>
              <a:gd name="adj2" fmla="val -65604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審核主管在此処可以看到所有待簽核的單據，單擊任務可以直接打開審核頁面（同</a:t>
            </a:r>
            <a:r>
              <a:rPr kumimoji="0" lang="en-US" altLang="zh-CN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workflow</a:t>
            </a: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系統相同）。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344" name="矩形 9"/>
          <p:cNvSpPr>
            <a:spLocks noChangeArrowheads="1"/>
          </p:cNvSpPr>
          <p:nvPr/>
        </p:nvSpPr>
        <p:spPr bwMode="auto">
          <a:xfrm>
            <a:off x="6172200" y="3385305"/>
            <a:ext cx="1943100" cy="589124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成功登陸系統后的首頁面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57400"/>
            <a:ext cx="6861175" cy="422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6388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68"/>
          <p:cNvSpPr txBox="1">
            <a:spLocks noChangeArrowheads="1"/>
          </p:cNvSpPr>
          <p:nvPr/>
        </p:nvSpPr>
        <p:spPr bwMode="auto">
          <a:xfrm>
            <a:off x="152400" y="1431925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b="1">
                <a:ea typeface="標楷體" panose="03000509000000000000" pitchFamily="65" charset="-120"/>
              </a:rPr>
              <a:t>初評主管審核頁面：</a:t>
            </a:r>
            <a:endParaRPr kumimoji="0" lang="zh-TW" altLang="en-US" sz="2000" b="1">
              <a:ea typeface="標楷體" panose="03000509000000000000" pitchFamily="65" charset="-120"/>
            </a:endParaRPr>
          </a:p>
        </p:txBody>
      </p:sp>
      <p:sp>
        <p:nvSpPr>
          <p:cNvPr id="16390" name="矩形 10"/>
          <p:cNvSpPr>
            <a:spLocks noChangeArrowheads="1"/>
          </p:cNvSpPr>
          <p:nvPr/>
        </p:nvSpPr>
        <p:spPr bwMode="auto">
          <a:xfrm>
            <a:off x="1066800" y="4191000"/>
            <a:ext cx="6861175" cy="209391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0" name="圆角矩形标注 12"/>
          <p:cNvSpPr/>
          <p:nvPr/>
        </p:nvSpPr>
        <p:spPr bwMode="auto">
          <a:xfrm>
            <a:off x="7391400" y="3124200"/>
            <a:ext cx="1600200" cy="609600"/>
          </a:xfrm>
          <a:prstGeom prst="wedgeRoundRectCallout">
            <a:avLst>
              <a:gd name="adj1" fmla="val -59775"/>
              <a:gd name="adj2" fmla="val 122717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顯示當前考核導入統計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392" name="矩形 10"/>
          <p:cNvSpPr>
            <a:spLocks noChangeArrowheads="1"/>
          </p:cNvSpPr>
          <p:nvPr/>
        </p:nvSpPr>
        <p:spPr bwMode="auto">
          <a:xfrm>
            <a:off x="1095375" y="2628900"/>
            <a:ext cx="1066800" cy="3810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初評主管審核頁面操作介紹（一）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0"/>
            <a:ext cx="8763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2068513"/>
            <a:ext cx="797877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7412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68"/>
          <p:cNvSpPr txBox="1">
            <a:spLocks noChangeArrowheads="1"/>
          </p:cNvSpPr>
          <p:nvPr/>
        </p:nvSpPr>
        <p:spPr bwMode="auto">
          <a:xfrm>
            <a:off x="152400" y="1508125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b="1">
                <a:ea typeface="標楷體" panose="03000509000000000000" pitchFamily="65" charset="-120"/>
              </a:rPr>
              <a:t>初評主管審核頁面：</a:t>
            </a:r>
            <a:endParaRPr kumimoji="0" lang="zh-TW" altLang="en-US" sz="2000" b="1">
              <a:ea typeface="標楷體" panose="03000509000000000000" pitchFamily="65" charset="-120"/>
            </a:endParaRPr>
          </a:p>
        </p:txBody>
      </p:sp>
      <p:sp>
        <p:nvSpPr>
          <p:cNvPr id="17414" name="矩形 10"/>
          <p:cNvSpPr>
            <a:spLocks noChangeArrowheads="1"/>
          </p:cNvSpPr>
          <p:nvPr/>
        </p:nvSpPr>
        <p:spPr bwMode="auto">
          <a:xfrm>
            <a:off x="7543800" y="3821113"/>
            <a:ext cx="457200" cy="12080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3" name="圆角矩形标注 12"/>
          <p:cNvSpPr/>
          <p:nvPr/>
        </p:nvSpPr>
        <p:spPr bwMode="auto">
          <a:xfrm>
            <a:off x="4800600" y="5307013"/>
            <a:ext cx="2743200" cy="381000"/>
          </a:xfrm>
          <a:prstGeom prst="wedgeRoundRectCallout">
            <a:avLst>
              <a:gd name="adj1" fmla="val 49947"/>
              <a:gd name="adj2" fmla="val -149505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點擊進入直屬主管考核評分頁面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416" name="矩形 9"/>
          <p:cNvSpPr>
            <a:spLocks noChangeArrowheads="1"/>
          </p:cNvSpPr>
          <p:nvPr/>
        </p:nvSpPr>
        <p:spPr bwMode="auto">
          <a:xfrm>
            <a:off x="457200" y="2362200"/>
            <a:ext cx="8077200" cy="9906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7417" name="矩形 9"/>
          <p:cNvSpPr>
            <a:spLocks noChangeArrowheads="1"/>
          </p:cNvSpPr>
          <p:nvPr/>
        </p:nvSpPr>
        <p:spPr bwMode="auto">
          <a:xfrm>
            <a:off x="506413" y="3048000"/>
            <a:ext cx="1474787" cy="304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1" name="圆角矩形标注 11"/>
          <p:cNvSpPr/>
          <p:nvPr/>
        </p:nvSpPr>
        <p:spPr bwMode="auto">
          <a:xfrm>
            <a:off x="76200" y="3922713"/>
            <a:ext cx="1600200" cy="609600"/>
          </a:xfrm>
          <a:prstGeom prst="wedgeRoundRectCallout">
            <a:avLst>
              <a:gd name="adj1" fmla="val 59620"/>
              <a:gd name="adj2" fmla="val -140778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員級員工可以由此匯總導入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（二）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742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133600"/>
            <a:ext cx="1028700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1752600"/>
            <a:ext cx="7634287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8436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68"/>
          <p:cNvSpPr txBox="1">
            <a:spLocks noChangeArrowheads="1"/>
          </p:cNvSpPr>
          <p:nvPr/>
        </p:nvSpPr>
        <p:spPr bwMode="auto">
          <a:xfrm>
            <a:off x="152400" y="1185863"/>
            <a:ext cx="5562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‘考核員工明細’中具體某位員工的“執行簽核”操作界面：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18438" name="矩形 63"/>
          <p:cNvSpPr>
            <a:spLocks noChangeArrowheads="1"/>
          </p:cNvSpPr>
          <p:nvPr/>
        </p:nvSpPr>
        <p:spPr bwMode="auto">
          <a:xfrm>
            <a:off x="7620000" y="2933700"/>
            <a:ext cx="762000" cy="17907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8439" name="圆角矩形标注 12"/>
          <p:cNvSpPr>
            <a:spLocks noChangeArrowheads="1"/>
          </p:cNvSpPr>
          <p:nvPr/>
        </p:nvSpPr>
        <p:spPr bwMode="auto">
          <a:xfrm>
            <a:off x="5181600" y="2924175"/>
            <a:ext cx="1981200" cy="533400"/>
          </a:xfrm>
          <a:prstGeom prst="wedgeRoundRectCallout">
            <a:avLst>
              <a:gd name="adj1" fmla="val 71634"/>
              <a:gd name="adj2" fmla="val 61907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直屬主管在此処填寫對該員工的具體評分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（三）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7573963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9460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68"/>
          <p:cNvSpPr txBox="1">
            <a:spLocks noChangeArrowheads="1"/>
          </p:cNvSpPr>
          <p:nvPr/>
        </p:nvSpPr>
        <p:spPr bwMode="auto">
          <a:xfrm>
            <a:off x="152400" y="1185863"/>
            <a:ext cx="5562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‘考核員工明細’中具體某位員工的“執行簽核”操作界面：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19462" name="矩形 63"/>
          <p:cNvSpPr>
            <a:spLocks noChangeArrowheads="1"/>
          </p:cNvSpPr>
          <p:nvPr/>
        </p:nvSpPr>
        <p:spPr bwMode="auto">
          <a:xfrm>
            <a:off x="7620000" y="2438400"/>
            <a:ext cx="762000" cy="31242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1" name="圆角矩形标注 10"/>
          <p:cNvSpPr/>
          <p:nvPr/>
        </p:nvSpPr>
        <p:spPr bwMode="auto">
          <a:xfrm>
            <a:off x="5467350" y="2649538"/>
            <a:ext cx="1828800" cy="990600"/>
          </a:xfrm>
          <a:prstGeom prst="wedgeRoundRectCallout">
            <a:avLst>
              <a:gd name="adj1" fmla="val 67124"/>
              <a:gd name="adj2" fmla="val 7221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直屬主管在此処填寫對該員工“個性與責任心</a:t>
            </a:r>
            <a:r>
              <a:rPr kumimoji="0" lang="en-US" altLang="zh-CN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潛能”的評分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（四）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01813"/>
            <a:ext cx="7580313" cy="429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0484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68"/>
          <p:cNvSpPr txBox="1">
            <a:spLocks noChangeArrowheads="1"/>
          </p:cNvSpPr>
          <p:nvPr/>
        </p:nvSpPr>
        <p:spPr bwMode="auto">
          <a:xfrm>
            <a:off x="152400" y="1219200"/>
            <a:ext cx="899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初評主管填寫年度績效總結：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20486" name="矩形 63"/>
          <p:cNvSpPr>
            <a:spLocks noChangeArrowheads="1"/>
          </p:cNvSpPr>
          <p:nvPr/>
        </p:nvSpPr>
        <p:spPr bwMode="auto">
          <a:xfrm>
            <a:off x="7124700" y="2286000"/>
            <a:ext cx="876300" cy="10080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0" name="圆角矩形标注 12"/>
          <p:cNvSpPr/>
          <p:nvPr/>
        </p:nvSpPr>
        <p:spPr bwMode="auto">
          <a:xfrm>
            <a:off x="1752600" y="2362200"/>
            <a:ext cx="1828800" cy="838200"/>
          </a:xfrm>
          <a:prstGeom prst="wedgeRoundRectCallout">
            <a:avLst>
              <a:gd name="adj1" fmla="val 55145"/>
              <a:gd name="adj2" fmla="val 74026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zh-CN" altLang="en-US" sz="1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員工可以查看到初評主管的評語</a:t>
            </a:r>
            <a:endParaRPr kumimoji="0" lang="zh-TW" altLang="en-US" sz="1400" b="1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488" name="矩形 63"/>
          <p:cNvSpPr>
            <a:spLocks noChangeArrowheads="1"/>
          </p:cNvSpPr>
          <p:nvPr/>
        </p:nvSpPr>
        <p:spPr bwMode="auto">
          <a:xfrm>
            <a:off x="838200" y="5135563"/>
            <a:ext cx="7504113" cy="5032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2" name="圆角矩形标注 12"/>
          <p:cNvSpPr/>
          <p:nvPr/>
        </p:nvSpPr>
        <p:spPr bwMode="auto">
          <a:xfrm>
            <a:off x="609600" y="5853113"/>
            <a:ext cx="2647950" cy="573087"/>
          </a:xfrm>
          <a:prstGeom prst="wedgeRoundRectCallout">
            <a:avLst>
              <a:gd name="adj1" fmla="val 43294"/>
              <a:gd name="adj2" fmla="val -85340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根據主管各項評分自動得到相應的總分及績效點擊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圆角矩形标注 12"/>
          <p:cNvSpPr/>
          <p:nvPr/>
        </p:nvSpPr>
        <p:spPr bwMode="auto">
          <a:xfrm>
            <a:off x="4419600" y="1874838"/>
            <a:ext cx="1828800" cy="914400"/>
          </a:xfrm>
          <a:prstGeom prst="wedgeRoundRectCallout">
            <a:avLst>
              <a:gd name="adj1" fmla="val 89519"/>
              <a:gd name="adj2" fmla="val -2915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zh-CN" altLang="en-US" sz="1400" b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根據主管各項評分自動得到相應的總分及績效等級</a:t>
            </a:r>
          </a:p>
        </p:txBody>
      </p:sp>
      <p:sp>
        <p:nvSpPr>
          <p:cNvPr id="20491" name="矩形 63"/>
          <p:cNvSpPr>
            <a:spLocks noChangeArrowheads="1"/>
          </p:cNvSpPr>
          <p:nvPr/>
        </p:nvSpPr>
        <p:spPr bwMode="auto">
          <a:xfrm>
            <a:off x="1590675" y="3429000"/>
            <a:ext cx="6791325" cy="4873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8" name="圆角矩形标注 12"/>
          <p:cNvSpPr/>
          <p:nvPr/>
        </p:nvSpPr>
        <p:spPr bwMode="auto">
          <a:xfrm>
            <a:off x="6019800" y="5845175"/>
            <a:ext cx="2057400" cy="554038"/>
          </a:xfrm>
          <a:prstGeom prst="wedgeRoundRectCallout">
            <a:avLst>
              <a:gd name="adj1" fmla="val -38721"/>
              <a:gd name="adj2" fmla="val -82019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考核員工不能查看該區域以及得分評級。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（五）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5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1507" name="Picture 60" descr="png-173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68"/>
          <p:cNvSpPr txBox="1">
            <a:spLocks noChangeArrowheads="1"/>
          </p:cNvSpPr>
          <p:nvPr/>
        </p:nvSpPr>
        <p:spPr bwMode="auto">
          <a:xfrm>
            <a:off x="457200" y="1260475"/>
            <a:ext cx="8991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人才九宮格：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pic>
        <p:nvPicPr>
          <p:cNvPr id="21509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6073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矩形 63"/>
          <p:cNvSpPr>
            <a:spLocks noChangeArrowheads="1"/>
          </p:cNvSpPr>
          <p:nvPr/>
        </p:nvSpPr>
        <p:spPr bwMode="auto">
          <a:xfrm>
            <a:off x="2057400" y="3276600"/>
            <a:ext cx="3810000" cy="12192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8" name="圆角矩形标注 12"/>
          <p:cNvSpPr/>
          <p:nvPr/>
        </p:nvSpPr>
        <p:spPr bwMode="auto">
          <a:xfrm>
            <a:off x="457200" y="2895600"/>
            <a:ext cx="1447800" cy="609600"/>
          </a:xfrm>
          <a:prstGeom prst="wedgeRoundRectCallout">
            <a:avLst>
              <a:gd name="adj1" fmla="val 56706"/>
              <a:gd name="adj2" fmla="val 85627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zh-CN" altLang="en-US" sz="14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評核人才所處九宮格的位置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（六）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33563"/>
            <a:ext cx="7786688" cy="426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5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2532" name="Picture 60" descr="png-173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 Box 68"/>
          <p:cNvSpPr txBox="1">
            <a:spLocks noChangeArrowheads="1"/>
          </p:cNvSpPr>
          <p:nvPr/>
        </p:nvSpPr>
        <p:spPr bwMode="auto">
          <a:xfrm>
            <a:off x="152400" y="1143000"/>
            <a:ext cx="7162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600" b="1">
                <a:ea typeface="標楷體" panose="03000509000000000000" pitchFamily="65" charset="-120"/>
              </a:rPr>
              <a:t>初評主管審核</a:t>
            </a:r>
            <a:r>
              <a:rPr kumimoji="0" lang="en-US" altLang="zh-CN" sz="1600" b="1">
                <a:ea typeface="標楷體" panose="03000509000000000000" pitchFamily="65" charset="-120"/>
              </a:rPr>
              <a:t>: </a:t>
            </a:r>
            <a:r>
              <a:rPr kumimoji="0" lang="zh-CN" altLang="en-US" sz="1600" b="1">
                <a:ea typeface="標楷體" panose="03000509000000000000" pitchFamily="65" charset="-120"/>
              </a:rPr>
              <a:t>員工</a:t>
            </a:r>
            <a:r>
              <a:rPr kumimoji="0" lang="zh-TW" altLang="en-US" sz="1600" b="1">
                <a:ea typeface="標楷體" panose="03000509000000000000" pitchFamily="65" charset="-120"/>
              </a:rPr>
              <a:t>下年度主要工作項目</a:t>
            </a:r>
            <a:r>
              <a:rPr kumimoji="0" lang="en-US" altLang="zh-TW" sz="1600" b="1">
                <a:ea typeface="標楷體" panose="03000509000000000000" pitchFamily="65" charset="-120"/>
              </a:rPr>
              <a:t>KPI</a:t>
            </a:r>
            <a:r>
              <a:rPr kumimoji="0" lang="zh-TW" altLang="en-US" sz="1600" b="1">
                <a:ea typeface="標楷體" panose="03000509000000000000" pitchFamily="65" charset="-120"/>
              </a:rPr>
              <a:t>與行動計劃</a:t>
            </a:r>
          </a:p>
        </p:txBody>
      </p:sp>
      <p:sp>
        <p:nvSpPr>
          <p:cNvPr id="22534" name="矩形 18"/>
          <p:cNvSpPr>
            <a:spLocks noChangeArrowheads="1"/>
          </p:cNvSpPr>
          <p:nvPr/>
        </p:nvSpPr>
        <p:spPr bwMode="auto">
          <a:xfrm>
            <a:off x="1524000" y="4191000"/>
            <a:ext cx="6858000" cy="1066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3" name="圆角矩形标注 16"/>
          <p:cNvSpPr/>
          <p:nvPr/>
        </p:nvSpPr>
        <p:spPr bwMode="auto">
          <a:xfrm>
            <a:off x="5181600" y="3551238"/>
            <a:ext cx="1600200" cy="379412"/>
          </a:xfrm>
          <a:prstGeom prst="wedgeRoundRectCallout">
            <a:avLst>
              <a:gd name="adj1" fmla="val -48516"/>
              <a:gd name="adj2" fmla="val 115546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查看員工</a:t>
            </a:r>
            <a:r>
              <a:rPr kumimoji="0" lang="en-US" altLang="zh-CN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KPI</a:t>
            </a: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指標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初評主管審核頁面操作介紹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（七）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006725"/>
            <a:ext cx="4205288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3352800"/>
            <a:ext cx="5181600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 Box 5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3557" name="Picture 60" descr="png-173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Text Box 68"/>
          <p:cNvSpPr txBox="1">
            <a:spLocks noChangeArrowheads="1"/>
          </p:cNvSpPr>
          <p:nvPr/>
        </p:nvSpPr>
        <p:spPr bwMode="auto">
          <a:xfrm>
            <a:off x="923925" y="1395413"/>
            <a:ext cx="69342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600" b="1">
                <a:ea typeface="標楷體" panose="03000509000000000000" pitchFamily="65" charset="-120"/>
              </a:rPr>
              <a:t>*</a:t>
            </a:r>
            <a:r>
              <a:rPr kumimoji="0" lang="zh-CN" altLang="en-US" sz="1600" b="1">
                <a:ea typeface="標楷體" panose="03000509000000000000" pitchFamily="65" charset="-120"/>
              </a:rPr>
              <a:t>直屬主管考核評分后提交，需要進行合評的員工就會發起合評的簽核流程；合評主管會收到合評郵件；</a:t>
            </a:r>
            <a:endParaRPr kumimoji="0" lang="en-US" altLang="zh-CN" sz="1600" b="1"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en-US" altLang="zh-CN" sz="1600" b="1">
                <a:ea typeface="標楷體" panose="03000509000000000000" pitchFamily="65" charset="-120"/>
              </a:rPr>
              <a:t>*</a:t>
            </a:r>
            <a:r>
              <a:rPr kumimoji="0" lang="zh-CN" altLang="en-US" sz="1600" b="1">
                <a:ea typeface="標楷體" panose="03000509000000000000" pitchFamily="65" charset="-120"/>
              </a:rPr>
              <a:t>合評主管登陸考核系統或在</a:t>
            </a:r>
            <a:r>
              <a:rPr kumimoji="0" lang="en-US" altLang="zh-CN" sz="1600" b="1">
                <a:ea typeface="標楷體" panose="03000509000000000000" pitchFamily="65" charset="-120"/>
              </a:rPr>
              <a:t>WORKFLOW</a:t>
            </a:r>
            <a:r>
              <a:rPr kumimoji="0" lang="zh-CN" altLang="en-US" sz="1600" b="1">
                <a:ea typeface="標楷體" panose="03000509000000000000" pitchFamily="65" charset="-120"/>
              </a:rPr>
              <a:t>系統的待辦任務就會看到需要合評的單子。</a:t>
            </a:r>
            <a:endParaRPr kumimoji="0" lang="en-US" altLang="zh-CN" sz="1600" b="1"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zh-TW" altLang="en-US" sz="1600" b="1">
                <a:ea typeface="標楷體" panose="03000509000000000000" pitchFamily="65" charset="-120"/>
              </a:rPr>
              <a:t>*</a:t>
            </a:r>
            <a:r>
              <a:rPr kumimoji="0" lang="zh-CN" altLang="en-US" sz="1600" b="1">
                <a:ea typeface="標楷體" panose="03000509000000000000" pitchFamily="65" charset="-120"/>
              </a:rPr>
              <a:t>合評主管點擊就可以進入合評頁面。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23559" name="矩形 6"/>
          <p:cNvSpPr>
            <a:spLocks noChangeArrowheads="1"/>
          </p:cNvSpPr>
          <p:nvPr/>
        </p:nvSpPr>
        <p:spPr bwMode="auto">
          <a:xfrm>
            <a:off x="1600200" y="4876800"/>
            <a:ext cx="914400" cy="1524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3560" name="圆角矩形标注 9"/>
          <p:cNvSpPr>
            <a:spLocks noChangeArrowheads="1"/>
          </p:cNvSpPr>
          <p:nvPr/>
        </p:nvSpPr>
        <p:spPr bwMode="auto">
          <a:xfrm>
            <a:off x="2438400" y="4038600"/>
            <a:ext cx="1676400" cy="609600"/>
          </a:xfrm>
          <a:prstGeom prst="wedgeRoundRectCallout">
            <a:avLst>
              <a:gd name="adj1" fmla="val -69741"/>
              <a:gd name="adj2" fmla="val 87875"/>
              <a:gd name="adj3" fmla="val 16667"/>
            </a:avLst>
          </a:prstGeom>
          <a:solidFill>
            <a:srgbClr val="F2F2F2">
              <a:alpha val="89018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考核系統：點擊進入合評頁面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561" name="矩形 6"/>
          <p:cNvSpPr>
            <a:spLocks noChangeArrowheads="1"/>
          </p:cNvSpPr>
          <p:nvPr/>
        </p:nvSpPr>
        <p:spPr bwMode="auto">
          <a:xfrm>
            <a:off x="6242050" y="4213225"/>
            <a:ext cx="914400" cy="2286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3562" name="圆角矩形标注 9"/>
          <p:cNvSpPr>
            <a:spLocks noChangeArrowheads="1"/>
          </p:cNvSpPr>
          <p:nvPr/>
        </p:nvSpPr>
        <p:spPr bwMode="auto">
          <a:xfrm>
            <a:off x="6553200" y="3290888"/>
            <a:ext cx="1676400" cy="609600"/>
          </a:xfrm>
          <a:prstGeom prst="wedgeRoundRectCallout">
            <a:avLst>
              <a:gd name="adj1" fmla="val -55537"/>
              <a:gd name="adj2" fmla="val 101935"/>
              <a:gd name="adj3" fmla="val 16667"/>
            </a:avLst>
          </a:prstGeom>
          <a:solidFill>
            <a:srgbClr val="F2F2F2">
              <a:alpha val="89018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CN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WORKFLOW</a:t>
            </a:r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系統：點擊進入合評頁面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zh-CN" altLang="en-US" sz="3600" smtClean="0">
                <a:latin typeface="標楷體" panose="03000509000000000000" pitchFamily="65" charset="-120"/>
                <a:ea typeface="標楷體" panose="03000509000000000000" pitchFamily="65" charset="-120"/>
              </a:rPr>
              <a:t>合評主管的審核操作介紹（一）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3564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3429000"/>
            <a:ext cx="590550" cy="12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7763"/>
            <a:ext cx="7307263" cy="390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4244975"/>
            <a:ext cx="643255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5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4581" name="Picture 60" descr="png-173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809625"/>
            <a:ext cx="7543800" cy="487363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合評主管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的審核操作介紹</a:t>
            </a: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（二）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583" name="Text Box 68"/>
          <p:cNvSpPr txBox="1">
            <a:spLocks noChangeArrowheads="1"/>
          </p:cNvSpPr>
          <p:nvPr/>
        </p:nvSpPr>
        <p:spPr bwMode="auto">
          <a:xfrm>
            <a:off x="838200" y="1401763"/>
            <a:ext cx="6407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600" b="1">
                <a:ea typeface="標楷體" panose="03000509000000000000" pitchFamily="65" charset="-120"/>
              </a:rPr>
              <a:t>*</a:t>
            </a:r>
            <a:r>
              <a:rPr kumimoji="0" lang="zh-CN" altLang="en-US" sz="1600" b="1">
                <a:ea typeface="標楷體" panose="03000509000000000000" pitchFamily="65" charset="-120"/>
              </a:rPr>
              <a:t>會評主管會收到會評郵件；</a:t>
            </a:r>
            <a:endParaRPr kumimoji="0" lang="en-US" altLang="zh-CN" sz="1600" b="1"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zh-TW" altLang="en-US" sz="1600" b="1">
                <a:ea typeface="標楷體" panose="03000509000000000000" pitchFamily="65" charset="-120"/>
              </a:rPr>
              <a:t>*</a:t>
            </a:r>
            <a:r>
              <a:rPr kumimoji="0" lang="zh-CN" altLang="en-US" sz="1600" b="1">
                <a:ea typeface="標楷體" panose="03000509000000000000" pitchFamily="65" charset="-120"/>
              </a:rPr>
              <a:t>會評主管點擊就可以進入會評頁面。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24584" name="矩形 63"/>
          <p:cNvSpPr>
            <a:spLocks noChangeArrowheads="1"/>
          </p:cNvSpPr>
          <p:nvPr/>
        </p:nvSpPr>
        <p:spPr bwMode="auto">
          <a:xfrm>
            <a:off x="2971800" y="5486400"/>
            <a:ext cx="1295400" cy="8382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12" name="圆角矩形标注 12"/>
          <p:cNvSpPr/>
          <p:nvPr/>
        </p:nvSpPr>
        <p:spPr bwMode="auto">
          <a:xfrm>
            <a:off x="5715000" y="2949575"/>
            <a:ext cx="1828800" cy="609600"/>
          </a:xfrm>
          <a:prstGeom prst="wedgeRoundRectCallout">
            <a:avLst>
              <a:gd name="adj1" fmla="val 68165"/>
              <a:gd name="adj2" fmla="val 141355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會評主管點擊任務進入會評考核評分</a:t>
            </a:r>
            <a:endParaRPr kumimoji="0"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4586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514600"/>
            <a:ext cx="8763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343400"/>
            <a:ext cx="8763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1644650"/>
            <a:ext cx="565785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725" y="2743200"/>
            <a:ext cx="5618163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 Box 5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5605" name="Picture 60" descr="png-173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68"/>
          <p:cNvSpPr txBox="1">
            <a:spLocks noChangeArrowheads="1"/>
          </p:cNvSpPr>
          <p:nvPr/>
        </p:nvSpPr>
        <p:spPr bwMode="auto">
          <a:xfrm>
            <a:off x="609600" y="1301750"/>
            <a:ext cx="419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主管審核頁面：‘考核統計信息’介紹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25607" name="矩形 9"/>
          <p:cNvSpPr>
            <a:spLocks noChangeArrowheads="1"/>
          </p:cNvSpPr>
          <p:nvPr/>
        </p:nvSpPr>
        <p:spPr bwMode="auto">
          <a:xfrm>
            <a:off x="457200" y="2362200"/>
            <a:ext cx="5486400" cy="3810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5608" name="圆角矩形标注 10"/>
          <p:cNvSpPr>
            <a:spLocks noChangeArrowheads="1"/>
          </p:cNvSpPr>
          <p:nvPr/>
        </p:nvSpPr>
        <p:spPr bwMode="auto">
          <a:xfrm>
            <a:off x="5972175" y="1828800"/>
            <a:ext cx="1143000" cy="304800"/>
          </a:xfrm>
          <a:prstGeom prst="wedgeRoundRectCallout">
            <a:avLst>
              <a:gd name="adj1" fmla="val -59227"/>
              <a:gd name="adj2" fmla="val 123435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頁面說明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圆角矩形标注 15"/>
          <p:cNvSpPr/>
          <p:nvPr/>
        </p:nvSpPr>
        <p:spPr bwMode="auto">
          <a:xfrm>
            <a:off x="6588125" y="3071813"/>
            <a:ext cx="2133600" cy="1447800"/>
          </a:xfrm>
          <a:prstGeom prst="wedgeRoundRectCallout">
            <a:avLst>
              <a:gd name="adj1" fmla="val -79980"/>
              <a:gd name="adj2" fmla="val 51653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0" lang="zh-CN" altLang="en-US" sz="1400" b="1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此頁面顯示的為該主管所負責的整個部門的數據統計比例；各子部門的管控比例信息請切換到‘考核部門明細’頁面中查看</a:t>
            </a:r>
            <a:endParaRPr kumimoji="0" lang="zh-TW" altLang="en-US" sz="1400" b="1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弧形向右箭號 3"/>
          <p:cNvSpPr/>
          <p:nvPr/>
        </p:nvSpPr>
        <p:spPr>
          <a:xfrm rot="19716623">
            <a:off x="1884363" y="4410075"/>
            <a:ext cx="727075" cy="1695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復評主管審核頁面操作介紹（一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5612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0"/>
            <a:ext cx="8763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7932738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6628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矩形 7"/>
          <p:cNvSpPr>
            <a:spLocks noChangeArrowheads="1"/>
          </p:cNvSpPr>
          <p:nvPr/>
        </p:nvSpPr>
        <p:spPr bwMode="auto">
          <a:xfrm>
            <a:off x="7162800" y="3657600"/>
            <a:ext cx="609600" cy="304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6630" name="圆角矩形标注 10"/>
          <p:cNvSpPr>
            <a:spLocks noChangeArrowheads="1"/>
          </p:cNvSpPr>
          <p:nvPr/>
        </p:nvSpPr>
        <p:spPr bwMode="auto">
          <a:xfrm>
            <a:off x="5200650" y="4408488"/>
            <a:ext cx="2438400" cy="1219200"/>
          </a:xfrm>
          <a:prstGeom prst="wedgeRoundRectCallout">
            <a:avLst>
              <a:gd name="adj1" fmla="val 34310"/>
              <a:gd name="adj2" fmla="val -86329"/>
              <a:gd name="adj3" fmla="val 16667"/>
            </a:avLst>
          </a:prstGeom>
          <a:solidFill>
            <a:schemeClr val="bg1">
              <a:alpha val="83136"/>
            </a:scheme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若該部門的考核結果有不妥需要前一審核主管重新確認，則單擊此“退回”按鈕，流程返回到前一主管的待辦任務中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復評主管審核頁面操作介紹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（二）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632" name="Text Box 68"/>
          <p:cNvSpPr txBox="1">
            <a:spLocks noChangeArrowheads="1"/>
          </p:cNvSpPr>
          <p:nvPr/>
        </p:nvSpPr>
        <p:spPr bwMode="auto">
          <a:xfrm>
            <a:off x="609600" y="1301750"/>
            <a:ext cx="419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主管審核頁面：‘考核統計信息’介紹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0"/>
            <a:ext cx="10668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1751013"/>
            <a:ext cx="7940675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7652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矩形 6"/>
          <p:cNvSpPr>
            <a:spLocks noChangeArrowheads="1"/>
          </p:cNvSpPr>
          <p:nvPr/>
        </p:nvSpPr>
        <p:spPr bwMode="auto">
          <a:xfrm>
            <a:off x="7586663" y="3495675"/>
            <a:ext cx="304800" cy="4572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7654" name="圆角矩形标注 7"/>
          <p:cNvSpPr>
            <a:spLocks noChangeArrowheads="1"/>
          </p:cNvSpPr>
          <p:nvPr/>
        </p:nvSpPr>
        <p:spPr bwMode="auto">
          <a:xfrm>
            <a:off x="1219200" y="2940050"/>
            <a:ext cx="2286000" cy="1066800"/>
          </a:xfrm>
          <a:prstGeom prst="wedgeRoundRectCallout">
            <a:avLst>
              <a:gd name="adj1" fmla="val -50069"/>
              <a:gd name="adj2" fmla="val -99296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只有‘考核員工明細’中列出的所有人員都“執行簽核”后，單擊該“提交簽核”按鈕才能提交成功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655" name="圆角矩形标注 7"/>
          <p:cNvSpPr>
            <a:spLocks noChangeArrowheads="1"/>
          </p:cNvSpPr>
          <p:nvPr/>
        </p:nvSpPr>
        <p:spPr bwMode="auto">
          <a:xfrm>
            <a:off x="5829300" y="2970213"/>
            <a:ext cx="1762125" cy="331787"/>
          </a:xfrm>
          <a:prstGeom prst="wedgeRoundRectCallout">
            <a:avLst>
              <a:gd name="adj1" fmla="val 48366"/>
              <a:gd name="adj2" fmla="val 155435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執行直屬員工考核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656" name="矩形 6"/>
          <p:cNvSpPr>
            <a:spLocks noChangeArrowheads="1"/>
          </p:cNvSpPr>
          <p:nvPr/>
        </p:nvSpPr>
        <p:spPr bwMode="auto">
          <a:xfrm>
            <a:off x="7853363" y="4532313"/>
            <a:ext cx="681037" cy="16398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kumimoji="0" lang="zh-TW" altLang="zh-TW"/>
          </a:p>
        </p:txBody>
      </p:sp>
      <p:sp>
        <p:nvSpPr>
          <p:cNvPr id="27657" name="圆角矩形标注 7"/>
          <p:cNvSpPr>
            <a:spLocks noChangeArrowheads="1"/>
          </p:cNvSpPr>
          <p:nvPr/>
        </p:nvSpPr>
        <p:spPr bwMode="auto">
          <a:xfrm>
            <a:off x="5786438" y="4357688"/>
            <a:ext cx="1762125" cy="762000"/>
          </a:xfrm>
          <a:prstGeom prst="wedgeRoundRectCallout">
            <a:avLst>
              <a:gd name="adj1" fmla="val 66204"/>
              <a:gd name="adj2" fmla="val 134185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可以瀏覽下級員工考核情況，分數</a:t>
            </a:r>
            <a:r>
              <a:rPr kumimoji="0" lang="en-US" altLang="zh-CN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等級可以直接修改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復評主管審核頁面操作介紹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659" name="Text Box 68"/>
          <p:cNvSpPr txBox="1">
            <a:spLocks noChangeArrowheads="1"/>
          </p:cNvSpPr>
          <p:nvPr/>
        </p:nvSpPr>
        <p:spPr bwMode="auto">
          <a:xfrm>
            <a:off x="609600" y="1301750"/>
            <a:ext cx="419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主管審核頁面：‘考核統計信息’介紹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pic>
        <p:nvPicPr>
          <p:cNvPr id="2766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828800"/>
            <a:ext cx="10509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914525"/>
            <a:ext cx="4953000" cy="377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5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8676" name="Picture 60" descr="png-173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圆角矩形标注 12"/>
          <p:cNvSpPr>
            <a:spLocks noChangeArrowheads="1"/>
          </p:cNvSpPr>
          <p:nvPr/>
        </p:nvSpPr>
        <p:spPr bwMode="auto">
          <a:xfrm>
            <a:off x="2667000" y="2824163"/>
            <a:ext cx="1752600" cy="685800"/>
          </a:xfrm>
          <a:prstGeom prst="wedgeRoundRectCallout">
            <a:avLst>
              <a:gd name="adj1" fmla="val -8148"/>
              <a:gd name="adj2" fmla="val 70514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復評主管修改考評等級；</a:t>
            </a:r>
            <a:endParaRPr kumimoji="0"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678" name="Text Box 68"/>
          <p:cNvSpPr txBox="1">
            <a:spLocks noChangeArrowheads="1"/>
          </p:cNvSpPr>
          <p:nvPr/>
        </p:nvSpPr>
        <p:spPr bwMode="auto">
          <a:xfrm>
            <a:off x="457200" y="5834063"/>
            <a:ext cx="419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600" b="1">
                <a:ea typeface="標楷體" panose="03000509000000000000" pitchFamily="65" charset="-120"/>
              </a:rPr>
              <a:t>*</a:t>
            </a:r>
            <a:r>
              <a:rPr kumimoji="0" lang="zh-CN" altLang="en-US" sz="1600" b="1">
                <a:ea typeface="標楷體" panose="03000509000000000000" pitchFamily="65" charset="-120"/>
              </a:rPr>
              <a:t>復評主管修改績效分數，等級帶出。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復評主管審核頁面操作介紹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（四）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680" name="Text Box 68"/>
          <p:cNvSpPr txBox="1">
            <a:spLocks noChangeArrowheads="1"/>
          </p:cNvSpPr>
          <p:nvPr/>
        </p:nvSpPr>
        <p:spPr bwMode="auto">
          <a:xfrm>
            <a:off x="609600" y="1301750"/>
            <a:ext cx="419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600" b="1">
                <a:ea typeface="標楷體" panose="03000509000000000000" pitchFamily="65" charset="-120"/>
              </a:rPr>
              <a:t>復評主管修改績效等級：</a:t>
            </a:r>
            <a:endParaRPr kumimoji="0" lang="zh-TW" altLang="en-US" sz="1600" b="1"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5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29699" name="Picture 60" descr="png-173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685800" y="1708150"/>
            <a:ext cx="7696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注意事項</a:t>
            </a:r>
            <a:r>
              <a:rPr kumimoji="0"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：主管考核評分</a:t>
            </a:r>
            <a:endParaRPr kumimoji="0" lang="en-GB" altLang="zh-TW" sz="2000" b="1" u="sng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kumimoji="0"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初評主管直接進入員工自評頁面進行考核評分；</a:t>
            </a:r>
            <a:endParaRPr kumimoji="0"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kumimoji="0"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複評主管可以對初評主管的評分做一定範圍內的修正；但評等比例一般不能超出本次考核的比例管控標準。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685800" y="34290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注意事項</a:t>
            </a:r>
            <a:r>
              <a:rPr kumimoji="0"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kumimoji="0"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KPI</a:t>
            </a:r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審核 </a:t>
            </a:r>
            <a:endParaRPr kumimoji="0" lang="en-GB" altLang="zh-TW" sz="2000" b="1" u="sng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kumimoji="0"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主管審核時可以退回員工修改。</a:t>
            </a:r>
          </a:p>
        </p:txBody>
      </p:sp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685800" y="4540250"/>
            <a:ext cx="7772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注意事項</a:t>
            </a:r>
            <a:r>
              <a:rPr kumimoji="0"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0"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：主管提交</a:t>
            </a:r>
            <a:endParaRPr kumimoji="0" lang="en-GB" altLang="zh-TW" sz="2000" b="1" u="sng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kumimoji="0"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主管自評后直接提交到上級主管評核；</a:t>
            </a:r>
            <a:endParaRPr kumimoji="0"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kumimoji="0"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主管部門員工考核提交：主管必須給所有員工評核后才能向上一級主管提交，且評核等級符合本次考核的比例管控。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7200" y="809625"/>
            <a:ext cx="7543800" cy="48736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主管操作</a:t>
            </a:r>
            <a:r>
              <a:rPr lang="zh-CN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注意事項</a:t>
            </a:r>
            <a:endParaRPr kumimoji="0" lang="zh-CN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3" name="WordArt 5"/>
          <p:cNvSpPr>
            <a:spLocks noChangeArrowheads="1" noChangeShapeType="1" noTextEdit="1"/>
          </p:cNvSpPr>
          <p:nvPr/>
        </p:nvSpPr>
        <p:spPr bwMode="gray">
          <a:xfrm>
            <a:off x="2286000" y="2438400"/>
            <a:ext cx="4953000" cy="1143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 smtClean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2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謝謝！</a:t>
            </a:r>
            <a:endParaRPr lang="zh-TW" altLang="en-US" sz="36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hlink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53882" dir="2700000" algn="ctr" rotWithShape="0">
                  <a:schemeClr val="tx2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30724" name="Text Box 8"/>
          <p:cNvSpPr txBox="1">
            <a:spLocks noChangeArrowheads="1"/>
          </p:cNvSpPr>
          <p:nvPr/>
        </p:nvSpPr>
        <p:spPr bwMode="auto">
          <a:xfrm>
            <a:off x="0" y="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sz="4000" b="1">
                <a:solidFill>
                  <a:srgbClr val="D1DBEB"/>
                </a:solidFill>
                <a:latin typeface="Verdana" panose="020B0604030504040204" pitchFamily="34" charset="0"/>
                <a:ea typeface="SimSun" panose="02010600030101010101" pitchFamily="2" charset="-122"/>
              </a:rPr>
              <a:t>FIH</a:t>
            </a:r>
          </a:p>
        </p:txBody>
      </p:sp>
      <p:sp>
        <p:nvSpPr>
          <p:cNvPr id="30727" name="Text Box 12"/>
          <p:cNvSpPr txBox="1">
            <a:spLocks noChangeArrowheads="1"/>
          </p:cNvSpPr>
          <p:nvPr/>
        </p:nvSpPr>
        <p:spPr bwMode="auto">
          <a:xfrm>
            <a:off x="2590800" y="6400800"/>
            <a:ext cx="464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TW" sz="1600" b="1">
                <a:solidFill>
                  <a:schemeClr val="bg1"/>
                </a:solidFill>
              </a:rPr>
              <a:t>http://ehr.efih-foxconn.com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animBg="1"/>
    </p:bld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1406</TotalTime>
  <Words>1227</Words>
  <Application>Microsoft Office PowerPoint</Application>
  <PresentationFormat>如螢幕大小 (4:3)</PresentationFormat>
  <Paragraphs>131</Paragraphs>
  <Slides>23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4" baseType="lpstr">
      <vt:lpstr>SimHei</vt:lpstr>
      <vt:lpstr>SimSun</vt:lpstr>
      <vt:lpstr>SimSun</vt:lpstr>
      <vt:lpstr>新細明體</vt:lpstr>
      <vt:lpstr>標楷體</vt:lpstr>
      <vt:lpstr>Arial</vt:lpstr>
      <vt:lpstr>Calibri</vt:lpstr>
      <vt:lpstr>Calibri Light</vt:lpstr>
      <vt:lpstr>Verdana</vt:lpstr>
      <vt:lpstr>Wingdings</vt:lpstr>
      <vt:lpstr>回顧</vt:lpstr>
      <vt:lpstr>FIH 績效考核系統</vt:lpstr>
      <vt:lpstr>導航目錄</vt:lpstr>
      <vt:lpstr>初評主管主要職掌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合評主管的審核操作介紹（二）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段會峰</dc:creator>
  <cp:lastModifiedBy>Peak</cp:lastModifiedBy>
  <cp:revision>51</cp:revision>
  <cp:lastPrinted>1601-01-01T00:00:00Z</cp:lastPrinted>
  <dcterms:created xsi:type="dcterms:W3CDTF">1601-01-01T00:00:00Z</dcterms:created>
  <dcterms:modified xsi:type="dcterms:W3CDTF">2017-09-28T01:48:01Z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