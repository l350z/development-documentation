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0" r:id="rId3"/>
    <p:sldId id="284" r:id="rId4"/>
    <p:sldId id="285" r:id="rId5"/>
    <p:sldId id="286" r:id="rId6"/>
    <p:sldId id="287" r:id="rId7"/>
    <p:sldId id="288" r:id="rId8"/>
    <p:sldId id="289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6009656A-E5EB-46F4-AA08-F5396B40A7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582D88B-9BC1-4861-ABFD-BFACA1AA67AB}"/>
              </a:ext>
            </a:extLst>
          </p:cNvPr>
          <p:cNvSpPr/>
          <p:nvPr userDrawn="1"/>
        </p:nvSpPr>
        <p:spPr>
          <a:xfrm>
            <a:off x="0" y="0"/>
            <a:ext cx="12192000" cy="6854097"/>
          </a:xfrm>
          <a:prstGeom prst="rect">
            <a:avLst/>
          </a:prstGeom>
          <a:gradFill flip="none" rotWithShape="1">
            <a:gsLst>
              <a:gs pos="10000">
                <a:srgbClr val="00B0F0"/>
              </a:gs>
              <a:gs pos="97000">
                <a:srgbClr val="00B0F0">
                  <a:alpha val="32000"/>
                </a:srgbClr>
              </a:gs>
              <a:gs pos="53000">
                <a:srgbClr val="00B0F0">
                  <a:alpha val="35244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TW" altLang="en-US" dirty="0">
              <a:solidFill>
                <a:schemeClr val="lt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82D88B-9BC1-4861-ABFD-BFACA1AA67AB}"/>
              </a:ext>
            </a:extLst>
          </p:cNvPr>
          <p:cNvSpPr/>
          <p:nvPr userDrawn="1"/>
        </p:nvSpPr>
        <p:spPr>
          <a:xfrm>
            <a:off x="0" y="7544"/>
            <a:ext cx="12192000" cy="6854097"/>
          </a:xfrm>
          <a:prstGeom prst="rect">
            <a:avLst/>
          </a:prstGeom>
          <a:gradFill flip="none" rotWithShape="1">
            <a:gsLst>
              <a:gs pos="10000">
                <a:srgbClr val="00B0F0"/>
              </a:gs>
              <a:gs pos="97000">
                <a:srgbClr val="00B0F0">
                  <a:alpha val="32000"/>
                </a:srgbClr>
              </a:gs>
              <a:gs pos="53000">
                <a:srgbClr val="00B0F0">
                  <a:alpha val="35244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TW" altLang="en-US" dirty="0">
              <a:solidFill>
                <a:schemeClr val="lt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D374EE8-15F5-4F97-94AC-7AF94063B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CDB9AA6-A913-40E0-8C15-121160514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0046AF-F40E-4FAB-B29B-92E506A16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CF0C0E-6B98-4695-BED5-4462A880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1ABB26-F84E-49BC-8524-883AB25B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60438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7C84AF-E12D-4EB0-B899-AB16F65C0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4D4632-6A1B-4C3A-A116-C03F766B2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8BA739-6DF0-4378-90DF-219F5440F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91185D-D217-4D4E-B106-FFF004467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165B9E-0CC3-4E7D-B5A9-67B8DB2CE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7317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F53F1-EEE9-4425-8375-321A1455F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3C6BAF-264F-4127-B96D-2AC983371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2BBB55-CDD2-4873-96A2-D73D1E08C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14D7A0-FBC6-4B2C-AC0C-1E4287C2B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A4401D-F1F1-4DBD-BEC2-39577E06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915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2F4205-E757-4003-8AF2-F5E795813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D2BFC9-B9AB-4C1F-BADA-926D8DDE97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281120-A684-4120-8EC3-BC537AEC7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8780E37-70B5-4F96-B8E2-0F797C7C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47DC0A8-8034-4EBF-BD3B-8AF0AD10A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59FF2CB-9F1D-41F2-9D79-689DF23A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390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493D47-79CA-482A-B633-E4D3C1BFC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B4D22E-EC8F-44CE-BAA7-2C33819DE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88AC06E-E164-4B9A-8697-DD228DB83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D5E96F9-6992-45E5-8BA6-7730E8295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04D96F9-6EFC-421E-A590-B4B660AF1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EA2B1BF-6C6A-4B7A-A6F0-195095E45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5C5B7C0-D7D2-4612-A64F-FDCE01B14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FD1F7E1-76AE-4068-856D-45706530E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927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8B469B-BD17-4014-944F-7ACCE1DB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5492D55-18E0-446E-A85F-5B8E7228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8154EF9-8F3E-468C-B58A-93021F450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39DCAC3-0959-40AF-BC83-AADFA2154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761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DA9F5DD-589D-4F30-AB54-AAC3C17C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EAA1546-D8A7-42A9-8BC7-631B0729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C8496C-0BC3-4CAB-A358-52CBF42C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7935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19BA89-3483-4232-8C4A-36D53223F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A45C6C-7023-48EE-8396-B450D8152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B21617E-EA42-4A52-B298-A9CB8620C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CBA319D-6C72-49FD-9155-549C0EFE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13D8B25-06E7-489C-A52A-07E742697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3A66DC-A29B-4CCF-A17C-18785711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869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90FFFA-0A23-4B5E-B591-28FDDD386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A007C38-9D98-4FEC-829E-7057BA999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9B4F06-9ADF-4F42-8C2E-9D7FAE64F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344181-78EA-44E2-AA9A-6881CC39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6B8DE2-93C0-47DC-BB49-F9EB0CCB8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4C194B-C4D5-4066-B91E-B56004BAF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516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48341-A46C-448A-9AFF-BD1D694DA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1BB5E81-0255-430C-9036-9E822D086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9BCACD-32BB-4889-9BF3-ED53F419D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39D26D-515E-4A9C-B0DE-167E9019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8EDA0C-6BC9-467C-83A1-59800EF5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2662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951F503-8487-4504-BDC8-C4D4EF29B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905C6A8-3749-41C3-9629-6164D642D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E013A4-B8DC-4B83-80B9-4777B3BF8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4220F71-A36B-46AE-A2EE-FCF3E990A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9E130E-ECB7-4F03-B01C-F16C9B24E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026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138FC0E-39C3-4BFF-ABBA-E4AD88840E1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DD118DA-0FC3-4F4C-9F17-F6AC79A3D5AB}"/>
              </a:ext>
            </a:extLst>
          </p:cNvPr>
          <p:cNvSpPr/>
          <p:nvPr userDrawn="1"/>
        </p:nvSpPr>
        <p:spPr>
          <a:xfrm>
            <a:off x="3883" y="0"/>
            <a:ext cx="12192001" cy="6858000"/>
          </a:xfrm>
          <a:prstGeom prst="rect">
            <a:avLst/>
          </a:prstGeom>
          <a:gradFill flip="none" rotWithShape="1">
            <a:gsLst>
              <a:gs pos="99000">
                <a:srgbClr val="0090D8">
                  <a:alpha val="72000"/>
                </a:srgbClr>
              </a:gs>
              <a:gs pos="0">
                <a:srgbClr val="00B0F0">
                  <a:alpha val="84865"/>
                </a:srgbClr>
              </a:gs>
              <a:gs pos="77000">
                <a:srgbClr val="00A0E4">
                  <a:alpha val="48715"/>
                </a:srgbClr>
              </a:gs>
              <a:gs pos="60000">
                <a:srgbClr val="00B0F0">
                  <a:alpha val="48183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2468556-6A6B-47E8-BE0B-6F1A1FFE3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31ADA1-3355-4031-BCF2-08711BAFA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62186E-A19A-4BE0-B980-11D6AE5A7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3D0BAC-772E-4B3E-8FF1-762143732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D77483-EB23-4482-ACFB-8E2A1E5BE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D2C5D-E9A5-41C5-B913-C49F4405EED6}" type="slidenum">
              <a:rPr lang="zh-TW" altLang="en-US" smtClean="0"/>
              <a:pPr/>
              <a:t>‹#›</a:t>
            </a:fld>
            <a:r>
              <a:rPr lang="en-US" altLang="zh-TW" dirty="0" smtClean="0"/>
              <a:t>10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0876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CFC32F0E-5BF3-4EF1-A455-7ABB87DD0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229" y="2525915"/>
            <a:ext cx="8325653" cy="88759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TW" dirty="0" smtClean="0"/>
              <a:t>FIH </a:t>
            </a:r>
            <a:r>
              <a:rPr lang="zh-CN" altLang="en-US" dirty="0" smtClean="0"/>
              <a:t>知識管理系統介紹</a:t>
            </a:r>
            <a:endParaRPr lang="zh-TW" altLang="en-US" dirty="0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8D98E41F-42A7-4440-988F-A60706BC1616}"/>
              </a:ext>
            </a:extLst>
          </p:cNvPr>
          <p:cNvSpPr txBox="1">
            <a:spLocks/>
          </p:cNvSpPr>
          <p:nvPr/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100" b="1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</a:t>
            </a:fld>
            <a:r>
              <a:rPr lang="en-US" altLang="zh-TW" dirty="0"/>
              <a:t> / </a:t>
            </a:r>
            <a:r>
              <a:rPr lang="en-US" altLang="zh-TW" dirty="0" smtClean="0"/>
              <a:t>5</a:t>
            </a:r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10B807E-2FFD-4AB8-9CA0-1300B6743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2E68926-7908-47C3-A44E-4C7AF77CC308}"/>
              </a:ext>
            </a:extLst>
          </p:cNvPr>
          <p:cNvSpPr/>
          <p:nvPr/>
        </p:nvSpPr>
        <p:spPr>
          <a:xfrm>
            <a:off x="335360" y="6564257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富智康集團有限公司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E8028DB-8A77-4625-90D5-C007C59EF199}"/>
              </a:ext>
            </a:extLst>
          </p:cNvPr>
          <p:cNvSpPr txBox="1"/>
          <p:nvPr/>
        </p:nvSpPr>
        <p:spPr>
          <a:xfrm>
            <a:off x="1028418" y="3947800"/>
            <a:ext cx="443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WenChen</a:t>
            </a:r>
            <a:endParaRPr lang="zh-TW" altLang="en-US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78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C14A556-87BD-4F2F-AA94-644288F4F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03" y="143010"/>
            <a:ext cx="2600539" cy="614771"/>
          </a:xfrm>
          <a:prstGeom prst="rect">
            <a:avLst/>
          </a:prstGeom>
        </p:spPr>
        <p:txBody>
          <a:bodyPr anchor="t">
            <a:normAutofit fontScale="90000"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-US" altLang="zh-TW" dirty="0" smtClean="0"/>
              <a:t>2. </a:t>
            </a:r>
            <a:endParaRPr lang="zh-TW" altLang="en-US" dirty="0"/>
          </a:p>
        </p:txBody>
      </p:sp>
      <p:sp>
        <p:nvSpPr>
          <p:cNvPr id="16" name="Holder 6">
            <a:extLst>
              <a:ext uri="{FF2B5EF4-FFF2-40B4-BE49-F238E27FC236}">
                <a16:creationId xmlns:a16="http://schemas.microsoft.com/office/drawing/2014/main" id="{8D98E41F-42A7-4440-988F-A60706BC1616}"/>
              </a:ext>
            </a:extLst>
          </p:cNvPr>
          <p:cNvSpPr txBox="1">
            <a:spLocks/>
          </p:cNvSpPr>
          <p:nvPr/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100" b="1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2</a:t>
            </a:fld>
            <a:r>
              <a:rPr lang="en-US" altLang="zh-TW" dirty="0"/>
              <a:t> / </a:t>
            </a:r>
            <a:r>
              <a:rPr lang="en-US" altLang="zh-TW" dirty="0" smtClean="0"/>
              <a:t>5</a:t>
            </a:r>
            <a:endParaRPr lang="en-US" altLang="zh-TW" dirty="0"/>
          </a:p>
        </p:txBody>
      </p:sp>
      <p:sp>
        <p:nvSpPr>
          <p:cNvPr id="4" name="任意多边形 111"/>
          <p:cNvSpPr>
            <a:spLocks/>
          </p:cNvSpPr>
          <p:nvPr/>
        </p:nvSpPr>
        <p:spPr bwMode="auto">
          <a:xfrm rot="20300013">
            <a:off x="5292725" y="6192838"/>
            <a:ext cx="3878263" cy="630237"/>
          </a:xfrm>
          <a:custGeom>
            <a:avLst/>
            <a:gdLst>
              <a:gd name="T0" fmla="*/ 3877060 w 3877060"/>
              <a:gd name="T1" fmla="*/ 0 h 696658"/>
              <a:gd name="T2" fmla="*/ 3877060 w 3877060"/>
              <a:gd name="T3" fmla="*/ 696658 h 696658"/>
              <a:gd name="T4" fmla="*/ 1753615 w 3877060"/>
              <a:gd name="T5" fmla="*/ 696658 h 696658"/>
              <a:gd name="T6" fmla="*/ 0 w 3877060"/>
              <a:gd name="T7" fmla="*/ 0 h 696658"/>
              <a:gd name="T8" fmla="*/ 0 w 3877060"/>
              <a:gd name="T9" fmla="*/ 0 h 696658"/>
              <a:gd name="T10" fmla="*/ 3877060 w 3877060"/>
              <a:gd name="T11" fmla="*/ 696658 h 696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3877060" h="696658">
                <a:moveTo>
                  <a:pt x="3877060" y="0"/>
                </a:moveTo>
                <a:lnTo>
                  <a:pt x="3877060" y="696658"/>
                </a:lnTo>
                <a:lnTo>
                  <a:pt x="1753615" y="69665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6" name="组合 112"/>
          <p:cNvGrpSpPr>
            <a:grpSpLocks/>
          </p:cNvGrpSpPr>
          <p:nvPr/>
        </p:nvGrpSpPr>
        <p:grpSpPr bwMode="auto">
          <a:xfrm>
            <a:off x="3270250" y="2667453"/>
            <a:ext cx="5768975" cy="1122363"/>
            <a:chOff x="0" y="0"/>
            <a:chExt cx="5770322" cy="1121542"/>
          </a:xfrm>
          <a:solidFill>
            <a:schemeClr val="bg1">
              <a:lumMod val="65000"/>
            </a:schemeClr>
          </a:solidFill>
        </p:grpSpPr>
        <p:sp>
          <p:nvSpPr>
            <p:cNvPr id="7" name="任意多边形 113"/>
            <p:cNvSpPr>
              <a:spLocks/>
            </p:cNvSpPr>
            <p:nvPr/>
          </p:nvSpPr>
          <p:spPr bwMode="auto">
            <a:xfrm rot="21420000">
              <a:off x="0" y="9517"/>
              <a:ext cx="5434943" cy="1112025"/>
            </a:xfrm>
            <a:custGeom>
              <a:avLst/>
              <a:gdLst>
                <a:gd name="T0" fmla="*/ 5434943 w 5434943"/>
                <a:gd name="T1" fmla="*/ 0 h 1112025"/>
                <a:gd name="T2" fmla="*/ 2056877 w 5434943"/>
                <a:gd name="T3" fmla="*/ 1112025 h 1112025"/>
                <a:gd name="T4" fmla="*/ 0 w 5434943"/>
                <a:gd name="T5" fmla="*/ 1112025 h 1112025"/>
                <a:gd name="T6" fmla="*/ 0 w 5434943"/>
                <a:gd name="T7" fmla="*/ 754453 h 1112025"/>
                <a:gd name="T8" fmla="*/ 2291847 w 5434943"/>
                <a:gd name="T9" fmla="*/ 0 h 1112025"/>
                <a:gd name="T10" fmla="*/ 0 w 5434943"/>
                <a:gd name="T11" fmla="*/ 0 h 1112025"/>
                <a:gd name="T12" fmla="*/ 5434943 w 5434943"/>
                <a:gd name="T13" fmla="*/ 1112025 h 1112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434943" h="1112025">
                  <a:moveTo>
                    <a:pt x="5434943" y="0"/>
                  </a:moveTo>
                  <a:lnTo>
                    <a:pt x="2056877" y="1112025"/>
                  </a:lnTo>
                  <a:lnTo>
                    <a:pt x="0" y="1112025"/>
                  </a:lnTo>
                  <a:lnTo>
                    <a:pt x="0" y="754453"/>
                  </a:lnTo>
                  <a:lnTo>
                    <a:pt x="229184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" name="任意多边形 114"/>
            <p:cNvSpPr>
              <a:spLocks/>
            </p:cNvSpPr>
            <p:nvPr/>
          </p:nvSpPr>
          <p:spPr bwMode="auto">
            <a:xfrm rot="21420000">
              <a:off x="336822" y="0"/>
              <a:ext cx="5433500" cy="1112025"/>
            </a:xfrm>
            <a:custGeom>
              <a:avLst/>
              <a:gdLst>
                <a:gd name="T0" fmla="*/ 5433500 w 5433500"/>
                <a:gd name="T1" fmla="*/ 0 h 1112025"/>
                <a:gd name="T2" fmla="*/ 5433500 w 5433500"/>
                <a:gd name="T3" fmla="*/ 358047 h 1112025"/>
                <a:gd name="T4" fmla="*/ 3143096 w 5433500"/>
                <a:gd name="T5" fmla="*/ 1112025 h 1112025"/>
                <a:gd name="T6" fmla="*/ 0 w 5433500"/>
                <a:gd name="T7" fmla="*/ 1112025 h 1112025"/>
                <a:gd name="T8" fmla="*/ 3378066 w 5433500"/>
                <a:gd name="T9" fmla="*/ 0 h 1112025"/>
                <a:gd name="T10" fmla="*/ 0 w 5433500"/>
                <a:gd name="T11" fmla="*/ 0 h 1112025"/>
                <a:gd name="T12" fmla="*/ 5433500 w 5433500"/>
                <a:gd name="T13" fmla="*/ 1112025 h 1112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433500" h="1112025">
                  <a:moveTo>
                    <a:pt x="5433500" y="0"/>
                  </a:moveTo>
                  <a:lnTo>
                    <a:pt x="5433500" y="358047"/>
                  </a:lnTo>
                  <a:lnTo>
                    <a:pt x="3143096" y="1112025"/>
                  </a:lnTo>
                  <a:lnTo>
                    <a:pt x="0" y="1112025"/>
                  </a:lnTo>
                  <a:lnTo>
                    <a:pt x="33780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9" name="组合 115"/>
          <p:cNvGrpSpPr>
            <a:grpSpLocks/>
          </p:cNvGrpSpPr>
          <p:nvPr/>
        </p:nvGrpSpPr>
        <p:grpSpPr bwMode="auto">
          <a:xfrm>
            <a:off x="3328988" y="3743778"/>
            <a:ext cx="5770562" cy="1120775"/>
            <a:chOff x="0" y="0"/>
            <a:chExt cx="5770322" cy="1121542"/>
          </a:xfrm>
          <a:solidFill>
            <a:schemeClr val="bg1">
              <a:lumMod val="65000"/>
            </a:schemeClr>
          </a:solidFill>
        </p:grpSpPr>
        <p:sp>
          <p:nvSpPr>
            <p:cNvPr id="10" name="任意多边形 116"/>
            <p:cNvSpPr>
              <a:spLocks/>
            </p:cNvSpPr>
            <p:nvPr/>
          </p:nvSpPr>
          <p:spPr bwMode="auto">
            <a:xfrm rot="21420000">
              <a:off x="0" y="9517"/>
              <a:ext cx="5434943" cy="1112025"/>
            </a:xfrm>
            <a:custGeom>
              <a:avLst/>
              <a:gdLst>
                <a:gd name="T0" fmla="*/ 5434943 w 5434943"/>
                <a:gd name="T1" fmla="*/ 0 h 1112025"/>
                <a:gd name="T2" fmla="*/ 2056877 w 5434943"/>
                <a:gd name="T3" fmla="*/ 1112025 h 1112025"/>
                <a:gd name="T4" fmla="*/ 0 w 5434943"/>
                <a:gd name="T5" fmla="*/ 1112025 h 1112025"/>
                <a:gd name="T6" fmla="*/ 0 w 5434943"/>
                <a:gd name="T7" fmla="*/ 754453 h 1112025"/>
                <a:gd name="T8" fmla="*/ 2291847 w 5434943"/>
                <a:gd name="T9" fmla="*/ 0 h 1112025"/>
                <a:gd name="T10" fmla="*/ 0 w 5434943"/>
                <a:gd name="T11" fmla="*/ 0 h 1112025"/>
                <a:gd name="T12" fmla="*/ 5434943 w 5434943"/>
                <a:gd name="T13" fmla="*/ 1112025 h 1112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434943" h="1112025">
                  <a:moveTo>
                    <a:pt x="5434943" y="0"/>
                  </a:moveTo>
                  <a:lnTo>
                    <a:pt x="2056877" y="1112025"/>
                  </a:lnTo>
                  <a:lnTo>
                    <a:pt x="0" y="1112025"/>
                  </a:lnTo>
                  <a:lnTo>
                    <a:pt x="0" y="754453"/>
                  </a:lnTo>
                  <a:lnTo>
                    <a:pt x="229184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任意多边形 117"/>
            <p:cNvSpPr>
              <a:spLocks/>
            </p:cNvSpPr>
            <p:nvPr/>
          </p:nvSpPr>
          <p:spPr bwMode="auto">
            <a:xfrm rot="21420000">
              <a:off x="336822" y="0"/>
              <a:ext cx="5433500" cy="1112025"/>
            </a:xfrm>
            <a:custGeom>
              <a:avLst/>
              <a:gdLst>
                <a:gd name="T0" fmla="*/ 5433500 w 5433500"/>
                <a:gd name="T1" fmla="*/ 0 h 1112025"/>
                <a:gd name="T2" fmla="*/ 5433500 w 5433500"/>
                <a:gd name="T3" fmla="*/ 358047 h 1112025"/>
                <a:gd name="T4" fmla="*/ 3143096 w 5433500"/>
                <a:gd name="T5" fmla="*/ 1112025 h 1112025"/>
                <a:gd name="T6" fmla="*/ 0 w 5433500"/>
                <a:gd name="T7" fmla="*/ 1112025 h 1112025"/>
                <a:gd name="T8" fmla="*/ 3378066 w 5433500"/>
                <a:gd name="T9" fmla="*/ 0 h 1112025"/>
                <a:gd name="T10" fmla="*/ 0 w 5433500"/>
                <a:gd name="T11" fmla="*/ 0 h 1112025"/>
                <a:gd name="T12" fmla="*/ 5433500 w 5433500"/>
                <a:gd name="T13" fmla="*/ 1112025 h 1112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433500" h="1112025">
                  <a:moveTo>
                    <a:pt x="5433500" y="0"/>
                  </a:moveTo>
                  <a:lnTo>
                    <a:pt x="5433500" y="358047"/>
                  </a:lnTo>
                  <a:lnTo>
                    <a:pt x="3143096" y="1112025"/>
                  </a:lnTo>
                  <a:lnTo>
                    <a:pt x="0" y="1112025"/>
                  </a:lnTo>
                  <a:lnTo>
                    <a:pt x="33780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2" name="组合 118"/>
          <p:cNvGrpSpPr>
            <a:grpSpLocks/>
          </p:cNvGrpSpPr>
          <p:nvPr/>
        </p:nvGrpSpPr>
        <p:grpSpPr bwMode="auto">
          <a:xfrm>
            <a:off x="3378200" y="4804228"/>
            <a:ext cx="5770563" cy="1136650"/>
            <a:chOff x="0" y="0"/>
            <a:chExt cx="5770322" cy="1136374"/>
          </a:xfrm>
          <a:solidFill>
            <a:schemeClr val="bg1">
              <a:lumMod val="65000"/>
            </a:schemeClr>
          </a:solidFill>
        </p:grpSpPr>
        <p:sp>
          <p:nvSpPr>
            <p:cNvPr id="13" name="任意多边形 119"/>
            <p:cNvSpPr>
              <a:spLocks/>
            </p:cNvSpPr>
            <p:nvPr/>
          </p:nvSpPr>
          <p:spPr bwMode="auto">
            <a:xfrm rot="21420000">
              <a:off x="0" y="0"/>
              <a:ext cx="5434943" cy="1112025"/>
            </a:xfrm>
            <a:custGeom>
              <a:avLst/>
              <a:gdLst>
                <a:gd name="T0" fmla="*/ 5434943 w 5434943"/>
                <a:gd name="T1" fmla="*/ 0 h 1112025"/>
                <a:gd name="T2" fmla="*/ 2056877 w 5434943"/>
                <a:gd name="T3" fmla="*/ 1112025 h 1112025"/>
                <a:gd name="T4" fmla="*/ 0 w 5434943"/>
                <a:gd name="T5" fmla="*/ 1112025 h 1112025"/>
                <a:gd name="T6" fmla="*/ 0 w 5434943"/>
                <a:gd name="T7" fmla="*/ 754453 h 1112025"/>
                <a:gd name="T8" fmla="*/ 2291847 w 5434943"/>
                <a:gd name="T9" fmla="*/ 0 h 1112025"/>
                <a:gd name="T10" fmla="*/ 0 w 5434943"/>
                <a:gd name="T11" fmla="*/ 0 h 1112025"/>
                <a:gd name="T12" fmla="*/ 5434943 w 5434943"/>
                <a:gd name="T13" fmla="*/ 1112025 h 1112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434943" h="1112025">
                  <a:moveTo>
                    <a:pt x="5434943" y="0"/>
                  </a:moveTo>
                  <a:lnTo>
                    <a:pt x="2056877" y="1112025"/>
                  </a:lnTo>
                  <a:lnTo>
                    <a:pt x="0" y="1112025"/>
                  </a:lnTo>
                  <a:lnTo>
                    <a:pt x="0" y="754453"/>
                  </a:lnTo>
                  <a:lnTo>
                    <a:pt x="229184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4" name="任意多边形 120"/>
            <p:cNvSpPr>
              <a:spLocks/>
            </p:cNvSpPr>
            <p:nvPr/>
          </p:nvSpPr>
          <p:spPr bwMode="auto">
            <a:xfrm rot="21420000">
              <a:off x="336822" y="24349"/>
              <a:ext cx="5433500" cy="1112025"/>
            </a:xfrm>
            <a:custGeom>
              <a:avLst/>
              <a:gdLst>
                <a:gd name="T0" fmla="*/ 5433500 w 5433500"/>
                <a:gd name="T1" fmla="*/ 0 h 1112025"/>
                <a:gd name="T2" fmla="*/ 5433500 w 5433500"/>
                <a:gd name="T3" fmla="*/ 358047 h 1112025"/>
                <a:gd name="T4" fmla="*/ 3143096 w 5433500"/>
                <a:gd name="T5" fmla="*/ 1112025 h 1112025"/>
                <a:gd name="T6" fmla="*/ 0 w 5433500"/>
                <a:gd name="T7" fmla="*/ 1112025 h 1112025"/>
                <a:gd name="T8" fmla="*/ 3378066 w 5433500"/>
                <a:gd name="T9" fmla="*/ 0 h 1112025"/>
                <a:gd name="T10" fmla="*/ 0 w 5433500"/>
                <a:gd name="T11" fmla="*/ 0 h 1112025"/>
                <a:gd name="T12" fmla="*/ 5433500 w 5433500"/>
                <a:gd name="T13" fmla="*/ 1112025 h 1112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433500" h="1112025">
                  <a:moveTo>
                    <a:pt x="5433500" y="0"/>
                  </a:moveTo>
                  <a:lnTo>
                    <a:pt x="5433500" y="358047"/>
                  </a:lnTo>
                  <a:lnTo>
                    <a:pt x="3143096" y="1112025"/>
                  </a:lnTo>
                  <a:lnTo>
                    <a:pt x="0" y="1112025"/>
                  </a:lnTo>
                  <a:lnTo>
                    <a:pt x="33780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5" name="组合 121"/>
          <p:cNvGrpSpPr>
            <a:grpSpLocks/>
          </p:cNvGrpSpPr>
          <p:nvPr/>
        </p:nvGrpSpPr>
        <p:grpSpPr bwMode="auto">
          <a:xfrm>
            <a:off x="8228013" y="0"/>
            <a:ext cx="1420812" cy="969963"/>
            <a:chOff x="-61334" y="0"/>
            <a:chExt cx="2763269" cy="1257300"/>
          </a:xfrm>
        </p:grpSpPr>
        <p:sp>
          <p:nvSpPr>
            <p:cNvPr id="17" name="矩形 122"/>
            <p:cNvSpPr>
              <a:spLocks noChangeArrowheads="1"/>
            </p:cNvSpPr>
            <p:nvPr/>
          </p:nvSpPr>
          <p:spPr bwMode="auto">
            <a:xfrm>
              <a:off x="-61334" y="0"/>
              <a:ext cx="364319" cy="12573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8" name="矩形 123"/>
            <p:cNvSpPr>
              <a:spLocks noChangeArrowheads="1"/>
            </p:cNvSpPr>
            <p:nvPr/>
          </p:nvSpPr>
          <p:spPr bwMode="auto">
            <a:xfrm>
              <a:off x="448095" y="0"/>
              <a:ext cx="577355" cy="12573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9" name="矩形 124"/>
            <p:cNvSpPr>
              <a:spLocks noChangeArrowheads="1"/>
            </p:cNvSpPr>
            <p:nvPr/>
          </p:nvSpPr>
          <p:spPr bwMode="auto">
            <a:xfrm>
              <a:off x="1105723" y="0"/>
              <a:ext cx="682326" cy="1257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0" name="矩形 125"/>
            <p:cNvSpPr>
              <a:spLocks noChangeArrowheads="1"/>
            </p:cNvSpPr>
            <p:nvPr/>
          </p:nvSpPr>
          <p:spPr bwMode="auto">
            <a:xfrm>
              <a:off x="1868323" y="0"/>
              <a:ext cx="833612" cy="1257300"/>
            </a:xfrm>
            <a:prstGeom prst="rect">
              <a:avLst/>
            </a:prstGeom>
            <a:solidFill>
              <a:srgbClr val="1557AE"/>
            </a:solidFill>
            <a:ln w="12700" cmpd="sng">
              <a:solidFill>
                <a:srgbClr val="6C5B7B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</p:grpSp>
      <p:grpSp>
        <p:nvGrpSpPr>
          <p:cNvPr id="21" name="组合 126"/>
          <p:cNvGrpSpPr>
            <a:grpSpLocks/>
          </p:cNvGrpSpPr>
          <p:nvPr/>
        </p:nvGrpSpPr>
        <p:grpSpPr bwMode="auto">
          <a:xfrm flipH="1">
            <a:off x="2486025" y="0"/>
            <a:ext cx="1389063" cy="969963"/>
            <a:chOff x="0" y="0"/>
            <a:chExt cx="2701935" cy="1257300"/>
          </a:xfrm>
        </p:grpSpPr>
        <p:sp>
          <p:nvSpPr>
            <p:cNvPr id="22" name="矩形 127"/>
            <p:cNvSpPr>
              <a:spLocks noChangeArrowheads="1"/>
            </p:cNvSpPr>
            <p:nvPr/>
          </p:nvSpPr>
          <p:spPr bwMode="auto">
            <a:xfrm>
              <a:off x="0" y="0"/>
              <a:ext cx="364375" cy="12573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3" name="矩形 128"/>
            <p:cNvSpPr>
              <a:spLocks noChangeArrowheads="1"/>
            </p:cNvSpPr>
            <p:nvPr/>
          </p:nvSpPr>
          <p:spPr bwMode="auto">
            <a:xfrm>
              <a:off x="447750" y="0"/>
              <a:ext cx="577441" cy="12573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4" name="矩形 129"/>
            <p:cNvSpPr>
              <a:spLocks noChangeArrowheads="1"/>
            </p:cNvSpPr>
            <p:nvPr/>
          </p:nvSpPr>
          <p:spPr bwMode="auto">
            <a:xfrm>
              <a:off x="1108566" y="0"/>
              <a:ext cx="679343" cy="1257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5" name="矩形 130"/>
            <p:cNvSpPr>
              <a:spLocks noChangeArrowheads="1"/>
            </p:cNvSpPr>
            <p:nvPr/>
          </p:nvSpPr>
          <p:spPr bwMode="auto">
            <a:xfrm>
              <a:off x="1868195" y="0"/>
              <a:ext cx="833740" cy="1257300"/>
            </a:xfrm>
            <a:prstGeom prst="rect">
              <a:avLst/>
            </a:prstGeom>
            <a:solidFill>
              <a:schemeClr val="accent1"/>
            </a:solidFill>
            <a:ln w="12700" cmpd="sng">
              <a:solidFill>
                <a:srgbClr val="6C5B7B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</p:grpSp>
      <p:sp>
        <p:nvSpPr>
          <p:cNvPr id="26" name="文本框 131"/>
          <p:cNvSpPr>
            <a:spLocks noChangeArrowheads="1"/>
          </p:cNvSpPr>
          <p:nvPr/>
        </p:nvSpPr>
        <p:spPr bwMode="auto">
          <a:xfrm>
            <a:off x="4197350" y="77788"/>
            <a:ext cx="376237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5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CON</a:t>
            </a:r>
            <a:r>
              <a:rPr lang="zh-CN" altLang="en-US" sz="5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T</a:t>
            </a:r>
            <a:r>
              <a:rPr lang="en-US" sz="5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ENTS</a:t>
            </a:r>
            <a:endParaRPr lang="zh-CN" altLang="en-US" sz="5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27" name="组合 1"/>
          <p:cNvGrpSpPr/>
          <p:nvPr/>
        </p:nvGrpSpPr>
        <p:grpSpPr>
          <a:xfrm>
            <a:off x="3130550" y="1743131"/>
            <a:ext cx="5791200" cy="696912"/>
            <a:chOff x="3232150" y="2347913"/>
            <a:chExt cx="5791200" cy="696912"/>
          </a:xfrm>
        </p:grpSpPr>
        <p:sp>
          <p:nvSpPr>
            <p:cNvPr id="28" name="矩形 132"/>
            <p:cNvSpPr>
              <a:spLocks noChangeArrowheads="1"/>
            </p:cNvSpPr>
            <p:nvPr/>
          </p:nvSpPr>
          <p:spPr bwMode="auto">
            <a:xfrm rot="21420000">
              <a:off x="3232150" y="2347913"/>
              <a:ext cx="5791200" cy="696912"/>
            </a:xfrm>
            <a:prstGeom prst="rect">
              <a:avLst/>
            </a:prstGeom>
            <a:solidFill>
              <a:srgbClr val="1557AE"/>
            </a:solidFill>
            <a:ln>
              <a:noFill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9" name="矩形 136"/>
            <p:cNvSpPr>
              <a:spLocks noChangeArrowheads="1"/>
            </p:cNvSpPr>
            <p:nvPr/>
          </p:nvSpPr>
          <p:spPr bwMode="auto">
            <a:xfrm rot="21393103">
              <a:off x="5574000" y="2379197"/>
              <a:ext cx="26981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文件夾樹狀結構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TextBox 1"/>
            <p:cNvSpPr txBox="1">
              <a:spLocks noChangeArrowheads="1"/>
            </p:cNvSpPr>
            <p:nvPr/>
          </p:nvSpPr>
          <p:spPr bwMode="auto">
            <a:xfrm rot="21365879">
              <a:off x="3714750" y="2482850"/>
              <a:ext cx="17018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solidFill>
                    <a:schemeClr val="bg1"/>
                  </a:solidFill>
                </a:rPr>
                <a:t>PART  01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组合 2"/>
          <p:cNvGrpSpPr/>
          <p:nvPr/>
        </p:nvGrpSpPr>
        <p:grpSpPr>
          <a:xfrm>
            <a:off x="3183193" y="2813830"/>
            <a:ext cx="5791200" cy="696913"/>
            <a:chOff x="3287713" y="3416300"/>
            <a:chExt cx="5791200" cy="696913"/>
          </a:xfrm>
        </p:grpSpPr>
        <p:sp>
          <p:nvSpPr>
            <p:cNvPr id="32" name="矩形 133"/>
            <p:cNvSpPr>
              <a:spLocks noChangeArrowheads="1"/>
            </p:cNvSpPr>
            <p:nvPr/>
          </p:nvSpPr>
          <p:spPr bwMode="auto">
            <a:xfrm rot="21420000">
              <a:off x="3287713" y="3416300"/>
              <a:ext cx="5791200" cy="696913"/>
            </a:xfrm>
            <a:prstGeom prst="rect">
              <a:avLst/>
            </a:prstGeom>
            <a:solidFill>
              <a:srgbClr val="1557AE"/>
            </a:solidFill>
            <a:ln>
              <a:noFill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33" name="矩形 137"/>
            <p:cNvSpPr>
              <a:spLocks noChangeArrowheads="1"/>
            </p:cNvSpPr>
            <p:nvPr/>
          </p:nvSpPr>
          <p:spPr bwMode="auto">
            <a:xfrm rot="21418041">
              <a:off x="5687307" y="3494085"/>
              <a:ext cx="162095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用戶授權</a:t>
              </a:r>
              <a:endPara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TextBox 32"/>
            <p:cNvSpPr txBox="1">
              <a:spLocks noChangeArrowheads="1"/>
            </p:cNvSpPr>
            <p:nvPr/>
          </p:nvSpPr>
          <p:spPr bwMode="auto">
            <a:xfrm rot="21442336">
              <a:off x="3746500" y="3582988"/>
              <a:ext cx="170021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solidFill>
                    <a:schemeClr val="bg1"/>
                  </a:solidFill>
                </a:rPr>
                <a:t>PART  02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5" name="组合 5"/>
          <p:cNvGrpSpPr/>
          <p:nvPr/>
        </p:nvGrpSpPr>
        <p:grpSpPr>
          <a:xfrm>
            <a:off x="3244852" y="3868197"/>
            <a:ext cx="5791200" cy="696913"/>
            <a:chOff x="3278143" y="5581124"/>
            <a:chExt cx="5791200" cy="696913"/>
          </a:xfrm>
        </p:grpSpPr>
        <p:sp>
          <p:nvSpPr>
            <p:cNvPr id="36" name="矩形 135"/>
            <p:cNvSpPr>
              <a:spLocks noChangeArrowheads="1"/>
            </p:cNvSpPr>
            <p:nvPr/>
          </p:nvSpPr>
          <p:spPr bwMode="auto">
            <a:xfrm rot="21420000">
              <a:off x="3278143" y="5581124"/>
              <a:ext cx="5791200" cy="696913"/>
            </a:xfrm>
            <a:prstGeom prst="rect">
              <a:avLst/>
            </a:prstGeom>
            <a:solidFill>
              <a:srgbClr val="1557AE"/>
            </a:solidFill>
            <a:ln>
              <a:noFill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37" name="矩形 139"/>
            <p:cNvSpPr>
              <a:spLocks noChangeArrowheads="1"/>
            </p:cNvSpPr>
            <p:nvPr/>
          </p:nvSpPr>
          <p:spPr bwMode="auto">
            <a:xfrm rot="21401977">
              <a:off x="5716626" y="5589972"/>
              <a:ext cx="162095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簽核配置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TextBox 34"/>
            <p:cNvSpPr txBox="1">
              <a:spLocks noChangeArrowheads="1"/>
            </p:cNvSpPr>
            <p:nvPr/>
          </p:nvSpPr>
          <p:spPr bwMode="auto">
            <a:xfrm rot="21442336">
              <a:off x="3725392" y="5693803"/>
              <a:ext cx="17015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solidFill>
                    <a:schemeClr val="bg1"/>
                  </a:solidFill>
                </a:rPr>
                <a:t>PART  </a:t>
              </a:r>
              <a:r>
                <a:rPr lang="en-US" altLang="zh-CN" sz="2800" dirty="0" smtClean="0">
                  <a:solidFill>
                    <a:schemeClr val="bg1"/>
                  </a:solidFill>
                </a:rPr>
                <a:t>03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组合 5"/>
          <p:cNvGrpSpPr/>
          <p:nvPr/>
        </p:nvGrpSpPr>
        <p:grpSpPr>
          <a:xfrm>
            <a:off x="3333707" y="4956031"/>
            <a:ext cx="5791200" cy="696913"/>
            <a:chOff x="3346315" y="5547123"/>
            <a:chExt cx="5791200" cy="696913"/>
          </a:xfrm>
        </p:grpSpPr>
        <p:sp>
          <p:nvSpPr>
            <p:cNvPr id="40" name="矩形 135"/>
            <p:cNvSpPr>
              <a:spLocks noChangeArrowheads="1"/>
            </p:cNvSpPr>
            <p:nvPr/>
          </p:nvSpPr>
          <p:spPr bwMode="auto">
            <a:xfrm rot="21420000">
              <a:off x="3346315" y="5547123"/>
              <a:ext cx="5791200" cy="696913"/>
            </a:xfrm>
            <a:prstGeom prst="rect">
              <a:avLst/>
            </a:prstGeom>
            <a:solidFill>
              <a:srgbClr val="1557AE"/>
            </a:solidFill>
            <a:ln>
              <a:noFill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41" name="矩形 139"/>
            <p:cNvSpPr>
              <a:spLocks noChangeArrowheads="1"/>
            </p:cNvSpPr>
            <p:nvPr/>
          </p:nvSpPr>
          <p:spPr bwMode="auto">
            <a:xfrm rot="21401977">
              <a:off x="5753785" y="5574007"/>
              <a:ext cx="162095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文件查詢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TextBox 34"/>
            <p:cNvSpPr txBox="1">
              <a:spLocks noChangeArrowheads="1"/>
            </p:cNvSpPr>
            <p:nvPr/>
          </p:nvSpPr>
          <p:spPr bwMode="auto">
            <a:xfrm rot="21442336">
              <a:off x="3820375" y="5682087"/>
              <a:ext cx="17015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solidFill>
                    <a:schemeClr val="bg1"/>
                  </a:solidFill>
                </a:rPr>
                <a:t>PART  </a:t>
              </a:r>
              <a:r>
                <a:rPr lang="en-US" altLang="zh-CN" sz="2800" dirty="0" smtClean="0">
                  <a:solidFill>
                    <a:schemeClr val="bg1"/>
                  </a:solidFill>
                </a:rPr>
                <a:t>04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43" name="圖片 42">
            <a:extLst>
              <a:ext uri="{FF2B5EF4-FFF2-40B4-BE49-F238E27FC236}">
                <a16:creationId xmlns:a16="http://schemas.microsoft.com/office/drawing/2014/main" id="{610B807E-2FFD-4AB8-9CA0-1300B6743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C14A556-87BD-4F2F-AA94-644288F4F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04" y="143010"/>
            <a:ext cx="11003794" cy="614771"/>
          </a:xfrm>
          <a:prstGeom prst="rect">
            <a:avLst/>
          </a:prstGeom>
        </p:spPr>
        <p:txBody>
          <a:bodyPr anchor="t">
            <a:normAutofit fontScale="90000"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-US" altLang="zh-TW" dirty="0" smtClean="0"/>
              <a:t>3. </a:t>
            </a:r>
            <a:endParaRPr lang="zh-TW" altLang="en-US" dirty="0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8D98E41F-42A7-4440-988F-A60706BC1616}"/>
              </a:ext>
            </a:extLst>
          </p:cNvPr>
          <p:cNvSpPr txBox="1">
            <a:spLocks/>
          </p:cNvSpPr>
          <p:nvPr/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100" b="1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3</a:t>
            </a:fld>
            <a:r>
              <a:rPr lang="en-US" altLang="zh-TW" dirty="0"/>
              <a:t> / </a:t>
            </a:r>
            <a:r>
              <a:rPr lang="en-US" altLang="zh-TW" dirty="0" smtClean="0"/>
              <a:t>5</a:t>
            </a:r>
            <a:endParaRPr lang="en-US" altLang="zh-TW" dirty="0"/>
          </a:p>
        </p:txBody>
      </p:sp>
      <p:sp>
        <p:nvSpPr>
          <p:cNvPr id="4" name="TextBox 138"/>
          <p:cNvSpPr txBox="1">
            <a:spLocks noChangeArrowheads="1"/>
          </p:cNvSpPr>
          <p:nvPr/>
        </p:nvSpPr>
        <p:spPr bwMode="auto">
          <a:xfrm>
            <a:off x="11329988" y="6858000"/>
            <a:ext cx="86201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2" tIns="60956" rIns="121912" bIns="6095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120000"/>
              </a:lnSpc>
              <a:buFontTx/>
              <a:buNone/>
            </a:pPr>
            <a:r>
              <a:rPr lang="zh-CN" altLang="en-US" sz="160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延时付</a:t>
            </a:r>
          </a:p>
        </p:txBody>
      </p:sp>
      <p:grpSp>
        <p:nvGrpSpPr>
          <p:cNvPr id="10" name="组合 4"/>
          <p:cNvGrpSpPr>
            <a:grpSpLocks/>
          </p:cNvGrpSpPr>
          <p:nvPr/>
        </p:nvGrpSpPr>
        <p:grpSpPr bwMode="auto">
          <a:xfrm>
            <a:off x="10631664" y="1637898"/>
            <a:ext cx="533400" cy="533401"/>
            <a:chOff x="6424677" y="2206328"/>
            <a:chExt cx="533400" cy="533401"/>
          </a:xfrm>
        </p:grpSpPr>
        <p:sp>
          <p:nvSpPr>
            <p:cNvPr id="11" name="椭圆 5"/>
            <p:cNvSpPr/>
            <p:nvPr/>
          </p:nvSpPr>
          <p:spPr>
            <a:xfrm>
              <a:off x="6424677" y="2206329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ctr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矩形 6"/>
            <p:cNvSpPr>
              <a:spLocks noChangeArrowheads="1"/>
            </p:cNvSpPr>
            <p:nvPr/>
          </p:nvSpPr>
          <p:spPr bwMode="auto">
            <a:xfrm>
              <a:off x="6432781" y="2206328"/>
              <a:ext cx="5171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ctr" hangingPunct="1">
                <a:lnSpc>
                  <a:spcPct val="120000"/>
                </a:lnSpc>
                <a:buFontTx/>
                <a:buNone/>
              </a:pPr>
              <a:r>
                <a:rPr lang="en-US" altLang="zh-CN" sz="2000" dirty="0">
                  <a:solidFill>
                    <a:srgbClr val="FFFFFF"/>
                  </a:solidFill>
                  <a:cs typeface="Arial" panose="020B0604020202020204" pitchFamily="34" charset="0"/>
                </a:rPr>
                <a:t>02</a:t>
              </a:r>
              <a:endParaRPr lang="zh-CN" altLang="en-US" sz="2000" dirty="0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 rot="16200000" flipH="1">
            <a:off x="2747960" y="189961"/>
            <a:ext cx="533400" cy="33583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6" rIns="91435" bIns="4571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388224" y="1638302"/>
            <a:ext cx="2477193" cy="830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400" b="1" dirty="0" smtClean="0"/>
              <a:t>     文件目錄樹</a:t>
            </a:r>
            <a:endParaRPr lang="en-US" altLang="zh-CN" sz="2400" b="1" dirty="0"/>
          </a:p>
          <a:p>
            <a:pPr algn="r" eaLnBrk="1" hangingPunct="1">
              <a:buFontTx/>
              <a:buNone/>
            </a:pPr>
            <a:endParaRPr lang="en-US" altLang="zh-CN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 rot="16200000" flipH="1">
            <a:off x="8473198" y="200066"/>
            <a:ext cx="533400" cy="34090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6" rIns="91435" bIns="4571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5997978" y="1638302"/>
            <a:ext cx="4460851" cy="830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 smtClean="0"/>
              <a:t>                      文件夾維護</a:t>
            </a:r>
            <a:r>
              <a:rPr lang="en-US" altLang="zh-CN" sz="2400" b="1" dirty="0" smtClean="0"/>
              <a:t> 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endParaRPr lang="en-US" altLang="zh-CN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88"/>
          <p:cNvSpPr txBox="1"/>
          <p:nvPr/>
        </p:nvSpPr>
        <p:spPr>
          <a:xfrm>
            <a:off x="1060994" y="59369"/>
            <a:ext cx="39073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文件夾樹狀結構</a:t>
            </a:r>
          </a:p>
          <a:p>
            <a:pPr>
              <a:defRPr/>
            </a:pP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50" y="2456388"/>
            <a:ext cx="4609753" cy="353551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896" y="2469695"/>
            <a:ext cx="5196004" cy="3522212"/>
          </a:xfrm>
          <a:prstGeom prst="rect">
            <a:avLst/>
          </a:prstGeom>
        </p:spPr>
      </p:pic>
      <p:grpSp>
        <p:nvGrpSpPr>
          <p:cNvPr id="26" name="组合 4"/>
          <p:cNvGrpSpPr>
            <a:grpSpLocks/>
          </p:cNvGrpSpPr>
          <p:nvPr/>
        </p:nvGrpSpPr>
        <p:grpSpPr bwMode="auto">
          <a:xfrm>
            <a:off x="4940825" y="1600798"/>
            <a:ext cx="533400" cy="533401"/>
            <a:chOff x="6424677" y="2206328"/>
            <a:chExt cx="533400" cy="533401"/>
          </a:xfrm>
        </p:grpSpPr>
        <p:sp>
          <p:nvSpPr>
            <p:cNvPr id="27" name="椭圆 5"/>
            <p:cNvSpPr/>
            <p:nvPr/>
          </p:nvSpPr>
          <p:spPr>
            <a:xfrm>
              <a:off x="6424677" y="2206329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ctr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 6"/>
            <p:cNvSpPr>
              <a:spLocks noChangeArrowheads="1"/>
            </p:cNvSpPr>
            <p:nvPr/>
          </p:nvSpPr>
          <p:spPr bwMode="auto">
            <a:xfrm>
              <a:off x="6432781" y="2206328"/>
              <a:ext cx="5171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ctr" hangingPunct="1">
                <a:lnSpc>
                  <a:spcPct val="120000"/>
                </a:lnSpc>
                <a:buFontTx/>
                <a:buNone/>
              </a:pPr>
              <a:r>
                <a:rPr lang="en-US" altLang="zh-CN" sz="2000" dirty="0" smtClean="0">
                  <a:solidFill>
                    <a:srgbClr val="FFFFFF"/>
                  </a:solidFill>
                  <a:cs typeface="Arial" panose="020B0604020202020204" pitchFamily="34" charset="0"/>
                </a:rPr>
                <a:t>01</a:t>
              </a:r>
              <a:endParaRPr lang="zh-CN" altLang="en-US" sz="2000" dirty="0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9" name="矩形圖說文字 28"/>
          <p:cNvSpPr/>
          <p:nvPr/>
        </p:nvSpPr>
        <p:spPr>
          <a:xfrm>
            <a:off x="1504603" y="4871258"/>
            <a:ext cx="972589" cy="290946"/>
          </a:xfrm>
          <a:prstGeom prst="wedgeRectCallout">
            <a:avLst>
              <a:gd name="adj1" fmla="val -62247"/>
              <a:gd name="adj2" fmla="val 45833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BU</a:t>
            </a:r>
            <a:r>
              <a:rPr lang="zh-CN" altLang="en-US" dirty="0" smtClean="0"/>
              <a:t>專區</a:t>
            </a:r>
            <a:endParaRPr lang="zh-CN" altLang="en-US" dirty="0"/>
          </a:p>
        </p:txBody>
      </p:sp>
      <p:sp>
        <p:nvSpPr>
          <p:cNvPr id="30" name="矩形圖說文字 29"/>
          <p:cNvSpPr/>
          <p:nvPr/>
        </p:nvSpPr>
        <p:spPr>
          <a:xfrm>
            <a:off x="8794866" y="3883212"/>
            <a:ext cx="2177934" cy="555407"/>
          </a:xfrm>
          <a:prstGeom prst="wedgeRectCallout">
            <a:avLst>
              <a:gd name="adj1" fmla="val -62890"/>
              <a:gd name="adj2" fmla="val 39535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文件夾與文件類型一一對應</a:t>
            </a:r>
            <a:endParaRPr lang="zh-CN" altLang="en-US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610B807E-2FFD-4AB8-9CA0-1300B6743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0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  <p:bldP spid="14" grpId="0"/>
      <p:bldP spid="17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C14A556-87BD-4F2F-AA94-644288F4F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04" y="143010"/>
            <a:ext cx="11003794" cy="614771"/>
          </a:xfrm>
          <a:prstGeom prst="rect">
            <a:avLst/>
          </a:prstGeom>
        </p:spPr>
        <p:txBody>
          <a:bodyPr anchor="t">
            <a:normAutofit fontScale="90000"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-US" altLang="zh-TW" dirty="0"/>
              <a:t>4</a:t>
            </a:r>
            <a:r>
              <a:rPr lang="en-US" altLang="zh-TW" dirty="0" smtClean="0"/>
              <a:t>. </a:t>
            </a:r>
            <a:endParaRPr lang="zh-TW" altLang="en-US" dirty="0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8D98E41F-42A7-4440-988F-A60706BC1616}"/>
              </a:ext>
            </a:extLst>
          </p:cNvPr>
          <p:cNvSpPr txBox="1">
            <a:spLocks/>
          </p:cNvSpPr>
          <p:nvPr/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100" b="1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4</a:t>
            </a:fld>
            <a:r>
              <a:rPr lang="en-US" altLang="zh-TW" dirty="0"/>
              <a:t> / </a:t>
            </a:r>
            <a:r>
              <a:rPr lang="en-US" altLang="zh-TW" dirty="0" smtClean="0"/>
              <a:t>5</a:t>
            </a:r>
            <a:endParaRPr lang="en-US" altLang="zh-TW" dirty="0"/>
          </a:p>
        </p:txBody>
      </p:sp>
      <p:sp>
        <p:nvSpPr>
          <p:cNvPr id="4" name="TextBox 138"/>
          <p:cNvSpPr txBox="1">
            <a:spLocks noChangeArrowheads="1"/>
          </p:cNvSpPr>
          <p:nvPr/>
        </p:nvSpPr>
        <p:spPr bwMode="auto">
          <a:xfrm>
            <a:off x="11329988" y="6858000"/>
            <a:ext cx="86201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2" tIns="60956" rIns="121912" bIns="6095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120000"/>
              </a:lnSpc>
              <a:buFontTx/>
              <a:buNone/>
            </a:pPr>
            <a:r>
              <a:rPr lang="zh-CN" altLang="en-US" sz="160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延时付</a:t>
            </a:r>
          </a:p>
        </p:txBody>
      </p:sp>
      <p:sp>
        <p:nvSpPr>
          <p:cNvPr id="21" name="TextBox 88"/>
          <p:cNvSpPr txBox="1"/>
          <p:nvPr/>
        </p:nvSpPr>
        <p:spPr>
          <a:xfrm>
            <a:off x="1146954" y="185896"/>
            <a:ext cx="29013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用戶授權（</a:t>
            </a:r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defRPr/>
            </a:pP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6" name="圖片 85">
            <a:extLst>
              <a:ext uri="{FF2B5EF4-FFF2-40B4-BE49-F238E27FC236}">
                <a16:creationId xmlns:a16="http://schemas.microsoft.com/office/drawing/2014/main" id="{610B807E-2FFD-4AB8-9CA0-1300B6743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63" name="文字方塊 62"/>
          <p:cNvSpPr txBox="1"/>
          <p:nvPr/>
        </p:nvSpPr>
        <p:spPr>
          <a:xfrm>
            <a:off x="871248" y="1695202"/>
            <a:ext cx="27753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說明</a:t>
            </a:r>
            <a:r>
              <a:rPr lang="zh-CN" altLang="en-US" sz="2000" dirty="0" smtClean="0">
                <a:solidFill>
                  <a:schemeClr val="bg1"/>
                </a:solidFill>
              </a:rPr>
              <a:t>：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r>
              <a:rPr lang="en-US" altLang="zh-CN" sz="2000" dirty="0" smtClean="0">
                <a:solidFill>
                  <a:schemeClr val="bg1"/>
                </a:solidFill>
              </a:rPr>
              <a:t>1.</a:t>
            </a:r>
            <a:r>
              <a:rPr lang="zh-CN" altLang="en-US" sz="2000" dirty="0" smtClean="0">
                <a:solidFill>
                  <a:schemeClr val="bg1"/>
                </a:solidFill>
              </a:rPr>
              <a:t>角色管理中為相關角色</a:t>
            </a:r>
            <a:r>
              <a:rPr lang="zh-CN" altLang="en-US" sz="2000" dirty="0" smtClean="0">
                <a:solidFill>
                  <a:srgbClr val="FF0000"/>
                </a:solidFill>
              </a:rPr>
              <a:t>分配文件夾訪問權限 </a:t>
            </a:r>
            <a:r>
              <a:rPr lang="en-US" altLang="zh-CN" sz="2000" dirty="0" smtClean="0">
                <a:solidFill>
                  <a:schemeClr val="bg1"/>
                </a:solidFill>
              </a:rPr>
              <a:t>2.</a:t>
            </a:r>
            <a:r>
              <a:rPr lang="zh-CN" altLang="en-US" sz="2000" dirty="0" smtClean="0">
                <a:solidFill>
                  <a:schemeClr val="bg1"/>
                </a:solidFill>
              </a:rPr>
              <a:t>勾選相關</a:t>
            </a:r>
            <a:r>
              <a:rPr lang="en-US" altLang="zh-CN" sz="2000" dirty="0" smtClean="0">
                <a:solidFill>
                  <a:srgbClr val="FF0000"/>
                </a:solidFill>
              </a:rPr>
              <a:t>BU</a:t>
            </a:r>
            <a:r>
              <a:rPr lang="zh-CN" altLang="en-US" sz="2000" dirty="0" smtClean="0">
                <a:solidFill>
                  <a:schemeClr val="bg1"/>
                </a:solidFill>
              </a:rPr>
              <a:t> 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r>
              <a:rPr lang="en-US" altLang="zh-CN" sz="2000" dirty="0" smtClean="0">
                <a:solidFill>
                  <a:schemeClr val="bg1"/>
                </a:solidFill>
              </a:rPr>
              <a:t>3.</a:t>
            </a:r>
            <a:r>
              <a:rPr lang="zh-CN" altLang="en-US" sz="2000" dirty="0">
                <a:solidFill>
                  <a:schemeClr val="bg1"/>
                </a:solidFill>
              </a:rPr>
              <a:t>勾</a:t>
            </a:r>
            <a:r>
              <a:rPr lang="zh-CN" altLang="en-US" sz="2000" dirty="0" smtClean="0">
                <a:solidFill>
                  <a:schemeClr val="bg1"/>
                </a:solidFill>
              </a:rPr>
              <a:t>選相關</a:t>
            </a:r>
            <a:r>
              <a:rPr lang="zh-CN" altLang="en-US" sz="2000" dirty="0" smtClean="0">
                <a:solidFill>
                  <a:srgbClr val="FF0000"/>
                </a:solidFill>
              </a:rPr>
              <a:t>客戶</a:t>
            </a:r>
            <a:r>
              <a:rPr lang="zh-CN" altLang="en-US" sz="2000" dirty="0" smtClean="0">
                <a:solidFill>
                  <a:schemeClr val="bg1"/>
                </a:solidFill>
              </a:rPr>
              <a:t> 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r>
              <a:rPr lang="en-US" altLang="zh-CN" sz="2000" dirty="0" smtClean="0">
                <a:solidFill>
                  <a:schemeClr val="bg1"/>
                </a:solidFill>
              </a:rPr>
              <a:t>4.</a:t>
            </a:r>
            <a:r>
              <a:rPr lang="zh-CN" altLang="en-US" sz="2000" dirty="0" smtClean="0">
                <a:solidFill>
                  <a:schemeClr val="bg1"/>
                </a:solidFill>
              </a:rPr>
              <a:t>勾選</a:t>
            </a:r>
            <a:r>
              <a:rPr lang="zh-CN" altLang="en-US" sz="2000" dirty="0" smtClean="0">
                <a:solidFill>
                  <a:srgbClr val="FF0000"/>
                </a:solidFill>
              </a:rPr>
              <a:t>文件</a:t>
            </a:r>
            <a:r>
              <a:rPr lang="zh-CN" altLang="en-US" sz="2000" dirty="0" smtClean="0">
                <a:solidFill>
                  <a:srgbClr val="FF0000"/>
                </a:solidFill>
              </a:rPr>
              <a:t>操作</a:t>
            </a:r>
            <a:r>
              <a:rPr lang="zh-CN" altLang="en-US" sz="2000" dirty="0" smtClean="0">
                <a:solidFill>
                  <a:schemeClr val="bg1"/>
                </a:solidFill>
              </a:rPr>
              <a:t>最後</a:t>
            </a:r>
            <a:r>
              <a:rPr lang="zh-CN" altLang="en-US" sz="2000" dirty="0" smtClean="0">
                <a:solidFill>
                  <a:schemeClr val="bg1"/>
                </a:solidFill>
              </a:rPr>
              <a:t>保存</a:t>
            </a:r>
            <a:endParaRPr lang="en-US" altLang="zh-CN" sz="2000" dirty="0" smtClean="0">
              <a:solidFill>
                <a:schemeClr val="bg1"/>
              </a:solidFill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654" y="1628696"/>
            <a:ext cx="7374467" cy="4780417"/>
          </a:xfrm>
          <a:prstGeom prst="rect">
            <a:avLst/>
          </a:prstGeom>
        </p:spPr>
      </p:pic>
      <p:sp>
        <p:nvSpPr>
          <p:cNvPr id="3" name="橢圓 2"/>
          <p:cNvSpPr/>
          <p:nvPr/>
        </p:nvSpPr>
        <p:spPr>
          <a:xfrm>
            <a:off x="5020887" y="3208713"/>
            <a:ext cx="565266" cy="299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5152677" y="3173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4" name="橢圓 63"/>
          <p:cNvSpPr/>
          <p:nvPr/>
        </p:nvSpPr>
        <p:spPr>
          <a:xfrm>
            <a:off x="9271461" y="3943004"/>
            <a:ext cx="565266" cy="299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9403251" y="39079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6" name="橢圓 65"/>
          <p:cNvSpPr/>
          <p:nvPr/>
        </p:nvSpPr>
        <p:spPr>
          <a:xfrm>
            <a:off x="9391824" y="4263445"/>
            <a:ext cx="565266" cy="299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字方塊 66"/>
          <p:cNvSpPr txBox="1"/>
          <p:nvPr/>
        </p:nvSpPr>
        <p:spPr>
          <a:xfrm>
            <a:off x="9535041" y="4242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8" name="橢圓 67"/>
          <p:cNvSpPr/>
          <p:nvPr/>
        </p:nvSpPr>
        <p:spPr>
          <a:xfrm>
            <a:off x="9674457" y="4632776"/>
            <a:ext cx="516947" cy="106975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字方塊 68"/>
          <p:cNvSpPr txBox="1"/>
          <p:nvPr/>
        </p:nvSpPr>
        <p:spPr>
          <a:xfrm>
            <a:off x="9782087" y="49563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4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39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C14A556-87BD-4F2F-AA94-644288F4F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04" y="143010"/>
            <a:ext cx="11003794" cy="614771"/>
          </a:xfrm>
          <a:prstGeom prst="rect">
            <a:avLst/>
          </a:prstGeom>
        </p:spPr>
        <p:txBody>
          <a:bodyPr anchor="t">
            <a:normAutofit fontScale="90000"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-US" altLang="zh-TW" dirty="0"/>
              <a:t>5</a:t>
            </a:r>
            <a:r>
              <a:rPr lang="en-US" altLang="zh-TW" dirty="0" smtClean="0"/>
              <a:t>. </a:t>
            </a:r>
            <a:endParaRPr lang="zh-TW" altLang="en-US" dirty="0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8D98E41F-42A7-4440-988F-A60706BC1616}"/>
              </a:ext>
            </a:extLst>
          </p:cNvPr>
          <p:cNvSpPr txBox="1">
            <a:spLocks/>
          </p:cNvSpPr>
          <p:nvPr/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100" b="1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5</a:t>
            </a:fld>
            <a:r>
              <a:rPr lang="en-US" altLang="zh-TW" dirty="0"/>
              <a:t> / </a:t>
            </a:r>
            <a:r>
              <a:rPr lang="en-US" altLang="zh-TW" dirty="0" smtClean="0"/>
              <a:t>5</a:t>
            </a:r>
            <a:endParaRPr lang="en-US" altLang="zh-TW" dirty="0"/>
          </a:p>
        </p:txBody>
      </p:sp>
      <p:sp>
        <p:nvSpPr>
          <p:cNvPr id="4" name="TextBox 138"/>
          <p:cNvSpPr txBox="1">
            <a:spLocks noChangeArrowheads="1"/>
          </p:cNvSpPr>
          <p:nvPr/>
        </p:nvSpPr>
        <p:spPr bwMode="auto">
          <a:xfrm>
            <a:off x="11329988" y="6858000"/>
            <a:ext cx="86201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2" tIns="60956" rIns="121912" bIns="6095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120000"/>
              </a:lnSpc>
              <a:buFontTx/>
              <a:buNone/>
            </a:pPr>
            <a:r>
              <a:rPr lang="zh-CN" altLang="en-US" sz="160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延时付</a:t>
            </a:r>
          </a:p>
        </p:txBody>
      </p:sp>
      <p:sp>
        <p:nvSpPr>
          <p:cNvPr id="21" name="TextBox 88"/>
          <p:cNvSpPr txBox="1"/>
          <p:nvPr/>
        </p:nvSpPr>
        <p:spPr>
          <a:xfrm>
            <a:off x="1146954" y="185896"/>
            <a:ext cx="29013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用戶授權（</a:t>
            </a: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defRPr/>
            </a:pP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6" name="圖片 85">
            <a:extLst>
              <a:ext uri="{FF2B5EF4-FFF2-40B4-BE49-F238E27FC236}">
                <a16:creationId xmlns:a16="http://schemas.microsoft.com/office/drawing/2014/main" id="{610B807E-2FFD-4AB8-9CA0-1300B6743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63" name="文字方塊 62"/>
          <p:cNvSpPr txBox="1"/>
          <p:nvPr/>
        </p:nvSpPr>
        <p:spPr>
          <a:xfrm>
            <a:off x="871248" y="1695202"/>
            <a:ext cx="277537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說明</a:t>
            </a:r>
            <a:r>
              <a:rPr lang="zh-CN" altLang="en-US" sz="2000" dirty="0" smtClean="0">
                <a:solidFill>
                  <a:schemeClr val="bg1"/>
                </a:solidFill>
              </a:rPr>
              <a:t>：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r>
              <a:rPr lang="en-US" altLang="zh-CN" sz="2000" dirty="0" smtClean="0">
                <a:solidFill>
                  <a:schemeClr val="bg1"/>
                </a:solidFill>
              </a:rPr>
              <a:t>1</a:t>
            </a:r>
            <a:r>
              <a:rPr lang="en-US" altLang="zh-CN" sz="2000" dirty="0" smtClean="0">
                <a:solidFill>
                  <a:schemeClr val="bg1"/>
                </a:solidFill>
              </a:rPr>
              <a:t>.</a:t>
            </a:r>
            <a:r>
              <a:rPr lang="zh-CN" altLang="en-US" sz="2000" dirty="0" smtClean="0">
                <a:solidFill>
                  <a:schemeClr val="bg1"/>
                </a:solidFill>
              </a:rPr>
              <a:t>用戶管理</a:t>
            </a:r>
            <a:r>
              <a:rPr lang="zh-CN" altLang="en-US" sz="2000" dirty="0" smtClean="0">
                <a:solidFill>
                  <a:schemeClr val="bg1"/>
                </a:solidFill>
              </a:rPr>
              <a:t>中</a:t>
            </a:r>
            <a:r>
              <a:rPr lang="zh-CN" altLang="en-US" sz="2000" dirty="0" smtClean="0">
                <a:solidFill>
                  <a:schemeClr val="bg1"/>
                </a:solidFill>
              </a:rPr>
              <a:t>為相關用戶</a:t>
            </a:r>
            <a:r>
              <a:rPr lang="zh-CN" altLang="en-US" sz="2000" dirty="0" smtClean="0">
                <a:solidFill>
                  <a:srgbClr val="FF0000"/>
                </a:solidFill>
              </a:rPr>
              <a:t>分配角色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r>
              <a:rPr lang="en-US" altLang="zh-CN" sz="2000" dirty="0" smtClean="0">
                <a:solidFill>
                  <a:schemeClr val="bg1"/>
                </a:solidFill>
              </a:rPr>
              <a:t>2</a:t>
            </a:r>
            <a:r>
              <a:rPr lang="en-US" altLang="zh-CN" sz="2000" dirty="0" smtClean="0">
                <a:solidFill>
                  <a:schemeClr val="bg1"/>
                </a:solidFill>
              </a:rPr>
              <a:t>.</a:t>
            </a:r>
            <a:r>
              <a:rPr lang="zh-CN" altLang="en-US" sz="2000" dirty="0" smtClean="0">
                <a:solidFill>
                  <a:schemeClr val="bg1"/>
                </a:solidFill>
              </a:rPr>
              <a:t>勾選</a:t>
            </a:r>
            <a:r>
              <a:rPr lang="zh-CN" altLang="en-US" sz="2000" dirty="0" smtClean="0">
                <a:solidFill>
                  <a:schemeClr val="bg1"/>
                </a:solidFill>
              </a:rPr>
              <a:t>相關</a:t>
            </a:r>
            <a:r>
              <a:rPr lang="zh-CN" altLang="en-US" sz="2000" dirty="0">
                <a:solidFill>
                  <a:srgbClr val="FF0000"/>
                </a:solidFill>
              </a:rPr>
              <a:t>角色</a:t>
            </a:r>
            <a:r>
              <a:rPr lang="zh-CN" altLang="en-US" sz="2000" dirty="0" smtClean="0">
                <a:solidFill>
                  <a:schemeClr val="bg1"/>
                </a:solidFill>
              </a:rPr>
              <a:t> 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endParaRPr lang="en-US" altLang="zh-CN" sz="2000" dirty="0" smtClean="0">
              <a:solidFill>
                <a:schemeClr val="bg1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934" y="1731037"/>
            <a:ext cx="7356765" cy="4580848"/>
          </a:xfrm>
          <a:prstGeom prst="rect">
            <a:avLst/>
          </a:prstGeom>
        </p:spPr>
      </p:pic>
      <p:sp>
        <p:nvSpPr>
          <p:cNvPr id="9" name="橢圓 8"/>
          <p:cNvSpPr/>
          <p:nvPr/>
        </p:nvSpPr>
        <p:spPr>
          <a:xfrm>
            <a:off x="4796444" y="3042458"/>
            <a:ext cx="382385" cy="299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4821382" y="3007421"/>
            <a:ext cx="204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7697585" y="4389120"/>
            <a:ext cx="565266" cy="299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7829375" y="43540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92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C14A556-87BD-4F2F-AA94-644288F4F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04" y="143010"/>
            <a:ext cx="11003794" cy="614771"/>
          </a:xfrm>
          <a:prstGeom prst="rect">
            <a:avLst/>
          </a:prstGeom>
        </p:spPr>
        <p:txBody>
          <a:bodyPr anchor="t">
            <a:normAutofit fontScale="90000"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-US" altLang="zh-TW" dirty="0"/>
              <a:t>6</a:t>
            </a:r>
            <a:r>
              <a:rPr lang="en-US" altLang="zh-TW" dirty="0" smtClean="0"/>
              <a:t>. </a:t>
            </a:r>
            <a:endParaRPr lang="zh-TW" altLang="en-US" dirty="0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8D98E41F-42A7-4440-988F-A60706BC1616}"/>
              </a:ext>
            </a:extLst>
          </p:cNvPr>
          <p:cNvSpPr txBox="1">
            <a:spLocks/>
          </p:cNvSpPr>
          <p:nvPr/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100" b="1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6</a:t>
            </a:fld>
            <a:r>
              <a:rPr lang="en-US" altLang="zh-TW" dirty="0"/>
              <a:t> / </a:t>
            </a:r>
            <a:r>
              <a:rPr lang="en-US" altLang="zh-TW" dirty="0" smtClean="0"/>
              <a:t>5</a:t>
            </a:r>
            <a:endParaRPr lang="en-US" altLang="zh-TW" dirty="0"/>
          </a:p>
        </p:txBody>
      </p:sp>
      <p:sp>
        <p:nvSpPr>
          <p:cNvPr id="4" name="TextBox 138"/>
          <p:cNvSpPr txBox="1">
            <a:spLocks noChangeArrowheads="1"/>
          </p:cNvSpPr>
          <p:nvPr/>
        </p:nvSpPr>
        <p:spPr bwMode="auto">
          <a:xfrm>
            <a:off x="11329988" y="6858000"/>
            <a:ext cx="86201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2" tIns="60956" rIns="121912" bIns="6095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120000"/>
              </a:lnSpc>
              <a:buFontTx/>
              <a:buNone/>
            </a:pPr>
            <a:r>
              <a:rPr lang="zh-CN" altLang="en-US" sz="160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延时付</a:t>
            </a:r>
          </a:p>
        </p:txBody>
      </p:sp>
      <p:sp>
        <p:nvSpPr>
          <p:cNvPr id="21" name="TextBox 88"/>
          <p:cNvSpPr txBox="1"/>
          <p:nvPr/>
        </p:nvSpPr>
        <p:spPr>
          <a:xfrm>
            <a:off x="1146953" y="185896"/>
            <a:ext cx="32587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簽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核流程配置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defRPr/>
            </a:pP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6" name="圖片 85">
            <a:extLst>
              <a:ext uri="{FF2B5EF4-FFF2-40B4-BE49-F238E27FC236}">
                <a16:creationId xmlns:a16="http://schemas.microsoft.com/office/drawing/2014/main" id="{610B807E-2FFD-4AB8-9CA0-1300B6743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04" y="1734933"/>
            <a:ext cx="5863363" cy="3788218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451" y="1734933"/>
            <a:ext cx="5722876" cy="3788218"/>
          </a:xfrm>
          <a:prstGeom prst="rect">
            <a:avLst/>
          </a:prstGeom>
        </p:spPr>
      </p:pic>
      <p:sp>
        <p:nvSpPr>
          <p:cNvPr id="15" name="橢圓 14"/>
          <p:cNvSpPr/>
          <p:nvPr/>
        </p:nvSpPr>
        <p:spPr>
          <a:xfrm>
            <a:off x="713477" y="2934393"/>
            <a:ext cx="301686" cy="299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713477" y="2899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2903852" y="2277687"/>
            <a:ext cx="565266" cy="299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035642" y="22426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3598402" y="2462353"/>
            <a:ext cx="1439111" cy="299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4254901" y="24273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6663336" y="2427316"/>
            <a:ext cx="266369" cy="299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6663336" y="2392279"/>
            <a:ext cx="165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9152313" y="4663441"/>
            <a:ext cx="2618509" cy="931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字方塊 27"/>
          <p:cNvSpPr txBox="1"/>
          <p:nvPr/>
        </p:nvSpPr>
        <p:spPr>
          <a:xfrm>
            <a:off x="10310724" y="49442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5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146953" y="5594465"/>
            <a:ext cx="4194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說明</a:t>
            </a:r>
            <a:r>
              <a:rPr lang="zh-CN" altLang="en-US" dirty="0" smtClean="0">
                <a:solidFill>
                  <a:schemeClr val="bg1"/>
                </a:solidFill>
              </a:rPr>
              <a:t>：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en-US" altLang="zh-CN" dirty="0" smtClean="0">
                <a:solidFill>
                  <a:schemeClr val="bg1"/>
                </a:solidFill>
              </a:rPr>
              <a:t>1</a:t>
            </a:r>
            <a:r>
              <a:rPr lang="en-US" altLang="zh-CN" dirty="0" smtClean="0">
                <a:solidFill>
                  <a:schemeClr val="bg1"/>
                </a:solidFill>
              </a:rPr>
              <a:t>.</a:t>
            </a:r>
            <a:r>
              <a:rPr lang="zh-CN" altLang="en-US" dirty="0" smtClean="0">
                <a:solidFill>
                  <a:schemeClr val="bg1"/>
                </a:solidFill>
              </a:rPr>
              <a:t>文件類型管理中</a:t>
            </a:r>
            <a:r>
              <a:rPr lang="zh-CN" altLang="en-US" dirty="0" smtClean="0">
                <a:solidFill>
                  <a:srgbClr val="FF0000"/>
                </a:solidFill>
              </a:rPr>
              <a:t>維護文件類型      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 smtClean="0">
                <a:solidFill>
                  <a:schemeClr val="bg1"/>
                </a:solidFill>
              </a:rPr>
              <a:t>2.</a:t>
            </a:r>
            <a:r>
              <a:rPr lang="zh-CN" altLang="en-US" dirty="0" smtClean="0">
                <a:solidFill>
                  <a:srgbClr val="FF0000"/>
                </a:solidFill>
              </a:rPr>
              <a:t>選擇</a:t>
            </a:r>
            <a:r>
              <a:rPr lang="zh-CN" altLang="en-US" dirty="0" smtClean="0">
                <a:solidFill>
                  <a:schemeClr val="bg1"/>
                </a:solidFill>
              </a:rPr>
              <a:t>需要</a:t>
            </a:r>
            <a:r>
              <a:rPr lang="zh-CN" altLang="en-US" dirty="0" smtClean="0">
                <a:solidFill>
                  <a:srgbClr val="FF0000"/>
                </a:solidFill>
              </a:rPr>
              <a:t>關聯的屬性</a:t>
            </a:r>
            <a:r>
              <a:rPr lang="zh-CN" altLang="en-US" dirty="0" smtClean="0">
                <a:solidFill>
                  <a:srgbClr val="FF0000"/>
                </a:solidFill>
              </a:rPr>
              <a:t> 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037514" y="5590411"/>
            <a:ext cx="6658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3.</a:t>
            </a:r>
            <a:r>
              <a:rPr lang="zh-CN" altLang="en-US" dirty="0">
                <a:solidFill>
                  <a:schemeClr val="bg1"/>
                </a:solidFill>
              </a:rPr>
              <a:t>選擇屬性是否</a:t>
            </a:r>
            <a:r>
              <a:rPr lang="zh-CN" altLang="en-US" dirty="0">
                <a:solidFill>
                  <a:srgbClr val="FF0000"/>
                </a:solidFill>
              </a:rPr>
              <a:t>作為查詢條件</a:t>
            </a:r>
            <a:r>
              <a:rPr lang="zh-CN" altLang="en-US" dirty="0">
                <a:solidFill>
                  <a:schemeClr val="bg1"/>
                </a:solidFill>
              </a:rPr>
              <a:t>與是否</a:t>
            </a:r>
            <a:r>
              <a:rPr lang="zh-CN" altLang="en-US" dirty="0">
                <a:solidFill>
                  <a:srgbClr val="FF0000"/>
                </a:solidFill>
              </a:rPr>
              <a:t>作為文件查詢列表中的字段 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4.</a:t>
            </a:r>
            <a:r>
              <a:rPr lang="zh-CN" altLang="en-US" dirty="0">
                <a:solidFill>
                  <a:schemeClr val="bg1"/>
                </a:solidFill>
              </a:rPr>
              <a:t>簽核配置中</a:t>
            </a:r>
            <a:r>
              <a:rPr lang="zh-CN" altLang="en-US" dirty="0">
                <a:solidFill>
                  <a:srgbClr val="FF0000"/>
                </a:solidFill>
              </a:rPr>
              <a:t>維護文件類型對應的</a:t>
            </a:r>
            <a:r>
              <a:rPr lang="zh-CN" altLang="en-US" dirty="0" smtClean="0">
                <a:solidFill>
                  <a:srgbClr val="FF0000"/>
                </a:solidFill>
              </a:rPr>
              <a:t>流程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 smtClean="0">
                <a:solidFill>
                  <a:schemeClr val="bg1"/>
                </a:solidFill>
              </a:rPr>
              <a:t>5.</a:t>
            </a:r>
            <a:r>
              <a:rPr lang="zh-CN" altLang="en-US" dirty="0" smtClean="0">
                <a:solidFill>
                  <a:srgbClr val="FF0000"/>
                </a:solidFill>
              </a:rPr>
              <a:t>建立文件類型與對應的流程一對一關係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25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C14A556-87BD-4F2F-AA94-644288F4F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04" y="143010"/>
            <a:ext cx="11003794" cy="614771"/>
          </a:xfrm>
          <a:prstGeom prst="rect">
            <a:avLst/>
          </a:prstGeom>
        </p:spPr>
        <p:txBody>
          <a:bodyPr anchor="t">
            <a:normAutofit fontScale="90000"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-US" altLang="zh-TW" dirty="0"/>
              <a:t>7</a:t>
            </a:r>
            <a:r>
              <a:rPr lang="en-US" altLang="zh-TW" dirty="0" smtClean="0"/>
              <a:t>. </a:t>
            </a:r>
            <a:endParaRPr lang="zh-TW" altLang="en-US" dirty="0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8D98E41F-42A7-4440-988F-A60706BC1616}"/>
              </a:ext>
            </a:extLst>
          </p:cNvPr>
          <p:cNvSpPr txBox="1">
            <a:spLocks/>
          </p:cNvSpPr>
          <p:nvPr/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100" b="1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7</a:t>
            </a:fld>
            <a:r>
              <a:rPr lang="en-US" altLang="zh-TW" dirty="0"/>
              <a:t> / </a:t>
            </a:r>
            <a:r>
              <a:rPr lang="en-US" altLang="zh-TW" dirty="0" smtClean="0"/>
              <a:t>5</a:t>
            </a:r>
            <a:endParaRPr lang="en-US" altLang="zh-TW" dirty="0"/>
          </a:p>
        </p:txBody>
      </p:sp>
      <p:sp>
        <p:nvSpPr>
          <p:cNvPr id="4" name="TextBox 138"/>
          <p:cNvSpPr txBox="1">
            <a:spLocks noChangeArrowheads="1"/>
          </p:cNvSpPr>
          <p:nvPr/>
        </p:nvSpPr>
        <p:spPr bwMode="auto">
          <a:xfrm>
            <a:off x="11329988" y="6858000"/>
            <a:ext cx="86201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2" tIns="60956" rIns="121912" bIns="6095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120000"/>
              </a:lnSpc>
              <a:buFontTx/>
              <a:buNone/>
            </a:pPr>
            <a:r>
              <a:rPr lang="zh-CN" altLang="en-US" sz="160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延时付</a:t>
            </a:r>
          </a:p>
        </p:txBody>
      </p:sp>
      <p:sp>
        <p:nvSpPr>
          <p:cNvPr id="21" name="TextBox 88"/>
          <p:cNvSpPr txBox="1"/>
          <p:nvPr/>
        </p:nvSpPr>
        <p:spPr>
          <a:xfrm>
            <a:off x="1146953" y="185896"/>
            <a:ext cx="32587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文件查詢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defRPr/>
            </a:pP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6" name="圖片 85">
            <a:extLst>
              <a:ext uri="{FF2B5EF4-FFF2-40B4-BE49-F238E27FC236}">
                <a16:creationId xmlns:a16="http://schemas.microsoft.com/office/drawing/2014/main" id="{610B807E-2FFD-4AB8-9CA0-1300B6743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35" name="文字方塊 34"/>
          <p:cNvSpPr txBox="1"/>
          <p:nvPr/>
        </p:nvSpPr>
        <p:spPr>
          <a:xfrm>
            <a:off x="8136848" y="1862051"/>
            <a:ext cx="27753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說明</a:t>
            </a:r>
            <a:r>
              <a:rPr lang="zh-CN" altLang="en-US" sz="2000" dirty="0" smtClean="0">
                <a:solidFill>
                  <a:schemeClr val="bg1"/>
                </a:solidFill>
              </a:rPr>
              <a:t>：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r>
              <a:rPr lang="en-US" altLang="zh-CN" sz="2000" dirty="0" smtClean="0">
                <a:solidFill>
                  <a:schemeClr val="bg1"/>
                </a:solidFill>
              </a:rPr>
              <a:t>1.QMS</a:t>
            </a:r>
            <a:r>
              <a:rPr lang="zh-CN" altLang="en-US" sz="2000" dirty="0" smtClean="0">
                <a:solidFill>
                  <a:schemeClr val="bg1"/>
                </a:solidFill>
              </a:rPr>
              <a:t>專區中</a:t>
            </a:r>
            <a:r>
              <a:rPr lang="zh-CN" altLang="en-US" sz="2000" dirty="0" smtClean="0">
                <a:solidFill>
                  <a:srgbClr val="FF0000"/>
                </a:solidFill>
              </a:rPr>
              <a:t>選中要查詢的文件夾</a:t>
            </a:r>
            <a:r>
              <a:rPr lang="zh-CN" altLang="en-US" sz="2000" dirty="0" smtClean="0">
                <a:solidFill>
                  <a:schemeClr val="bg1"/>
                </a:solidFill>
              </a:rPr>
              <a:t> 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r>
              <a:rPr lang="en-US" altLang="zh-CN" sz="2000" dirty="0" smtClean="0">
                <a:solidFill>
                  <a:schemeClr val="bg1"/>
                </a:solidFill>
              </a:rPr>
              <a:t>2.</a:t>
            </a:r>
            <a:r>
              <a:rPr lang="zh-CN" altLang="en-US" sz="2000" dirty="0" smtClean="0">
                <a:solidFill>
                  <a:schemeClr val="bg1"/>
                </a:solidFill>
              </a:rPr>
              <a:t>文件類型對應</a:t>
            </a:r>
            <a:r>
              <a:rPr lang="zh-CN" altLang="en-US" sz="2000" dirty="0">
                <a:solidFill>
                  <a:schemeClr val="bg1"/>
                </a:solidFill>
              </a:rPr>
              <a:t>的</a:t>
            </a:r>
            <a:r>
              <a:rPr lang="zh-CN" altLang="en-US" sz="2000" dirty="0" smtClean="0">
                <a:solidFill>
                  <a:srgbClr val="FF0000"/>
                </a:solidFill>
              </a:rPr>
              <a:t>屬性作為查詢條件</a:t>
            </a:r>
            <a:r>
              <a:rPr lang="en-US" altLang="zh-CN" sz="2000" dirty="0" smtClean="0">
                <a:solidFill>
                  <a:schemeClr val="bg1"/>
                </a:solidFill>
              </a:rPr>
              <a:t>(</a:t>
            </a:r>
            <a:r>
              <a:rPr lang="zh-CN" altLang="en-US" sz="2000" dirty="0" smtClean="0">
                <a:solidFill>
                  <a:schemeClr val="bg1"/>
                </a:solidFill>
              </a:rPr>
              <a:t>可選</a:t>
            </a:r>
            <a:r>
              <a:rPr lang="en-US" altLang="zh-CN" sz="2000" dirty="0" smtClean="0">
                <a:solidFill>
                  <a:schemeClr val="bg1"/>
                </a:solidFill>
              </a:rPr>
              <a:t>)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r>
              <a:rPr lang="en-US" altLang="zh-CN" sz="2000" dirty="0" smtClean="0">
                <a:solidFill>
                  <a:schemeClr val="bg1"/>
                </a:solidFill>
              </a:rPr>
              <a:t>3</a:t>
            </a:r>
            <a:r>
              <a:rPr lang="en-US" altLang="zh-CN" sz="2000" dirty="0" smtClean="0">
                <a:solidFill>
                  <a:schemeClr val="bg1"/>
                </a:solidFill>
              </a:rPr>
              <a:t>.</a:t>
            </a:r>
            <a:r>
              <a:rPr lang="zh-CN" altLang="en-US" sz="2000" dirty="0" smtClean="0">
                <a:solidFill>
                  <a:schemeClr val="bg1"/>
                </a:solidFill>
              </a:rPr>
              <a:t>點擊查詢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r>
              <a:rPr lang="en-US" altLang="zh-CN" sz="2000" dirty="0" smtClean="0">
                <a:solidFill>
                  <a:schemeClr val="bg1"/>
                </a:solidFill>
              </a:rPr>
              <a:t>4</a:t>
            </a:r>
            <a:r>
              <a:rPr lang="en-US" altLang="zh-CN" sz="2000" dirty="0" smtClean="0">
                <a:solidFill>
                  <a:schemeClr val="bg1"/>
                </a:solidFill>
              </a:rPr>
              <a:t>.</a:t>
            </a:r>
            <a:r>
              <a:rPr lang="zh-CN" altLang="en-US" sz="2000" dirty="0">
                <a:solidFill>
                  <a:schemeClr val="bg1"/>
                </a:solidFill>
              </a:rPr>
              <a:t>文件類型對應的</a:t>
            </a:r>
            <a:r>
              <a:rPr lang="zh-CN" altLang="en-US" sz="2000" dirty="0">
                <a:solidFill>
                  <a:srgbClr val="FF0000"/>
                </a:solidFill>
              </a:rPr>
              <a:t>屬性</a:t>
            </a:r>
            <a:r>
              <a:rPr lang="zh-CN" altLang="en-US" sz="2000" dirty="0" smtClean="0">
                <a:solidFill>
                  <a:srgbClr val="FF0000"/>
                </a:solidFill>
              </a:rPr>
              <a:t>作為查詢列表</a:t>
            </a:r>
            <a:r>
              <a:rPr lang="en-US" altLang="zh-CN" sz="2000" dirty="0" smtClean="0">
                <a:solidFill>
                  <a:schemeClr val="bg1"/>
                </a:solidFill>
              </a:rPr>
              <a:t>(</a:t>
            </a:r>
            <a:r>
              <a:rPr lang="zh-CN" altLang="en-US" sz="2000" dirty="0">
                <a:solidFill>
                  <a:schemeClr val="bg1"/>
                </a:solidFill>
              </a:rPr>
              <a:t>可選</a:t>
            </a:r>
            <a:r>
              <a:rPr lang="en-US" altLang="zh-CN" sz="2000" dirty="0">
                <a:solidFill>
                  <a:schemeClr val="bg1"/>
                </a:solidFill>
              </a:rPr>
              <a:t>)</a:t>
            </a:r>
          </a:p>
          <a:p>
            <a:endParaRPr lang="en-US" altLang="zh-CN" sz="2000" dirty="0" smtClean="0">
              <a:solidFill>
                <a:schemeClr val="bg1"/>
              </a:solidFill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1948037"/>
            <a:ext cx="6840264" cy="4453467"/>
          </a:xfrm>
          <a:prstGeom prst="rect">
            <a:avLst/>
          </a:prstGeom>
        </p:spPr>
      </p:pic>
      <p:sp>
        <p:nvSpPr>
          <p:cNvPr id="36" name="橢圓 35"/>
          <p:cNvSpPr/>
          <p:nvPr/>
        </p:nvSpPr>
        <p:spPr>
          <a:xfrm>
            <a:off x="330200" y="3525961"/>
            <a:ext cx="607385" cy="2586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471809" y="3444376"/>
            <a:ext cx="324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1506852" y="3020472"/>
            <a:ext cx="565266" cy="299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字方塊 38"/>
          <p:cNvSpPr txBox="1"/>
          <p:nvPr/>
        </p:nvSpPr>
        <p:spPr>
          <a:xfrm>
            <a:off x="1638642" y="29854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1390787" y="3319730"/>
            <a:ext cx="410291" cy="299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1445089" y="3284693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3225185" y="3664079"/>
            <a:ext cx="2142682" cy="299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4034375" y="3654025"/>
            <a:ext cx="388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58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31"/>
          <p:cNvSpPr>
            <a:spLocks noChangeArrowheads="1"/>
          </p:cNvSpPr>
          <p:nvPr/>
        </p:nvSpPr>
        <p:spPr bwMode="auto">
          <a:xfrm>
            <a:off x="4305300" y="2384425"/>
            <a:ext cx="84138" cy="99695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45" name="矩形 6"/>
          <p:cNvSpPr>
            <a:spLocks noChangeArrowheads="1"/>
          </p:cNvSpPr>
          <p:nvPr/>
        </p:nvSpPr>
        <p:spPr bwMode="auto">
          <a:xfrm>
            <a:off x="3621088" y="1876425"/>
            <a:ext cx="334962" cy="83185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46" name="任意多边形 43"/>
          <p:cNvSpPr>
            <a:spLocks/>
          </p:cNvSpPr>
          <p:nvPr/>
        </p:nvSpPr>
        <p:spPr bwMode="auto">
          <a:xfrm rot="2694935">
            <a:off x="3578225" y="1730375"/>
            <a:ext cx="419100" cy="2019300"/>
          </a:xfrm>
          <a:custGeom>
            <a:avLst/>
            <a:gdLst>
              <a:gd name="T0" fmla="*/ 0 w 419914"/>
              <a:gd name="T1" fmla="*/ 41884 h 2019468"/>
              <a:gd name="T2" fmla="*/ 81131 w 419914"/>
              <a:gd name="T3" fmla="*/ 0 h 2019468"/>
              <a:gd name="T4" fmla="*/ 419914 w 419914"/>
              <a:gd name="T5" fmla="*/ 0 h 2019468"/>
              <a:gd name="T6" fmla="*/ 419914 w 419914"/>
              <a:gd name="T7" fmla="*/ 1600789 h 2019468"/>
              <a:gd name="T8" fmla="*/ 0 w 419914"/>
              <a:gd name="T9" fmla="*/ 2019468 h 2019468"/>
              <a:gd name="T10" fmla="*/ 0 w 419914"/>
              <a:gd name="T11" fmla="*/ 0 h 2019468"/>
              <a:gd name="T12" fmla="*/ 419914 w 419914"/>
              <a:gd name="T13" fmla="*/ 2019468 h 2019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419914" h="2019468">
                <a:moveTo>
                  <a:pt x="0" y="41884"/>
                </a:moveTo>
                <a:lnTo>
                  <a:pt x="81131" y="0"/>
                </a:lnTo>
                <a:lnTo>
                  <a:pt x="419914" y="0"/>
                </a:lnTo>
                <a:lnTo>
                  <a:pt x="419914" y="1600789"/>
                </a:lnTo>
                <a:lnTo>
                  <a:pt x="0" y="20194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7" name="文本框 32"/>
          <p:cNvSpPr>
            <a:spLocks noChangeArrowheads="1"/>
          </p:cNvSpPr>
          <p:nvPr/>
        </p:nvSpPr>
        <p:spPr bwMode="auto">
          <a:xfrm>
            <a:off x="3135313" y="3940175"/>
            <a:ext cx="5980112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6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THANK   YOU</a:t>
            </a:r>
            <a:endParaRPr lang="zh-CN" altLang="en-US" sz="6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8" name="任意多边形 44"/>
          <p:cNvSpPr>
            <a:spLocks/>
          </p:cNvSpPr>
          <p:nvPr/>
        </p:nvSpPr>
        <p:spPr bwMode="auto">
          <a:xfrm rot="11906217">
            <a:off x="4005263" y="2825750"/>
            <a:ext cx="6084887" cy="1111250"/>
          </a:xfrm>
          <a:custGeom>
            <a:avLst/>
            <a:gdLst>
              <a:gd name="T0" fmla="*/ 6076952 w 6084724"/>
              <a:gd name="T1" fmla="*/ 627714 h 627714"/>
              <a:gd name="T2" fmla="*/ 0 w 6084724"/>
              <a:gd name="T3" fmla="*/ 627714 h 627714"/>
              <a:gd name="T4" fmla="*/ 4552423 w 6084724"/>
              <a:gd name="T5" fmla="*/ 0 h 627714"/>
              <a:gd name="T6" fmla="*/ 6084724 w 6084724"/>
              <a:gd name="T7" fmla="*/ 611950 h 627714"/>
              <a:gd name="T8" fmla="*/ 0 w 6084724"/>
              <a:gd name="T9" fmla="*/ 0 h 627714"/>
              <a:gd name="T10" fmla="*/ 6084724 w 6084724"/>
              <a:gd name="T11" fmla="*/ 627714 h 6277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6084724" h="627714">
                <a:moveTo>
                  <a:pt x="6076952" y="627714"/>
                </a:moveTo>
                <a:lnTo>
                  <a:pt x="0" y="627714"/>
                </a:lnTo>
                <a:lnTo>
                  <a:pt x="4552423" y="0"/>
                </a:lnTo>
                <a:lnTo>
                  <a:pt x="6084724" y="6119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86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43380</TotalTime>
  <Words>299</Words>
  <Application>Microsoft Office PowerPoint</Application>
  <PresentationFormat>寬螢幕</PresentationFormat>
  <Paragraphs>75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9" baseType="lpstr">
      <vt:lpstr>等线</vt:lpstr>
      <vt:lpstr>微软雅黑</vt:lpstr>
      <vt:lpstr>微软雅黑</vt:lpstr>
      <vt:lpstr>宋体</vt:lpstr>
      <vt:lpstr>Microsoft JhengHei</vt:lpstr>
      <vt:lpstr>新細明體</vt:lpstr>
      <vt:lpstr>Arial</vt:lpstr>
      <vt:lpstr>Calibri</vt:lpstr>
      <vt:lpstr>Calibri Light</vt:lpstr>
      <vt:lpstr>Tahoma</vt:lpstr>
      <vt:lpstr>Office 佈景主題</vt:lpstr>
      <vt:lpstr>FIH 知識管理系統介紹</vt:lpstr>
      <vt:lpstr>2. </vt:lpstr>
      <vt:lpstr>3. </vt:lpstr>
      <vt:lpstr>4. </vt:lpstr>
      <vt:lpstr>5. </vt:lpstr>
      <vt:lpstr>6. </vt:lpstr>
      <vt:lpstr>7. 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Services</dc:title>
  <dc:creator>WenChen(陳献文)</dc:creator>
  <cp:lastModifiedBy>Li zhen</cp:lastModifiedBy>
  <cp:revision>604</cp:revision>
  <dcterms:created xsi:type="dcterms:W3CDTF">2024-05-27T03:08:24Z</dcterms:created>
  <dcterms:modified xsi:type="dcterms:W3CDTF">2024-10-22T01:18:29Z</dcterms:modified>
</cp:coreProperties>
</file>