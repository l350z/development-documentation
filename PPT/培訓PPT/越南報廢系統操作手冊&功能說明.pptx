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sldIdLst>
    <p:sldId id="276" r:id="rId5"/>
    <p:sldId id="257" r:id="rId6"/>
    <p:sldId id="303" r:id="rId7"/>
    <p:sldId id="258" r:id="rId8"/>
    <p:sldId id="308" r:id="rId9"/>
    <p:sldId id="306" r:id="rId10"/>
    <p:sldId id="285" r:id="rId11"/>
    <p:sldId id="259" r:id="rId12"/>
    <p:sldId id="286" r:id="rId13"/>
    <p:sldId id="309" r:id="rId14"/>
    <p:sldId id="281" r:id="rId15"/>
    <p:sldId id="318" r:id="rId16"/>
    <p:sldId id="320" r:id="rId17"/>
    <p:sldId id="321" r:id="rId18"/>
    <p:sldId id="322" r:id="rId19"/>
    <p:sldId id="319" r:id="rId20"/>
    <p:sldId id="289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275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 zhen" initials="Lz" lastIdx="1" clrIdx="0">
    <p:extLst>
      <p:ext uri="{19B8F6BF-5375-455C-9EA6-DF929625EA0E}">
        <p15:presenceInfo xmlns:p15="http://schemas.microsoft.com/office/powerpoint/2012/main" userId="S-1-5-21-2922650812-1607269315-2852258177-13577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7635"/>
    <a:srgbClr val="26728A"/>
    <a:srgbClr val="F5F5F5"/>
    <a:srgbClr val="F0F0F0"/>
    <a:srgbClr val="DDDDDD"/>
    <a:srgbClr val="FFFFFF"/>
    <a:srgbClr val="692A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9" autoAdjust="0"/>
    <p:restoredTop sz="94660"/>
  </p:normalViewPr>
  <p:slideViewPr>
    <p:cSldViewPr>
      <p:cViewPr varScale="1">
        <p:scale>
          <a:sx n="109" d="100"/>
          <a:sy n="109" d="100"/>
        </p:scale>
        <p:origin x="168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AE65A-7A63-4970-AF16-D02E431D8051}" type="datetimeFigureOut">
              <a:rPr lang="zh-CN" altLang="en-US" smtClean="0"/>
              <a:t>2024/9/19</a:t>
            </a:fld>
            <a:endParaRPr lang="zh-CN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17B5F-75FD-47F6-9C4E-516A5F670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933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417B5F-75FD-47F6-9C4E-516A5F67031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308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417B5F-75FD-47F6-9C4E-516A5F67031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019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417B5F-75FD-47F6-9C4E-516A5F67031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923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417B5F-75FD-47F6-9C4E-516A5F67031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890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417B5F-75FD-47F6-9C4E-516A5F67031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973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417B5F-75FD-47F6-9C4E-516A5F67031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952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417B5F-75FD-47F6-9C4E-516A5F67031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322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417B5F-75FD-47F6-9C4E-516A5F67031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289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417B5F-75FD-47F6-9C4E-516A5F67031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644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 bwMode="lt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77000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fld id="{435DC776-6FD1-4771-B646-BA4E1CE21D7D}" type="slidenum">
              <a:rPr lang="zh-CN" altLang="en-US"/>
              <a:pPr/>
              <a:t>‹#›</a:t>
            </a:fld>
            <a:endParaRPr lang="en-US" altLang="zh-CN"/>
          </a:p>
        </p:txBody>
      </p:sp>
      <p:grpSp>
        <p:nvGrpSpPr>
          <p:cNvPr id="3088" name="Group 16"/>
          <p:cNvGrpSpPr>
            <a:grpSpLocks/>
          </p:cNvGrpSpPr>
          <p:nvPr/>
        </p:nvGrpSpPr>
        <p:grpSpPr bwMode="auto">
          <a:xfrm>
            <a:off x="4114800" y="5691188"/>
            <a:ext cx="1079500" cy="633412"/>
            <a:chOff x="2680" y="3678"/>
            <a:chExt cx="680" cy="399"/>
          </a:xfrm>
        </p:grpSpPr>
        <p:sp>
          <p:nvSpPr>
            <p:cNvPr id="3086" name="Text Box 14"/>
            <p:cNvSpPr txBox="1">
              <a:spLocks noChangeArrowheads="1"/>
            </p:cNvSpPr>
            <p:nvPr/>
          </p:nvSpPr>
          <p:spPr bwMode="gray">
            <a:xfrm>
              <a:off x="2680" y="3789"/>
              <a:ext cx="6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ea typeface="SimSun" pitchFamily="2" charset="-122"/>
                </a:rPr>
                <a:t>LOGO</a:t>
              </a:r>
            </a:p>
          </p:txBody>
        </p:sp>
        <p:sp>
          <p:nvSpPr>
            <p:cNvPr id="3087" name="AutoShape 15"/>
            <p:cNvSpPr>
              <a:spLocks noChangeArrowheads="1"/>
            </p:cNvSpPr>
            <p:nvPr/>
          </p:nvSpPr>
          <p:spPr bwMode="gray">
            <a:xfrm rot="5400000">
              <a:off x="2928" y="3493"/>
              <a:ext cx="172" cy="542"/>
            </a:xfrm>
            <a:prstGeom prst="moon">
              <a:avLst>
                <a:gd name="adj" fmla="val 21208"/>
              </a:avLst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39850"/>
            <a:ext cx="7696200" cy="1241425"/>
          </a:xfrm>
          <a:effectLst>
            <a:outerShdw dist="53882" dir="2700000" algn="ctr" rotWithShape="0">
              <a:schemeClr val="tx1"/>
            </a:outerShdw>
          </a:effectLst>
        </p:spPr>
        <p:txBody>
          <a:bodyPr/>
          <a:lstStyle>
            <a:lvl1pPr>
              <a:defRPr sz="5200"/>
            </a:lvl1pPr>
          </a:lstStyle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743200"/>
            <a:ext cx="6324600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TW" altLang="en-US" smtClean="0"/>
              <a:t>按一下以編輯母片副標題樣式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AA116D-763A-4072-8C23-E64F6FF3E57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FDC6B-CF09-40AE-87C5-39DBB3ED840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3400" y="10668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0668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03EE0C-E727-41F0-8285-01C3F5D9456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861B7A-F886-4FAF-BE7F-30BEFD5EA55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EC907-084E-409F-96E0-DB38CB7D721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889E5-2A34-4F8E-9BA7-2AB40790C2B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AA32DF-4FFC-4257-B8D0-9DB9F81475F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E5CEF9-2131-485F-A4EC-BCF234733E9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D67210-DFED-4EED-98D7-4E4B772FA83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19900" y="152400"/>
            <a:ext cx="2095500" cy="61722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33400" y="152400"/>
            <a:ext cx="6134100" cy="61722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E3479-C724-4542-B5CA-12B2DD90E8A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7620000" cy="563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3400" y="1066800"/>
            <a:ext cx="8229600" cy="5257800"/>
          </a:xfrm>
        </p:spPr>
        <p:txBody>
          <a:bodyPr/>
          <a:lstStyle/>
          <a:p>
            <a:r>
              <a:rPr lang="zh-TW" altLang="en-US" smtClean="0"/>
              <a:t>按一下圖示以新增表格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586538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586538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586538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9763FE55-DEB0-4A2B-ADE3-EE55FDD3E83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AutoShape 43"/>
          <p:cNvSpPr>
            <a:spLocks noChangeArrowheads="1"/>
          </p:cNvSpPr>
          <p:nvPr/>
        </p:nvSpPr>
        <p:spPr bwMode="white">
          <a:xfrm>
            <a:off x="239713" y="773113"/>
            <a:ext cx="8653462" cy="5780087"/>
          </a:xfrm>
          <a:prstGeom prst="roundRect">
            <a:avLst>
              <a:gd name="adj" fmla="val 6648"/>
            </a:avLst>
          </a:prstGeom>
          <a:gradFill rotWithShape="1">
            <a:gsLst>
              <a:gs pos="0">
                <a:schemeClr val="bg2"/>
              </a:gs>
              <a:gs pos="50000">
                <a:schemeClr val="bg2">
                  <a:gamma/>
                  <a:tint val="21176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 w="2857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66" name="AutoShape 42"/>
          <p:cNvSpPr>
            <a:spLocks noChangeArrowheads="1"/>
          </p:cNvSpPr>
          <p:nvPr/>
        </p:nvSpPr>
        <p:spPr bwMode="auto">
          <a:xfrm>
            <a:off x="304800" y="838200"/>
            <a:ext cx="8534400" cy="5649913"/>
          </a:xfrm>
          <a:prstGeom prst="roundRect">
            <a:avLst>
              <a:gd name="adj" fmla="val 6250"/>
            </a:avLst>
          </a:prstGeom>
          <a:solidFill>
            <a:schemeClr val="bg1">
              <a:alpha val="89999"/>
            </a:schemeClr>
          </a:solidFill>
          <a:ln w="2857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57" name="AutoShape 33"/>
          <p:cNvSpPr>
            <a:spLocks noChangeArrowheads="1"/>
          </p:cNvSpPr>
          <p:nvPr/>
        </p:nvSpPr>
        <p:spPr bwMode="gray">
          <a:xfrm rot="-37800000">
            <a:off x="163513" y="338138"/>
            <a:ext cx="381000" cy="228600"/>
          </a:xfrm>
          <a:prstGeom prst="triangle">
            <a:avLst>
              <a:gd name="adj" fmla="val 50000"/>
            </a:avLst>
          </a:prstGeom>
          <a:solidFill>
            <a:schemeClr val="tx1">
              <a:alpha val="84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58" name="AutoShape 34"/>
          <p:cNvSpPr>
            <a:spLocks noChangeArrowheads="1"/>
          </p:cNvSpPr>
          <p:nvPr/>
        </p:nvSpPr>
        <p:spPr bwMode="gray">
          <a:xfrm rot="-37800000">
            <a:off x="468313" y="338138"/>
            <a:ext cx="381000" cy="228600"/>
          </a:xfrm>
          <a:prstGeom prst="triangle">
            <a:avLst>
              <a:gd name="adj" fmla="val 50000"/>
            </a:avLst>
          </a:prstGeom>
          <a:solidFill>
            <a:schemeClr val="tx1">
              <a:alpha val="56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59" name="AutoShape 35"/>
          <p:cNvSpPr>
            <a:spLocks noChangeArrowheads="1"/>
          </p:cNvSpPr>
          <p:nvPr/>
        </p:nvSpPr>
        <p:spPr bwMode="gray">
          <a:xfrm rot="-37800000">
            <a:off x="773113" y="338138"/>
            <a:ext cx="381000" cy="228600"/>
          </a:xfrm>
          <a:prstGeom prst="triangle">
            <a:avLst>
              <a:gd name="adj" fmla="val 50000"/>
            </a:avLst>
          </a:prstGeom>
          <a:solidFill>
            <a:schemeClr val="tx1">
              <a:alpha val="2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066800"/>
            <a:ext cx="8229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86538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  <a:ea typeface="SimSun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86538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  <a:ea typeface="SimSun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86538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ea typeface="SimSun" pitchFamily="2" charset="-122"/>
              </a:defRPr>
            </a:lvl1pPr>
          </a:lstStyle>
          <a:p>
            <a:fld id="{D15EFD67-0D5A-40CD-8CEA-CBEEA324B120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152400"/>
            <a:ext cx="76200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onescrap.fushan.fihnbb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ea typeface="SimSun" pitchFamily="2" charset="-122"/>
              </a:rPr>
              <a:t> </a:t>
            </a:r>
            <a:r>
              <a:rPr lang="zh-CN" altLang="en-US" dirty="0" smtClean="0">
                <a:ea typeface="SimSun" pitchFamily="2" charset="-122"/>
              </a:rPr>
              <a:t>     </a:t>
            </a:r>
            <a:r>
              <a:rPr lang="zh-CN" altLang="en-US" dirty="0" smtClean="0">
                <a:solidFill>
                  <a:schemeClr val="folHlink"/>
                </a:solidFill>
                <a:ea typeface="SimSun" pitchFamily="2" charset="-122"/>
              </a:rPr>
              <a:t>越南報廢管理系統</a:t>
            </a:r>
            <a:endParaRPr lang="en-US" altLang="zh-CN" dirty="0">
              <a:solidFill>
                <a:schemeClr val="folHlink"/>
              </a:solidFill>
              <a:ea typeface="SimSun" pitchFamily="2" charset="-122"/>
            </a:endParaRPr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851397" y="2608541"/>
            <a:ext cx="5365006" cy="381000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en-US" altLang="zh-CN" sz="2200" dirty="0" smtClean="0">
                <a:ea typeface="SimSun" pitchFamily="2" charset="-122"/>
              </a:rPr>
              <a:t>http://</a:t>
            </a:r>
            <a:r>
              <a:rPr lang="en-US" altLang="zh-CN" sz="2400" dirty="0" smtClean="0"/>
              <a:t>onescrap.fushan.fihnbb.com</a:t>
            </a:r>
            <a:endParaRPr lang="en-US" altLang="zh-CN" sz="2200" dirty="0">
              <a:ea typeface="SimSun" pitchFamily="2" charset="-122"/>
            </a:endParaRPr>
          </a:p>
        </p:txBody>
      </p:sp>
      <p:sp>
        <p:nvSpPr>
          <p:cNvPr id="61446" name="AutoShape 6"/>
          <p:cNvSpPr>
            <a:spLocks noChangeArrowheads="1"/>
          </p:cNvSpPr>
          <p:nvPr/>
        </p:nvSpPr>
        <p:spPr bwMode="auto">
          <a:xfrm rot="2825475">
            <a:off x="6899698" y="3158934"/>
            <a:ext cx="633413" cy="392113"/>
          </a:xfrm>
          <a:prstGeom prst="leftArrow">
            <a:avLst>
              <a:gd name="adj1" fmla="val 24509"/>
              <a:gd name="adj2" fmla="val 106316"/>
            </a:avLst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目錄</a:t>
            </a:r>
            <a:endParaRPr lang="en-US" altLang="zh-CN" sz="2000" dirty="0">
              <a:solidFill>
                <a:schemeClr val="accent1"/>
              </a:solidFill>
              <a:ea typeface="SimSun" pitchFamily="2" charset="-122"/>
            </a:endParaRPr>
          </a:p>
        </p:txBody>
      </p:sp>
      <p:grpSp>
        <p:nvGrpSpPr>
          <p:cNvPr id="41047" name="Group 87"/>
          <p:cNvGrpSpPr>
            <a:grpSpLocks/>
          </p:cNvGrpSpPr>
          <p:nvPr/>
        </p:nvGrpSpPr>
        <p:grpSpPr bwMode="auto">
          <a:xfrm>
            <a:off x="2057400" y="1784350"/>
            <a:ext cx="5094288" cy="555625"/>
            <a:chOff x="1296" y="1124"/>
            <a:chExt cx="3209" cy="350"/>
          </a:xfrm>
        </p:grpSpPr>
        <p:sp>
          <p:nvSpPr>
            <p:cNvPr id="41025" name="Line 65"/>
            <p:cNvSpPr>
              <a:spLocks noChangeShapeType="1"/>
            </p:cNvSpPr>
            <p:nvPr/>
          </p:nvSpPr>
          <p:spPr bwMode="gray">
            <a:xfrm>
              <a:off x="1481" y="1474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1024" name="Rectangle 64"/>
            <p:cNvSpPr>
              <a:spLocks noChangeArrowheads="1"/>
            </p:cNvSpPr>
            <p:nvPr/>
          </p:nvSpPr>
          <p:spPr bwMode="gray">
            <a:xfrm rot="3419336">
              <a:off x="1309" y="1111"/>
              <a:ext cx="302" cy="328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 wrap="none" anchor="ctr">
              <a:flatTx/>
            </a:bodyPr>
            <a:lstStyle/>
            <a:p>
              <a:endParaRPr lang="zh-TW" altLang="en-US"/>
            </a:p>
          </p:txBody>
        </p:sp>
        <p:sp>
          <p:nvSpPr>
            <p:cNvPr id="41026" name="Text Box 66"/>
            <p:cNvSpPr txBox="1">
              <a:spLocks noChangeArrowheads="1"/>
            </p:cNvSpPr>
            <p:nvPr/>
          </p:nvSpPr>
          <p:spPr bwMode="gray">
            <a:xfrm>
              <a:off x="1817" y="1166"/>
              <a:ext cx="2455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dirty="0" smtClean="0">
                  <a:ea typeface="SimSun" pitchFamily="2" charset="-122"/>
                </a:rPr>
                <a:t>系統概述</a:t>
              </a:r>
              <a:endParaRPr lang="en-US" altLang="zh-CN" sz="2400" dirty="0">
                <a:ea typeface="SimSun" pitchFamily="2" charset="-122"/>
              </a:endParaRPr>
            </a:p>
          </p:txBody>
        </p:sp>
        <p:sp>
          <p:nvSpPr>
            <p:cNvPr id="41027" name="Text Box 67"/>
            <p:cNvSpPr txBox="1">
              <a:spLocks noChangeArrowheads="1"/>
            </p:cNvSpPr>
            <p:nvPr/>
          </p:nvSpPr>
          <p:spPr bwMode="gray">
            <a:xfrm>
              <a:off x="1358" y="1131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 b="1">
                  <a:solidFill>
                    <a:schemeClr val="bg1"/>
                  </a:solidFill>
                  <a:ea typeface="SimSun" pitchFamily="2" charset="-122"/>
                </a:rPr>
                <a:t>1</a:t>
              </a:r>
            </a:p>
          </p:txBody>
        </p:sp>
      </p:grpSp>
      <p:grpSp>
        <p:nvGrpSpPr>
          <p:cNvPr id="41048" name="Group 88"/>
          <p:cNvGrpSpPr>
            <a:grpSpLocks/>
          </p:cNvGrpSpPr>
          <p:nvPr/>
        </p:nvGrpSpPr>
        <p:grpSpPr bwMode="auto">
          <a:xfrm>
            <a:off x="2057400" y="2720975"/>
            <a:ext cx="5094288" cy="555625"/>
            <a:chOff x="1296" y="1714"/>
            <a:chExt cx="3209" cy="350"/>
          </a:xfrm>
        </p:grpSpPr>
        <p:sp>
          <p:nvSpPr>
            <p:cNvPr id="41030" name="Line 70"/>
            <p:cNvSpPr>
              <a:spLocks noChangeShapeType="1"/>
            </p:cNvSpPr>
            <p:nvPr/>
          </p:nvSpPr>
          <p:spPr bwMode="gray">
            <a:xfrm>
              <a:off x="1481" y="2064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1029" name="Rectangle 69"/>
            <p:cNvSpPr>
              <a:spLocks noChangeArrowheads="1"/>
            </p:cNvSpPr>
            <p:nvPr/>
          </p:nvSpPr>
          <p:spPr bwMode="gray">
            <a:xfrm rot="3419336">
              <a:off x="1309" y="1701"/>
              <a:ext cx="302" cy="328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zh-TW" altLang="en-US"/>
            </a:p>
          </p:txBody>
        </p:sp>
        <p:sp>
          <p:nvSpPr>
            <p:cNvPr id="41031" name="Text Box 71"/>
            <p:cNvSpPr txBox="1">
              <a:spLocks noChangeArrowheads="1"/>
            </p:cNvSpPr>
            <p:nvPr/>
          </p:nvSpPr>
          <p:spPr bwMode="gray">
            <a:xfrm>
              <a:off x="1817" y="1756"/>
              <a:ext cx="2455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dirty="0" smtClean="0">
                  <a:ea typeface="SimSun" pitchFamily="2" charset="-122"/>
                </a:rPr>
                <a:t>流程介紹</a:t>
              </a:r>
              <a:endParaRPr lang="en-US" altLang="zh-CN" sz="2400" dirty="0">
                <a:ea typeface="SimSun" pitchFamily="2" charset="-122"/>
              </a:endParaRPr>
            </a:p>
          </p:txBody>
        </p:sp>
        <p:sp>
          <p:nvSpPr>
            <p:cNvPr id="41032" name="Text Box 72"/>
            <p:cNvSpPr txBox="1">
              <a:spLocks noChangeArrowheads="1"/>
            </p:cNvSpPr>
            <p:nvPr/>
          </p:nvSpPr>
          <p:spPr bwMode="gray">
            <a:xfrm>
              <a:off x="1358" y="1721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 b="1">
                  <a:solidFill>
                    <a:schemeClr val="bg1"/>
                  </a:solidFill>
                  <a:ea typeface="SimSun" pitchFamily="2" charset="-122"/>
                </a:rPr>
                <a:t>2</a:t>
              </a:r>
            </a:p>
          </p:txBody>
        </p:sp>
      </p:grpSp>
      <p:grpSp>
        <p:nvGrpSpPr>
          <p:cNvPr id="41049" name="Group 89"/>
          <p:cNvGrpSpPr>
            <a:grpSpLocks/>
          </p:cNvGrpSpPr>
          <p:nvPr/>
        </p:nvGrpSpPr>
        <p:grpSpPr bwMode="auto">
          <a:xfrm>
            <a:off x="2057400" y="3689350"/>
            <a:ext cx="5094288" cy="555625"/>
            <a:chOff x="1296" y="2324"/>
            <a:chExt cx="3209" cy="350"/>
          </a:xfrm>
        </p:grpSpPr>
        <p:sp>
          <p:nvSpPr>
            <p:cNvPr id="41035" name="Line 75"/>
            <p:cNvSpPr>
              <a:spLocks noChangeShapeType="1"/>
            </p:cNvSpPr>
            <p:nvPr/>
          </p:nvSpPr>
          <p:spPr bwMode="gray">
            <a:xfrm>
              <a:off x="1481" y="2674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1034" name="Rectangle 74"/>
            <p:cNvSpPr>
              <a:spLocks noChangeArrowheads="1"/>
            </p:cNvSpPr>
            <p:nvPr/>
          </p:nvSpPr>
          <p:spPr bwMode="gray">
            <a:xfrm rot="3419336">
              <a:off x="1309" y="2311"/>
              <a:ext cx="302" cy="328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 wrap="none" anchor="ctr">
              <a:flatTx/>
            </a:bodyPr>
            <a:lstStyle/>
            <a:p>
              <a:endParaRPr lang="zh-TW" altLang="en-US"/>
            </a:p>
          </p:txBody>
        </p:sp>
        <p:sp>
          <p:nvSpPr>
            <p:cNvPr id="41036" name="Text Box 76"/>
            <p:cNvSpPr txBox="1">
              <a:spLocks noChangeArrowheads="1"/>
            </p:cNvSpPr>
            <p:nvPr/>
          </p:nvSpPr>
          <p:spPr bwMode="gray">
            <a:xfrm>
              <a:off x="1817" y="2366"/>
              <a:ext cx="2455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dirty="0" smtClean="0">
                  <a:ea typeface="SimSun" pitchFamily="2" charset="-122"/>
                </a:rPr>
                <a:t>功能介紹</a:t>
              </a:r>
              <a:endParaRPr lang="en-US" altLang="zh-CN" sz="2400" dirty="0">
                <a:ea typeface="SimSun" pitchFamily="2" charset="-122"/>
              </a:endParaRPr>
            </a:p>
          </p:txBody>
        </p:sp>
        <p:sp>
          <p:nvSpPr>
            <p:cNvPr id="41037" name="Text Box 77"/>
            <p:cNvSpPr txBox="1">
              <a:spLocks noChangeArrowheads="1"/>
            </p:cNvSpPr>
            <p:nvPr/>
          </p:nvSpPr>
          <p:spPr bwMode="gray">
            <a:xfrm>
              <a:off x="1358" y="2331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 b="1">
                  <a:solidFill>
                    <a:schemeClr val="bg1"/>
                  </a:solidFill>
                  <a:ea typeface="SimSun" pitchFamily="2" charset="-122"/>
                </a:rPr>
                <a:t>3</a:t>
              </a:r>
            </a:p>
          </p:txBody>
        </p:sp>
      </p:grpSp>
      <p:grpSp>
        <p:nvGrpSpPr>
          <p:cNvPr id="41050" name="Group 90"/>
          <p:cNvGrpSpPr>
            <a:grpSpLocks/>
          </p:cNvGrpSpPr>
          <p:nvPr/>
        </p:nvGrpSpPr>
        <p:grpSpPr bwMode="auto">
          <a:xfrm>
            <a:off x="2057400" y="4625975"/>
            <a:ext cx="5094288" cy="555625"/>
            <a:chOff x="1296" y="2914"/>
            <a:chExt cx="3209" cy="350"/>
          </a:xfrm>
        </p:grpSpPr>
        <p:sp>
          <p:nvSpPr>
            <p:cNvPr id="41040" name="Line 80"/>
            <p:cNvSpPr>
              <a:spLocks noChangeShapeType="1"/>
            </p:cNvSpPr>
            <p:nvPr/>
          </p:nvSpPr>
          <p:spPr bwMode="gray">
            <a:xfrm>
              <a:off x="1481" y="3264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1039" name="Rectangle 79"/>
            <p:cNvSpPr>
              <a:spLocks noChangeArrowheads="1"/>
            </p:cNvSpPr>
            <p:nvPr/>
          </p:nvSpPr>
          <p:spPr bwMode="gray">
            <a:xfrm rot="3419336">
              <a:off x="1309" y="2901"/>
              <a:ext cx="302" cy="328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zh-TW" altLang="en-US"/>
            </a:p>
          </p:txBody>
        </p:sp>
        <p:sp>
          <p:nvSpPr>
            <p:cNvPr id="41041" name="Text Box 81"/>
            <p:cNvSpPr txBox="1">
              <a:spLocks noChangeArrowheads="1"/>
            </p:cNvSpPr>
            <p:nvPr/>
          </p:nvSpPr>
          <p:spPr bwMode="gray">
            <a:xfrm>
              <a:off x="1817" y="2956"/>
              <a:ext cx="2455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dirty="0" smtClean="0">
                  <a:ea typeface="SimSun" pitchFamily="2" charset="-122"/>
                </a:rPr>
                <a:t>注意事項</a:t>
              </a:r>
              <a:endParaRPr lang="en-US" altLang="zh-CN" sz="2400" dirty="0">
                <a:ea typeface="SimSun" pitchFamily="2" charset="-122"/>
              </a:endParaRPr>
            </a:p>
          </p:txBody>
        </p:sp>
        <p:sp>
          <p:nvSpPr>
            <p:cNvPr id="41042" name="Text Box 82"/>
            <p:cNvSpPr txBox="1">
              <a:spLocks noChangeArrowheads="1"/>
            </p:cNvSpPr>
            <p:nvPr/>
          </p:nvSpPr>
          <p:spPr bwMode="gray">
            <a:xfrm>
              <a:off x="1358" y="2921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 b="1">
                  <a:solidFill>
                    <a:schemeClr val="bg1"/>
                  </a:solidFill>
                  <a:ea typeface="SimSun" pitchFamily="2" charset="-122"/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30" name="Rectangle 2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系統概述</a:t>
            </a:r>
            <a:r>
              <a:rPr lang="en-US" altLang="zh-CN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上線規劃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99592" y="1196752"/>
            <a:ext cx="727280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B050"/>
                </a:solidFill>
              </a:rPr>
              <a:t>     </a:t>
            </a:r>
            <a:r>
              <a:rPr lang="zh-CN" altLang="en-US" sz="2000" dirty="0" smtClean="0">
                <a:solidFill>
                  <a:srgbClr val="00B050"/>
                </a:solidFill>
              </a:rPr>
              <a:t>越南富山報廢系統是完成對</a:t>
            </a:r>
            <a:r>
              <a:rPr lang="en-US" altLang="zh-CN" sz="2000" dirty="0" smtClean="0">
                <a:solidFill>
                  <a:srgbClr val="00B050"/>
                </a:solidFill>
              </a:rPr>
              <a:t>SAP</a:t>
            </a:r>
            <a:r>
              <a:rPr lang="zh-CN" altLang="en-US" sz="2000" dirty="0" smtClean="0">
                <a:solidFill>
                  <a:srgbClr val="00B050"/>
                </a:solidFill>
              </a:rPr>
              <a:t>中需要報廢的物料進行統計，分類，庫存計算等作業的工具。由於報廢物料數量與種類繁多，人工通過</a:t>
            </a:r>
            <a:r>
              <a:rPr lang="en-US" altLang="zh-CN" sz="2000" dirty="0" smtClean="0">
                <a:solidFill>
                  <a:srgbClr val="00B050"/>
                </a:solidFill>
              </a:rPr>
              <a:t>Excel</a:t>
            </a:r>
            <a:r>
              <a:rPr lang="zh-CN" altLang="en-US" sz="2000" dirty="0" smtClean="0">
                <a:solidFill>
                  <a:srgbClr val="00B050"/>
                </a:solidFill>
              </a:rPr>
              <a:t>統計</a:t>
            </a:r>
            <a:r>
              <a:rPr lang="zh-CN" altLang="en-US" sz="2000" smtClean="0">
                <a:solidFill>
                  <a:srgbClr val="00B050"/>
                </a:solidFill>
              </a:rPr>
              <a:t>數據</a:t>
            </a:r>
            <a:r>
              <a:rPr lang="zh-CN" altLang="en-US" sz="2000" smtClean="0">
                <a:solidFill>
                  <a:srgbClr val="00B050"/>
                </a:solidFill>
              </a:rPr>
              <a:t>費時費力</a:t>
            </a:r>
            <a:r>
              <a:rPr lang="zh-CN" altLang="en-US" sz="2000" dirty="0" smtClean="0">
                <a:solidFill>
                  <a:srgbClr val="00B050"/>
                </a:solidFill>
              </a:rPr>
              <a:t>，紙檔簽核浪費資源和時間，因此通過此系統解決上述問題。</a:t>
            </a:r>
            <a:endParaRPr lang="en-US" altLang="zh-CN" sz="2000" dirty="0" smtClean="0">
              <a:solidFill>
                <a:srgbClr val="00B050"/>
              </a:solidFill>
            </a:endParaRPr>
          </a:p>
          <a:p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 smtClean="0">
                <a:solidFill>
                  <a:srgbClr val="00B050"/>
                </a:solidFill>
              </a:rPr>
              <a:t>     </a:t>
            </a:r>
            <a:r>
              <a:rPr lang="zh-CN" altLang="en-US" sz="2000" dirty="0" smtClean="0">
                <a:solidFill>
                  <a:srgbClr val="00B050"/>
                </a:solidFill>
              </a:rPr>
              <a:t>系統主要功能由票據審核，票據主檔創建，票據子檔創建，系統管理四大部分組成。</a:t>
            </a:r>
            <a:endParaRPr lang="en-US" altLang="zh-CN" sz="2000" dirty="0" smtClean="0">
              <a:solidFill>
                <a:srgbClr val="00B050"/>
              </a:solidFill>
            </a:endParaRPr>
          </a:p>
          <a:p>
            <a:r>
              <a:rPr lang="en-US" altLang="zh-CN" sz="2000" dirty="0" smtClean="0">
                <a:solidFill>
                  <a:srgbClr val="00B050"/>
                </a:solidFill>
              </a:rPr>
              <a:t> 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 smtClean="0">
                <a:solidFill>
                  <a:srgbClr val="00B050"/>
                </a:solidFill>
              </a:rPr>
              <a:t>     </a:t>
            </a:r>
            <a:r>
              <a:rPr lang="zh-CN" altLang="en-US" sz="2000" dirty="0" smtClean="0">
                <a:solidFill>
                  <a:srgbClr val="00B050"/>
                </a:solidFill>
              </a:rPr>
              <a:t>目前系統主要應用於越南富山廠區，富山</a:t>
            </a:r>
            <a:r>
              <a:rPr lang="en-US" altLang="zh-CN" sz="2000" dirty="0" smtClean="0">
                <a:solidFill>
                  <a:srgbClr val="00B050"/>
                </a:solidFill>
              </a:rPr>
              <a:t>IT</a:t>
            </a:r>
            <a:r>
              <a:rPr lang="zh-CN" altLang="en-US" sz="2000" dirty="0" smtClean="0">
                <a:solidFill>
                  <a:srgbClr val="00B050"/>
                </a:solidFill>
              </a:rPr>
              <a:t>作為維護部門，廊坊</a:t>
            </a:r>
            <a:r>
              <a:rPr lang="en-US" altLang="zh-CN" sz="2000" dirty="0" smtClean="0">
                <a:solidFill>
                  <a:srgbClr val="00B050"/>
                </a:solidFill>
              </a:rPr>
              <a:t>IT</a:t>
            </a:r>
            <a:r>
              <a:rPr lang="zh-CN" altLang="en-US" sz="2000" dirty="0" smtClean="0">
                <a:solidFill>
                  <a:srgbClr val="00B050"/>
                </a:solidFill>
              </a:rPr>
              <a:t>作為系統開發與設計部門。使用部門涉及</a:t>
            </a:r>
            <a:r>
              <a:rPr lang="en-US" altLang="zh-CN" sz="2000" dirty="0" smtClean="0">
                <a:solidFill>
                  <a:srgbClr val="00B050"/>
                </a:solidFill>
              </a:rPr>
              <a:t>(</a:t>
            </a:r>
          </a:p>
          <a:p>
            <a:r>
              <a:rPr lang="en-US" altLang="zh-CN" sz="2000" dirty="0" smtClean="0">
                <a:solidFill>
                  <a:srgbClr val="FF0000"/>
                </a:solidFill>
              </a:rPr>
              <a:t>CDS-EMS-VN-Operation Division,</a:t>
            </a:r>
          </a:p>
          <a:p>
            <a:r>
              <a:rPr lang="en-US" altLang="zh-CN" sz="2000" dirty="0" smtClean="0">
                <a:solidFill>
                  <a:srgbClr val="FF0000"/>
                </a:solidFill>
              </a:rPr>
              <a:t>DMS-VN </a:t>
            </a:r>
            <a:r>
              <a:rPr lang="en-US" altLang="zh-CN" sz="2000" dirty="0">
                <a:solidFill>
                  <a:srgbClr val="FF0000"/>
                </a:solidFill>
              </a:rPr>
              <a:t>MS-SD </a:t>
            </a:r>
            <a:r>
              <a:rPr lang="en-US" altLang="zh-CN" sz="2000" dirty="0" smtClean="0">
                <a:solidFill>
                  <a:srgbClr val="FF0000"/>
                </a:solidFill>
              </a:rPr>
              <a:t>MS-ENGINEERING-DT</a:t>
            </a:r>
            <a:r>
              <a:rPr lang="en-US" altLang="zh-CN" sz="2400" dirty="0" smtClean="0">
                <a:solidFill>
                  <a:srgbClr val="FF0000"/>
                </a:solidFill>
              </a:rPr>
              <a:t>,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r>
              <a:rPr lang="en-US" altLang="zh-CN" sz="2000" dirty="0" smtClean="0">
                <a:solidFill>
                  <a:srgbClr val="FF0000"/>
                </a:solidFill>
              </a:rPr>
              <a:t>DMS-VN </a:t>
            </a:r>
            <a:r>
              <a:rPr lang="en-US" altLang="zh-CN" sz="2000" dirty="0">
                <a:solidFill>
                  <a:srgbClr val="FF0000"/>
                </a:solidFill>
              </a:rPr>
              <a:t>MS-SP MS-Material </a:t>
            </a:r>
            <a:r>
              <a:rPr lang="en-US" altLang="zh-CN" sz="2000" dirty="0" smtClean="0">
                <a:solidFill>
                  <a:srgbClr val="FF0000"/>
                </a:solidFill>
              </a:rPr>
              <a:t>Management-Warehouse management 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Ensky</a:t>
            </a:r>
            <a:r>
              <a:rPr lang="en-US" altLang="zh-CN" sz="2000" dirty="0" smtClean="0">
                <a:solidFill>
                  <a:srgbClr val="FF0000"/>
                </a:solidFill>
              </a:rPr>
              <a:t>,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r>
              <a:rPr lang="en-US" altLang="zh-CN" sz="2000" dirty="0" smtClean="0">
                <a:solidFill>
                  <a:srgbClr val="FF0000"/>
                </a:solidFill>
              </a:rPr>
              <a:t>DMS-VN </a:t>
            </a:r>
            <a:r>
              <a:rPr lang="en-US" altLang="zh-CN" sz="2000" dirty="0">
                <a:solidFill>
                  <a:srgbClr val="FF0000"/>
                </a:solidFill>
              </a:rPr>
              <a:t>MS-SD MS-Assemble Operation-Production-2</a:t>
            </a:r>
            <a:r>
              <a:rPr lang="en-US" altLang="zh-CN" sz="2400" dirty="0" smtClean="0">
                <a:solidFill>
                  <a:srgbClr val="00B050"/>
                </a:solidFill>
              </a:rPr>
              <a:t>)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系統概述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系統網址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7696200" cy="4214826"/>
          </a:xfrm>
        </p:spPr>
        <p:txBody>
          <a:bodyPr/>
          <a:lstStyle/>
          <a:p>
            <a:r>
              <a:rPr lang="zh-CN" altLang="en-US" sz="3200" b="1" dirty="0" smtClean="0">
                <a:ea typeface="SimSun" pitchFamily="2" charset="-122"/>
              </a:rPr>
              <a:t>系統網址</a:t>
            </a:r>
            <a:r>
              <a:rPr lang="en-US" altLang="zh-CN" sz="3200" b="1" dirty="0" smtClean="0">
                <a:ea typeface="SimSun" pitchFamily="2" charset="-122"/>
              </a:rPr>
              <a:t> </a:t>
            </a:r>
            <a:endParaRPr lang="en-US" altLang="zh-CN" sz="3200" b="1" dirty="0">
              <a:ea typeface="SimSun" pitchFamily="2" charset="-122"/>
            </a:endParaRPr>
          </a:p>
          <a:p>
            <a:endParaRPr lang="en-US" altLang="zh-CN" sz="3200" b="1" dirty="0">
              <a:ea typeface="SimSun" pitchFamily="2" charset="-122"/>
            </a:endParaRPr>
          </a:p>
          <a:p>
            <a:pPr lvl="1"/>
            <a:r>
              <a:rPr lang="zh-CN" altLang="en-US" sz="2900" dirty="0" smtClean="0">
                <a:solidFill>
                  <a:schemeClr val="tx2"/>
                </a:solidFill>
                <a:ea typeface="SimSun" pitchFamily="2" charset="-122"/>
              </a:rPr>
              <a:t>測試網址</a:t>
            </a:r>
            <a:endParaRPr lang="en-US" altLang="zh-CN" sz="2900" dirty="0" smtClean="0">
              <a:solidFill>
                <a:schemeClr val="tx2"/>
              </a:solidFill>
              <a:ea typeface="SimSun" pitchFamily="2" charset="-122"/>
            </a:endParaRPr>
          </a:p>
          <a:p>
            <a:pPr lvl="2"/>
            <a:r>
              <a:rPr lang="en-US" altLang="zh-CN" sz="2500" dirty="0">
                <a:solidFill>
                  <a:schemeClr val="hlink"/>
                </a:solidFill>
                <a:ea typeface="SimSun" pitchFamily="2" charset="-122"/>
                <a:hlinkClick r:id="rId2"/>
              </a:rPr>
              <a:t>http</a:t>
            </a:r>
            <a:r>
              <a:rPr lang="en-US" altLang="zh-CN" sz="2500" dirty="0" smtClean="0">
                <a:solidFill>
                  <a:schemeClr val="hlink"/>
                </a:solidFill>
                <a:ea typeface="SimSun" pitchFamily="2" charset="-122"/>
                <a:hlinkClick r:id="rId2"/>
              </a:rPr>
              <a:t>://</a:t>
            </a:r>
            <a:r>
              <a:rPr lang="en-US" altLang="zh-CN" sz="2500" dirty="0" smtClean="0">
                <a:solidFill>
                  <a:schemeClr val="hlink"/>
                </a:solidFill>
                <a:ea typeface="SimSun" pitchFamily="2" charset="-122"/>
              </a:rPr>
              <a:t>10.239.65.119:8001/onescrap-web</a:t>
            </a:r>
          </a:p>
          <a:p>
            <a:pPr lvl="2"/>
            <a:r>
              <a:rPr lang="zh-CN" altLang="en-US" sz="2500" dirty="0" smtClean="0">
                <a:solidFill>
                  <a:schemeClr val="hlink"/>
                </a:solidFill>
                <a:ea typeface="SimSun" pitchFamily="2" charset="-122"/>
              </a:rPr>
              <a:t>各需求功能陸續上線測試中</a:t>
            </a:r>
            <a:endParaRPr lang="en-US" altLang="zh-CN" sz="2500" dirty="0" smtClean="0">
              <a:solidFill>
                <a:schemeClr val="tx2"/>
              </a:solidFill>
              <a:ea typeface="SimSun" pitchFamily="2" charset="-122"/>
            </a:endParaRPr>
          </a:p>
          <a:p>
            <a:pPr lvl="1"/>
            <a:r>
              <a:rPr lang="zh-CN" altLang="en-US" sz="2900" dirty="0" smtClean="0">
                <a:solidFill>
                  <a:schemeClr val="tx2"/>
                </a:solidFill>
                <a:ea typeface="SimSun" pitchFamily="2" charset="-122"/>
              </a:rPr>
              <a:t>正式網址</a:t>
            </a:r>
            <a:endParaRPr lang="en-US" altLang="zh-CN" sz="2900" dirty="0" smtClean="0">
              <a:solidFill>
                <a:schemeClr val="tx2"/>
              </a:solidFill>
              <a:ea typeface="SimSun" pitchFamily="2" charset="-122"/>
            </a:endParaRPr>
          </a:p>
          <a:p>
            <a:pPr lvl="2"/>
            <a:r>
              <a:rPr lang="en-US" altLang="zh-CN" sz="2500" dirty="0" smtClean="0">
                <a:solidFill>
                  <a:schemeClr val="tx2"/>
                </a:solidFill>
                <a:ea typeface="SimSun" pitchFamily="2" charset="-122"/>
              </a:rPr>
              <a:t> </a:t>
            </a:r>
            <a:r>
              <a:rPr lang="en-US" altLang="zh-CN" sz="2500" dirty="0" smtClean="0">
                <a:solidFill>
                  <a:schemeClr val="hlink"/>
                </a:solidFill>
                <a:ea typeface="SimSun" pitchFamily="2" charset="-122"/>
              </a:rPr>
              <a:t>http://</a:t>
            </a:r>
            <a:r>
              <a:rPr lang="en-US" altLang="zh-CN" sz="2500" dirty="0">
                <a:solidFill>
                  <a:schemeClr val="hlink"/>
                </a:solidFill>
                <a:ea typeface="SimSun" pitchFamily="2" charset="-122"/>
                <a:hlinkClick r:id="rId2"/>
              </a:rPr>
              <a:t> onescrap.fushan.fihnbb.com</a:t>
            </a:r>
            <a:endParaRPr lang="en-US" altLang="zh-CN" sz="2500" dirty="0" smtClean="0">
              <a:solidFill>
                <a:schemeClr val="hlink"/>
              </a:solidFill>
              <a:ea typeface="SimSun" pitchFamily="2" charset="-122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1447800" y="5357826"/>
            <a:ext cx="63246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400" b="1" dirty="0">
                <a:ea typeface="SimSun" pitchFamily="2" charset="-122"/>
              </a:rPr>
              <a:t>[ </a:t>
            </a:r>
            <a:r>
              <a:rPr lang="zh-CN" altLang="en-US" sz="1400" b="1" dirty="0" smtClean="0">
                <a:ea typeface="SimSun" pitchFamily="2" charset="-122"/>
              </a:rPr>
              <a:t>注</a:t>
            </a:r>
            <a:r>
              <a:rPr lang="en-US" altLang="zh-CN" sz="1400" b="1" dirty="0" smtClean="0">
                <a:ea typeface="SimSun" pitchFamily="2" charset="-122"/>
              </a:rPr>
              <a:t>]</a:t>
            </a:r>
            <a:endParaRPr lang="en-US" altLang="zh-CN" sz="1400" b="1" dirty="0">
              <a:ea typeface="SimSun" pitchFamily="2" charset="-122"/>
            </a:endParaRPr>
          </a:p>
          <a:p>
            <a:pPr>
              <a:buFont typeface="Wingdings" pitchFamily="2" charset="2"/>
              <a:buChar char="§"/>
            </a:pPr>
            <a:r>
              <a:rPr lang="en-US" altLang="zh-CN" sz="1400" dirty="0">
                <a:ea typeface="SimSun" pitchFamily="2" charset="-122"/>
              </a:rPr>
              <a:t> </a:t>
            </a:r>
            <a:r>
              <a:rPr lang="zh-CN" altLang="en-US" sz="1400" dirty="0" smtClean="0">
                <a:ea typeface="SimSun" pitchFamily="2" charset="-122"/>
              </a:rPr>
              <a:t>正式網址</a:t>
            </a:r>
            <a:r>
              <a:rPr lang="en-US" altLang="zh-CN" sz="1400" dirty="0" smtClean="0">
                <a:ea typeface="SimSun" pitchFamily="2" charset="-122"/>
              </a:rPr>
              <a:t>:</a:t>
            </a:r>
            <a:r>
              <a:rPr lang="zh-CN" altLang="en-US" sz="1400" dirty="0" smtClean="0">
                <a:ea typeface="SimSun" pitchFamily="2" charset="-122"/>
              </a:rPr>
              <a:t>測試驗收過的完整功能網址</a:t>
            </a:r>
            <a:r>
              <a:rPr lang="en-US" altLang="zh-CN" sz="1400" dirty="0">
                <a:ea typeface="SimSun" pitchFamily="2" charset="-122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altLang="zh-CN" sz="1400" dirty="0">
                <a:ea typeface="SimSun" pitchFamily="2" charset="-122"/>
              </a:rPr>
              <a:t> </a:t>
            </a:r>
            <a:r>
              <a:rPr lang="zh-CN" altLang="en-US" sz="1400" dirty="0" smtClean="0">
                <a:ea typeface="SimSun" pitchFamily="2" charset="-122"/>
              </a:rPr>
              <a:t>測試網址</a:t>
            </a:r>
            <a:r>
              <a:rPr lang="en-US" altLang="zh-CN" sz="1400" dirty="0" smtClean="0">
                <a:ea typeface="SimSun" pitchFamily="2" charset="-122"/>
              </a:rPr>
              <a:t>:</a:t>
            </a:r>
            <a:r>
              <a:rPr lang="zh-CN" altLang="en-US" sz="1400" dirty="0" smtClean="0">
                <a:ea typeface="SimSun" pitchFamily="2" charset="-122"/>
              </a:rPr>
              <a:t>驗收完成前及新功能需求變化測試用網址</a:t>
            </a:r>
            <a:r>
              <a:rPr lang="en-US" altLang="zh-CN" sz="1400" dirty="0">
                <a:ea typeface="SimSun" pitchFamily="2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流程介紹</a:t>
            </a:r>
            <a:r>
              <a:rPr lang="en-US" altLang="zh-CN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報廢申請單業務流程圖</a:t>
            </a:r>
            <a:endParaRPr lang="en-US" altLang="zh-CN" sz="2400" dirty="0">
              <a:ea typeface="SimSun" pitchFamily="2" charset="-122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908720"/>
            <a:ext cx="6912768" cy="5263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流程介紹</a:t>
            </a:r>
            <a:r>
              <a:rPr lang="en-US" altLang="zh-CN" sz="24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流程推動機制</a:t>
            </a:r>
            <a:endParaRPr lang="en-US" altLang="zh-CN" sz="2400" dirty="0">
              <a:ea typeface="SimSun" pitchFamily="2" charset="-122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838200" y="2057400"/>
            <a:ext cx="7543800" cy="3733800"/>
            <a:chOff x="528" y="1296"/>
            <a:chExt cx="4752" cy="2352"/>
          </a:xfrm>
        </p:grpSpPr>
        <p:sp>
          <p:nvSpPr>
            <p:cNvPr id="54275" name="AutoShape 3"/>
            <p:cNvSpPr>
              <a:spLocks noChangeArrowheads="1"/>
            </p:cNvSpPr>
            <p:nvPr/>
          </p:nvSpPr>
          <p:spPr bwMode="gray">
            <a:xfrm>
              <a:off x="3504" y="1824"/>
              <a:ext cx="1776" cy="1824"/>
            </a:xfrm>
            <a:prstGeom prst="chevron">
              <a:avLst>
                <a:gd name="adj" fmla="val 16468"/>
              </a:avLst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38100">
              <a:solidFill>
                <a:srgbClr val="EAEAEA"/>
              </a:solidFill>
              <a:miter lim="800000"/>
              <a:headEnd/>
              <a:tailEnd/>
            </a:ln>
            <a:effectLst>
              <a:outerShdw dist="109250" dir="3267739" algn="ctr" rotWithShape="0">
                <a:srgbClr val="333333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4276" name="AutoShape 4"/>
            <p:cNvSpPr>
              <a:spLocks noChangeArrowheads="1"/>
            </p:cNvSpPr>
            <p:nvPr/>
          </p:nvSpPr>
          <p:spPr bwMode="gray">
            <a:xfrm>
              <a:off x="2016" y="1824"/>
              <a:ext cx="1872" cy="1824"/>
            </a:xfrm>
            <a:prstGeom prst="chevron">
              <a:avLst>
                <a:gd name="adj" fmla="val 17842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38100">
              <a:solidFill>
                <a:srgbClr val="EAEAEA"/>
              </a:solidFill>
              <a:miter lim="800000"/>
              <a:headEnd/>
              <a:tailEnd/>
            </a:ln>
            <a:effectLst>
              <a:outerShdw dist="109250" dir="3267739" algn="ctr" rotWithShape="0">
                <a:srgbClr val="333333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4277" name="AutoShape 5"/>
            <p:cNvSpPr>
              <a:spLocks noChangeArrowheads="1"/>
            </p:cNvSpPr>
            <p:nvPr/>
          </p:nvSpPr>
          <p:spPr bwMode="gray">
            <a:xfrm>
              <a:off x="528" y="1824"/>
              <a:ext cx="1872" cy="1824"/>
            </a:xfrm>
            <a:prstGeom prst="chevron">
              <a:avLst>
                <a:gd name="adj" fmla="val 17842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38100">
              <a:solidFill>
                <a:srgbClr val="EAEAEA"/>
              </a:solidFill>
              <a:miter lim="800000"/>
              <a:headEnd/>
              <a:tailEnd/>
            </a:ln>
            <a:effectLst>
              <a:outerShdw dist="109250" dir="3267739" algn="ctr" rotWithShape="0">
                <a:srgbClr val="333333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4278" name="AutoShape 6"/>
            <p:cNvSpPr>
              <a:spLocks noChangeArrowheads="1"/>
            </p:cNvSpPr>
            <p:nvPr/>
          </p:nvSpPr>
          <p:spPr bwMode="gray">
            <a:xfrm>
              <a:off x="672" y="1296"/>
              <a:ext cx="1296" cy="36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38100" algn="ctr">
              <a:solidFill>
                <a:srgbClr val="FFFFFF"/>
              </a:solidFill>
              <a:round/>
              <a:headEnd/>
              <a:tailEnd/>
            </a:ln>
            <a:effectLst>
              <a:outerShdw dist="63500" dir="3187806" algn="ctr" rotWithShape="0">
                <a:srgbClr val="001D3A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zh-CN" altLang="en-US" sz="2000" b="1" dirty="0" smtClean="0">
                  <a:solidFill>
                    <a:schemeClr val="bg1"/>
                  </a:solidFill>
                  <a:ea typeface="SimSun" pitchFamily="2" charset="-122"/>
                </a:rPr>
                <a:t>提交申請</a:t>
              </a:r>
              <a:endParaRPr lang="en-US" altLang="zh-CN" sz="2000" b="1" dirty="0">
                <a:solidFill>
                  <a:schemeClr val="bg1"/>
                </a:solidFill>
                <a:ea typeface="SimSun" pitchFamily="2" charset="-122"/>
              </a:endParaRPr>
            </a:p>
          </p:txBody>
        </p:sp>
        <p:sp>
          <p:nvSpPr>
            <p:cNvPr id="54279" name="AutoShape 7"/>
            <p:cNvSpPr>
              <a:spLocks noChangeArrowheads="1"/>
            </p:cNvSpPr>
            <p:nvPr/>
          </p:nvSpPr>
          <p:spPr bwMode="gray">
            <a:xfrm>
              <a:off x="2133" y="1296"/>
              <a:ext cx="1296" cy="36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38100" algn="ctr">
              <a:solidFill>
                <a:srgbClr val="FFFFFF"/>
              </a:solidFill>
              <a:round/>
              <a:headEnd/>
              <a:tailEnd/>
            </a:ln>
            <a:effectLst>
              <a:outerShdw dist="63500" dir="3187806" algn="ctr" rotWithShape="0">
                <a:srgbClr val="001D3A"/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ea typeface="SimSun" pitchFamily="2" charset="-122"/>
                </a:rPr>
                <a:t>審核</a:t>
              </a:r>
              <a:r>
                <a:rPr lang="en-US" altLang="zh-CN" sz="2000" b="1" dirty="0" smtClean="0">
                  <a:solidFill>
                    <a:schemeClr val="bg1"/>
                  </a:solidFill>
                  <a:ea typeface="SimSun" pitchFamily="2" charset="-122"/>
                </a:rPr>
                <a:t>-</a:t>
              </a:r>
              <a:r>
                <a:rPr lang="zh-CN" altLang="en-US" sz="2000" b="1" dirty="0" smtClean="0">
                  <a:solidFill>
                    <a:schemeClr val="bg1"/>
                  </a:solidFill>
                  <a:ea typeface="SimSun" pitchFamily="2" charset="-122"/>
                </a:rPr>
                <a:t>同意</a:t>
              </a:r>
              <a:endParaRPr lang="en-US" altLang="zh-CN" sz="2000" b="1" dirty="0">
                <a:solidFill>
                  <a:schemeClr val="bg1"/>
                </a:solidFill>
                <a:ea typeface="SimSun" pitchFamily="2" charset="-122"/>
              </a:endParaRPr>
            </a:p>
          </p:txBody>
        </p:sp>
        <p:sp>
          <p:nvSpPr>
            <p:cNvPr id="54280" name="AutoShape 8"/>
            <p:cNvSpPr>
              <a:spLocks noChangeArrowheads="1"/>
            </p:cNvSpPr>
            <p:nvPr/>
          </p:nvSpPr>
          <p:spPr bwMode="gray">
            <a:xfrm>
              <a:off x="3600" y="1296"/>
              <a:ext cx="1296" cy="36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38100" algn="ctr">
              <a:solidFill>
                <a:srgbClr val="FFFFFF"/>
              </a:solidFill>
              <a:round/>
              <a:headEnd/>
              <a:tailEnd/>
            </a:ln>
            <a:effectLst>
              <a:outerShdw dist="63500" dir="3187806" algn="ctr" rotWithShape="0">
                <a:srgbClr val="001D3A"/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ea typeface="SimSun" pitchFamily="2" charset="-122"/>
                </a:rPr>
                <a:t>審核</a:t>
              </a:r>
              <a:r>
                <a:rPr lang="en-US" altLang="zh-CN" sz="2000" b="1" dirty="0" smtClean="0">
                  <a:solidFill>
                    <a:schemeClr val="bg1"/>
                  </a:solidFill>
                  <a:ea typeface="SimSun" pitchFamily="2" charset="-122"/>
                </a:rPr>
                <a:t>-</a:t>
              </a:r>
              <a:r>
                <a:rPr lang="zh-CN" altLang="en-US" sz="2000" b="1" dirty="0" smtClean="0">
                  <a:solidFill>
                    <a:schemeClr val="bg1"/>
                  </a:solidFill>
                  <a:ea typeface="SimSun" pitchFamily="2" charset="-122"/>
                </a:rPr>
                <a:t>拒絕</a:t>
              </a:r>
              <a:endParaRPr lang="en-US" altLang="zh-CN" sz="2000" b="1" dirty="0">
                <a:solidFill>
                  <a:schemeClr val="bg1"/>
                </a:solidFill>
                <a:ea typeface="SimSun" pitchFamily="2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1500167" y="3143248"/>
            <a:ext cx="178595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新創建申請單</a:t>
            </a:r>
            <a:r>
              <a:rPr lang="en-US" altLang="zh-CN" dirty="0" smtClean="0"/>
              <a:t>,</a:t>
            </a:r>
            <a:r>
              <a:rPr lang="zh-CN" altLang="en-US" dirty="0" smtClean="0"/>
              <a:t>各數據完善后</a:t>
            </a:r>
            <a:r>
              <a:rPr lang="en-US" altLang="zh-CN" dirty="0" smtClean="0"/>
              <a:t>,</a:t>
            </a:r>
            <a:r>
              <a:rPr lang="zh-CN" altLang="en-US" dirty="0" smtClean="0"/>
              <a:t>提交給對應流程的下游任務人簽核</a:t>
            </a:r>
            <a:r>
              <a:rPr lang="en-US" altLang="zh-CN" dirty="0" smtClean="0"/>
              <a:t>,</a:t>
            </a:r>
            <a:r>
              <a:rPr lang="zh-CN" altLang="en-US" dirty="0" smtClean="0"/>
              <a:t>提單后</a:t>
            </a:r>
            <a:r>
              <a:rPr lang="en-US" altLang="zh-CN" dirty="0" smtClean="0"/>
              <a:t>,</a:t>
            </a:r>
            <a:r>
              <a:rPr lang="zh-CN" altLang="en-US" dirty="0" smtClean="0"/>
              <a:t>該單基本信息不允許再調整</a:t>
            </a:r>
            <a:r>
              <a:rPr lang="en-US" altLang="zh-CN" dirty="0" smtClean="0"/>
              <a:t>.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857620" y="3143248"/>
            <a:ext cx="17859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簽核意見為同意</a:t>
            </a:r>
            <a:r>
              <a:rPr lang="en-US" altLang="zh-CN" dirty="0" smtClean="0"/>
              <a:t>,</a:t>
            </a:r>
            <a:r>
              <a:rPr lang="zh-CN" altLang="en-US" dirty="0" smtClean="0"/>
              <a:t>提交后</a:t>
            </a:r>
            <a:r>
              <a:rPr lang="en-US" altLang="zh-CN" dirty="0" smtClean="0"/>
              <a:t>,</a:t>
            </a:r>
            <a:r>
              <a:rPr lang="zh-CN" altLang="en-US" dirty="0" smtClean="0"/>
              <a:t>系統自動推動該流程到下一任務人</a:t>
            </a:r>
            <a:r>
              <a:rPr lang="en-US" altLang="zh-CN" dirty="0" smtClean="0"/>
              <a:t>,</a:t>
            </a:r>
            <a:r>
              <a:rPr lang="zh-CN" altLang="en-US" dirty="0"/>
              <a:t>簽</a:t>
            </a:r>
            <a:r>
              <a:rPr lang="zh-CN" altLang="en-US" dirty="0" smtClean="0"/>
              <a:t>核意見及簽核人</a:t>
            </a:r>
            <a:r>
              <a:rPr lang="en-US" altLang="zh-CN" dirty="0" smtClean="0"/>
              <a:t>/</a:t>
            </a:r>
            <a:r>
              <a:rPr lang="zh-CN" altLang="en-US" dirty="0" smtClean="0"/>
              <a:t>時間等記入簽核履歷供其他任務人或歷史查詢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6215074" y="3143248"/>
            <a:ext cx="17859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整單拒絕</a:t>
            </a:r>
            <a:r>
              <a:rPr lang="en-US" altLang="zh-CN" dirty="0" smtClean="0"/>
              <a:t>:</a:t>
            </a:r>
            <a:r>
              <a:rPr lang="zh-CN" altLang="en-US" dirty="0" smtClean="0"/>
              <a:t>該流程回退到指定任務處</a:t>
            </a:r>
            <a:r>
              <a:rPr lang="en-US" altLang="zh-CN" dirty="0" smtClean="0"/>
              <a:t>,</a:t>
            </a:r>
            <a:r>
              <a:rPr lang="zh-CN" altLang="en-US" dirty="0" smtClean="0"/>
              <a:t>責成其再次完善單信息</a:t>
            </a:r>
            <a:r>
              <a:rPr lang="en-US" altLang="zh-CN" dirty="0" smtClean="0"/>
              <a:t>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系統概述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系統登錄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7696200" cy="4214826"/>
          </a:xfrm>
        </p:spPr>
        <p:txBody>
          <a:bodyPr/>
          <a:lstStyle/>
          <a:p>
            <a:r>
              <a:rPr lang="zh-CN" altLang="en-US" sz="3200" b="1" dirty="0" smtClean="0">
                <a:ea typeface="SimSun" pitchFamily="2" charset="-122"/>
              </a:rPr>
              <a:t>系統登錄</a:t>
            </a:r>
            <a:endParaRPr lang="en-US" altLang="zh-CN" sz="3200" b="1" dirty="0">
              <a:ea typeface="SimSun" pitchFamily="2" charset="-122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1447800" y="5357826"/>
            <a:ext cx="6324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400" b="1" dirty="0">
                <a:ea typeface="SimSun" pitchFamily="2" charset="-122"/>
              </a:rPr>
              <a:t>[ </a:t>
            </a:r>
            <a:r>
              <a:rPr lang="zh-CN" altLang="en-US" sz="1400" b="1" dirty="0" smtClean="0">
                <a:ea typeface="SimSun" pitchFamily="2" charset="-122"/>
              </a:rPr>
              <a:t>注</a:t>
            </a:r>
            <a:r>
              <a:rPr lang="en-US" altLang="zh-CN" sz="1400" b="1" dirty="0" smtClean="0">
                <a:ea typeface="SimSun" pitchFamily="2" charset="-122"/>
              </a:rPr>
              <a:t>]</a:t>
            </a:r>
            <a:endParaRPr lang="en-US" altLang="zh-CN" sz="1400" b="1" dirty="0">
              <a:ea typeface="SimSun" pitchFamily="2" charset="-122"/>
            </a:endParaRPr>
          </a:p>
          <a:p>
            <a:pPr>
              <a:buFont typeface="Wingdings" pitchFamily="2" charset="2"/>
              <a:buChar char="§"/>
            </a:pPr>
            <a:r>
              <a:rPr lang="en-US" altLang="zh-CN" sz="1400" dirty="0">
                <a:ea typeface="SimSun" pitchFamily="2" charset="-122"/>
              </a:rPr>
              <a:t> </a:t>
            </a:r>
            <a:r>
              <a:rPr lang="zh-CN" altLang="en-US" sz="1400" dirty="0" smtClean="0">
                <a:solidFill>
                  <a:srgbClr val="FF0000"/>
                </a:solidFill>
                <a:ea typeface="SimSun" pitchFamily="2" charset="-122"/>
              </a:rPr>
              <a:t>帳號</a:t>
            </a:r>
            <a:r>
              <a:rPr lang="en-US" altLang="zh-CN" sz="1400" dirty="0" smtClean="0">
                <a:solidFill>
                  <a:srgbClr val="FF0000"/>
                </a:solidFill>
                <a:ea typeface="SimSun" pitchFamily="2" charset="-122"/>
              </a:rPr>
              <a:t>/</a:t>
            </a:r>
            <a:r>
              <a:rPr lang="zh-CN" altLang="en-US" sz="1400" dirty="0" smtClean="0">
                <a:solidFill>
                  <a:srgbClr val="FF0000"/>
                </a:solidFill>
                <a:ea typeface="SimSun" pitchFamily="2" charset="-122"/>
              </a:rPr>
              <a:t>密碼</a:t>
            </a:r>
            <a:r>
              <a:rPr lang="en-US" altLang="zh-CN" sz="1400" dirty="0" smtClean="0">
                <a:solidFill>
                  <a:srgbClr val="FF0000"/>
                </a:solidFill>
                <a:ea typeface="SimSun" pitchFamily="2" charset="-122"/>
              </a:rPr>
              <a:t>:</a:t>
            </a:r>
            <a:r>
              <a:rPr lang="zh-CN" altLang="en-US" sz="1400" dirty="0" smtClean="0">
                <a:solidFill>
                  <a:srgbClr val="FF0000"/>
                </a:solidFill>
                <a:ea typeface="SimSun" pitchFamily="2" charset="-122"/>
              </a:rPr>
              <a:t>同</a:t>
            </a:r>
            <a:r>
              <a:rPr lang="en-US" altLang="zh-CN" sz="1400" dirty="0" smtClean="0">
                <a:solidFill>
                  <a:srgbClr val="FF0000"/>
                </a:solidFill>
                <a:ea typeface="SimSun" pitchFamily="2" charset="-122"/>
              </a:rPr>
              <a:t>workflow</a:t>
            </a:r>
            <a:r>
              <a:rPr lang="zh-CN" altLang="en-US" sz="1400" dirty="0" smtClean="0">
                <a:solidFill>
                  <a:srgbClr val="FF0000"/>
                </a:solidFill>
                <a:ea typeface="SimSun" pitchFamily="2" charset="-122"/>
              </a:rPr>
              <a:t>帳號</a:t>
            </a:r>
            <a:r>
              <a:rPr lang="en-US" altLang="zh-CN" sz="1400" dirty="0" smtClean="0">
                <a:solidFill>
                  <a:srgbClr val="FF0000"/>
                </a:solidFill>
                <a:ea typeface="SimSun" pitchFamily="2" charset="-122"/>
              </a:rPr>
              <a:t>/</a:t>
            </a:r>
            <a:r>
              <a:rPr lang="zh-CN" altLang="en-US" sz="1400" dirty="0" smtClean="0">
                <a:solidFill>
                  <a:srgbClr val="FF0000"/>
                </a:solidFill>
                <a:ea typeface="SimSun" pitchFamily="2" charset="-122"/>
              </a:rPr>
              <a:t>密碼</a:t>
            </a:r>
            <a:r>
              <a:rPr lang="en-US" altLang="zh-CN" sz="1400" dirty="0" smtClean="0">
                <a:solidFill>
                  <a:srgbClr val="FF0000"/>
                </a:solidFill>
                <a:ea typeface="SimSun" pitchFamily="2" charset="-122"/>
              </a:rPr>
              <a:t>(SSO</a:t>
            </a:r>
            <a:r>
              <a:rPr lang="zh-CN" altLang="en-US" sz="1400" dirty="0" smtClean="0">
                <a:solidFill>
                  <a:srgbClr val="FF0000"/>
                </a:solidFill>
                <a:ea typeface="SimSun" pitchFamily="2" charset="-122"/>
              </a:rPr>
              <a:t>功能開發中</a:t>
            </a:r>
            <a:r>
              <a:rPr lang="en-US" altLang="zh-CN" sz="1400" dirty="0" smtClean="0">
                <a:solidFill>
                  <a:srgbClr val="FF0000"/>
                </a:solidFill>
                <a:ea typeface="SimSun" pitchFamily="2" charset="-122"/>
              </a:rPr>
              <a:t>)</a:t>
            </a:r>
            <a:endParaRPr lang="en-US" altLang="zh-CN" sz="1400" dirty="0">
              <a:solidFill>
                <a:srgbClr val="FF0000"/>
              </a:solidFill>
              <a:ea typeface="SimSun" pitchFamily="2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390" y="2204866"/>
            <a:ext cx="5687219" cy="24482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系統概述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角色設置</a:t>
            </a:r>
            <a:endParaRPr lang="en-US" altLang="zh-CN" sz="2400" dirty="0">
              <a:ea typeface="SimSun" pitchFamily="2" charset="-122"/>
            </a:endParaRPr>
          </a:p>
        </p:txBody>
      </p:sp>
      <p:grpSp>
        <p:nvGrpSpPr>
          <p:cNvPr id="43029" name="Group 21"/>
          <p:cNvGrpSpPr>
            <a:grpSpLocks/>
          </p:cNvGrpSpPr>
          <p:nvPr/>
        </p:nvGrpSpPr>
        <p:grpSpPr bwMode="auto">
          <a:xfrm>
            <a:off x="1143000" y="3095625"/>
            <a:ext cx="2286000" cy="2667000"/>
            <a:chOff x="720" y="1950"/>
            <a:chExt cx="1440" cy="1680"/>
          </a:xfrm>
        </p:grpSpPr>
        <p:sp>
          <p:nvSpPr>
            <p:cNvPr id="43013" name="AutoShape 5"/>
            <p:cNvSpPr>
              <a:spLocks noChangeArrowheads="1"/>
            </p:cNvSpPr>
            <p:nvPr/>
          </p:nvSpPr>
          <p:spPr bwMode="auto">
            <a:xfrm>
              <a:off x="720" y="1950"/>
              <a:ext cx="1440" cy="168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zh-CN" altLang="en-US">
                <a:latin typeface="Verdana" pitchFamily="34" charset="0"/>
                <a:ea typeface="SimSun" pitchFamily="2" charset="-122"/>
              </a:endParaRPr>
            </a:p>
          </p:txBody>
        </p:sp>
        <p:sp>
          <p:nvSpPr>
            <p:cNvPr id="43014" name="Text Box 6"/>
            <p:cNvSpPr txBox="1">
              <a:spLocks noChangeArrowheads="1"/>
            </p:cNvSpPr>
            <p:nvPr/>
          </p:nvSpPr>
          <p:spPr bwMode="auto">
            <a:xfrm>
              <a:off x="765" y="2076"/>
              <a:ext cx="135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zh-CN" altLang="en-US" sz="2000" b="1" dirty="0" smtClean="0">
                  <a:solidFill>
                    <a:srgbClr val="000000"/>
                  </a:solidFill>
                  <a:ea typeface="SimSun" pitchFamily="2" charset="-122"/>
                </a:rPr>
                <a:t>生產部門</a:t>
              </a:r>
              <a:r>
                <a:rPr lang="en-US" altLang="zh-CN" dirty="0" smtClean="0">
                  <a:solidFill>
                    <a:srgbClr val="000000"/>
                  </a:solidFill>
                  <a:ea typeface="SimSun" pitchFamily="2" charset="-122"/>
                </a:rPr>
                <a:t> </a:t>
              </a:r>
            </a:p>
          </p:txBody>
        </p:sp>
      </p:grpSp>
      <p:sp>
        <p:nvSpPr>
          <p:cNvPr id="43016" name="Freeform 8"/>
          <p:cNvSpPr>
            <a:spLocks/>
          </p:cNvSpPr>
          <p:nvPr/>
        </p:nvSpPr>
        <p:spPr bwMode="gray">
          <a:xfrm>
            <a:off x="3222625" y="2998788"/>
            <a:ext cx="903288" cy="1241425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017" name="AutoShape 9"/>
          <p:cNvSpPr>
            <a:spLocks noChangeAspect="1" noChangeArrowheads="1" noTextEdit="1"/>
          </p:cNvSpPr>
          <p:nvPr/>
        </p:nvSpPr>
        <p:spPr bwMode="gray">
          <a:xfrm flipH="1">
            <a:off x="4868863" y="2995613"/>
            <a:ext cx="909637" cy="124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43031" name="Group 23"/>
          <p:cNvGrpSpPr>
            <a:grpSpLocks/>
          </p:cNvGrpSpPr>
          <p:nvPr/>
        </p:nvGrpSpPr>
        <p:grpSpPr bwMode="auto">
          <a:xfrm>
            <a:off x="3048000" y="1371600"/>
            <a:ext cx="2998788" cy="1601788"/>
            <a:chOff x="1920" y="864"/>
            <a:chExt cx="1889" cy="1009"/>
          </a:xfrm>
        </p:grpSpPr>
        <p:grpSp>
          <p:nvGrpSpPr>
            <p:cNvPr id="43019" name="Group 11"/>
            <p:cNvGrpSpPr>
              <a:grpSpLocks/>
            </p:cNvGrpSpPr>
            <p:nvPr/>
          </p:nvGrpSpPr>
          <p:grpSpPr bwMode="auto">
            <a:xfrm>
              <a:off x="1920" y="864"/>
              <a:ext cx="1889" cy="1009"/>
              <a:chOff x="1997" y="1314"/>
              <a:chExt cx="1889" cy="1009"/>
            </a:xfrm>
          </p:grpSpPr>
          <p:grpSp>
            <p:nvGrpSpPr>
              <p:cNvPr id="43020" name="Group 12"/>
              <p:cNvGrpSpPr>
                <a:grpSpLocks/>
              </p:cNvGrpSpPr>
              <p:nvPr/>
            </p:nvGrpSpPr>
            <p:grpSpPr bwMode="auto">
              <a:xfrm>
                <a:off x="1997" y="1404"/>
                <a:ext cx="1889" cy="919"/>
                <a:chOff x="1973" y="1027"/>
                <a:chExt cx="1926" cy="937"/>
              </a:xfrm>
            </p:grpSpPr>
            <p:sp>
              <p:nvSpPr>
                <p:cNvPr id="43021" name="Oval 13"/>
                <p:cNvSpPr>
                  <a:spLocks noChangeArrowheads="1"/>
                </p:cNvSpPr>
                <p:nvPr/>
              </p:nvSpPr>
              <p:spPr bwMode="gray">
                <a:xfrm>
                  <a:off x="1994" y="1057"/>
                  <a:ext cx="1905" cy="90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8627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022" name="Oval 14"/>
                <p:cNvSpPr>
                  <a:spLocks noChangeArrowheads="1"/>
                </p:cNvSpPr>
                <p:nvPr/>
              </p:nvSpPr>
              <p:spPr bwMode="gray">
                <a:xfrm>
                  <a:off x="1973" y="1027"/>
                  <a:ext cx="1905" cy="90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44314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43023" name="Oval 15"/>
              <p:cNvSpPr>
                <a:spLocks noChangeArrowheads="1"/>
              </p:cNvSpPr>
              <p:nvPr/>
            </p:nvSpPr>
            <p:spPr bwMode="gray">
              <a:xfrm>
                <a:off x="2086" y="1314"/>
                <a:ext cx="1691" cy="845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zh-TW" altLang="en-US"/>
              </a:p>
            </p:txBody>
          </p:sp>
          <p:sp>
            <p:nvSpPr>
              <p:cNvPr id="43024" name="Oval 16"/>
              <p:cNvSpPr>
                <a:spLocks noChangeArrowheads="1"/>
              </p:cNvSpPr>
              <p:nvPr/>
            </p:nvSpPr>
            <p:spPr bwMode="gray">
              <a:xfrm>
                <a:off x="2108" y="1319"/>
                <a:ext cx="1650" cy="82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gamma/>
                      <a:tint val="34902"/>
                      <a:invGamma/>
                    </a:schemeClr>
                  </a:gs>
                </a:gsLst>
                <a:lin ang="27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zh-TW" altLang="en-US"/>
              </a:p>
            </p:txBody>
          </p:sp>
          <p:sp>
            <p:nvSpPr>
              <p:cNvPr id="43025" name="Oval 17"/>
              <p:cNvSpPr>
                <a:spLocks noChangeArrowheads="1"/>
              </p:cNvSpPr>
              <p:nvPr/>
            </p:nvSpPr>
            <p:spPr bwMode="gray">
              <a:xfrm>
                <a:off x="2125" y="1327"/>
                <a:ext cx="1570" cy="770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79216"/>
                      <a:invGamma/>
                    </a:schemeClr>
                  </a:gs>
                  <a:gs pos="100000">
                    <a:schemeClr val="accent1">
                      <a:alpha val="48000"/>
                    </a:schemeClr>
                  </a:gs>
                </a:gsLst>
                <a:lin ang="27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zh-TW" altLang="en-US"/>
              </a:p>
            </p:txBody>
          </p:sp>
          <p:sp>
            <p:nvSpPr>
              <p:cNvPr id="43026" name="Oval 18"/>
              <p:cNvSpPr>
                <a:spLocks noChangeArrowheads="1"/>
              </p:cNvSpPr>
              <p:nvPr/>
            </p:nvSpPr>
            <p:spPr bwMode="gray">
              <a:xfrm>
                <a:off x="2208" y="1344"/>
                <a:ext cx="1382" cy="62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100000">
                    <a:schemeClr val="accent1">
                      <a:alpha val="38000"/>
                    </a:schemeClr>
                  </a:gs>
                </a:gsLst>
                <a:lin ang="27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zh-TW" altLang="en-US"/>
              </a:p>
            </p:txBody>
          </p:sp>
        </p:grpSp>
        <p:sp>
          <p:nvSpPr>
            <p:cNvPr id="43027" name="Text Box 19"/>
            <p:cNvSpPr txBox="1">
              <a:spLocks noChangeArrowheads="1"/>
            </p:cNvSpPr>
            <p:nvPr/>
          </p:nvSpPr>
          <p:spPr bwMode="auto">
            <a:xfrm>
              <a:off x="2355" y="983"/>
              <a:ext cx="944" cy="4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 b="1" dirty="0" smtClean="0">
                  <a:solidFill>
                    <a:srgbClr val="000000"/>
                  </a:solidFill>
                  <a:ea typeface="SimSun" pitchFamily="2" charset="-122"/>
                </a:rPr>
                <a:t>IT</a:t>
              </a:r>
              <a:endParaRPr lang="en-US" altLang="zh-CN" sz="2400" b="1" dirty="0">
                <a:solidFill>
                  <a:srgbClr val="000000"/>
                </a:solidFill>
                <a:ea typeface="SimSun" pitchFamily="2" charset="-122"/>
              </a:endParaRPr>
            </a:p>
            <a:p>
              <a:pPr algn="ctr" eaLnBrk="0" hangingPunct="0"/>
              <a:r>
                <a:rPr lang="en-US" altLang="zh-CN" sz="1400" dirty="0" err="1" smtClean="0">
                  <a:solidFill>
                    <a:srgbClr val="000000"/>
                  </a:solidFill>
                  <a:ea typeface="SimSun" pitchFamily="2" charset="-122"/>
                </a:rPr>
                <a:t>OneScrapAdmin</a:t>
              </a:r>
              <a:endParaRPr lang="en-US" altLang="zh-CN" sz="1400" dirty="0">
                <a:solidFill>
                  <a:srgbClr val="000000"/>
                </a:solidFill>
                <a:ea typeface="SimSun" pitchFamily="2" charset="-122"/>
              </a:endParaRPr>
            </a:p>
          </p:txBody>
        </p:sp>
      </p:grpSp>
      <p:grpSp>
        <p:nvGrpSpPr>
          <p:cNvPr id="43030" name="Group 22"/>
          <p:cNvGrpSpPr>
            <a:grpSpLocks/>
          </p:cNvGrpSpPr>
          <p:nvPr/>
        </p:nvGrpSpPr>
        <p:grpSpPr bwMode="auto">
          <a:xfrm>
            <a:off x="5562600" y="3095625"/>
            <a:ext cx="2286000" cy="2667000"/>
            <a:chOff x="3504" y="1950"/>
            <a:chExt cx="1440" cy="1680"/>
          </a:xfrm>
        </p:grpSpPr>
        <p:sp>
          <p:nvSpPr>
            <p:cNvPr id="43011" name="AutoShape 3"/>
            <p:cNvSpPr>
              <a:spLocks noChangeArrowheads="1"/>
            </p:cNvSpPr>
            <p:nvPr/>
          </p:nvSpPr>
          <p:spPr bwMode="auto">
            <a:xfrm>
              <a:off x="3504" y="1950"/>
              <a:ext cx="1440" cy="168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zh-CN" altLang="en-US">
                <a:latin typeface="Verdana" pitchFamily="34" charset="0"/>
                <a:ea typeface="SimSun" pitchFamily="2" charset="-122"/>
              </a:endParaRPr>
            </a:p>
          </p:txBody>
        </p:sp>
        <p:sp>
          <p:nvSpPr>
            <p:cNvPr id="43028" name="Text Box 20"/>
            <p:cNvSpPr txBox="1">
              <a:spLocks noChangeArrowheads="1"/>
            </p:cNvSpPr>
            <p:nvPr/>
          </p:nvSpPr>
          <p:spPr bwMode="auto">
            <a:xfrm>
              <a:off x="3690" y="2112"/>
              <a:ext cx="125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zh-CN" altLang="en-US" sz="2000" b="1" dirty="0" smtClean="0">
                  <a:solidFill>
                    <a:srgbClr val="000000"/>
                  </a:solidFill>
                  <a:ea typeface="SimSun" pitchFamily="2" charset="-122"/>
                </a:rPr>
                <a:t>主管角色</a:t>
              </a:r>
              <a:endParaRPr lang="en-US" altLang="zh-CN" sz="2000" b="1" dirty="0" smtClean="0">
                <a:solidFill>
                  <a:srgbClr val="000000"/>
                </a:solidFill>
                <a:ea typeface="SimSun" pitchFamily="2" charset="-122"/>
              </a:endParaRPr>
            </a:p>
          </p:txBody>
        </p:sp>
      </p:grpSp>
      <p:sp>
        <p:nvSpPr>
          <p:cNvPr id="43018" name="Freeform 10"/>
          <p:cNvSpPr>
            <a:spLocks/>
          </p:cNvSpPr>
          <p:nvPr/>
        </p:nvSpPr>
        <p:spPr bwMode="gray">
          <a:xfrm flipH="1">
            <a:off x="4875213" y="2998788"/>
            <a:ext cx="903287" cy="1241425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199" y="3695700"/>
            <a:ext cx="1868001" cy="193718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1" y="3695700"/>
            <a:ext cx="1814257" cy="19371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系統概述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角色設置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7696200" cy="4214826"/>
          </a:xfrm>
        </p:spPr>
        <p:txBody>
          <a:bodyPr/>
          <a:lstStyle/>
          <a:p>
            <a:r>
              <a:rPr lang="zh-CN" altLang="en-US" sz="3200" b="1" dirty="0" smtClean="0">
                <a:ea typeface="SimSun" pitchFamily="2" charset="-122"/>
              </a:rPr>
              <a:t>角色設置</a:t>
            </a:r>
            <a:endParaRPr lang="en-US" altLang="zh-CN" sz="3200" b="1" dirty="0">
              <a:ea typeface="SimSun" pitchFamily="2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932302"/>
            <a:ext cx="6840760" cy="3868031"/>
          </a:xfrm>
          <a:prstGeom prst="rect">
            <a:avLst/>
          </a:prstGeom>
        </p:spPr>
      </p:pic>
      <p:sp>
        <p:nvSpPr>
          <p:cNvPr id="10" name="圓角矩形圖說文字 9"/>
          <p:cNvSpPr/>
          <p:nvPr/>
        </p:nvSpPr>
        <p:spPr>
          <a:xfrm>
            <a:off x="3131840" y="2780928"/>
            <a:ext cx="915740" cy="366969"/>
          </a:xfrm>
          <a:prstGeom prst="wedgeRoundRectCallout">
            <a:avLst>
              <a:gd name="adj1" fmla="val -85337"/>
              <a:gd name="adj2" fmla="val -91376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角色類別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1" name="圓角矩形圖說文字 10"/>
          <p:cNvSpPr/>
          <p:nvPr/>
        </p:nvSpPr>
        <p:spPr>
          <a:xfrm>
            <a:off x="5560468" y="2780928"/>
            <a:ext cx="915740" cy="366969"/>
          </a:xfrm>
          <a:prstGeom prst="wedgeRoundRectCallout">
            <a:avLst>
              <a:gd name="adj1" fmla="val -85337"/>
              <a:gd name="adj2" fmla="val -91376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角色名稱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2" name="圓角矩形圖說文字 11"/>
          <p:cNvSpPr/>
          <p:nvPr/>
        </p:nvSpPr>
        <p:spPr>
          <a:xfrm>
            <a:off x="7626995" y="2780927"/>
            <a:ext cx="915740" cy="366969"/>
          </a:xfrm>
          <a:prstGeom prst="wedgeRoundRectCallout">
            <a:avLst>
              <a:gd name="adj1" fmla="val -85337"/>
              <a:gd name="adj2" fmla="val -91376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用戶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系統</a:t>
            </a:r>
            <a:r>
              <a:rPr lang="zh-CN" altLang="en-US" sz="2400" dirty="0">
                <a:ea typeface="SimSun" pitchFamily="2" charset="-122"/>
              </a:rPr>
              <a:t>功能</a:t>
            </a:r>
            <a:endParaRPr lang="en-US" altLang="zh-CN" sz="2000" dirty="0">
              <a:ea typeface="SimSun" pitchFamily="2" charset="-122"/>
            </a:endParaRPr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1219200" y="1543050"/>
            <a:ext cx="7239000" cy="4400550"/>
            <a:chOff x="768" y="972"/>
            <a:chExt cx="4560" cy="2772"/>
          </a:xfrm>
        </p:grpSpPr>
        <p:sp>
          <p:nvSpPr>
            <p:cNvPr id="66563" name="Freeform 3"/>
            <p:cNvSpPr>
              <a:spLocks noEditPoints="1"/>
            </p:cNvSpPr>
            <p:nvPr/>
          </p:nvSpPr>
          <p:spPr bwMode="gray">
            <a:xfrm>
              <a:off x="768" y="1200"/>
              <a:ext cx="3744" cy="2544"/>
            </a:xfrm>
            <a:custGeom>
              <a:avLst/>
              <a:gdLst/>
              <a:ahLst/>
              <a:cxnLst>
                <a:cxn ang="0">
                  <a:pos x="1092" y="50"/>
                </a:cxn>
                <a:cxn ang="0">
                  <a:pos x="822" y="168"/>
                </a:cxn>
                <a:cxn ang="0">
                  <a:pos x="594" y="300"/>
                </a:cxn>
                <a:cxn ang="0">
                  <a:pos x="406" y="446"/>
                </a:cxn>
                <a:cxn ang="0">
                  <a:pos x="254" y="604"/>
                </a:cxn>
                <a:cxn ang="0">
                  <a:pos x="140" y="772"/>
                </a:cxn>
                <a:cxn ang="0">
                  <a:pos x="60" y="944"/>
                </a:cxn>
                <a:cxn ang="0">
                  <a:pos x="14" y="1122"/>
                </a:cxn>
                <a:cxn ang="0">
                  <a:pos x="0" y="1300"/>
                </a:cxn>
                <a:cxn ang="0">
                  <a:pos x="18" y="1476"/>
                </a:cxn>
                <a:cxn ang="0">
                  <a:pos x="64" y="1650"/>
                </a:cxn>
                <a:cxn ang="0">
                  <a:pos x="138" y="1818"/>
                </a:cxn>
                <a:cxn ang="0">
                  <a:pos x="238" y="1978"/>
                </a:cxn>
                <a:cxn ang="0">
                  <a:pos x="364" y="2126"/>
                </a:cxn>
                <a:cxn ang="0">
                  <a:pos x="512" y="2262"/>
                </a:cxn>
                <a:cxn ang="0">
                  <a:pos x="684" y="2382"/>
                </a:cxn>
                <a:cxn ang="0">
                  <a:pos x="874" y="2484"/>
                </a:cxn>
                <a:cxn ang="0">
                  <a:pos x="1086" y="2564"/>
                </a:cxn>
                <a:cxn ang="0">
                  <a:pos x="1314" y="2622"/>
                </a:cxn>
                <a:cxn ang="0">
                  <a:pos x="1558" y="2654"/>
                </a:cxn>
                <a:cxn ang="0">
                  <a:pos x="1818" y="2658"/>
                </a:cxn>
                <a:cxn ang="0">
                  <a:pos x="2090" y="2632"/>
                </a:cxn>
                <a:cxn ang="0">
                  <a:pos x="2374" y="2574"/>
                </a:cxn>
                <a:cxn ang="0">
                  <a:pos x="2544" y="2912"/>
                </a:cxn>
                <a:cxn ang="0">
                  <a:pos x="1868" y="1552"/>
                </a:cxn>
                <a:cxn ang="0">
                  <a:pos x="1956" y="1914"/>
                </a:cxn>
                <a:cxn ang="0">
                  <a:pos x="1788" y="1936"/>
                </a:cxn>
                <a:cxn ang="0">
                  <a:pos x="1616" y="1934"/>
                </a:cxn>
                <a:cxn ang="0">
                  <a:pos x="1442" y="1912"/>
                </a:cxn>
                <a:cxn ang="0">
                  <a:pos x="1272" y="1872"/>
                </a:cxn>
                <a:cxn ang="0">
                  <a:pos x="1108" y="1812"/>
                </a:cxn>
                <a:cxn ang="0">
                  <a:pos x="952" y="1736"/>
                </a:cxn>
                <a:cxn ang="0">
                  <a:pos x="810" y="1646"/>
                </a:cxn>
                <a:cxn ang="0">
                  <a:pos x="684" y="1542"/>
                </a:cxn>
                <a:cxn ang="0">
                  <a:pos x="578" y="1428"/>
                </a:cxn>
                <a:cxn ang="0">
                  <a:pos x="494" y="1304"/>
                </a:cxn>
                <a:cxn ang="0">
                  <a:pos x="438" y="1170"/>
                </a:cxn>
                <a:cxn ang="0">
                  <a:pos x="410" y="1032"/>
                </a:cxn>
                <a:cxn ang="0">
                  <a:pos x="416" y="888"/>
                </a:cxn>
                <a:cxn ang="0">
                  <a:pos x="460" y="742"/>
                </a:cxn>
                <a:cxn ang="0">
                  <a:pos x="544" y="592"/>
                </a:cxn>
                <a:cxn ang="0">
                  <a:pos x="670" y="444"/>
                </a:cxn>
                <a:cxn ang="0">
                  <a:pos x="844" y="298"/>
                </a:cxn>
                <a:cxn ang="0">
                  <a:pos x="1070" y="154"/>
                </a:cxn>
                <a:cxn ang="0">
                  <a:pos x="1348" y="16"/>
                </a:cxn>
                <a:cxn ang="0">
                  <a:pos x="1244" y="0"/>
                </a:cxn>
                <a:cxn ang="0">
                  <a:pos x="2820" y="1934"/>
                </a:cxn>
                <a:cxn ang="0">
                  <a:pos x="2820" y="1934"/>
                </a:cxn>
              </a:cxnLst>
              <a:rect l="0" t="0" r="r" b="b"/>
              <a:pathLst>
                <a:path w="2820" h="2912">
                  <a:moveTo>
                    <a:pt x="1244" y="0"/>
                  </a:moveTo>
                  <a:lnTo>
                    <a:pt x="1092" y="50"/>
                  </a:lnTo>
                  <a:lnTo>
                    <a:pt x="952" y="106"/>
                  </a:lnTo>
                  <a:lnTo>
                    <a:pt x="822" y="168"/>
                  </a:lnTo>
                  <a:lnTo>
                    <a:pt x="704" y="232"/>
                  </a:lnTo>
                  <a:lnTo>
                    <a:pt x="594" y="300"/>
                  </a:lnTo>
                  <a:lnTo>
                    <a:pt x="494" y="372"/>
                  </a:lnTo>
                  <a:lnTo>
                    <a:pt x="406" y="446"/>
                  </a:lnTo>
                  <a:lnTo>
                    <a:pt x="324" y="524"/>
                  </a:lnTo>
                  <a:lnTo>
                    <a:pt x="254" y="604"/>
                  </a:lnTo>
                  <a:lnTo>
                    <a:pt x="192" y="686"/>
                  </a:lnTo>
                  <a:lnTo>
                    <a:pt x="140" y="772"/>
                  </a:lnTo>
                  <a:lnTo>
                    <a:pt x="96" y="856"/>
                  </a:lnTo>
                  <a:lnTo>
                    <a:pt x="60" y="944"/>
                  </a:lnTo>
                  <a:lnTo>
                    <a:pt x="32" y="1032"/>
                  </a:lnTo>
                  <a:lnTo>
                    <a:pt x="14" y="1122"/>
                  </a:lnTo>
                  <a:lnTo>
                    <a:pt x="2" y="1210"/>
                  </a:lnTo>
                  <a:lnTo>
                    <a:pt x="0" y="1300"/>
                  </a:lnTo>
                  <a:lnTo>
                    <a:pt x="4" y="1388"/>
                  </a:lnTo>
                  <a:lnTo>
                    <a:pt x="18" y="1476"/>
                  </a:lnTo>
                  <a:lnTo>
                    <a:pt x="36" y="1564"/>
                  </a:lnTo>
                  <a:lnTo>
                    <a:pt x="64" y="1650"/>
                  </a:lnTo>
                  <a:lnTo>
                    <a:pt x="96" y="1736"/>
                  </a:lnTo>
                  <a:lnTo>
                    <a:pt x="138" y="1818"/>
                  </a:lnTo>
                  <a:lnTo>
                    <a:pt x="184" y="1900"/>
                  </a:lnTo>
                  <a:lnTo>
                    <a:pt x="238" y="1978"/>
                  </a:lnTo>
                  <a:lnTo>
                    <a:pt x="298" y="2054"/>
                  </a:lnTo>
                  <a:lnTo>
                    <a:pt x="364" y="2126"/>
                  </a:lnTo>
                  <a:lnTo>
                    <a:pt x="434" y="2196"/>
                  </a:lnTo>
                  <a:lnTo>
                    <a:pt x="512" y="2262"/>
                  </a:lnTo>
                  <a:lnTo>
                    <a:pt x="596" y="2324"/>
                  </a:lnTo>
                  <a:lnTo>
                    <a:pt x="684" y="2382"/>
                  </a:lnTo>
                  <a:lnTo>
                    <a:pt x="776" y="2436"/>
                  </a:lnTo>
                  <a:lnTo>
                    <a:pt x="874" y="2484"/>
                  </a:lnTo>
                  <a:lnTo>
                    <a:pt x="978" y="2526"/>
                  </a:lnTo>
                  <a:lnTo>
                    <a:pt x="1086" y="2564"/>
                  </a:lnTo>
                  <a:lnTo>
                    <a:pt x="1198" y="2596"/>
                  </a:lnTo>
                  <a:lnTo>
                    <a:pt x="1314" y="2622"/>
                  </a:lnTo>
                  <a:lnTo>
                    <a:pt x="1434" y="2642"/>
                  </a:lnTo>
                  <a:lnTo>
                    <a:pt x="1558" y="2654"/>
                  </a:lnTo>
                  <a:lnTo>
                    <a:pt x="1686" y="2660"/>
                  </a:lnTo>
                  <a:lnTo>
                    <a:pt x="1818" y="2658"/>
                  </a:lnTo>
                  <a:lnTo>
                    <a:pt x="1952" y="2650"/>
                  </a:lnTo>
                  <a:lnTo>
                    <a:pt x="2090" y="2632"/>
                  </a:lnTo>
                  <a:lnTo>
                    <a:pt x="2230" y="2608"/>
                  </a:lnTo>
                  <a:lnTo>
                    <a:pt x="2374" y="2574"/>
                  </a:lnTo>
                  <a:lnTo>
                    <a:pt x="2542" y="2912"/>
                  </a:lnTo>
                  <a:lnTo>
                    <a:pt x="2544" y="2912"/>
                  </a:lnTo>
                  <a:lnTo>
                    <a:pt x="2820" y="1934"/>
                  </a:lnTo>
                  <a:lnTo>
                    <a:pt x="1868" y="1552"/>
                  </a:lnTo>
                  <a:lnTo>
                    <a:pt x="2036" y="1894"/>
                  </a:lnTo>
                  <a:lnTo>
                    <a:pt x="1956" y="1914"/>
                  </a:lnTo>
                  <a:lnTo>
                    <a:pt x="1872" y="1928"/>
                  </a:lnTo>
                  <a:lnTo>
                    <a:pt x="1788" y="1936"/>
                  </a:lnTo>
                  <a:lnTo>
                    <a:pt x="1702" y="1938"/>
                  </a:lnTo>
                  <a:lnTo>
                    <a:pt x="1616" y="1934"/>
                  </a:lnTo>
                  <a:lnTo>
                    <a:pt x="1528" y="1926"/>
                  </a:lnTo>
                  <a:lnTo>
                    <a:pt x="1442" y="1912"/>
                  </a:lnTo>
                  <a:lnTo>
                    <a:pt x="1356" y="1894"/>
                  </a:lnTo>
                  <a:lnTo>
                    <a:pt x="1272" y="1872"/>
                  </a:lnTo>
                  <a:lnTo>
                    <a:pt x="1188" y="1844"/>
                  </a:lnTo>
                  <a:lnTo>
                    <a:pt x="1108" y="1812"/>
                  </a:lnTo>
                  <a:lnTo>
                    <a:pt x="1028" y="1776"/>
                  </a:lnTo>
                  <a:lnTo>
                    <a:pt x="952" y="1736"/>
                  </a:lnTo>
                  <a:lnTo>
                    <a:pt x="880" y="1692"/>
                  </a:lnTo>
                  <a:lnTo>
                    <a:pt x="810" y="1646"/>
                  </a:lnTo>
                  <a:lnTo>
                    <a:pt x="744" y="1596"/>
                  </a:lnTo>
                  <a:lnTo>
                    <a:pt x="684" y="1542"/>
                  </a:lnTo>
                  <a:lnTo>
                    <a:pt x="628" y="1486"/>
                  </a:lnTo>
                  <a:lnTo>
                    <a:pt x="578" y="1428"/>
                  </a:lnTo>
                  <a:lnTo>
                    <a:pt x="532" y="1366"/>
                  </a:lnTo>
                  <a:lnTo>
                    <a:pt x="494" y="1304"/>
                  </a:lnTo>
                  <a:lnTo>
                    <a:pt x="462" y="1238"/>
                  </a:lnTo>
                  <a:lnTo>
                    <a:pt x="438" y="1170"/>
                  </a:lnTo>
                  <a:lnTo>
                    <a:pt x="420" y="1102"/>
                  </a:lnTo>
                  <a:lnTo>
                    <a:pt x="410" y="1032"/>
                  </a:lnTo>
                  <a:lnTo>
                    <a:pt x="410" y="960"/>
                  </a:lnTo>
                  <a:lnTo>
                    <a:pt x="416" y="888"/>
                  </a:lnTo>
                  <a:lnTo>
                    <a:pt x="434" y="816"/>
                  </a:lnTo>
                  <a:lnTo>
                    <a:pt x="460" y="742"/>
                  </a:lnTo>
                  <a:lnTo>
                    <a:pt x="496" y="668"/>
                  </a:lnTo>
                  <a:lnTo>
                    <a:pt x="544" y="592"/>
                  </a:lnTo>
                  <a:lnTo>
                    <a:pt x="602" y="518"/>
                  </a:lnTo>
                  <a:lnTo>
                    <a:pt x="670" y="444"/>
                  </a:lnTo>
                  <a:lnTo>
                    <a:pt x="752" y="370"/>
                  </a:lnTo>
                  <a:lnTo>
                    <a:pt x="844" y="298"/>
                  </a:lnTo>
                  <a:lnTo>
                    <a:pt x="950" y="226"/>
                  </a:lnTo>
                  <a:lnTo>
                    <a:pt x="1070" y="154"/>
                  </a:lnTo>
                  <a:lnTo>
                    <a:pt x="1202" y="84"/>
                  </a:lnTo>
                  <a:lnTo>
                    <a:pt x="1348" y="16"/>
                  </a:lnTo>
                  <a:lnTo>
                    <a:pt x="1244" y="0"/>
                  </a:lnTo>
                  <a:lnTo>
                    <a:pt x="1244" y="0"/>
                  </a:lnTo>
                  <a:lnTo>
                    <a:pt x="1244" y="0"/>
                  </a:lnTo>
                  <a:close/>
                  <a:moveTo>
                    <a:pt x="2820" y="1934"/>
                  </a:moveTo>
                  <a:lnTo>
                    <a:pt x="2820" y="1934"/>
                  </a:lnTo>
                  <a:lnTo>
                    <a:pt x="2820" y="1934"/>
                  </a:ln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5400000" scaled="1"/>
            </a:gradFill>
            <a:ln w="0">
              <a:noFill/>
              <a:prstDash val="solid"/>
              <a:round/>
              <a:headEnd/>
              <a:tailEnd/>
            </a:ln>
            <a:effectLst>
              <a:outerShdw dist="206741" dir="8249373" algn="ctr" rotWithShape="0">
                <a:srgbClr val="C1D1D3">
                  <a:alpha val="5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6592" name="Text Box 32"/>
            <p:cNvSpPr txBox="1">
              <a:spLocks noChangeArrowheads="1"/>
            </p:cNvSpPr>
            <p:nvPr/>
          </p:nvSpPr>
          <p:spPr bwMode="auto">
            <a:xfrm>
              <a:off x="3648" y="2160"/>
              <a:ext cx="1680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 dirty="0" smtClean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SimSun" pitchFamily="2" charset="-122"/>
                </a:rPr>
                <a:t>系統</a:t>
              </a:r>
              <a:r>
                <a:rPr lang="zh-CN" altLang="en-US" sz="28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SimSun" pitchFamily="2" charset="-122"/>
                </a:rPr>
                <a:t>功能</a:t>
              </a:r>
              <a:endParaRPr lang="en-US" altLang="zh-CN" sz="2800" dirty="0">
                <a:solidFill>
                  <a:schemeClr val="tx2"/>
                </a:solidFill>
                <a:ea typeface="SimSun" pitchFamily="2" charset="-122"/>
              </a:endParaRPr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gray">
            <a:xfrm rot="-723406">
              <a:off x="2089" y="3132"/>
              <a:ext cx="906" cy="420"/>
            </a:xfrm>
            <a:prstGeom prst="ellipse">
              <a:avLst/>
            </a:prstGeom>
            <a:solidFill>
              <a:srgbClr val="0F2145">
                <a:alpha val="30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gray">
            <a:xfrm>
              <a:off x="2046" y="2364"/>
              <a:ext cx="1074" cy="107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TW" altLang="en-US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gray">
            <a:xfrm>
              <a:off x="2059" y="2370"/>
              <a:ext cx="1049" cy="1048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TW" altLang="en-US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gray">
            <a:xfrm>
              <a:off x="2070" y="2380"/>
              <a:ext cx="998" cy="980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TW" altLang="en-US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gray">
            <a:xfrm>
              <a:off x="2152" y="2434"/>
              <a:ext cx="888" cy="79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TW" altLang="en-US"/>
            </a:p>
          </p:txBody>
        </p:sp>
        <p:sp>
          <p:nvSpPr>
            <p:cNvPr id="66599" name="Text Box 39"/>
            <p:cNvSpPr txBox="1">
              <a:spLocks noChangeArrowheads="1"/>
            </p:cNvSpPr>
            <p:nvPr/>
          </p:nvSpPr>
          <p:spPr bwMode="gray">
            <a:xfrm>
              <a:off x="2166" y="2475"/>
              <a:ext cx="810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endParaRPr lang="en-US" altLang="zh-CN" dirty="0">
                <a:ea typeface="SimSun" pitchFamily="2" charset="-122"/>
              </a:endParaRPr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gray">
            <a:xfrm rot="-772996">
              <a:off x="928" y="2748"/>
              <a:ext cx="714" cy="384"/>
            </a:xfrm>
            <a:prstGeom prst="ellipse">
              <a:avLst/>
            </a:prstGeom>
            <a:solidFill>
              <a:srgbClr val="0F2145">
                <a:alpha val="30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3" name="Group 41"/>
            <p:cNvGrpSpPr>
              <a:grpSpLocks/>
            </p:cNvGrpSpPr>
            <p:nvPr/>
          </p:nvGrpSpPr>
          <p:grpSpPr bwMode="auto">
            <a:xfrm>
              <a:off x="880" y="2124"/>
              <a:ext cx="863" cy="908"/>
              <a:chOff x="732" y="2112"/>
              <a:chExt cx="842" cy="860"/>
            </a:xfrm>
          </p:grpSpPr>
          <p:sp>
            <p:nvSpPr>
              <p:cNvPr id="66602" name="Oval 42"/>
              <p:cNvSpPr>
                <a:spLocks noChangeArrowheads="1"/>
              </p:cNvSpPr>
              <p:nvPr/>
            </p:nvSpPr>
            <p:spPr bwMode="gray">
              <a:xfrm>
                <a:off x="732" y="2112"/>
                <a:ext cx="842" cy="860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zh-TW" altLang="en-US"/>
              </a:p>
            </p:txBody>
          </p:sp>
          <p:sp>
            <p:nvSpPr>
              <p:cNvPr id="66603" name="Oval 43"/>
              <p:cNvSpPr>
                <a:spLocks noChangeArrowheads="1"/>
              </p:cNvSpPr>
              <p:nvPr/>
            </p:nvSpPr>
            <p:spPr bwMode="gray">
              <a:xfrm>
                <a:off x="743" y="2117"/>
                <a:ext cx="821" cy="838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zh-TW" altLang="en-US"/>
              </a:p>
            </p:txBody>
          </p:sp>
          <p:sp>
            <p:nvSpPr>
              <p:cNvPr id="66604" name="Oval 44"/>
              <p:cNvSpPr>
                <a:spLocks noChangeArrowheads="1"/>
              </p:cNvSpPr>
              <p:nvPr/>
            </p:nvSpPr>
            <p:spPr bwMode="gray">
              <a:xfrm>
                <a:off x="751" y="2125"/>
                <a:ext cx="781" cy="784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zh-TW" altLang="en-US"/>
              </a:p>
            </p:txBody>
          </p:sp>
          <p:sp>
            <p:nvSpPr>
              <p:cNvPr id="66605" name="Oval 45"/>
              <p:cNvSpPr>
                <a:spLocks noChangeArrowheads="1"/>
              </p:cNvSpPr>
              <p:nvPr/>
            </p:nvSpPr>
            <p:spPr bwMode="gray">
              <a:xfrm>
                <a:off x="795" y="2147"/>
                <a:ext cx="695" cy="636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zh-TW" altLang="en-US"/>
              </a:p>
            </p:txBody>
          </p:sp>
        </p:grpSp>
        <p:sp>
          <p:nvSpPr>
            <p:cNvPr id="66607" name="Oval 47"/>
            <p:cNvSpPr>
              <a:spLocks noChangeArrowheads="1"/>
            </p:cNvSpPr>
            <p:nvPr/>
          </p:nvSpPr>
          <p:spPr bwMode="gray">
            <a:xfrm>
              <a:off x="816" y="1642"/>
              <a:ext cx="576" cy="336"/>
            </a:xfrm>
            <a:prstGeom prst="ellipse">
              <a:avLst/>
            </a:prstGeom>
            <a:solidFill>
              <a:srgbClr val="0F2145">
                <a:alpha val="30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gray">
            <a:xfrm>
              <a:off x="864" y="1260"/>
              <a:ext cx="645" cy="6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TW" altLang="en-US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gray">
            <a:xfrm>
              <a:off x="872" y="1263"/>
              <a:ext cx="630" cy="630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TW" altLang="en-US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gray">
            <a:xfrm>
              <a:off x="879" y="1270"/>
              <a:ext cx="599" cy="588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TW" altLang="en-US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gray">
            <a:xfrm rot="16200000">
              <a:off x="885" y="1333"/>
              <a:ext cx="534" cy="50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r>
                <a:rPr lang="en-US" altLang="zh-CN" sz="1100" b="1" dirty="0" smtClean="0"/>
                <a:t>Admin</a:t>
              </a:r>
              <a:endParaRPr lang="zh-TW" altLang="en-US" sz="1100" b="1" dirty="0"/>
            </a:p>
          </p:txBody>
        </p:sp>
        <p:sp>
          <p:nvSpPr>
            <p:cNvPr id="66612" name="Text Box 52"/>
            <p:cNvSpPr txBox="1">
              <a:spLocks noChangeArrowheads="1"/>
            </p:cNvSpPr>
            <p:nvPr/>
          </p:nvSpPr>
          <p:spPr bwMode="gray">
            <a:xfrm>
              <a:off x="2220" y="2787"/>
              <a:ext cx="751" cy="1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b="1" dirty="0" err="1" smtClean="0">
                  <a:ea typeface="SimSun" pitchFamily="2" charset="-122"/>
                </a:rPr>
                <a:t>McDashboard</a:t>
              </a:r>
              <a:endParaRPr lang="en-US" altLang="zh-CN" sz="1100" b="1" dirty="0">
                <a:ea typeface="SimSun" pitchFamily="2" charset="-122"/>
              </a:endParaRPr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gray">
            <a:xfrm>
              <a:off x="1614" y="1308"/>
              <a:ext cx="432" cy="144"/>
            </a:xfrm>
            <a:prstGeom prst="ellipse">
              <a:avLst/>
            </a:prstGeom>
            <a:solidFill>
              <a:srgbClr val="0F2145">
                <a:alpha val="30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gray">
            <a:xfrm>
              <a:off x="1691" y="972"/>
              <a:ext cx="430" cy="430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TW" altLang="en-US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gray">
            <a:xfrm>
              <a:off x="1697" y="974"/>
              <a:ext cx="419" cy="420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TW" altLang="en-US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gray">
            <a:xfrm>
              <a:off x="1701" y="978"/>
              <a:ext cx="399" cy="392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TW" altLang="en-US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gray">
            <a:xfrm rot="16040025">
              <a:off x="1730" y="1035"/>
              <a:ext cx="355" cy="31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r>
                <a:rPr lang="en-US" altLang="zh-CN" sz="1100" b="1" dirty="0"/>
                <a:t>S</a:t>
              </a:r>
              <a:r>
                <a:rPr lang="en-US" altLang="zh-CN" sz="1100" b="1" dirty="0" smtClean="0"/>
                <a:t>crap</a:t>
              </a:r>
              <a:endParaRPr lang="zh-TW" altLang="en-US" sz="1100" b="1" dirty="0"/>
            </a:p>
          </p:txBody>
        </p:sp>
        <p:sp>
          <p:nvSpPr>
            <p:cNvPr id="66618" name="Text Box 58"/>
            <p:cNvSpPr txBox="1">
              <a:spLocks noChangeArrowheads="1"/>
            </p:cNvSpPr>
            <p:nvPr/>
          </p:nvSpPr>
          <p:spPr bwMode="gray">
            <a:xfrm>
              <a:off x="945" y="2472"/>
              <a:ext cx="669" cy="1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b="1" dirty="0" smtClean="0">
                  <a:solidFill>
                    <a:srgbClr val="000000"/>
                  </a:solidFill>
                  <a:ea typeface="SimSun" pitchFamily="2" charset="-122"/>
                </a:rPr>
                <a:t>Dashboard</a:t>
              </a:r>
              <a:endParaRPr lang="en-US" altLang="zh-CN" sz="1100" dirty="0">
                <a:ea typeface="SimSun" pitchFamily="2" charset="-122"/>
              </a:endParaRPr>
            </a:p>
          </p:txBody>
        </p:sp>
      </p:grp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25" y="2705113"/>
            <a:ext cx="5353797" cy="447737"/>
          </a:xfrm>
          <a:prstGeom prst="rect">
            <a:avLst/>
          </a:prstGeom>
        </p:spPr>
      </p:pic>
      <p:sp>
        <p:nvSpPr>
          <p:cNvPr id="33" name="圓角矩形圖說文字 32"/>
          <p:cNvSpPr/>
          <p:nvPr/>
        </p:nvSpPr>
        <p:spPr>
          <a:xfrm>
            <a:off x="3923928" y="2155791"/>
            <a:ext cx="1010023" cy="386053"/>
          </a:xfrm>
          <a:prstGeom prst="wedgeRoundRectCallout">
            <a:avLst>
              <a:gd name="adj1" fmla="val 115"/>
              <a:gd name="adj2" fmla="val 97902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單據審核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35" name="圓角矩形圖說文字 34"/>
          <p:cNvSpPr/>
          <p:nvPr/>
        </p:nvSpPr>
        <p:spPr>
          <a:xfrm>
            <a:off x="5035608" y="2157391"/>
            <a:ext cx="1192576" cy="386053"/>
          </a:xfrm>
          <a:prstGeom prst="wedgeRoundRectCallout">
            <a:avLst>
              <a:gd name="adj1" fmla="val 115"/>
              <a:gd name="adj2" fmla="val 97902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主檔單據創建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36" name="圓角矩形圖說文字 35"/>
          <p:cNvSpPr/>
          <p:nvPr/>
        </p:nvSpPr>
        <p:spPr>
          <a:xfrm>
            <a:off x="6275015" y="2163424"/>
            <a:ext cx="1176710" cy="386053"/>
          </a:xfrm>
          <a:prstGeom prst="wedgeRoundRectCallout">
            <a:avLst>
              <a:gd name="adj1" fmla="val 115"/>
              <a:gd name="adj2" fmla="val 97902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子</a:t>
            </a:r>
            <a:r>
              <a:rPr lang="zh-CN" altLang="en-US" sz="1100" dirty="0" smtClean="0">
                <a:solidFill>
                  <a:srgbClr val="FFFF00"/>
                </a:solidFill>
              </a:rPr>
              <a:t>檔單據管理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37" name="圓角矩形圖說文字 36"/>
          <p:cNvSpPr/>
          <p:nvPr/>
        </p:nvSpPr>
        <p:spPr>
          <a:xfrm>
            <a:off x="7412645" y="3370140"/>
            <a:ext cx="1176710" cy="386053"/>
          </a:xfrm>
          <a:prstGeom prst="wedgeRoundRectCallout">
            <a:avLst>
              <a:gd name="adj1" fmla="val -31267"/>
              <a:gd name="adj2" fmla="val -104795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系統</a:t>
            </a:r>
            <a:r>
              <a:rPr lang="zh-CN" altLang="en-US" sz="1100" dirty="0" smtClean="0">
                <a:solidFill>
                  <a:srgbClr val="FFFF00"/>
                </a:solidFill>
              </a:rPr>
              <a:t>管理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SimSun" pitchFamily="2" charset="-122"/>
              </a:rPr>
              <a:t> </a:t>
            </a:r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dirty="0" smtClean="0">
                <a:ea typeface="SimSun" pitchFamily="2" charset="-122"/>
              </a:rPr>
              <a:t>-</a:t>
            </a:r>
            <a:r>
              <a:rPr lang="zh-CN" altLang="en-US" dirty="0" smtClean="0">
                <a:ea typeface="SimSun" pitchFamily="2" charset="-122"/>
              </a:rPr>
              <a:t>單據審核</a:t>
            </a:r>
            <a:r>
              <a:rPr lang="en-US" altLang="zh-CN" dirty="0" smtClean="0">
                <a:ea typeface="SimSun" pitchFamily="2" charset="-122"/>
              </a:rPr>
              <a:t>(1)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533400" y="1143000"/>
            <a:ext cx="7696200" cy="421482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3200" b="1" kern="0" dirty="0" smtClean="0">
                <a:ea typeface="SimSun" pitchFamily="2" charset="-122"/>
              </a:rPr>
              <a:t>單據審核</a:t>
            </a:r>
            <a:endParaRPr lang="en-US" altLang="zh-CN" sz="3200" b="1" kern="0" dirty="0">
              <a:ea typeface="SimSun" pitchFamily="2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7" y="1945752"/>
            <a:ext cx="7704856" cy="3839111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738655" y="1945752"/>
            <a:ext cx="64807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32" name="圓角矩形圖說文字 31"/>
          <p:cNvSpPr/>
          <p:nvPr/>
        </p:nvSpPr>
        <p:spPr>
          <a:xfrm>
            <a:off x="707045" y="3351846"/>
            <a:ext cx="1176710" cy="386053"/>
          </a:xfrm>
          <a:prstGeom prst="wedgeRoundRectCallout">
            <a:avLst>
              <a:gd name="adj1" fmla="val 53913"/>
              <a:gd name="adj2" fmla="val -191340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審核單據列表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SimSun" pitchFamily="2" charset="-122"/>
              </a:rPr>
              <a:t> </a:t>
            </a:r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dirty="0" smtClean="0">
                <a:ea typeface="SimSun" pitchFamily="2" charset="-122"/>
              </a:rPr>
              <a:t>-</a:t>
            </a:r>
            <a:r>
              <a:rPr lang="zh-CN" altLang="en-US" dirty="0" smtClean="0">
                <a:ea typeface="SimSun" pitchFamily="2" charset="-122"/>
              </a:rPr>
              <a:t>單據審核</a:t>
            </a:r>
            <a:r>
              <a:rPr lang="en-US" altLang="zh-CN" dirty="0" smtClean="0">
                <a:ea typeface="SimSun" pitchFamily="2" charset="-122"/>
              </a:rPr>
              <a:t>(2)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533400" y="1143000"/>
            <a:ext cx="7696200" cy="421482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3200" b="1" kern="0" dirty="0" smtClean="0">
                <a:ea typeface="SimSun" pitchFamily="2" charset="-122"/>
              </a:rPr>
              <a:t>單據審核</a:t>
            </a:r>
            <a:endParaRPr lang="en-US" altLang="zh-CN" sz="3200" b="1" kern="0" dirty="0">
              <a:ea typeface="SimSun" pitchFamily="2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6832"/>
            <a:ext cx="7566517" cy="4331117"/>
          </a:xfrm>
          <a:prstGeom prst="rect">
            <a:avLst/>
          </a:prstGeom>
        </p:spPr>
      </p:pic>
      <p:sp>
        <p:nvSpPr>
          <p:cNvPr id="9" name="圓角矩形圖說文字 8"/>
          <p:cNvSpPr/>
          <p:nvPr/>
        </p:nvSpPr>
        <p:spPr>
          <a:xfrm>
            <a:off x="3635896" y="2348880"/>
            <a:ext cx="1176710" cy="386053"/>
          </a:xfrm>
          <a:prstGeom prst="wedgeRoundRectCallout">
            <a:avLst>
              <a:gd name="adj1" fmla="val -82824"/>
              <a:gd name="adj2" fmla="val 9079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校驗</a:t>
            </a:r>
            <a:r>
              <a:rPr lang="zh-CN" altLang="en-US" sz="1100" dirty="0" smtClean="0">
                <a:solidFill>
                  <a:srgbClr val="FFFF00"/>
                </a:solidFill>
              </a:rPr>
              <a:t>單據列表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720969" y="1844824"/>
            <a:ext cx="536331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832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SimSun" pitchFamily="2" charset="-122"/>
              </a:rPr>
              <a:t> </a:t>
            </a:r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dirty="0" smtClean="0">
                <a:ea typeface="SimSun" pitchFamily="2" charset="-122"/>
              </a:rPr>
              <a:t>-</a:t>
            </a:r>
            <a:r>
              <a:rPr lang="zh-CN" altLang="en-US" dirty="0" smtClean="0">
                <a:ea typeface="SimSun" pitchFamily="2" charset="-122"/>
              </a:rPr>
              <a:t>單據審核</a:t>
            </a:r>
            <a:r>
              <a:rPr lang="en-US" altLang="zh-CN" dirty="0" smtClean="0">
                <a:ea typeface="SimSun" pitchFamily="2" charset="-122"/>
              </a:rPr>
              <a:t>(3)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533400" y="1143000"/>
            <a:ext cx="7696200" cy="421482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3200" b="1" kern="0" dirty="0" smtClean="0">
                <a:ea typeface="SimSun" pitchFamily="2" charset="-122"/>
              </a:rPr>
              <a:t>單據審核</a:t>
            </a:r>
            <a:endParaRPr lang="en-US" altLang="zh-CN" sz="3200" b="1" kern="0" dirty="0">
              <a:ea typeface="SimSun" pitchFamily="2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1" y="1916952"/>
            <a:ext cx="7920880" cy="3963783"/>
          </a:xfrm>
          <a:prstGeom prst="rect">
            <a:avLst/>
          </a:prstGeom>
        </p:spPr>
      </p:pic>
      <p:sp>
        <p:nvSpPr>
          <p:cNvPr id="8" name="圓角矩形圖說文字 7"/>
          <p:cNvSpPr/>
          <p:nvPr/>
        </p:nvSpPr>
        <p:spPr>
          <a:xfrm>
            <a:off x="5105400" y="5871162"/>
            <a:ext cx="1176710" cy="386053"/>
          </a:xfrm>
          <a:prstGeom prst="wedgeRoundRectCallout">
            <a:avLst>
              <a:gd name="adj1" fmla="val 64373"/>
              <a:gd name="adj2" fmla="val -82021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附件錯誤退回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64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SimSun" pitchFamily="2" charset="-122"/>
              </a:rPr>
              <a:t> </a:t>
            </a:r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dirty="0" smtClean="0">
                <a:ea typeface="SimSun" pitchFamily="2" charset="-122"/>
              </a:rPr>
              <a:t>-</a:t>
            </a:r>
            <a:r>
              <a:rPr lang="zh-CN" altLang="en-US" dirty="0">
                <a:ea typeface="SimSun" pitchFamily="2" charset="-122"/>
              </a:rPr>
              <a:t>主</a:t>
            </a:r>
            <a:r>
              <a:rPr lang="zh-CN" altLang="en-US" dirty="0" smtClean="0">
                <a:ea typeface="SimSun" pitchFamily="2" charset="-122"/>
              </a:rPr>
              <a:t>檔單據創建</a:t>
            </a:r>
            <a:r>
              <a:rPr lang="en-US" altLang="zh-CN" dirty="0" smtClean="0">
                <a:ea typeface="SimSun" pitchFamily="2" charset="-122"/>
              </a:rPr>
              <a:t>(1)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533400" y="1143000"/>
            <a:ext cx="7696200" cy="421482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3200" b="1" kern="0" dirty="0">
                <a:ea typeface="SimSun" pitchFamily="2" charset="-122"/>
              </a:rPr>
              <a:t>主</a:t>
            </a:r>
            <a:r>
              <a:rPr lang="zh-CN" altLang="en-US" sz="3200" b="1" kern="0" dirty="0" smtClean="0">
                <a:ea typeface="SimSun" pitchFamily="2" charset="-122"/>
              </a:rPr>
              <a:t>檔單據創建</a:t>
            </a:r>
            <a:endParaRPr lang="en-US" altLang="zh-CN" sz="3200" b="1" kern="0" dirty="0">
              <a:ea typeface="SimSun" pitchFamily="2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772816"/>
            <a:ext cx="7704856" cy="4176464"/>
          </a:xfrm>
          <a:prstGeom prst="rect">
            <a:avLst/>
          </a:prstGeom>
        </p:spPr>
      </p:pic>
      <p:sp>
        <p:nvSpPr>
          <p:cNvPr id="10" name="圓角矩形圖說文字 9"/>
          <p:cNvSpPr/>
          <p:nvPr/>
        </p:nvSpPr>
        <p:spPr>
          <a:xfrm>
            <a:off x="5239217" y="5661248"/>
            <a:ext cx="1176710" cy="386053"/>
          </a:xfrm>
          <a:prstGeom prst="wedgeRoundRectCallout">
            <a:avLst>
              <a:gd name="adj1" fmla="val 64373"/>
              <a:gd name="adj2" fmla="val -82021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選擇審核人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1" name="圓角矩形圖說文字 10"/>
          <p:cNvSpPr/>
          <p:nvPr/>
        </p:nvSpPr>
        <p:spPr>
          <a:xfrm>
            <a:off x="2987824" y="5949280"/>
            <a:ext cx="1176710" cy="386053"/>
          </a:xfrm>
          <a:prstGeom prst="wedgeRoundRectCallout">
            <a:avLst>
              <a:gd name="adj1" fmla="val 64373"/>
              <a:gd name="adj2" fmla="val -82021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創建主檔單據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2" name="圓角矩形圖說文字 11"/>
          <p:cNvSpPr/>
          <p:nvPr/>
        </p:nvSpPr>
        <p:spPr>
          <a:xfrm>
            <a:off x="4517045" y="3717032"/>
            <a:ext cx="1176710" cy="386053"/>
          </a:xfrm>
          <a:prstGeom prst="wedgeRoundRectCallout">
            <a:avLst>
              <a:gd name="adj1" fmla="val -101504"/>
              <a:gd name="adj2" fmla="val 45518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上</a:t>
            </a:r>
            <a:r>
              <a:rPr lang="zh-CN" altLang="en-US" sz="1100" dirty="0" smtClean="0">
                <a:solidFill>
                  <a:srgbClr val="FFFF00"/>
                </a:solidFill>
              </a:rPr>
              <a:t>傳附件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295400" y="1772816"/>
            <a:ext cx="61230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809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SimSun" pitchFamily="2" charset="-122"/>
              </a:rPr>
              <a:t> </a:t>
            </a:r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dirty="0" smtClean="0">
                <a:ea typeface="SimSun" pitchFamily="2" charset="-122"/>
              </a:rPr>
              <a:t>-</a:t>
            </a:r>
            <a:r>
              <a:rPr lang="zh-CN" altLang="en-US" dirty="0">
                <a:ea typeface="SimSun" pitchFamily="2" charset="-122"/>
              </a:rPr>
              <a:t>主</a:t>
            </a:r>
            <a:r>
              <a:rPr lang="zh-CN" altLang="en-US" dirty="0" smtClean="0">
                <a:ea typeface="SimSun" pitchFamily="2" charset="-122"/>
              </a:rPr>
              <a:t>檔單據創建</a:t>
            </a:r>
            <a:r>
              <a:rPr lang="en-US" altLang="zh-CN" dirty="0" smtClean="0">
                <a:ea typeface="SimSun" pitchFamily="2" charset="-122"/>
              </a:rPr>
              <a:t>(2)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533400" y="1143000"/>
            <a:ext cx="7696200" cy="421482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3200" b="1" kern="0" dirty="0">
                <a:ea typeface="SimSun" pitchFamily="2" charset="-122"/>
              </a:rPr>
              <a:t>主</a:t>
            </a:r>
            <a:r>
              <a:rPr lang="zh-CN" altLang="en-US" sz="3200" b="1" kern="0" dirty="0" smtClean="0">
                <a:ea typeface="SimSun" pitchFamily="2" charset="-122"/>
              </a:rPr>
              <a:t>檔單據創建</a:t>
            </a:r>
            <a:endParaRPr lang="en-US" altLang="zh-CN" sz="3200" b="1" kern="0" dirty="0">
              <a:ea typeface="SimSun" pitchFamily="2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1" y="1844824"/>
            <a:ext cx="7776864" cy="4182059"/>
          </a:xfrm>
          <a:prstGeom prst="rect">
            <a:avLst/>
          </a:prstGeom>
        </p:spPr>
      </p:pic>
      <p:sp>
        <p:nvSpPr>
          <p:cNvPr id="13" name="圓角矩形圖說文字 12"/>
          <p:cNvSpPr/>
          <p:nvPr/>
        </p:nvSpPr>
        <p:spPr>
          <a:xfrm>
            <a:off x="6372200" y="3212976"/>
            <a:ext cx="864096" cy="386053"/>
          </a:xfrm>
          <a:prstGeom prst="wedgeRoundRectCallout">
            <a:avLst>
              <a:gd name="adj1" fmla="val -52189"/>
              <a:gd name="adj2" fmla="val 70570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導出主檔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4" name="圓角矩形圖說文字 13"/>
          <p:cNvSpPr/>
          <p:nvPr/>
        </p:nvSpPr>
        <p:spPr>
          <a:xfrm>
            <a:off x="7309313" y="3212975"/>
            <a:ext cx="864096" cy="386053"/>
          </a:xfrm>
          <a:prstGeom prst="wedgeRoundRectCallout">
            <a:avLst>
              <a:gd name="adj1" fmla="val -52189"/>
              <a:gd name="adj2" fmla="val 70570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導出子檔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5" name="圓角矩形圖說文字 14"/>
          <p:cNvSpPr/>
          <p:nvPr/>
        </p:nvSpPr>
        <p:spPr>
          <a:xfrm>
            <a:off x="1187624" y="5640830"/>
            <a:ext cx="864096" cy="386053"/>
          </a:xfrm>
          <a:prstGeom prst="wedgeRoundRectCallout">
            <a:avLst>
              <a:gd name="adj1" fmla="val 42440"/>
              <a:gd name="adj2" fmla="val -127571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單據列表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533400" y="1844824"/>
            <a:ext cx="762000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501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SimSun" pitchFamily="2" charset="-122"/>
              </a:rPr>
              <a:t> </a:t>
            </a:r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dirty="0" smtClean="0">
                <a:ea typeface="SimSun" pitchFamily="2" charset="-122"/>
              </a:rPr>
              <a:t>-</a:t>
            </a:r>
            <a:r>
              <a:rPr lang="zh-CN" altLang="en-US" dirty="0">
                <a:ea typeface="SimSun" pitchFamily="2" charset="-122"/>
              </a:rPr>
              <a:t>主</a:t>
            </a:r>
            <a:r>
              <a:rPr lang="zh-CN" altLang="en-US" dirty="0" smtClean="0">
                <a:ea typeface="SimSun" pitchFamily="2" charset="-122"/>
              </a:rPr>
              <a:t>檔單據創建</a:t>
            </a:r>
            <a:r>
              <a:rPr lang="en-US" altLang="zh-CN" dirty="0" smtClean="0">
                <a:ea typeface="SimSun" pitchFamily="2" charset="-122"/>
              </a:rPr>
              <a:t>(</a:t>
            </a:r>
            <a:r>
              <a:rPr lang="en-US" altLang="zh-CN" dirty="0">
                <a:ea typeface="SimSun" pitchFamily="2" charset="-122"/>
              </a:rPr>
              <a:t>3</a:t>
            </a:r>
            <a:r>
              <a:rPr lang="en-US" altLang="zh-CN" dirty="0" smtClean="0">
                <a:ea typeface="SimSun" pitchFamily="2" charset="-122"/>
              </a:rPr>
              <a:t>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533400" y="1143000"/>
            <a:ext cx="7696200" cy="421482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3200" b="1" kern="0" dirty="0">
                <a:ea typeface="SimSun" pitchFamily="2" charset="-122"/>
              </a:rPr>
              <a:t>主</a:t>
            </a:r>
            <a:r>
              <a:rPr lang="zh-CN" altLang="en-US" sz="3200" b="1" kern="0" dirty="0" smtClean="0">
                <a:ea typeface="SimSun" pitchFamily="2" charset="-122"/>
              </a:rPr>
              <a:t>檔單據創建</a:t>
            </a:r>
            <a:endParaRPr lang="en-US" altLang="zh-CN" sz="3200" b="1" kern="0" dirty="0">
              <a:ea typeface="SimSun" pitchFamily="2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9" y="1988840"/>
            <a:ext cx="7920880" cy="3672408"/>
          </a:xfrm>
          <a:prstGeom prst="rect">
            <a:avLst/>
          </a:prstGeom>
        </p:spPr>
      </p:pic>
      <p:sp>
        <p:nvSpPr>
          <p:cNvPr id="8" name="圓角矩形圖說文字 7"/>
          <p:cNvSpPr/>
          <p:nvPr/>
        </p:nvSpPr>
        <p:spPr>
          <a:xfrm>
            <a:off x="5940152" y="3717032"/>
            <a:ext cx="1176710" cy="386053"/>
          </a:xfrm>
          <a:prstGeom prst="wedgeRoundRectCallout">
            <a:avLst>
              <a:gd name="adj1" fmla="val -61903"/>
              <a:gd name="adj2" fmla="val -125293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單據列表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0" name="圓角矩形圖說文字 9"/>
          <p:cNvSpPr/>
          <p:nvPr/>
        </p:nvSpPr>
        <p:spPr>
          <a:xfrm>
            <a:off x="2915816" y="3748644"/>
            <a:ext cx="1176710" cy="386053"/>
          </a:xfrm>
          <a:prstGeom prst="wedgeRoundRectCallout">
            <a:avLst>
              <a:gd name="adj1" fmla="val -26038"/>
              <a:gd name="adj2" fmla="val 145728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附件列表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71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>
                <a:ea typeface="SimSun" pitchFamily="2" charset="-122"/>
              </a:rPr>
              <a:t>子</a:t>
            </a:r>
            <a:r>
              <a:rPr lang="zh-CN" altLang="en-US" sz="2400" dirty="0" smtClean="0">
                <a:ea typeface="SimSun" pitchFamily="2" charset="-122"/>
              </a:rPr>
              <a:t>檔單據管理</a:t>
            </a:r>
            <a:r>
              <a:rPr lang="en-US" altLang="zh-CN" sz="2400" dirty="0" smtClean="0">
                <a:ea typeface="SimSun" pitchFamily="2" charset="-122"/>
              </a:rPr>
              <a:t>(1)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sz="3200" b="1" dirty="0" smtClean="0">
                <a:ea typeface="SimSun" pitchFamily="2" charset="-122"/>
              </a:rPr>
              <a:t>Scrap Entity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685681"/>
            <a:ext cx="7056784" cy="3486637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2051720" y="1662752"/>
            <a:ext cx="432048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圓角矩形圖說文字 7"/>
          <p:cNvSpPr/>
          <p:nvPr/>
        </p:nvSpPr>
        <p:spPr>
          <a:xfrm>
            <a:off x="5220072" y="3717032"/>
            <a:ext cx="864096" cy="386053"/>
          </a:xfrm>
          <a:prstGeom prst="wedgeRoundRectCallout">
            <a:avLst>
              <a:gd name="adj1" fmla="val -52189"/>
              <a:gd name="adj2" fmla="val 70570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模板下載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9" name="圓角矩形圖說文字 8"/>
          <p:cNvSpPr/>
          <p:nvPr/>
        </p:nvSpPr>
        <p:spPr>
          <a:xfrm>
            <a:off x="2843808" y="3645024"/>
            <a:ext cx="864096" cy="386053"/>
          </a:xfrm>
          <a:prstGeom prst="wedgeRoundRectCallout">
            <a:avLst>
              <a:gd name="adj1" fmla="val 54650"/>
              <a:gd name="adj2" fmla="val 68293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料</a:t>
            </a:r>
            <a:r>
              <a:rPr lang="zh-CN" altLang="en-US" sz="1100" dirty="0" smtClean="0">
                <a:solidFill>
                  <a:srgbClr val="FFFF00"/>
                </a:solidFill>
              </a:rPr>
              <a:t>號導入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4584889"/>
            <a:ext cx="7344816" cy="1729045"/>
          </a:xfrm>
          <a:prstGeom prst="rect">
            <a:avLst/>
          </a:prstGeom>
        </p:spPr>
      </p:pic>
      <p:sp>
        <p:nvSpPr>
          <p:cNvPr id="11" name="圓角矩形圖說文字 10"/>
          <p:cNvSpPr/>
          <p:nvPr/>
        </p:nvSpPr>
        <p:spPr>
          <a:xfrm>
            <a:off x="7034064" y="3271591"/>
            <a:ext cx="864096" cy="386053"/>
          </a:xfrm>
          <a:prstGeom prst="wedgeRoundRectCallout">
            <a:avLst>
              <a:gd name="adj1" fmla="val -77627"/>
              <a:gd name="adj2" fmla="val 20466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單</a:t>
            </a:r>
            <a:r>
              <a:rPr lang="zh-CN" altLang="en-US" sz="1100" dirty="0" smtClean="0">
                <a:solidFill>
                  <a:srgbClr val="FFFF00"/>
                </a:solidFill>
              </a:rPr>
              <a:t>筆添加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2" name="圓角矩形圖說文字 11"/>
          <p:cNvSpPr/>
          <p:nvPr/>
        </p:nvSpPr>
        <p:spPr>
          <a:xfrm>
            <a:off x="3059832" y="5654122"/>
            <a:ext cx="1069322" cy="368609"/>
          </a:xfrm>
          <a:prstGeom prst="wedgeRoundRectCallout">
            <a:avLst>
              <a:gd name="adj1" fmla="val 54650"/>
              <a:gd name="adj2" fmla="val 68293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生成子檔單據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3" name="圓角矩形圖說文字 12"/>
          <p:cNvSpPr/>
          <p:nvPr/>
        </p:nvSpPr>
        <p:spPr>
          <a:xfrm>
            <a:off x="5025380" y="5638544"/>
            <a:ext cx="1253480" cy="386053"/>
          </a:xfrm>
          <a:prstGeom prst="wedgeRoundRectCallout">
            <a:avLst>
              <a:gd name="adj1" fmla="val -59311"/>
              <a:gd name="adj2" fmla="val 86513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刪除列表料號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>
                <a:ea typeface="SimSun" pitchFamily="2" charset="-122"/>
              </a:rPr>
              <a:t>子</a:t>
            </a:r>
            <a:r>
              <a:rPr lang="zh-CN" altLang="en-US" sz="2400" dirty="0" smtClean="0">
                <a:ea typeface="SimSun" pitchFamily="2" charset="-122"/>
              </a:rPr>
              <a:t>檔單據管理</a:t>
            </a:r>
            <a:r>
              <a:rPr lang="en-US" altLang="zh-CN" sz="2400" dirty="0" smtClean="0">
                <a:ea typeface="SimSun" pitchFamily="2" charset="-122"/>
              </a:rPr>
              <a:t>(2)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sz="3200" b="1" dirty="0" smtClean="0">
                <a:ea typeface="SimSun" pitchFamily="2" charset="-122"/>
              </a:rPr>
              <a:t>Single Side PCBA Scrap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1" y="1815234"/>
            <a:ext cx="7704856" cy="3389694"/>
          </a:xfrm>
          <a:prstGeom prst="rect">
            <a:avLst/>
          </a:prstGeom>
        </p:spPr>
      </p:pic>
      <p:sp>
        <p:nvSpPr>
          <p:cNvPr id="14" name="圓角矩形圖說文字 13"/>
          <p:cNvSpPr/>
          <p:nvPr/>
        </p:nvSpPr>
        <p:spPr>
          <a:xfrm>
            <a:off x="3059832" y="3933056"/>
            <a:ext cx="936104" cy="386053"/>
          </a:xfrm>
          <a:prstGeom prst="wedgeRoundRectCallout">
            <a:avLst>
              <a:gd name="adj1" fmla="val -77627"/>
              <a:gd name="adj2" fmla="val 20466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添加</a:t>
            </a:r>
            <a:r>
              <a:rPr lang="en-US" altLang="zh-CN" sz="1100" dirty="0" smtClean="0">
                <a:solidFill>
                  <a:srgbClr val="FFFF00"/>
                </a:solidFill>
              </a:rPr>
              <a:t>PCBA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5" name="圓角矩形圖說文字 14"/>
          <p:cNvSpPr/>
          <p:nvPr/>
        </p:nvSpPr>
        <p:spPr>
          <a:xfrm>
            <a:off x="6156176" y="4614583"/>
            <a:ext cx="936104" cy="386053"/>
          </a:xfrm>
          <a:prstGeom prst="wedgeRoundRectCallout">
            <a:avLst>
              <a:gd name="adj1" fmla="val -47102"/>
              <a:gd name="adj2" fmla="val -93409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rgbClr val="FFFF00"/>
                </a:solidFill>
              </a:rPr>
              <a:t>PCBA</a:t>
            </a:r>
            <a:r>
              <a:rPr lang="zh-CN" altLang="en-US" sz="1100" dirty="0" smtClean="0">
                <a:solidFill>
                  <a:srgbClr val="FFFF00"/>
                </a:solidFill>
              </a:rPr>
              <a:t>導出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32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>
                <a:ea typeface="SimSun" pitchFamily="2" charset="-122"/>
              </a:rPr>
              <a:t>子</a:t>
            </a:r>
            <a:r>
              <a:rPr lang="zh-CN" altLang="en-US" sz="2400" dirty="0" smtClean="0">
                <a:ea typeface="SimSun" pitchFamily="2" charset="-122"/>
              </a:rPr>
              <a:t>檔單據管理</a:t>
            </a:r>
            <a:r>
              <a:rPr lang="en-US" altLang="zh-CN" sz="2400" dirty="0" smtClean="0">
                <a:ea typeface="SimSun" pitchFamily="2" charset="-122"/>
              </a:rPr>
              <a:t>(3)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sz="3200" b="1" dirty="0" smtClean="0">
                <a:ea typeface="SimSun" pitchFamily="2" charset="-122"/>
              </a:rPr>
              <a:t>Scrap Modification(1)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71" y="1700808"/>
            <a:ext cx="7696200" cy="3752537"/>
          </a:xfrm>
          <a:prstGeom prst="rect">
            <a:avLst/>
          </a:prstGeom>
        </p:spPr>
      </p:pic>
      <p:sp>
        <p:nvSpPr>
          <p:cNvPr id="8" name="圓角矩形圖說文字 7"/>
          <p:cNvSpPr/>
          <p:nvPr/>
        </p:nvSpPr>
        <p:spPr>
          <a:xfrm>
            <a:off x="6804248" y="2996952"/>
            <a:ext cx="1152128" cy="386053"/>
          </a:xfrm>
          <a:prstGeom prst="wedgeRoundRectCallout">
            <a:avLst>
              <a:gd name="adj1" fmla="val -97821"/>
              <a:gd name="adj2" fmla="val 61460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子</a:t>
            </a:r>
            <a:r>
              <a:rPr lang="zh-CN" altLang="en-US" sz="1100" dirty="0" smtClean="0">
                <a:solidFill>
                  <a:srgbClr val="FFFF00"/>
                </a:solidFill>
              </a:rPr>
              <a:t>檔數據列表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1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>
                <a:ea typeface="SimSun" pitchFamily="2" charset="-122"/>
              </a:rPr>
              <a:t>子</a:t>
            </a:r>
            <a:r>
              <a:rPr lang="zh-CN" altLang="en-US" sz="2400" dirty="0" smtClean="0">
                <a:ea typeface="SimSun" pitchFamily="2" charset="-122"/>
              </a:rPr>
              <a:t>檔單據管理</a:t>
            </a:r>
            <a:r>
              <a:rPr lang="en-US" altLang="zh-CN" sz="2400" dirty="0" smtClean="0">
                <a:ea typeface="SimSun" pitchFamily="2" charset="-122"/>
              </a:rPr>
              <a:t>(3)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sz="3200" b="1" dirty="0" smtClean="0">
                <a:ea typeface="SimSun" pitchFamily="2" charset="-122"/>
              </a:rPr>
              <a:t>Scrap Modification(2)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628800"/>
            <a:ext cx="7776864" cy="4585530"/>
          </a:xfrm>
          <a:prstGeom prst="rect">
            <a:avLst/>
          </a:prstGeom>
        </p:spPr>
      </p:pic>
      <p:sp>
        <p:nvSpPr>
          <p:cNvPr id="7" name="圓角矩形圖說文字 6"/>
          <p:cNvSpPr/>
          <p:nvPr/>
        </p:nvSpPr>
        <p:spPr>
          <a:xfrm>
            <a:off x="6876256" y="5386135"/>
            <a:ext cx="1152128" cy="386053"/>
          </a:xfrm>
          <a:prstGeom prst="wedgeRoundRectCallout">
            <a:avLst>
              <a:gd name="adj1" fmla="val -97821"/>
              <a:gd name="adj2" fmla="val 61460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提交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9" name="圓角矩形圖說文字 8"/>
          <p:cNvSpPr/>
          <p:nvPr/>
        </p:nvSpPr>
        <p:spPr>
          <a:xfrm>
            <a:off x="1619672" y="2996952"/>
            <a:ext cx="1152128" cy="386053"/>
          </a:xfrm>
          <a:prstGeom prst="wedgeRoundRectCallout">
            <a:avLst>
              <a:gd name="adj1" fmla="val -118426"/>
              <a:gd name="adj2" fmla="val -104796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子</a:t>
            </a:r>
            <a:r>
              <a:rPr lang="zh-CN" altLang="en-US" sz="1100" dirty="0" smtClean="0">
                <a:solidFill>
                  <a:srgbClr val="FFFF00"/>
                </a:solidFill>
              </a:rPr>
              <a:t>檔數據編輯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0" name="圓角矩形圖說文字 9"/>
          <p:cNvSpPr/>
          <p:nvPr/>
        </p:nvSpPr>
        <p:spPr>
          <a:xfrm>
            <a:off x="3635896" y="5028403"/>
            <a:ext cx="1152128" cy="386053"/>
          </a:xfrm>
          <a:prstGeom prst="wedgeRoundRectCallout">
            <a:avLst>
              <a:gd name="adj1" fmla="val -97821"/>
              <a:gd name="adj2" fmla="val 91067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附件編輯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8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>
                <a:ea typeface="SimSun" pitchFamily="2" charset="-122"/>
              </a:rPr>
              <a:t>子</a:t>
            </a:r>
            <a:r>
              <a:rPr lang="zh-CN" altLang="en-US" sz="2400" dirty="0" smtClean="0">
                <a:ea typeface="SimSun" pitchFamily="2" charset="-122"/>
              </a:rPr>
              <a:t>檔單據管理</a:t>
            </a:r>
            <a:r>
              <a:rPr lang="en-US" altLang="zh-CN" sz="2400" dirty="0" smtClean="0">
                <a:ea typeface="SimSun" pitchFamily="2" charset="-122"/>
              </a:rPr>
              <a:t>(4)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sz="3200" b="1" dirty="0" smtClean="0">
                <a:ea typeface="SimSun" pitchFamily="2" charset="-122"/>
              </a:rPr>
              <a:t>Scrap Delete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89" y="1664981"/>
            <a:ext cx="7776864" cy="3888432"/>
          </a:xfrm>
          <a:prstGeom prst="rect">
            <a:avLst/>
          </a:prstGeom>
        </p:spPr>
      </p:pic>
      <p:sp>
        <p:nvSpPr>
          <p:cNvPr id="11" name="圓角矩形圖說文字 10"/>
          <p:cNvSpPr/>
          <p:nvPr/>
        </p:nvSpPr>
        <p:spPr>
          <a:xfrm>
            <a:off x="2123728" y="5000636"/>
            <a:ext cx="1152128" cy="386053"/>
          </a:xfrm>
          <a:prstGeom prst="wedgeRoundRectCallout">
            <a:avLst>
              <a:gd name="adj1" fmla="val -97821"/>
              <a:gd name="adj2" fmla="val -15974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批量提交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2" name="圓角矩形圖說文字 11"/>
          <p:cNvSpPr/>
          <p:nvPr/>
        </p:nvSpPr>
        <p:spPr>
          <a:xfrm>
            <a:off x="3707904" y="3501008"/>
            <a:ext cx="1152128" cy="386053"/>
          </a:xfrm>
          <a:prstGeom prst="wedgeRoundRectCallout">
            <a:avLst>
              <a:gd name="adj1" fmla="val -97821"/>
              <a:gd name="adj2" fmla="val -15974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批量上傳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54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系統管理</a:t>
            </a:r>
            <a:r>
              <a:rPr lang="en-US" altLang="zh-CN" sz="2400" dirty="0" smtClean="0">
                <a:ea typeface="SimSun" pitchFamily="2" charset="-122"/>
              </a:rPr>
              <a:t>(</a:t>
            </a:r>
            <a:r>
              <a:rPr lang="en-US" altLang="zh-CN" sz="2400" dirty="0">
                <a:ea typeface="SimSun" pitchFamily="2" charset="-122"/>
              </a:rPr>
              <a:t>1</a:t>
            </a:r>
            <a:r>
              <a:rPr lang="en-US" altLang="zh-CN" sz="2400" dirty="0" smtClean="0">
                <a:ea typeface="SimSun" pitchFamily="2" charset="-122"/>
              </a:rPr>
              <a:t>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sz="3200" b="1" dirty="0" smtClean="0">
                <a:ea typeface="SimSun" pitchFamily="2" charset="-122"/>
              </a:rPr>
              <a:t>Material Editor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56792"/>
            <a:ext cx="8374566" cy="4664384"/>
          </a:xfrm>
          <a:prstGeom prst="rect">
            <a:avLst/>
          </a:prstGeom>
        </p:spPr>
      </p:pic>
      <p:sp>
        <p:nvSpPr>
          <p:cNvPr id="8" name="圓角矩形圖說文字 7"/>
          <p:cNvSpPr/>
          <p:nvPr/>
        </p:nvSpPr>
        <p:spPr>
          <a:xfrm>
            <a:off x="4798843" y="5501223"/>
            <a:ext cx="1152128" cy="386053"/>
          </a:xfrm>
          <a:prstGeom prst="wedgeRoundRectCallout">
            <a:avLst>
              <a:gd name="adj1" fmla="val 63201"/>
              <a:gd name="adj2" fmla="val -29639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上</a:t>
            </a:r>
            <a:r>
              <a:rPr lang="zh-CN" altLang="en-US" sz="1100" dirty="0" smtClean="0">
                <a:solidFill>
                  <a:srgbClr val="FFFF00"/>
                </a:solidFill>
              </a:rPr>
              <a:t>傳料號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627784" y="1628800"/>
            <a:ext cx="86409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3479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系統管理</a:t>
            </a:r>
            <a:r>
              <a:rPr lang="en-US" altLang="zh-CN" sz="2400" dirty="0" smtClean="0">
                <a:ea typeface="SimSun" pitchFamily="2" charset="-122"/>
              </a:rPr>
              <a:t>(</a:t>
            </a:r>
            <a:r>
              <a:rPr lang="en-US" altLang="zh-CN" sz="2400" dirty="0">
                <a:ea typeface="SimSun" pitchFamily="2" charset="-122"/>
              </a:rPr>
              <a:t>2</a:t>
            </a:r>
            <a:r>
              <a:rPr lang="en-US" altLang="zh-CN" sz="2400" dirty="0" smtClean="0">
                <a:ea typeface="SimSun" pitchFamily="2" charset="-122"/>
              </a:rPr>
              <a:t>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sz="3200" b="1" dirty="0" smtClean="0">
                <a:ea typeface="SimSun" pitchFamily="2" charset="-122"/>
              </a:rPr>
              <a:t>Material Structure Editor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78" y="1700808"/>
            <a:ext cx="7810462" cy="2686425"/>
          </a:xfrm>
          <a:prstGeom prst="rect">
            <a:avLst/>
          </a:prstGeom>
        </p:spPr>
      </p:pic>
      <p:sp>
        <p:nvSpPr>
          <p:cNvPr id="8" name="圓角矩形圖說文字 7"/>
          <p:cNvSpPr/>
          <p:nvPr/>
        </p:nvSpPr>
        <p:spPr>
          <a:xfrm>
            <a:off x="6012160" y="2204864"/>
            <a:ext cx="1152128" cy="386053"/>
          </a:xfrm>
          <a:prstGeom prst="wedgeRoundRectCallout">
            <a:avLst>
              <a:gd name="adj1" fmla="val -97058"/>
              <a:gd name="adj2" fmla="val 52350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主階料修改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3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系統管理</a:t>
            </a:r>
            <a:r>
              <a:rPr lang="en-US" altLang="zh-CN" sz="2400" dirty="0" smtClean="0">
                <a:ea typeface="SimSun" pitchFamily="2" charset="-122"/>
              </a:rPr>
              <a:t>(3)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sz="3200" b="1" dirty="0" smtClean="0">
                <a:ea typeface="SimSun" pitchFamily="2" charset="-122"/>
              </a:rPr>
              <a:t>Cost Center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57" y="1524489"/>
            <a:ext cx="8280920" cy="4293096"/>
          </a:xfrm>
          <a:prstGeom prst="rect">
            <a:avLst/>
          </a:prstGeom>
        </p:spPr>
      </p:pic>
      <p:sp>
        <p:nvSpPr>
          <p:cNvPr id="7" name="圓角矩形圖說文字 6"/>
          <p:cNvSpPr/>
          <p:nvPr/>
        </p:nvSpPr>
        <p:spPr>
          <a:xfrm>
            <a:off x="2699792" y="5123783"/>
            <a:ext cx="1152128" cy="386053"/>
          </a:xfrm>
          <a:prstGeom prst="wedgeRoundRectCallout">
            <a:avLst>
              <a:gd name="adj1" fmla="val 88384"/>
              <a:gd name="adj2" fmla="val 61460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保存數據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9" name="圓角矩形圖說文字 8"/>
          <p:cNvSpPr/>
          <p:nvPr/>
        </p:nvSpPr>
        <p:spPr>
          <a:xfrm>
            <a:off x="6084168" y="5141921"/>
            <a:ext cx="1152128" cy="367915"/>
          </a:xfrm>
          <a:prstGeom prst="wedgeRoundRectCallout">
            <a:avLst>
              <a:gd name="adj1" fmla="val -90190"/>
              <a:gd name="adj2" fmla="val 45518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刷新</a:t>
            </a:r>
            <a:r>
              <a:rPr lang="zh-CN" altLang="en-US" sz="1100" dirty="0" smtClean="0">
                <a:solidFill>
                  <a:srgbClr val="FFFF00"/>
                </a:solidFill>
              </a:rPr>
              <a:t>數據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0" name="圓角矩形圖說文字 9"/>
          <p:cNvSpPr/>
          <p:nvPr/>
        </p:nvSpPr>
        <p:spPr>
          <a:xfrm>
            <a:off x="1295400" y="2928942"/>
            <a:ext cx="2124472" cy="367915"/>
          </a:xfrm>
          <a:prstGeom prst="wedgeRoundRectCallout">
            <a:avLst>
              <a:gd name="adj1" fmla="val 57858"/>
              <a:gd name="adj2" fmla="val -191069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右</a:t>
            </a:r>
            <a:r>
              <a:rPr lang="zh-CN" altLang="en-US" sz="1100" dirty="0" smtClean="0">
                <a:solidFill>
                  <a:srgbClr val="FFFF00"/>
                </a:solidFill>
              </a:rPr>
              <a:t>鍵彈出刪除按鈕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83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系統管理</a:t>
            </a:r>
            <a:r>
              <a:rPr lang="en-US" altLang="zh-CN" sz="2400" dirty="0" smtClean="0">
                <a:ea typeface="SimSun" pitchFamily="2" charset="-122"/>
              </a:rPr>
              <a:t>(4)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sz="3200" b="1" dirty="0" smtClean="0">
                <a:ea typeface="SimSun" pitchFamily="2" charset="-122"/>
              </a:rPr>
              <a:t>Process/Function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48770"/>
            <a:ext cx="7783016" cy="4280539"/>
          </a:xfrm>
          <a:prstGeom prst="rect">
            <a:avLst/>
          </a:prstGeom>
        </p:spPr>
      </p:pic>
      <p:sp>
        <p:nvSpPr>
          <p:cNvPr id="11" name="圓角矩形圖說文字 10"/>
          <p:cNvSpPr/>
          <p:nvPr/>
        </p:nvSpPr>
        <p:spPr>
          <a:xfrm>
            <a:off x="533400" y="3399310"/>
            <a:ext cx="1698576" cy="367915"/>
          </a:xfrm>
          <a:prstGeom prst="wedgeRoundRectCallout">
            <a:avLst>
              <a:gd name="adj1" fmla="val 57858"/>
              <a:gd name="adj2" fmla="val -191069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右</a:t>
            </a:r>
            <a:r>
              <a:rPr lang="zh-CN" altLang="en-US" sz="1100" dirty="0" smtClean="0">
                <a:solidFill>
                  <a:srgbClr val="FFFF00"/>
                </a:solidFill>
              </a:rPr>
              <a:t>鍵彈出刪除按鈕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2" name="圓角矩形圖說文字 11"/>
          <p:cNvSpPr/>
          <p:nvPr/>
        </p:nvSpPr>
        <p:spPr>
          <a:xfrm>
            <a:off x="2339752" y="5280185"/>
            <a:ext cx="1152128" cy="386053"/>
          </a:xfrm>
          <a:prstGeom prst="wedgeRoundRectCallout">
            <a:avLst>
              <a:gd name="adj1" fmla="val 88384"/>
              <a:gd name="adj2" fmla="val 61460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rgbClr val="FFFF00"/>
                </a:solidFill>
              </a:rPr>
              <a:t>保存數據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3" name="圓角矩形圖說文字 12"/>
          <p:cNvSpPr/>
          <p:nvPr/>
        </p:nvSpPr>
        <p:spPr>
          <a:xfrm>
            <a:off x="5436096" y="5399239"/>
            <a:ext cx="1152128" cy="367915"/>
          </a:xfrm>
          <a:prstGeom prst="wedgeRoundRectCallout">
            <a:avLst>
              <a:gd name="adj1" fmla="val -90190"/>
              <a:gd name="adj2" fmla="val 45518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FF00"/>
                </a:solidFill>
              </a:rPr>
              <a:t>刷新</a:t>
            </a:r>
            <a:r>
              <a:rPr lang="zh-CN" altLang="en-US" sz="1100" dirty="0" smtClean="0">
                <a:solidFill>
                  <a:srgbClr val="FFFF00"/>
                </a:solidFill>
              </a:rPr>
              <a:t>數據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60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系統管理</a:t>
            </a:r>
            <a:r>
              <a:rPr lang="en-US" altLang="zh-CN" sz="2400" dirty="0" smtClean="0">
                <a:ea typeface="SimSun" pitchFamily="2" charset="-122"/>
              </a:rPr>
              <a:t>(5)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sz="3200" b="1" dirty="0" smtClean="0">
                <a:ea typeface="SimSun" pitchFamily="2" charset="-122"/>
              </a:rPr>
              <a:t>Storage Mapping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04" y="1484784"/>
            <a:ext cx="7237392" cy="4639018"/>
          </a:xfrm>
          <a:prstGeom prst="rect">
            <a:avLst/>
          </a:prstGeom>
        </p:spPr>
      </p:pic>
      <p:sp>
        <p:nvSpPr>
          <p:cNvPr id="9" name="圓角矩形圖說文字 8"/>
          <p:cNvSpPr/>
          <p:nvPr/>
        </p:nvSpPr>
        <p:spPr>
          <a:xfrm>
            <a:off x="3563888" y="1628800"/>
            <a:ext cx="1152128" cy="367915"/>
          </a:xfrm>
          <a:prstGeom prst="wedgeRoundRectCallout">
            <a:avLst>
              <a:gd name="adj1" fmla="val -90190"/>
              <a:gd name="adj2" fmla="val 45518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rgbClr val="FFFF00"/>
                </a:solidFill>
              </a:rPr>
              <a:t>Add Storage Mapping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0" name="圓角矩形圖說文字 9"/>
          <p:cNvSpPr/>
          <p:nvPr/>
        </p:nvSpPr>
        <p:spPr>
          <a:xfrm>
            <a:off x="6228184" y="3212976"/>
            <a:ext cx="1152128" cy="367915"/>
          </a:xfrm>
          <a:prstGeom prst="wedgeRoundRectCallout">
            <a:avLst>
              <a:gd name="adj1" fmla="val 19702"/>
              <a:gd name="adj2" fmla="val -107427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rgbClr val="FFFF00"/>
                </a:solidFill>
              </a:rPr>
              <a:t>Delete Storage Mapping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4" name="圓角矩形圖說文字 13"/>
          <p:cNvSpPr/>
          <p:nvPr/>
        </p:nvSpPr>
        <p:spPr>
          <a:xfrm>
            <a:off x="2915816" y="4816678"/>
            <a:ext cx="1224136" cy="367915"/>
          </a:xfrm>
          <a:prstGeom prst="wedgeRoundRectCallout">
            <a:avLst>
              <a:gd name="adj1" fmla="val 66253"/>
              <a:gd name="adj2" fmla="val 12061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rgbClr val="FFFF00"/>
                </a:solidFill>
              </a:rPr>
              <a:t>Update Storage Mapping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11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系統管理</a:t>
            </a:r>
            <a:r>
              <a:rPr lang="en-US" altLang="zh-CN" sz="2400" dirty="0" smtClean="0">
                <a:ea typeface="SimSun" pitchFamily="2" charset="-122"/>
              </a:rPr>
              <a:t>(6)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sz="3200" b="1" dirty="0" smtClean="0">
                <a:ea typeface="SimSun" pitchFamily="2" charset="-122"/>
              </a:rPr>
              <a:t>Detection Point 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62" y="1556792"/>
            <a:ext cx="7955078" cy="4464496"/>
          </a:xfrm>
          <a:prstGeom prst="rect">
            <a:avLst/>
          </a:prstGeom>
        </p:spPr>
      </p:pic>
      <p:sp>
        <p:nvSpPr>
          <p:cNvPr id="12" name="圓角矩形圖說文字 11"/>
          <p:cNvSpPr/>
          <p:nvPr/>
        </p:nvSpPr>
        <p:spPr>
          <a:xfrm>
            <a:off x="3491880" y="1700808"/>
            <a:ext cx="1152128" cy="367915"/>
          </a:xfrm>
          <a:prstGeom prst="wedgeRoundRectCallout">
            <a:avLst>
              <a:gd name="adj1" fmla="val -92479"/>
              <a:gd name="adj2" fmla="val 12061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rgbClr val="FFFF00"/>
                </a:solidFill>
              </a:rPr>
              <a:t>Add Detection Point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3" name="圓角矩形圖說文字 12"/>
          <p:cNvSpPr/>
          <p:nvPr/>
        </p:nvSpPr>
        <p:spPr>
          <a:xfrm>
            <a:off x="7236296" y="3533074"/>
            <a:ext cx="1296144" cy="367915"/>
          </a:xfrm>
          <a:prstGeom prst="wedgeRoundRectCallout">
            <a:avLst>
              <a:gd name="adj1" fmla="val -25323"/>
              <a:gd name="adj2" fmla="val -136104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rgbClr val="FFFF00"/>
                </a:solidFill>
              </a:rPr>
              <a:t>Delete Detection Point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5" name="圓角矩形圖說文字 14"/>
          <p:cNvSpPr/>
          <p:nvPr/>
        </p:nvSpPr>
        <p:spPr>
          <a:xfrm>
            <a:off x="2699792" y="5229200"/>
            <a:ext cx="1368152" cy="367915"/>
          </a:xfrm>
          <a:prstGeom prst="wedgeRoundRectCallout">
            <a:avLst>
              <a:gd name="adj1" fmla="val 65490"/>
              <a:gd name="adj2" fmla="val 26400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rgbClr val="FFFF00"/>
                </a:solidFill>
              </a:rPr>
              <a:t>Update Detection Point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39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系統管理</a:t>
            </a:r>
            <a:r>
              <a:rPr lang="en-US" altLang="zh-CN" sz="2400" dirty="0" smtClean="0">
                <a:ea typeface="SimSun" pitchFamily="2" charset="-122"/>
              </a:rPr>
              <a:t>(7)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sz="3200" b="1" dirty="0" smtClean="0">
                <a:ea typeface="SimSun" pitchFamily="2" charset="-122"/>
              </a:rPr>
              <a:t>Root Cause Analysis 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08" y="1556792"/>
            <a:ext cx="7566992" cy="4248472"/>
          </a:xfrm>
          <a:prstGeom prst="rect">
            <a:avLst/>
          </a:prstGeom>
        </p:spPr>
      </p:pic>
      <p:sp>
        <p:nvSpPr>
          <p:cNvPr id="9" name="圓角矩形圖說文字 8"/>
          <p:cNvSpPr/>
          <p:nvPr/>
        </p:nvSpPr>
        <p:spPr>
          <a:xfrm>
            <a:off x="3221968" y="5141921"/>
            <a:ext cx="1224136" cy="367915"/>
          </a:xfrm>
          <a:prstGeom prst="wedgeRoundRectCallout">
            <a:avLst>
              <a:gd name="adj1" fmla="val 66253"/>
              <a:gd name="adj2" fmla="val 12061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rgbClr val="FFFF00"/>
                </a:solidFill>
              </a:rPr>
              <a:t>Update Root Cause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47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系統管理</a:t>
            </a:r>
            <a:r>
              <a:rPr lang="en-US" altLang="zh-CN" sz="2400" dirty="0" smtClean="0">
                <a:ea typeface="SimSun" pitchFamily="2" charset="-122"/>
              </a:rPr>
              <a:t>(8)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sz="3200" b="1" dirty="0" smtClean="0">
                <a:ea typeface="SimSun" pitchFamily="2" charset="-122"/>
              </a:rPr>
              <a:t>Symptom Detection Mapping 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556792"/>
            <a:ext cx="6977625" cy="4536504"/>
          </a:xfrm>
          <a:prstGeom prst="rect">
            <a:avLst/>
          </a:prstGeom>
        </p:spPr>
      </p:pic>
      <p:sp>
        <p:nvSpPr>
          <p:cNvPr id="10" name="圓角矩形圖說文字 9"/>
          <p:cNvSpPr/>
          <p:nvPr/>
        </p:nvSpPr>
        <p:spPr>
          <a:xfrm>
            <a:off x="3963734" y="1844824"/>
            <a:ext cx="1152128" cy="367915"/>
          </a:xfrm>
          <a:prstGeom prst="wedgeRoundRectCallout">
            <a:avLst>
              <a:gd name="adj1" fmla="val -92479"/>
              <a:gd name="adj2" fmla="val 12061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rgbClr val="FFFF00"/>
                </a:solidFill>
              </a:rPr>
              <a:t>Add Symptom Detection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1" name="圓角矩形圖說文字 10"/>
          <p:cNvSpPr/>
          <p:nvPr/>
        </p:nvSpPr>
        <p:spPr>
          <a:xfrm>
            <a:off x="7020272" y="3356992"/>
            <a:ext cx="1359496" cy="367915"/>
          </a:xfrm>
          <a:prstGeom prst="wedgeRoundRectCallout">
            <a:avLst>
              <a:gd name="adj1" fmla="val -41349"/>
              <a:gd name="adj2" fmla="val -126545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rgbClr val="FFFF00"/>
                </a:solidFill>
              </a:rPr>
              <a:t>Delete Symptom Detection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12" name="圓角矩形圖說文字 11"/>
          <p:cNvSpPr/>
          <p:nvPr/>
        </p:nvSpPr>
        <p:spPr>
          <a:xfrm>
            <a:off x="3059832" y="4957963"/>
            <a:ext cx="1321668" cy="367915"/>
          </a:xfrm>
          <a:prstGeom prst="wedgeRoundRectCallout">
            <a:avLst>
              <a:gd name="adj1" fmla="val 67017"/>
              <a:gd name="adj2" fmla="val -33345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rgbClr val="FFFF00"/>
                </a:solidFill>
              </a:rPr>
              <a:t>Update Symptom Detection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615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系統管理</a:t>
            </a:r>
            <a:r>
              <a:rPr lang="en-US" altLang="zh-CN" sz="2400" dirty="0" smtClean="0">
                <a:ea typeface="SimSun" pitchFamily="2" charset="-122"/>
              </a:rPr>
              <a:t>(9)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b="1" dirty="0"/>
              <a:t>User Registration</a:t>
            </a:r>
            <a:endParaRPr lang="en-US" altLang="zh-CN" sz="3200" b="1" dirty="0" smtClean="0">
              <a:ea typeface="SimSun" pitchFamily="2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20591"/>
            <a:ext cx="7999040" cy="3743847"/>
          </a:xfrm>
          <a:prstGeom prst="rect">
            <a:avLst/>
          </a:prstGeom>
        </p:spPr>
      </p:pic>
      <p:sp>
        <p:nvSpPr>
          <p:cNvPr id="13" name="圓角矩形圖說文字 12"/>
          <p:cNvSpPr/>
          <p:nvPr/>
        </p:nvSpPr>
        <p:spPr>
          <a:xfrm>
            <a:off x="3211252" y="4684986"/>
            <a:ext cx="1321668" cy="367915"/>
          </a:xfrm>
          <a:prstGeom prst="wedgeRoundRectCallout">
            <a:avLst>
              <a:gd name="adj1" fmla="val 67017"/>
              <a:gd name="adj2" fmla="val -33345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rgbClr val="FFFF00"/>
                </a:solidFill>
              </a:rPr>
              <a:t>Register Account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48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ea typeface="SimSun" pitchFamily="2" charset="-122"/>
              </a:rPr>
              <a:t>功能介紹</a:t>
            </a:r>
            <a:r>
              <a:rPr lang="en-US" altLang="zh-CN" sz="3600" dirty="0" smtClean="0">
                <a:ea typeface="SimSun" pitchFamily="2" charset="-122"/>
              </a:rPr>
              <a:t>-</a:t>
            </a:r>
            <a:r>
              <a:rPr lang="zh-CN" altLang="en-US" sz="2400" dirty="0" smtClean="0">
                <a:ea typeface="SimSun" pitchFamily="2" charset="-122"/>
              </a:rPr>
              <a:t>系統管理</a:t>
            </a:r>
            <a:r>
              <a:rPr lang="en-US" altLang="zh-CN" sz="2400" dirty="0" smtClean="0">
                <a:ea typeface="SimSun" pitchFamily="2" charset="-122"/>
              </a:rPr>
              <a:t>(10)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57248"/>
            <a:ext cx="7696200" cy="4143388"/>
          </a:xfrm>
        </p:spPr>
        <p:txBody>
          <a:bodyPr/>
          <a:lstStyle/>
          <a:p>
            <a:r>
              <a:rPr lang="en-US" altLang="zh-CN" b="1" dirty="0"/>
              <a:t>User </a:t>
            </a:r>
            <a:r>
              <a:rPr lang="en-US" altLang="zh-CN" b="1" dirty="0" smtClean="0"/>
              <a:t>Modification</a:t>
            </a:r>
            <a:endParaRPr lang="en-US" altLang="zh-CN" sz="3200" b="1" dirty="0" smtClean="0">
              <a:ea typeface="SimSun" pitchFamily="2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28800"/>
            <a:ext cx="8280920" cy="3646066"/>
          </a:xfrm>
          <a:prstGeom prst="rect">
            <a:avLst/>
          </a:prstGeom>
        </p:spPr>
      </p:pic>
      <p:sp>
        <p:nvSpPr>
          <p:cNvPr id="7" name="圓角矩形圖說文字 6"/>
          <p:cNvSpPr/>
          <p:nvPr/>
        </p:nvSpPr>
        <p:spPr>
          <a:xfrm>
            <a:off x="2699792" y="4585879"/>
            <a:ext cx="1321668" cy="367915"/>
          </a:xfrm>
          <a:prstGeom prst="wedgeRoundRectCallout">
            <a:avLst>
              <a:gd name="adj1" fmla="val 67017"/>
              <a:gd name="adj2" fmla="val -33345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smtClean="0">
                <a:solidFill>
                  <a:srgbClr val="FFFF00"/>
                </a:solidFill>
              </a:rPr>
              <a:t>Update </a:t>
            </a:r>
            <a:r>
              <a:rPr lang="en-US" altLang="zh-CN" sz="1100" dirty="0" smtClean="0">
                <a:solidFill>
                  <a:srgbClr val="FFFF00"/>
                </a:solidFill>
              </a:rPr>
              <a:t>Account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961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WordArt 3"/>
          <p:cNvSpPr>
            <a:spLocks noChangeArrowheads="1" noChangeShapeType="1" noTextEdit="1"/>
          </p:cNvSpPr>
          <p:nvPr/>
        </p:nvSpPr>
        <p:spPr bwMode="gray">
          <a:xfrm>
            <a:off x="838200" y="1676400"/>
            <a:ext cx="5638800" cy="8382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TW" sz="5400" b="1" kern="10" dirty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folHlink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/>
              </a:rPr>
              <a:t>Thank You !</a:t>
            </a:r>
            <a:endParaRPr lang="zh-TW" altLang="en-US" sz="5400" b="1" kern="10" dirty="0">
              <a:ln w="28575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folHlink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檢治具校正管理系統操作手冊">
  <a:themeElements>
    <a:clrScheme name="184TGp_digital_light_v2 3">
      <a:dk1>
        <a:srgbClr val="000000"/>
      </a:dk1>
      <a:lt1>
        <a:srgbClr val="FFFFFF"/>
      </a:lt1>
      <a:dk2>
        <a:srgbClr val="632769"/>
      </a:dk2>
      <a:lt2>
        <a:srgbClr val="C0C0C0"/>
      </a:lt2>
      <a:accent1>
        <a:srgbClr val="8B8DE1"/>
      </a:accent1>
      <a:accent2>
        <a:srgbClr val="DEA548"/>
      </a:accent2>
      <a:accent3>
        <a:srgbClr val="FFFFFF"/>
      </a:accent3>
      <a:accent4>
        <a:srgbClr val="000000"/>
      </a:accent4>
      <a:accent5>
        <a:srgbClr val="C4C5EE"/>
      </a:accent5>
      <a:accent6>
        <a:srgbClr val="C99540"/>
      </a:accent6>
      <a:hlink>
        <a:srgbClr val="58AFD2"/>
      </a:hlink>
      <a:folHlink>
        <a:srgbClr val="E2E25E"/>
      </a:folHlink>
    </a:clrScheme>
    <a:fontScheme name="184TGp_digital_light_v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84TGp_digital_light_v2 1">
        <a:dk1>
          <a:srgbClr val="000000"/>
        </a:dk1>
        <a:lt1>
          <a:srgbClr val="FFFFFF"/>
        </a:lt1>
        <a:dk2>
          <a:srgbClr val="21858F"/>
        </a:dk2>
        <a:lt2>
          <a:srgbClr val="DDDDDD"/>
        </a:lt2>
        <a:accent1>
          <a:srgbClr val="66ABDA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B8D2EA"/>
        </a:accent5>
        <a:accent6>
          <a:srgbClr val="5C8A00"/>
        </a:accent6>
        <a:hlink>
          <a:srgbClr val="9369E7"/>
        </a:hlink>
        <a:folHlink>
          <a:srgbClr val="F0DA6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84TGp_digital_light_v2 2">
        <a:dk1>
          <a:srgbClr val="000000"/>
        </a:dk1>
        <a:lt1>
          <a:srgbClr val="FFFFFF"/>
        </a:lt1>
        <a:dk2>
          <a:srgbClr val="333399"/>
        </a:dk2>
        <a:lt2>
          <a:srgbClr val="C0C0C0"/>
        </a:lt2>
        <a:accent1>
          <a:srgbClr val="88BEF4"/>
        </a:accent1>
        <a:accent2>
          <a:srgbClr val="F1900F"/>
        </a:accent2>
        <a:accent3>
          <a:srgbClr val="FFFFFF"/>
        </a:accent3>
        <a:accent4>
          <a:srgbClr val="000000"/>
        </a:accent4>
        <a:accent5>
          <a:srgbClr val="C3DBF8"/>
        </a:accent5>
        <a:accent6>
          <a:srgbClr val="DA820C"/>
        </a:accent6>
        <a:hlink>
          <a:srgbClr val="008080"/>
        </a:hlink>
        <a:folHlink>
          <a:srgbClr val="FFE2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84TGp_digital_light_v2 3">
        <a:dk1>
          <a:srgbClr val="000000"/>
        </a:dk1>
        <a:lt1>
          <a:srgbClr val="FFFFFF"/>
        </a:lt1>
        <a:dk2>
          <a:srgbClr val="632769"/>
        </a:dk2>
        <a:lt2>
          <a:srgbClr val="C0C0C0"/>
        </a:lt2>
        <a:accent1>
          <a:srgbClr val="8B8DE1"/>
        </a:accent1>
        <a:accent2>
          <a:srgbClr val="DEA548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C99540"/>
        </a:accent6>
        <a:hlink>
          <a:srgbClr val="58AFD2"/>
        </a:hlink>
        <a:folHlink>
          <a:srgbClr val="E2E25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E57DE492A83741A03703CEB8870007" ma:contentTypeVersion="0" ma:contentTypeDescription="Create a new document." ma:contentTypeScope="" ma:versionID="dc87c82d75ef0e7ac6d29c85e67d40c8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6ED1D8B3-9075-4BD5-90F3-8437C02796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06BBFD38-9503-42DE-9C13-0D6FB442F1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DFC396-1A68-46B9-AB35-CB6BE895F526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檢治具校正管理系統操作手冊</Template>
  <TotalTime>1971</TotalTime>
  <Words>790</Words>
  <Application>Microsoft Office PowerPoint</Application>
  <PresentationFormat>如螢幕大小 (4:3)</PresentationFormat>
  <Paragraphs>160</Paragraphs>
  <Slides>32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9" baseType="lpstr">
      <vt:lpstr>等线</vt:lpstr>
      <vt:lpstr>SimSun</vt:lpstr>
      <vt:lpstr>新細明體</vt:lpstr>
      <vt:lpstr>Arial</vt:lpstr>
      <vt:lpstr>Verdana</vt:lpstr>
      <vt:lpstr>Wingdings</vt:lpstr>
      <vt:lpstr>檢治具校正管理系統操作手冊</vt:lpstr>
      <vt:lpstr>      越南報廢管理系統</vt:lpstr>
      <vt:lpstr>目錄</vt:lpstr>
      <vt:lpstr>系統概述-上線規劃</vt:lpstr>
      <vt:lpstr>系統概述-系統網址</vt:lpstr>
      <vt:lpstr>流程介紹-報廢申請單業務流程圖</vt:lpstr>
      <vt:lpstr>流程介紹-流程推動機制</vt:lpstr>
      <vt:lpstr>系統概述-系統登錄</vt:lpstr>
      <vt:lpstr>系統概述-角色設置</vt:lpstr>
      <vt:lpstr>系統概述-角色設置</vt:lpstr>
      <vt:lpstr>功能介紹-系統功能</vt:lpstr>
      <vt:lpstr> 功能介紹-單據審核(1)</vt:lpstr>
      <vt:lpstr> 功能介紹-單據審核(2)</vt:lpstr>
      <vt:lpstr> 功能介紹-單據審核(3)</vt:lpstr>
      <vt:lpstr> 功能介紹-主檔單據創建(1)</vt:lpstr>
      <vt:lpstr> 功能介紹-主檔單據創建(2)</vt:lpstr>
      <vt:lpstr> 功能介紹-主檔單據創建(3)</vt:lpstr>
      <vt:lpstr>功能介紹-子檔單據管理(1)</vt:lpstr>
      <vt:lpstr>功能介紹-子檔單據管理(2)</vt:lpstr>
      <vt:lpstr>功能介紹-子檔單據管理(3)</vt:lpstr>
      <vt:lpstr>功能介紹-子檔單據管理(3)</vt:lpstr>
      <vt:lpstr>功能介紹-子檔單據管理(4)</vt:lpstr>
      <vt:lpstr>功能介紹-系統管理(1)</vt:lpstr>
      <vt:lpstr>功能介紹-系統管理(2)</vt:lpstr>
      <vt:lpstr>功能介紹-系統管理(3)</vt:lpstr>
      <vt:lpstr>功能介紹-系統管理(4)</vt:lpstr>
      <vt:lpstr>功能介紹-系統管理(5)</vt:lpstr>
      <vt:lpstr>功能介紹-系統管理(6)</vt:lpstr>
      <vt:lpstr>功能介紹-系統管理(7)</vt:lpstr>
      <vt:lpstr>功能介紹-系統管理(8)</vt:lpstr>
      <vt:lpstr>功能介紹-系統管理(9)</vt:lpstr>
      <vt:lpstr>功能介紹-系統管理(10)</vt:lpstr>
      <vt:lpstr>PowerPoint 簡報</vt:lpstr>
    </vt:vector>
  </TitlesOfParts>
  <Company>FIH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檢治具 校正管理系統</dc:title>
  <dc:creator>F2832720</dc:creator>
  <cp:lastModifiedBy>Li zhen</cp:lastModifiedBy>
  <cp:revision>385</cp:revision>
  <dcterms:created xsi:type="dcterms:W3CDTF">2014-02-14T08:59:26Z</dcterms:created>
  <dcterms:modified xsi:type="dcterms:W3CDTF">2024-09-19T06:43:32Z</dcterms:modified>
</cp:coreProperties>
</file>