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customXml/itemProps3.xml" ContentType="application/vnd.openxmlformats-officedocument.customXmlProperties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Default Extension="rels" ContentType="application/vnd.openxmlformats-package.relationship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Default Extension="png" ContentType="image/png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Default Extension="jpeg" ContentType="image/jpeg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808" r:id="rId3"/>
  </p:sldMasterIdLst>
  <p:notesMasterIdLst>
    <p:notesMasterId r:id="rId28"/>
  </p:notesMasterIdLst>
  <p:handoutMasterIdLst>
    <p:handoutMasterId r:id="rId29"/>
  </p:handoutMasterIdLst>
  <p:sldIdLst>
    <p:sldId id="256" r:id="rId4"/>
    <p:sldId id="283" r:id="rId5"/>
    <p:sldId id="352" r:id="rId6"/>
    <p:sldId id="319" r:id="rId7"/>
    <p:sldId id="356" r:id="rId8"/>
    <p:sldId id="355" r:id="rId9"/>
    <p:sldId id="378" r:id="rId10"/>
    <p:sldId id="379" r:id="rId11"/>
    <p:sldId id="358" r:id="rId12"/>
    <p:sldId id="357" r:id="rId13"/>
    <p:sldId id="365" r:id="rId14"/>
    <p:sldId id="366" r:id="rId15"/>
    <p:sldId id="367" r:id="rId16"/>
    <p:sldId id="360" r:id="rId17"/>
    <p:sldId id="370" r:id="rId18"/>
    <p:sldId id="359" r:id="rId19"/>
    <p:sldId id="371" r:id="rId20"/>
    <p:sldId id="373" r:id="rId21"/>
    <p:sldId id="374" r:id="rId22"/>
    <p:sldId id="375" r:id="rId23"/>
    <p:sldId id="361" r:id="rId24"/>
    <p:sldId id="376" r:id="rId25"/>
    <p:sldId id="377" r:id="rId26"/>
    <p:sldId id="316" r:id="rId27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C9EE"/>
    <a:srgbClr val="99FF99"/>
    <a:srgbClr val="CCFFCC"/>
    <a:srgbClr val="1896C6"/>
    <a:srgbClr val="8BF660"/>
    <a:srgbClr val="428BCA"/>
    <a:srgbClr val="A6A6A6"/>
    <a:srgbClr val="CCFFFF"/>
    <a:srgbClr val="FFCCCC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29" autoAdjust="0"/>
    <p:restoredTop sz="91123" autoAdjust="0"/>
  </p:normalViewPr>
  <p:slideViewPr>
    <p:cSldViewPr>
      <p:cViewPr varScale="1">
        <p:scale>
          <a:sx n="103" d="100"/>
          <a:sy n="103" d="100"/>
        </p:scale>
        <p:origin x="-25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2040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34" Type="http://schemas.openxmlformats.org/officeDocument/2006/relationships/customXml" Target="../customXml/item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A1493D6-FB80-4EFC-85A0-30903B124818}" type="datetimeFigureOut">
              <a:rPr lang="zh-TW" altLang="en-US"/>
              <a:pPr>
                <a:defRPr/>
              </a:pPr>
              <a:t>2014/3/11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latin typeface="Calibri" pitchFamily="34" charset="0"/>
              </a:defRPr>
            </a:lvl1pPr>
          </a:lstStyle>
          <a:p>
            <a:fld id="{B9257B3C-5E44-4ACF-A06F-50A866FDEB20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58307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43A7FEBA-9B8A-4810-8E5D-6C140F1CEB76}" type="datetimeFigureOut">
              <a:rPr lang="zh-TW" altLang="en-US"/>
              <a:pPr>
                <a:defRPr/>
              </a:pPr>
              <a:t>2014/3/11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latin typeface="Calibri" pitchFamily="34" charset="0"/>
              </a:defRPr>
            </a:lvl1pPr>
          </a:lstStyle>
          <a:p>
            <a:fld id="{08FB620B-A08D-4C2C-95C5-A78EEC44F6D5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30401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1638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</a:pPr>
            <a:fld id="{3521CCCB-D5EC-4725-A7C7-770AC26BE16A}" type="slidenum">
              <a:rPr lang="zh-TW" altLang="en-US"/>
              <a:pPr>
                <a:spcBef>
                  <a:spcPct val="0"/>
                </a:spcBef>
              </a:pPr>
              <a:t>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fld id="{71EE7EC8-F5FB-46D8-A5C7-16234EBFD2E5}" type="slidenum">
              <a:rPr kumimoji="0" lang="zh-TW" altLang="en-US">
                <a:latin typeface="Calibri" pitchFamily="34" charset="0"/>
              </a:rPr>
              <a:pPr/>
              <a:t>3</a:t>
            </a:fld>
            <a:endParaRPr kumimoji="0" lang="zh-TW" alt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FB620B-A08D-4C2C-95C5-A78EEC44F6D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8231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1" y="5214950"/>
            <a:ext cx="1472173" cy="16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214422"/>
            <a:ext cx="7772400" cy="1470025"/>
          </a:xfrm>
        </p:spPr>
        <p:txBody>
          <a:bodyPr/>
          <a:lstStyle>
            <a:lvl1pPr algn="ctr">
              <a:defRPr sz="4800">
                <a:solidFill>
                  <a:srgbClr val="6EC9EE"/>
                </a:solidFill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1733" y="2759581"/>
            <a:ext cx="6100534" cy="1740989"/>
          </a:xfrm>
        </p:spPr>
        <p:txBody>
          <a:bodyPr anchor="t"/>
          <a:lstStyle>
            <a:lvl1pPr marL="0" indent="0" algn="ctr">
              <a:buNone/>
              <a:defRPr lang="zh-CN" altLang="en-US" dirty="0"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2F1D0-B870-4027-A10C-E148155DB687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Century Gothic" panose="020B0502020202020204" pitchFamily="34" charset="0"/>
                <a:ea typeface="標楷體" panose="03000509000000000000" pitchFamily="65" charset="-120"/>
              </a:defRPr>
            </a:lvl1pPr>
            <a:lvl2pPr>
              <a:defRPr baseline="0">
                <a:latin typeface="Century Gothic" panose="020B0502020202020204" pitchFamily="34" charset="0"/>
                <a:ea typeface="標楷體" panose="03000509000000000000" pitchFamily="65" charset="-120"/>
              </a:defRPr>
            </a:lvl2pPr>
            <a:lvl3pPr>
              <a:defRPr baseline="0">
                <a:latin typeface="Century Gothic" panose="020B0502020202020204" pitchFamily="34" charset="0"/>
                <a:ea typeface="標楷體" panose="03000509000000000000" pitchFamily="65" charset="-120"/>
              </a:defRPr>
            </a:lvl3pPr>
            <a:lvl4pPr>
              <a:defRPr baseline="0">
                <a:latin typeface="Century Gothic" panose="020B0502020202020204" pitchFamily="34" charset="0"/>
                <a:ea typeface="標楷體" panose="03000509000000000000" pitchFamily="65" charset="-120"/>
              </a:defRPr>
            </a:lvl4pPr>
            <a:lvl5pPr>
              <a:defRPr baseline="0">
                <a:latin typeface="Century Gothic" panose="020B0502020202020204" pitchFamily="34" charset="0"/>
                <a:ea typeface="標楷體" panose="03000509000000000000" pitchFamily="65" charset="-120"/>
              </a:defRPr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7F932-D99A-4087-BFB1-EA42FAFC8D2C}" type="datetime1">
              <a:rPr lang="en-US" smtClean="0"/>
              <a:pPr/>
              <a:t>3/11/2014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67F0-45D4-4D07-8880-5B58BFBEC0C5}" type="slidenum">
              <a:rPr lang="zh-CN" altLang="en-US" smtClean="0"/>
              <a:pPr/>
              <a:t>‹#›</a:t>
            </a:fld>
            <a:endParaRPr lang="en-US" altLang="zh-CN" dirty="0">
              <a:solidFill>
                <a:srgbClr val="7F7F7F"/>
              </a:solidFill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143369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643182"/>
            <a:ext cx="7772400" cy="1500187"/>
          </a:xfrm>
        </p:spPr>
        <p:txBody>
          <a:bodyPr anchor="b"/>
          <a:lstStyle>
            <a:lvl1pPr marL="0" indent="0">
              <a:buNone/>
              <a:defRPr lang="zh-CN" altLang="en-US" sz="2800" smtClean="0">
                <a:effectLst/>
              </a:defRPr>
            </a:lvl1pPr>
            <a:lvl2pPr marL="457200" indent="0">
              <a:buNone/>
              <a:defRPr lang="zh-CN" altLang="en-US" sz="2400" smtClean="0">
                <a:effectLst/>
              </a:defRPr>
            </a:lvl2pPr>
            <a:lvl3pPr marL="914400" indent="0">
              <a:buNone/>
              <a:defRPr lang="zh-CN" altLang="en-US" sz="2000" smtClean="0">
                <a:effectLst/>
              </a:defRPr>
            </a:lvl3pPr>
            <a:lvl4pPr marL="1371600" indent="0">
              <a:buNone/>
              <a:defRPr lang="zh-CN" altLang="en-US" sz="1600" smtClean="0">
                <a:effectLst/>
              </a:defRPr>
            </a:lvl4pPr>
            <a:lvl5pPr marL="1828800" indent="0">
              <a:buNone/>
              <a:defRPr lang="zh-CN" altLang="en-US" sz="1400" dirty="0" smtClean="0">
                <a:effectLst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6367-2F2B-4F6E-ACF4-15FA13738E10}" type="datetime1">
              <a:rPr lang="en-US" smtClean="0"/>
              <a:pPr/>
              <a:t>3/11/2014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www.themegallery.com</a:t>
            </a:r>
            <a:endParaRPr lang="en-US" altLang="zh-C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23C92-45F4-4C30-810D-4886C1BA696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  <a:lum bright="-10000" contrast="-30000"/>
          </a:blip>
          <a:stretch>
            <a:fillRect/>
          </a:stretch>
        </p:blipFill>
        <p:spPr>
          <a:xfrm>
            <a:off x="7480636" y="0"/>
            <a:ext cx="1663364" cy="235743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EF131-7A31-4607-BB02-AB04735DF8BC}" type="slidenum">
              <a:rPr lang="zh-CN" altLang="en-US" smtClean="0"/>
              <a:pPr/>
              <a:t>‹#›</a:t>
            </a:fld>
            <a:endParaRPr lang="en-US" altLang="zh-CN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70E6-A261-4105-B921-9D02881A067A}" type="slidenum">
              <a:rPr lang="zh-CN" altLang="en-US" smtClean="0"/>
              <a:pPr/>
              <a:t>‹#›</a:t>
            </a:fld>
            <a:endParaRPr lang="en-US" altLang="zh-CN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6194-1F97-4FFE-80C8-178570156175}" type="slidenum">
              <a:rPr lang="zh-CN" altLang="en-US" smtClean="0"/>
              <a:pPr/>
              <a:t>‹#›</a:t>
            </a:fld>
            <a:endParaRPr lang="en-US" altLang="zh-CN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118CA-02C7-4976-9B30-3B105AA744FC}" type="slidenum">
              <a:rPr lang="zh-CN" altLang="en-US" smtClean="0"/>
              <a:pPr/>
              <a:t>‹#›</a:t>
            </a:fld>
            <a:endParaRPr lang="en-US" altLang="zh-CN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1175" y="5357826"/>
            <a:ext cx="8226225" cy="768028"/>
          </a:xfrm>
        </p:spPr>
        <p:txBody>
          <a:bodyPr anchor="ctr"/>
          <a:lstStyle>
            <a:lvl1pPr algn="ctr">
              <a:defRPr lang="zh-CN" altLang="en-US" sz="3600" b="0" kern="1200" spc="50" dirty="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0382" y="428604"/>
            <a:ext cx="5111750" cy="48577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5679086" y="1357298"/>
            <a:ext cx="3008313" cy="39290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79EE6-5527-4F9C-92DA-2FFA57FFC2BB}" type="slidenum">
              <a:rPr lang="zh-CN" altLang="en-US" smtClean="0"/>
              <a:pPr/>
              <a:t>‹#›</a:t>
            </a:fld>
            <a:endParaRPr lang="en-US" altLang="zh-CN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95298" y="214290"/>
            <a:ext cx="7448602" cy="781052"/>
          </a:xfrm>
        </p:spPr>
        <p:txBody>
          <a:bodyPr anchor="ctr"/>
          <a:lstStyle>
            <a:lvl1pPr algn="ctr" rtl="0">
              <a:spcBef>
                <a:spcPct val="0"/>
              </a:spcBef>
              <a:buNone/>
              <a:defRPr sz="36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681015" y="1000108"/>
            <a:ext cx="7452360" cy="5214974"/>
          </a:xfrm>
          <a:prstGeom prst="snip2DiagRect">
            <a:avLst>
              <a:gd name="adj1" fmla="val 0"/>
              <a:gd name="adj2" fmla="val 1794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TW" altLang="en-US" smtClean="0"/>
              <a:t>按一下圖示以新增圖片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953000" y="6243633"/>
            <a:ext cx="3180375" cy="614367"/>
          </a:xfrm>
        </p:spPr>
        <p:txBody>
          <a:bodyPr anchor="t"/>
          <a:lstStyle>
            <a:lvl1pPr marL="0" indent="0" algn="r">
              <a:buNone/>
              <a:defRPr sz="1400"/>
            </a:lvl1pPr>
            <a:lvl2pPr marL="457200" indent="0" algn="r">
              <a:buNone/>
              <a:defRPr sz="1200"/>
            </a:lvl2pPr>
            <a:lvl3pPr marL="914400" indent="0" algn="r">
              <a:buNone/>
              <a:defRPr sz="1000"/>
            </a:lvl3pPr>
            <a:lvl4pPr marL="1371600" indent="0" algn="r">
              <a:buNone/>
              <a:defRPr sz="900"/>
            </a:lvl4pPr>
            <a:lvl5pPr marL="1828800" indent="0" algn="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09600" y="6492878"/>
            <a:ext cx="1676384" cy="365125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2285984" y="6492876"/>
            <a:ext cx="264320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83073" y="5347005"/>
            <a:ext cx="871200" cy="871200"/>
          </a:xfrm>
          <a:prstGeom prst="rtTriangl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fld id="{B6E3CC0D-885B-48E9-9345-19A1629EE70B}" type="slidenum">
              <a:rPr lang="zh-CN" altLang="en-US" smtClean="0"/>
              <a:pPr/>
              <a:t>‹#›</a:t>
            </a:fld>
            <a:endParaRPr lang="en-US" altLang="zh-CN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500176"/>
            <a:ext cx="8229600" cy="4714907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FF349-DCB5-491E-981C-4B39612D0984}" type="slidenum">
              <a:rPr lang="zh-CN" altLang="en-US" smtClean="0"/>
              <a:pPr/>
              <a:t>‹#›</a:t>
            </a:fld>
            <a:endParaRPr lang="en-US" altLang="zh-CN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286644" y="274638"/>
            <a:ext cx="1400156" cy="5940444"/>
          </a:xfrm>
        </p:spPr>
        <p:txBody>
          <a:bodyPr vert="eaVert"/>
          <a:lstStyle>
            <a:lvl1pPr algn="ctr">
              <a:defRPr>
                <a:effectLst>
                  <a:outerShdw dist="50800" dir="18900000" algn="tl" rotWithShape="0">
                    <a:srgbClr val="000000">
                      <a:alpha val="75000"/>
                    </a:srgbClr>
                  </a:outerShdw>
                </a:effectLst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758006" cy="5940444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F2767-E9F0-4B65-83C0-5D97090C0CBD}" type="slidenum">
              <a:rPr lang="zh-CN" altLang="en-US" smtClean="0"/>
              <a:pPr/>
              <a:t>‹#›</a:t>
            </a:fld>
            <a:endParaRPr lang="en-US" altLang="zh-CN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60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/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 smtClean="0"/>
              <a:t>第二層</a:t>
            </a:r>
          </a:p>
          <a:p>
            <a:pPr lvl="2" eaLnBrk="1" latinLnBrk="0" hangingPunct="1"/>
            <a:r>
              <a:rPr kumimoji="0" lang="zh-TW" altLang="en-US" dirty="0" smtClean="0"/>
              <a:t>第三層</a:t>
            </a:r>
          </a:p>
          <a:p>
            <a:pPr lvl="3" eaLnBrk="1" latinLnBrk="0" hangingPunct="1"/>
            <a:r>
              <a:rPr kumimoji="0" lang="zh-TW" altLang="en-US" dirty="0" smtClean="0"/>
              <a:t>第四層</a:t>
            </a:r>
          </a:p>
          <a:p>
            <a:pPr lvl="4" eaLnBrk="1" latinLnBrk="0" hangingPunct="1"/>
            <a:r>
              <a:rPr kumimoji="0" lang="zh-TW" altLang="en-US" dirty="0" smtClean="0"/>
              <a:t>第五層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274320" rtlCol="0" anchor="ctr"/>
          <a:lstStyle>
            <a:lvl1pPr algn="l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pPr algn="l" eaLnBrk="1" latinLnBrk="0" hangingPunct="1"/>
            <a:fld id="{EA1E4FE5-70EE-4B63-A07B-985F1B49E5CE}" type="datetime1">
              <a:rPr lang="en-US" smtClean="0"/>
              <a:pPr algn="l" eaLnBrk="1" latinLnBrk="0" hangingPunct="1"/>
              <a:t>3/11/2014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zh-CN" smtClean="0"/>
              <a:t>www.themegallery.com</a:t>
            </a:r>
            <a:endParaRPr lang="en-US" altLang="zh-C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45720" tIns="45720" rIns="45720" rtlCol="0" anchor="ctr"/>
          <a:lstStyle>
            <a:lvl1pPr algn="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4C0B181F-CDAB-404C-A660-15C015D83A29}" type="slidenum">
              <a:rPr kumimoji="0" lang="en-US" smtClean="0"/>
              <a:pPr eaLnBrk="1" latinLnBrk="0" hangingPunct="1"/>
              <a:t>‹#›</a:t>
            </a:fld>
            <a:endParaRPr kumimoji="0" lang="en-US">
              <a:solidFill>
                <a:schemeClr val="tx1"/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lang="zh-CN" altLang="en-US" sz="4400" b="0" kern="1200" spc="50" dirty="0">
          <a:ln w="12700">
            <a:noFill/>
            <a:prstDash val="solid"/>
          </a:ln>
          <a:solidFill>
            <a:srgbClr val="6EC9EE"/>
          </a:solidFill>
          <a:effectLst>
            <a:outerShdw blurRad="38100" dist="20320" dir="2700000" algn="tl" rotWithShape="0">
              <a:srgbClr val="000000">
                <a:alpha val="70000"/>
              </a:srgbClr>
            </a:outerShdw>
          </a:effectLst>
          <a:latin typeface="SimHei" panose="02010609060101010101" pitchFamily="49" charset="-122"/>
          <a:ea typeface="SimHei" panose="02010609060101010101" pitchFamily="49" charset="-122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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ctrTitle"/>
          </p:nvPr>
        </p:nvSpPr>
        <p:spPr>
          <a:xfrm>
            <a:off x="785813" y="1124744"/>
            <a:ext cx="7291387" cy="2837656"/>
          </a:xfrm>
        </p:spPr>
        <p:txBody>
          <a:bodyPr>
            <a:normAutofit/>
          </a:bodyPr>
          <a:lstStyle/>
          <a:p>
            <a:pPr algn="ctr" eaLnBrk="1" hangingPunct="1"/>
            <a:r>
              <a:rPr lang="zh-CN" altLang="en-US" dirty="0" smtClean="0">
                <a:latin typeface="Arial" charset="0"/>
              </a:rPr>
              <a:t>新人入職須知</a:t>
            </a:r>
            <a:endParaRPr lang="zh-TW" altLang="en-US" dirty="0" smtClean="0">
              <a:solidFill>
                <a:srgbClr val="6EC9EE"/>
              </a:solidFill>
              <a:latin typeface="Arial" charset="0"/>
              <a:ea typeface="SimHei" pitchFamily="49" charset="-122"/>
            </a:endParaRPr>
          </a:p>
        </p:txBody>
      </p:sp>
      <p:sp>
        <p:nvSpPr>
          <p:cNvPr id="15365" name="投影片編號版面配置區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0213E44-1800-4310-B16B-A613F4C4822F}" type="slidenum">
              <a:rPr lang="zh-CN" altLang="en-US" sz="1200">
                <a:solidFill>
                  <a:schemeClr val="accent2"/>
                </a:solidFill>
                <a:latin typeface="Arial" charset="0"/>
                <a:ea typeface="宋体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0</a:t>
            </a:fld>
            <a:endParaRPr lang="en-US" altLang="zh-CN" sz="1200">
              <a:solidFill>
                <a:schemeClr val="accent2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135313" y="5857875"/>
            <a:ext cx="442621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800" dirty="0">
                <a:solidFill>
                  <a:srgbClr val="A6A6A6"/>
                </a:solidFill>
                <a:latin typeface="Century Gothic" panose="020B0502020202020204" pitchFamily="34" charset="0"/>
                <a:ea typeface="標楷體" panose="03000509000000000000" pitchFamily="65" charset="-120"/>
              </a:rPr>
              <a:t>日  期：</a:t>
            </a:r>
            <a:r>
              <a:rPr kumimoji="0" lang="en-US" altLang="zh-TW" sz="2800" dirty="0" smtClean="0">
                <a:solidFill>
                  <a:srgbClr val="A6A6A6"/>
                </a:solidFill>
                <a:latin typeface="Century Gothic" panose="020B0502020202020204" pitchFamily="34" charset="0"/>
                <a:ea typeface="標楷體" panose="03000509000000000000" pitchFamily="65" charset="-120"/>
              </a:rPr>
              <a:t>2014 </a:t>
            </a:r>
            <a:r>
              <a:rPr kumimoji="0" lang="zh-CN" altLang="en-US" sz="2800" dirty="0" smtClean="0">
                <a:solidFill>
                  <a:srgbClr val="A6A6A6"/>
                </a:solidFill>
                <a:latin typeface="Century Gothic" panose="020B0502020202020204" pitchFamily="34" charset="0"/>
                <a:ea typeface="標楷體" panose="03000509000000000000" pitchFamily="65" charset="-120"/>
              </a:rPr>
              <a:t>年 </a:t>
            </a:r>
            <a:r>
              <a:rPr kumimoji="0" lang="en-US" altLang="zh-TW" sz="2800" dirty="0" smtClean="0">
                <a:solidFill>
                  <a:srgbClr val="A6A6A6"/>
                </a:solidFill>
                <a:latin typeface="Century Gothic" panose="020B0502020202020204" pitchFamily="34" charset="0"/>
                <a:ea typeface="標楷體" panose="03000509000000000000" pitchFamily="65" charset="-120"/>
              </a:rPr>
              <a:t>03 </a:t>
            </a:r>
            <a:r>
              <a:rPr kumimoji="0" lang="zh-CN" altLang="en-US" sz="2800" dirty="0" smtClean="0">
                <a:solidFill>
                  <a:srgbClr val="A6A6A6"/>
                </a:solidFill>
                <a:latin typeface="Century Gothic" panose="020B0502020202020204" pitchFamily="34" charset="0"/>
                <a:ea typeface="標楷體" panose="03000509000000000000" pitchFamily="65" charset="-120"/>
              </a:rPr>
              <a:t>月</a:t>
            </a:r>
            <a:r>
              <a:rPr kumimoji="0" lang="en-US" altLang="zh-CN" sz="2800" dirty="0" smtClean="0">
                <a:solidFill>
                  <a:srgbClr val="A6A6A6"/>
                </a:solidFill>
                <a:latin typeface="Century Gothic" panose="020B0502020202020204" pitchFamily="34" charset="0"/>
                <a:ea typeface="標楷體" panose="03000509000000000000" pitchFamily="65" charset="-120"/>
              </a:rPr>
              <a:t>12</a:t>
            </a:r>
            <a:r>
              <a:rPr kumimoji="0" lang="zh-CN" altLang="en-US" sz="2800" dirty="0" smtClean="0">
                <a:solidFill>
                  <a:srgbClr val="A6A6A6"/>
                </a:solidFill>
                <a:latin typeface="Century Gothic" panose="020B0502020202020204" pitchFamily="34" charset="0"/>
                <a:ea typeface="標楷體" panose="03000509000000000000" pitchFamily="65" charset="-120"/>
              </a:rPr>
              <a:t>日</a:t>
            </a:r>
            <a:endParaRPr kumimoji="0" lang="zh-TW" altLang="en-US" sz="2800" dirty="0">
              <a:solidFill>
                <a:srgbClr val="A6A6A6"/>
              </a:solidFill>
              <a:latin typeface="Century Gothic" panose="020B0502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15364" name="文字方塊 4"/>
          <p:cNvSpPr txBox="1">
            <a:spLocks noChangeArrowheads="1"/>
          </p:cNvSpPr>
          <p:nvPr/>
        </p:nvSpPr>
        <p:spPr bwMode="auto">
          <a:xfrm>
            <a:off x="3124200" y="5316538"/>
            <a:ext cx="3532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dirty="0">
                <a:solidFill>
                  <a:srgbClr val="A6A6A6"/>
                </a:solidFill>
                <a:latin typeface="Century Gothic" panose="020B0502020202020204" pitchFamily="34" charset="0"/>
              </a:rPr>
              <a:t>講  師：朱優良</a:t>
            </a:r>
            <a:endParaRPr kumimoji="0" lang="en-US" altLang="zh-CN" dirty="0">
              <a:solidFill>
                <a:srgbClr val="A6A6A6"/>
              </a:solidFill>
              <a:latin typeface="Century Gothic" panose="020B0502020202020204" pitchFamily="34" charset="0"/>
            </a:endParaRPr>
          </a:p>
        </p:txBody>
      </p:sp>
      <p:sp>
        <p:nvSpPr>
          <p:cNvPr id="15366" name="文字方塊 7"/>
          <p:cNvSpPr txBox="1">
            <a:spLocks noChangeArrowheads="1"/>
          </p:cNvSpPr>
          <p:nvPr/>
        </p:nvSpPr>
        <p:spPr bwMode="auto">
          <a:xfrm>
            <a:off x="3132138" y="4794250"/>
            <a:ext cx="50403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dirty="0">
                <a:solidFill>
                  <a:srgbClr val="A6A6A6"/>
                </a:solidFill>
                <a:latin typeface="Century Gothic" panose="020B0502020202020204" pitchFamily="34" charset="0"/>
              </a:rPr>
              <a:t>單  位</a:t>
            </a:r>
            <a:r>
              <a:rPr kumimoji="0" lang="zh-CN" altLang="en-US" dirty="0" smtClean="0">
                <a:solidFill>
                  <a:srgbClr val="A6A6A6"/>
                </a:solidFill>
                <a:latin typeface="Century Gothic" panose="020B0502020202020204" pitchFamily="34" charset="0"/>
              </a:rPr>
              <a:t>：系統</a:t>
            </a:r>
            <a:r>
              <a:rPr kumimoji="0" lang="zh-CN" altLang="en-US" dirty="0">
                <a:solidFill>
                  <a:srgbClr val="A6A6A6"/>
                </a:solidFill>
                <a:latin typeface="Century Gothic" panose="020B0502020202020204" pitchFamily="34" charset="0"/>
              </a:rPr>
              <a:t>整合部</a:t>
            </a:r>
            <a:endParaRPr kumimoji="0" lang="en-US" altLang="zh-CN" dirty="0">
              <a:solidFill>
                <a:srgbClr val="A6A6A6"/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latin typeface="Arial" charset="0"/>
                <a:ea typeface="SimHei" pitchFamily="49" charset="-122"/>
              </a:rPr>
              <a:t>大綱</a:t>
            </a:r>
            <a:endParaRPr lang="zh-TW" altLang="en-US" dirty="0" smtClean="0">
              <a:latin typeface="Arial" charset="0"/>
              <a:ea typeface="SimHei" pitchFamily="49" charset="-122"/>
            </a:endParaRPr>
          </a:p>
        </p:txBody>
      </p:sp>
      <p:sp>
        <p:nvSpPr>
          <p:cNvPr id="17411" name="內容版面配置區 2"/>
          <p:cNvSpPr>
            <a:spLocks noGrp="1"/>
          </p:cNvSpPr>
          <p:nvPr>
            <p:ph idx="1"/>
          </p:nvPr>
        </p:nvSpPr>
        <p:spPr>
          <a:xfrm>
            <a:off x="2699792" y="1600200"/>
            <a:ext cx="5987008" cy="4525963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公司組織</a:t>
            </a:r>
            <a:endParaRPr lang="en-US" altLang="zh-CN" sz="36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3600" dirty="0">
                <a:latin typeface="標楷體" panose="03000509000000000000" pitchFamily="65" charset="-120"/>
              </a:rPr>
              <a:t>工作績效</a:t>
            </a:r>
            <a:endParaRPr lang="en-US" altLang="zh-CN" sz="36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技術平臺</a:t>
            </a:r>
            <a:endParaRPr lang="en-US" altLang="zh-CN" sz="36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3600" dirty="0" smtClean="0">
                <a:latin typeface="標楷體" panose="03000509000000000000" pitchFamily="65" charset="-120"/>
              </a:rPr>
              <a:t>培訓計劃</a:t>
            </a:r>
            <a:endParaRPr lang="en-US" altLang="zh-CN" sz="36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D77AA2D-909B-4A64-8C26-367CE7091E01}" type="slidenum">
              <a:rPr lang="zh-CN" altLang="en-US" sz="1400">
                <a:solidFill>
                  <a:srgbClr val="2578B0"/>
                </a:solidFill>
                <a:ea typeface="宋体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zh-CN" sz="1400">
              <a:solidFill>
                <a:srgbClr val="2578B0"/>
              </a:solidFill>
              <a:ea typeface="宋体" pitchFamily="2" charset="-122"/>
            </a:endParaRPr>
          </a:p>
        </p:txBody>
      </p:sp>
      <p:cxnSp>
        <p:nvCxnSpPr>
          <p:cNvPr id="3" name="直線接點 2"/>
          <p:cNvCxnSpPr/>
          <p:nvPr/>
        </p:nvCxnSpPr>
        <p:spPr>
          <a:xfrm>
            <a:off x="2411760" y="2492896"/>
            <a:ext cx="338437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411760" y="3429000"/>
            <a:ext cx="338437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411760" y="4365104"/>
            <a:ext cx="338437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411760" y="5301208"/>
            <a:ext cx="338437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67F0-45D4-4D07-8880-5B58BFBEC0C5}" type="slidenum">
              <a:rPr lang="zh-CN" altLang="en-US" smtClean="0"/>
              <a:pPr/>
              <a:t>2</a:t>
            </a:fld>
            <a:endParaRPr lang="en-US" altLang="zh-CN" dirty="0">
              <a:solidFill>
                <a:srgbClr val="7F7F7F"/>
              </a:solidFill>
            </a:endParaRPr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3131840" y="2371723"/>
            <a:ext cx="3205295" cy="86409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 dirty="0">
                <a:ln w="12700">
                  <a:noFill/>
                  <a:prstDash val="solid"/>
                </a:ln>
                <a:solidFill>
                  <a:srgbClr val="6EC9EE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dirty="0" smtClean="0">
                <a:latin typeface="Arial" charset="0"/>
              </a:rPr>
              <a:t>公司組織</a:t>
            </a:r>
            <a:endParaRPr lang="zh-TW" altLang="en-US" dirty="0" smtClean="0">
              <a:latin typeface="Arial" charset="0"/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987824" y="3573016"/>
            <a:ext cx="2880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3288823" y="3327375"/>
            <a:ext cx="2289409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latin typeface="Century Gothic" panose="020B0502020202020204" pitchFamily="34" charset="0"/>
              </a:rPr>
              <a:t>Who I work for</a:t>
            </a:r>
            <a:endParaRPr lang="zh-TW" altLang="en-US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222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fld id="{7068AC97-387D-40C5-BBBB-1877C0D42230}" type="slidenum">
              <a:rPr kumimoji="0" lang="zh-CN" altLang="en-US" smtClean="0">
                <a:solidFill>
                  <a:srgbClr val="2578B0"/>
                </a:solidFill>
                <a:latin typeface="Times New Roman" pitchFamily="18" charset="0"/>
                <a:ea typeface="宋体" pitchFamily="2" charset="-122"/>
              </a:rPr>
              <a:pPr/>
              <a:t>3</a:t>
            </a:fld>
            <a:endParaRPr kumimoji="0" lang="en-US" altLang="zh-CN" dirty="0">
              <a:solidFill>
                <a:srgbClr val="7F7F7F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" name="圓角矩形 5"/>
          <p:cNvSpPr/>
          <p:nvPr/>
        </p:nvSpPr>
        <p:spPr>
          <a:xfrm>
            <a:off x="2555776" y="495144"/>
            <a:ext cx="4464496" cy="1008112"/>
          </a:xfrm>
          <a:prstGeom prst="round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鴻海集團（海外）</a:t>
            </a:r>
            <a:endParaRPr lang="en-US" altLang="zh-CN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富士</a:t>
            </a:r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康科技集團（中國大陸）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1" name="直線單箭頭接點 20"/>
          <p:cNvCxnSpPr/>
          <p:nvPr/>
        </p:nvCxnSpPr>
        <p:spPr>
          <a:xfrm>
            <a:off x="1763688" y="548680"/>
            <a:ext cx="0" cy="56166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611560" y="76836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集團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6792308" y="518489"/>
            <a:ext cx="1639634" cy="93610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郭台銘總裁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2" name="群組 1"/>
          <p:cNvGrpSpPr/>
          <p:nvPr/>
        </p:nvGrpSpPr>
        <p:grpSpPr>
          <a:xfrm>
            <a:off x="481513" y="1503256"/>
            <a:ext cx="7962369" cy="1512168"/>
            <a:chOff x="481513" y="1503256"/>
            <a:chExt cx="7962369" cy="1512168"/>
          </a:xfrm>
        </p:grpSpPr>
        <p:sp>
          <p:nvSpPr>
            <p:cNvPr id="23" name="文字方塊 22"/>
            <p:cNvSpPr txBox="1"/>
            <p:nvPr/>
          </p:nvSpPr>
          <p:spPr>
            <a:xfrm>
              <a:off x="481513" y="2280217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次集團</a:t>
              </a:r>
              <a:endPara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30" name="圓角矩形 29"/>
            <p:cNvSpPr/>
            <p:nvPr/>
          </p:nvSpPr>
          <p:spPr>
            <a:xfrm>
              <a:off x="2051720" y="2006994"/>
              <a:ext cx="1728192" cy="1008112"/>
            </a:xfrm>
            <a:prstGeom prst="roundRect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一屏（</a:t>
              </a:r>
              <a:r>
                <a:rPr lang="en-US" altLang="zh-CN" sz="24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A</a:t>
              </a:r>
              <a:r>
                <a:rPr lang="zh-CN" altLang="en-US" sz="24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）</a:t>
              </a:r>
              <a:endParaRPr lang="en-US" altLang="zh-CN" sz="2400" dirty="0" smtClean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zh-CN" altLang="en-US" sz="24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次集團</a:t>
              </a:r>
              <a:endParaRPr lang="en-US" altLang="zh-CN" sz="2400" dirty="0" smtClean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31" name="圓角矩形 30"/>
            <p:cNvSpPr/>
            <p:nvPr/>
          </p:nvSpPr>
          <p:spPr>
            <a:xfrm>
              <a:off x="3960556" y="2006994"/>
              <a:ext cx="1728192" cy="1008112"/>
            </a:xfrm>
            <a:prstGeom prst="roundRect">
              <a:avLst/>
            </a:prstGeom>
            <a:solidFill>
              <a:schemeClr val="tx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二</a:t>
              </a:r>
              <a:r>
                <a:rPr lang="zh-CN" altLang="en-US" sz="24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屏（</a:t>
              </a:r>
              <a:r>
                <a:rPr lang="en-US" altLang="zh-CN" sz="24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B</a:t>
              </a:r>
              <a:r>
                <a:rPr lang="zh-CN" altLang="en-US" sz="24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）</a:t>
              </a:r>
              <a:endParaRPr lang="en-US" altLang="zh-CN" sz="2400" dirty="0" smtClean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zh-CN" altLang="en-US" sz="24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次集團</a:t>
              </a:r>
              <a:endParaRPr lang="en-US" altLang="zh-CN" sz="2400" dirty="0" smtClean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8028384" y="232638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…</a:t>
              </a:r>
              <a:endParaRPr lang="zh-TW" altLang="en-US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32" name="圓角矩形 31"/>
            <p:cNvSpPr/>
            <p:nvPr/>
          </p:nvSpPr>
          <p:spPr>
            <a:xfrm>
              <a:off x="5940152" y="2007312"/>
              <a:ext cx="1728192" cy="1008112"/>
            </a:xfrm>
            <a:prstGeom prst="roundRect">
              <a:avLst/>
            </a:prstGeom>
            <a:solidFill>
              <a:schemeClr val="tx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三</a:t>
              </a:r>
              <a:r>
                <a:rPr lang="zh-CN" altLang="en-US" sz="24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屏（</a:t>
              </a:r>
              <a:r>
                <a:rPr lang="en-US" altLang="zh-CN" sz="24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C</a:t>
              </a:r>
              <a:r>
                <a:rPr lang="zh-CN" altLang="en-US" sz="24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）</a:t>
              </a:r>
              <a:endParaRPr lang="en-US" altLang="zh-CN" sz="2400" dirty="0" smtClean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zh-CN" altLang="en-US" sz="24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次集團</a:t>
              </a:r>
              <a:endParaRPr lang="en-US" altLang="zh-CN" sz="2400" dirty="0" smtClean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42" name="直線單箭頭接點 41"/>
            <p:cNvCxnSpPr>
              <a:stCxn id="6" idx="2"/>
              <a:endCxn id="30" idx="0"/>
            </p:cNvCxnSpPr>
            <p:nvPr/>
          </p:nvCxnSpPr>
          <p:spPr>
            <a:xfrm flipH="1">
              <a:off x="2915816" y="1503256"/>
              <a:ext cx="1872208" cy="50373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單箭頭接點 43"/>
            <p:cNvCxnSpPr>
              <a:stCxn id="6" idx="2"/>
              <a:endCxn id="31" idx="0"/>
            </p:cNvCxnSpPr>
            <p:nvPr/>
          </p:nvCxnSpPr>
          <p:spPr>
            <a:xfrm>
              <a:off x="4788024" y="1503256"/>
              <a:ext cx="36628" cy="50373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單箭頭接點 45"/>
            <p:cNvCxnSpPr>
              <a:stCxn id="6" idx="2"/>
              <a:endCxn id="32" idx="0"/>
            </p:cNvCxnSpPr>
            <p:nvPr/>
          </p:nvCxnSpPr>
          <p:spPr>
            <a:xfrm>
              <a:off x="4788024" y="1503256"/>
              <a:ext cx="2016224" cy="5040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群組 6"/>
          <p:cNvGrpSpPr/>
          <p:nvPr/>
        </p:nvGrpSpPr>
        <p:grpSpPr>
          <a:xfrm>
            <a:off x="303783" y="3015106"/>
            <a:ext cx="7310943" cy="1561194"/>
            <a:chOff x="303783" y="3015106"/>
            <a:chExt cx="7310943" cy="1561194"/>
          </a:xfrm>
        </p:grpSpPr>
        <p:sp>
          <p:nvSpPr>
            <p:cNvPr id="35" name="文字方塊 34"/>
            <p:cNvSpPr txBox="1"/>
            <p:nvPr/>
          </p:nvSpPr>
          <p:spPr>
            <a:xfrm>
              <a:off x="5993769" y="3810634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鴻海法人</a:t>
              </a:r>
              <a:endPara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303783" y="3015106"/>
              <a:ext cx="3836169" cy="1561194"/>
              <a:chOff x="303783" y="3015106"/>
              <a:chExt cx="3836169" cy="1561194"/>
            </a:xfrm>
          </p:grpSpPr>
          <p:sp>
            <p:nvSpPr>
              <p:cNvPr id="34" name="圓角矩形 33"/>
              <p:cNvSpPr/>
              <p:nvPr/>
            </p:nvSpPr>
            <p:spPr>
              <a:xfrm>
                <a:off x="2051720" y="3568188"/>
                <a:ext cx="2088232" cy="1008112"/>
              </a:xfrm>
              <a:prstGeom prst="round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dirty="0">
                    <a:latin typeface="Arial" panose="020B0604020202020204" pitchFamily="34" charset="0"/>
                    <a:ea typeface="標楷體" panose="03000509000000000000" pitchFamily="65" charset="-120"/>
                  </a:rPr>
                  <a:t>富智康</a:t>
                </a:r>
                <a:r>
                  <a:rPr lang="zh-CN" altLang="en-US" sz="2400" dirty="0" smtClean="0">
                    <a:latin typeface="Arial" panose="020B0604020202020204" pitchFamily="34" charset="0"/>
                    <a:ea typeface="標楷體" panose="03000509000000000000" pitchFamily="65" charset="-120"/>
                  </a:rPr>
                  <a:t>集團</a:t>
                </a:r>
                <a:endParaRPr lang="en-US" altLang="zh-CN" sz="2400" dirty="0" smtClean="0">
                  <a:latin typeface="Arial" panose="020B0604020202020204" pitchFamily="34" charset="0"/>
                  <a:ea typeface="標楷體" panose="03000509000000000000" pitchFamily="65" charset="-120"/>
                </a:endParaRPr>
              </a:p>
              <a:p>
                <a:pPr algn="ctr"/>
                <a:r>
                  <a:rPr lang="en-US" altLang="zh-CN" sz="2400" dirty="0" smtClean="0">
                    <a:latin typeface="Arial" panose="020B0604020202020204" pitchFamily="34" charset="0"/>
                    <a:ea typeface="標楷體" panose="03000509000000000000" pitchFamily="65" charset="-120"/>
                  </a:rPr>
                  <a:t>FIH</a:t>
                </a:r>
              </a:p>
            </p:txBody>
          </p:sp>
          <p:sp>
            <p:nvSpPr>
              <p:cNvPr id="33" name="文字方塊 32"/>
              <p:cNvSpPr txBox="1"/>
              <p:nvPr/>
            </p:nvSpPr>
            <p:spPr>
              <a:xfrm>
                <a:off x="303783" y="3849903"/>
                <a:ext cx="14157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上市公司</a:t>
                </a:r>
                <a:endParaRPr lang="zh-TW" altLang="en-US" sz="24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cxnSp>
            <p:nvCxnSpPr>
              <p:cNvPr id="49" name="直線單箭頭接點 48"/>
              <p:cNvCxnSpPr>
                <a:stCxn id="30" idx="2"/>
                <a:endCxn id="34" idx="0"/>
              </p:cNvCxnSpPr>
              <p:nvPr/>
            </p:nvCxnSpPr>
            <p:spPr>
              <a:xfrm>
                <a:off x="2915816" y="3015106"/>
                <a:ext cx="180020" cy="55308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" name="群組 4"/>
          <p:cNvGrpSpPr/>
          <p:nvPr/>
        </p:nvGrpSpPr>
        <p:grpSpPr>
          <a:xfrm>
            <a:off x="457671" y="4576300"/>
            <a:ext cx="8063491" cy="1535468"/>
            <a:chOff x="457671" y="4576300"/>
            <a:chExt cx="8063491" cy="1535468"/>
          </a:xfrm>
        </p:grpSpPr>
        <p:sp>
          <p:nvSpPr>
            <p:cNvPr id="29" name="文字方塊 28"/>
            <p:cNvSpPr txBox="1"/>
            <p:nvPr/>
          </p:nvSpPr>
          <p:spPr>
            <a:xfrm>
              <a:off x="457671" y="5376879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事業群</a:t>
              </a:r>
              <a:endPara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36" name="圓角矩形 35"/>
            <p:cNvSpPr/>
            <p:nvPr/>
          </p:nvSpPr>
          <p:spPr>
            <a:xfrm>
              <a:off x="2051720" y="5103656"/>
              <a:ext cx="1440160" cy="1008112"/>
            </a:xfrm>
            <a:prstGeom prst="roundRect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atin typeface="Arial" panose="020B0604020202020204" pitchFamily="34" charset="0"/>
                  <a:ea typeface="標楷體" panose="03000509000000000000" pitchFamily="65" charset="-120"/>
                </a:rPr>
                <a:t>WLBG</a:t>
              </a:r>
            </a:p>
          </p:txBody>
        </p:sp>
        <p:sp>
          <p:nvSpPr>
            <p:cNvPr id="38" name="圓角矩形 37"/>
            <p:cNvSpPr/>
            <p:nvPr/>
          </p:nvSpPr>
          <p:spPr>
            <a:xfrm>
              <a:off x="3775828" y="5103655"/>
              <a:ext cx="1440160" cy="1008112"/>
            </a:xfrm>
            <a:prstGeom prst="roundRect">
              <a:avLst/>
            </a:prstGeom>
            <a:solidFill>
              <a:schemeClr val="tx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atin typeface="Arial" panose="020B0604020202020204" pitchFamily="34" charset="0"/>
                  <a:ea typeface="標楷體" panose="03000509000000000000" pitchFamily="65" charset="-120"/>
                </a:rPr>
                <a:t>CNSBG</a:t>
              </a:r>
            </a:p>
          </p:txBody>
        </p:sp>
        <p:sp>
          <p:nvSpPr>
            <p:cNvPr id="39" name="圓角矩形 38"/>
            <p:cNvSpPr/>
            <p:nvPr/>
          </p:nvSpPr>
          <p:spPr>
            <a:xfrm>
              <a:off x="5563700" y="5093776"/>
              <a:ext cx="1440160" cy="1008112"/>
            </a:xfrm>
            <a:prstGeom prst="roundRect">
              <a:avLst/>
            </a:prstGeom>
            <a:solidFill>
              <a:schemeClr val="tx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atin typeface="Arial" panose="020B0604020202020204" pitchFamily="34" charset="0"/>
                  <a:ea typeface="標楷體" panose="03000509000000000000" pitchFamily="65" charset="-120"/>
                </a:rPr>
                <a:t>SHZBG</a:t>
              </a:r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7438814" y="5336222"/>
              <a:ext cx="10823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 err="1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iDPBG</a:t>
              </a:r>
              <a:endPara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51" name="直線單箭頭接點 50"/>
            <p:cNvCxnSpPr>
              <a:stCxn id="34" idx="2"/>
              <a:endCxn id="36" idx="0"/>
            </p:cNvCxnSpPr>
            <p:nvPr/>
          </p:nvCxnSpPr>
          <p:spPr>
            <a:xfrm flipH="1">
              <a:off x="2771800" y="4576300"/>
              <a:ext cx="324036" cy="5273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單箭頭接點 52"/>
            <p:cNvCxnSpPr>
              <a:stCxn id="34" idx="2"/>
              <a:endCxn id="38" idx="0"/>
            </p:cNvCxnSpPr>
            <p:nvPr/>
          </p:nvCxnSpPr>
          <p:spPr>
            <a:xfrm>
              <a:off x="3095836" y="4576300"/>
              <a:ext cx="1400072" cy="5273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單箭頭接點 54"/>
            <p:cNvCxnSpPr>
              <a:stCxn id="34" idx="2"/>
              <a:endCxn id="39" idx="0"/>
            </p:cNvCxnSpPr>
            <p:nvPr/>
          </p:nvCxnSpPr>
          <p:spPr>
            <a:xfrm>
              <a:off x="3095836" y="4576300"/>
              <a:ext cx="3187944" cy="51747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橢圓 56"/>
          <p:cNvSpPr/>
          <p:nvPr/>
        </p:nvSpPr>
        <p:spPr>
          <a:xfrm>
            <a:off x="3576354" y="2042997"/>
            <a:ext cx="1639634" cy="93610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池育</a:t>
            </a:r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陽總經理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3907705" y="3604192"/>
            <a:ext cx="1639634" cy="93610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童文欣董事長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9" name="直線單箭頭接點 8"/>
          <p:cNvCxnSpPr>
            <a:endCxn id="41" idx="0"/>
          </p:cNvCxnSpPr>
          <p:nvPr/>
        </p:nvCxnSpPr>
        <p:spPr>
          <a:xfrm>
            <a:off x="6948264" y="4333854"/>
            <a:ext cx="1031724" cy="10023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57" grpId="0" animBg="1"/>
      <p:bldP spid="5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67F0-45D4-4D07-8880-5B58BFBEC0C5}" type="slidenum">
              <a:rPr lang="zh-CN" altLang="en-US" smtClean="0"/>
              <a:pPr/>
              <a:t>4</a:t>
            </a:fld>
            <a:endParaRPr lang="en-US" altLang="zh-CN" dirty="0">
              <a:solidFill>
                <a:srgbClr val="7F7F7F"/>
              </a:solidFill>
            </a:endParaRPr>
          </a:p>
        </p:txBody>
      </p:sp>
      <p:cxnSp>
        <p:nvCxnSpPr>
          <p:cNvPr id="6" name="直線單箭頭接點 5"/>
          <p:cNvCxnSpPr/>
          <p:nvPr/>
        </p:nvCxnSpPr>
        <p:spPr>
          <a:xfrm>
            <a:off x="1691680" y="620688"/>
            <a:ext cx="0" cy="56166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457671" y="80709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事業群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圓角矩形 14"/>
          <p:cNvSpPr/>
          <p:nvPr/>
        </p:nvSpPr>
        <p:spPr>
          <a:xfrm>
            <a:off x="3463815" y="548680"/>
            <a:ext cx="2645111" cy="792088"/>
          </a:xfrm>
          <a:prstGeom prst="round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latin typeface="Arial" panose="020B0604020202020204" pitchFamily="34" charset="0"/>
                <a:ea typeface="標楷體" panose="03000509000000000000" pitchFamily="65" charset="-120"/>
              </a:rPr>
              <a:t>FIH (WLBG)</a:t>
            </a:r>
          </a:p>
        </p:txBody>
      </p:sp>
      <p:grpSp>
        <p:nvGrpSpPr>
          <p:cNvPr id="2" name="群組 1"/>
          <p:cNvGrpSpPr/>
          <p:nvPr/>
        </p:nvGrpSpPr>
        <p:grpSpPr>
          <a:xfrm>
            <a:off x="481513" y="1340768"/>
            <a:ext cx="7394580" cy="1602330"/>
            <a:chOff x="481513" y="1340768"/>
            <a:chExt cx="7394580" cy="1602330"/>
          </a:xfrm>
        </p:grpSpPr>
        <p:sp>
          <p:nvSpPr>
            <p:cNvPr id="8" name="文字方塊 7"/>
            <p:cNvSpPr txBox="1"/>
            <p:nvPr/>
          </p:nvSpPr>
          <p:spPr>
            <a:xfrm>
              <a:off x="481513" y="2208209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事業處</a:t>
              </a:r>
              <a:endPara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0" name="圓角矩形 9"/>
            <p:cNvSpPr/>
            <p:nvPr/>
          </p:nvSpPr>
          <p:spPr>
            <a:xfrm>
              <a:off x="1907705" y="1934986"/>
              <a:ext cx="1819384" cy="1008112"/>
            </a:xfrm>
            <a:prstGeom prst="roundRect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財務與行政管理總處</a:t>
              </a:r>
              <a:endParaRPr lang="en-US" altLang="zh-CN" sz="2400" dirty="0" smtClean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1" name="圓角矩形 10"/>
            <p:cNvSpPr/>
            <p:nvPr/>
          </p:nvSpPr>
          <p:spPr>
            <a:xfrm>
              <a:off x="4122263" y="1934986"/>
              <a:ext cx="1331524" cy="1008112"/>
            </a:xfrm>
            <a:prstGeom prst="roundRect">
              <a:avLst/>
            </a:prstGeom>
            <a:solidFill>
              <a:schemeClr val="tx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LV</a:t>
              </a: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7460595" y="225437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…</a:t>
              </a:r>
              <a:endParaRPr lang="zh-TW" altLang="en-US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3" name="圓角矩形 12"/>
            <p:cNvSpPr/>
            <p:nvPr/>
          </p:nvSpPr>
          <p:spPr>
            <a:xfrm>
              <a:off x="5796136" y="1915271"/>
              <a:ext cx="1368152" cy="1008112"/>
            </a:xfrm>
            <a:prstGeom prst="roundRect">
              <a:avLst/>
            </a:prstGeom>
            <a:solidFill>
              <a:schemeClr val="tx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LX</a:t>
              </a:r>
            </a:p>
          </p:txBody>
        </p:sp>
        <p:cxnSp>
          <p:nvCxnSpPr>
            <p:cNvPr id="22" name="直線單箭頭接點 21"/>
            <p:cNvCxnSpPr>
              <a:stCxn id="15" idx="2"/>
              <a:endCxn id="10" idx="0"/>
            </p:cNvCxnSpPr>
            <p:nvPr/>
          </p:nvCxnSpPr>
          <p:spPr>
            <a:xfrm flipH="1">
              <a:off x="2817397" y="1340768"/>
              <a:ext cx="1968974" cy="5942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stCxn id="15" idx="2"/>
              <a:endCxn id="11" idx="0"/>
            </p:cNvCxnSpPr>
            <p:nvPr/>
          </p:nvCxnSpPr>
          <p:spPr>
            <a:xfrm>
              <a:off x="4786371" y="1340768"/>
              <a:ext cx="1654" cy="5942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stCxn id="15" idx="2"/>
              <a:endCxn id="13" idx="0"/>
            </p:cNvCxnSpPr>
            <p:nvPr/>
          </p:nvCxnSpPr>
          <p:spPr>
            <a:xfrm>
              <a:off x="4786371" y="1340768"/>
              <a:ext cx="1693841" cy="5745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橢圓 29"/>
          <p:cNvSpPr/>
          <p:nvPr/>
        </p:nvSpPr>
        <p:spPr>
          <a:xfrm>
            <a:off x="3538781" y="2199553"/>
            <a:ext cx="1639634" cy="93610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童文欣董事長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457671" y="2943098"/>
            <a:ext cx="8058219" cy="1638030"/>
            <a:chOff x="457671" y="2943098"/>
            <a:chExt cx="8058219" cy="1638030"/>
          </a:xfrm>
        </p:grpSpPr>
        <p:sp>
          <p:nvSpPr>
            <p:cNvPr id="16" name="文字方塊 15"/>
            <p:cNvSpPr txBox="1"/>
            <p:nvPr/>
          </p:nvSpPr>
          <p:spPr>
            <a:xfrm>
              <a:off x="8100392" y="3799050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…</a:t>
              </a:r>
              <a:endParaRPr lang="zh-TW" altLang="en-US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7" name="圓角矩形 16"/>
            <p:cNvSpPr/>
            <p:nvPr/>
          </p:nvSpPr>
          <p:spPr>
            <a:xfrm>
              <a:off x="1907705" y="3573016"/>
              <a:ext cx="2304256" cy="1008112"/>
            </a:xfrm>
            <a:prstGeom prst="roundRect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latin typeface="Arial" panose="020B0604020202020204" pitchFamily="34" charset="0"/>
                  <a:ea typeface="標楷體" panose="03000509000000000000" pitchFamily="65" charset="-120"/>
                </a:rPr>
                <a:t>FIH </a:t>
              </a:r>
              <a:r>
                <a:rPr lang="zh-TW" altLang="en-US" sz="2400" dirty="0">
                  <a:latin typeface="Arial" panose="020B0604020202020204" pitchFamily="34" charset="0"/>
                  <a:ea typeface="標楷體" panose="03000509000000000000" pitchFamily="65" charset="-120"/>
                </a:rPr>
                <a:t>全球資訊科技總處</a:t>
              </a:r>
              <a:endParaRPr lang="en-US" altLang="zh-CN" sz="2400" dirty="0" smtClean="0">
                <a:latin typeface="Arial" panose="020B0604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457671" y="3846239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產品處</a:t>
              </a:r>
              <a:endPara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58" name="圓角矩形 57"/>
            <p:cNvSpPr/>
            <p:nvPr/>
          </p:nvSpPr>
          <p:spPr>
            <a:xfrm>
              <a:off x="4464612" y="3573016"/>
              <a:ext cx="989175" cy="1008112"/>
            </a:xfrm>
            <a:prstGeom prst="roundRect">
              <a:avLst/>
            </a:prstGeom>
            <a:solidFill>
              <a:schemeClr val="tx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人資</a:t>
              </a:r>
              <a:endParaRPr lang="en-US" altLang="zh-CN" sz="2400" dirty="0" smtClean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62" name="圓角矩形 61"/>
            <p:cNvSpPr/>
            <p:nvPr/>
          </p:nvSpPr>
          <p:spPr>
            <a:xfrm>
              <a:off x="5618018" y="3573016"/>
              <a:ext cx="898198" cy="1008112"/>
            </a:xfrm>
            <a:prstGeom prst="roundRect">
              <a:avLst/>
            </a:prstGeom>
            <a:solidFill>
              <a:schemeClr val="tx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經管</a:t>
              </a:r>
              <a:endParaRPr lang="en-US" altLang="zh-CN" sz="2400" dirty="0" smtClean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63" name="圓角矩形 62"/>
            <p:cNvSpPr/>
            <p:nvPr/>
          </p:nvSpPr>
          <p:spPr>
            <a:xfrm>
              <a:off x="6636192" y="3573016"/>
              <a:ext cx="1331524" cy="1008112"/>
            </a:xfrm>
            <a:prstGeom prst="roundRect">
              <a:avLst/>
            </a:prstGeom>
            <a:solidFill>
              <a:schemeClr val="tx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供應鏈</a:t>
              </a:r>
              <a:endParaRPr lang="en-US" altLang="zh-CN" sz="2400" dirty="0" smtClean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68" name="直線單箭頭接點 67"/>
            <p:cNvCxnSpPr>
              <a:stCxn id="10" idx="2"/>
              <a:endCxn id="17" idx="0"/>
            </p:cNvCxnSpPr>
            <p:nvPr/>
          </p:nvCxnSpPr>
          <p:spPr>
            <a:xfrm>
              <a:off x="2817397" y="2943098"/>
              <a:ext cx="242436" cy="629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單箭頭接點 69"/>
            <p:cNvCxnSpPr>
              <a:stCxn id="10" idx="2"/>
              <a:endCxn id="58" idx="0"/>
            </p:cNvCxnSpPr>
            <p:nvPr/>
          </p:nvCxnSpPr>
          <p:spPr>
            <a:xfrm>
              <a:off x="2817397" y="2943098"/>
              <a:ext cx="2141803" cy="629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單箭頭接點 71"/>
            <p:cNvCxnSpPr>
              <a:stCxn id="10" idx="2"/>
              <a:endCxn id="62" idx="0"/>
            </p:cNvCxnSpPr>
            <p:nvPr/>
          </p:nvCxnSpPr>
          <p:spPr>
            <a:xfrm>
              <a:off x="2817397" y="2943098"/>
              <a:ext cx="3249720" cy="629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單箭頭接點 73"/>
            <p:cNvCxnSpPr>
              <a:stCxn id="10" idx="2"/>
              <a:endCxn id="63" idx="0"/>
            </p:cNvCxnSpPr>
            <p:nvPr/>
          </p:nvCxnSpPr>
          <p:spPr>
            <a:xfrm>
              <a:off x="2817397" y="2943098"/>
              <a:ext cx="4484557" cy="629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群組 31"/>
          <p:cNvGrpSpPr/>
          <p:nvPr/>
        </p:nvGrpSpPr>
        <p:grpSpPr>
          <a:xfrm>
            <a:off x="789289" y="4581128"/>
            <a:ext cx="7726601" cy="1584176"/>
            <a:chOff x="789289" y="4581128"/>
            <a:chExt cx="7726601" cy="1584176"/>
          </a:xfrm>
        </p:grpSpPr>
        <p:sp>
          <p:nvSpPr>
            <p:cNvPr id="9" name="文字方塊 8"/>
            <p:cNvSpPr txBox="1"/>
            <p:nvPr/>
          </p:nvSpPr>
          <p:spPr>
            <a:xfrm>
              <a:off x="789289" y="5376878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部</a:t>
              </a:r>
              <a:endPara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9" name="圓角矩形 18"/>
            <p:cNvSpPr/>
            <p:nvPr/>
          </p:nvSpPr>
          <p:spPr>
            <a:xfrm>
              <a:off x="4672601" y="5157192"/>
              <a:ext cx="1252201" cy="1008112"/>
            </a:xfrm>
            <a:prstGeom prst="roundRect">
              <a:avLst/>
            </a:prstGeom>
            <a:solidFill>
              <a:schemeClr val="tx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latin typeface="Arial" panose="020B0604020202020204" pitchFamily="34" charset="0"/>
                  <a:ea typeface="標楷體" panose="03000509000000000000" pitchFamily="65" charset="-120"/>
                </a:rPr>
                <a:t>廊坊</a:t>
              </a:r>
              <a:endParaRPr lang="en-US" altLang="zh-CN" sz="2400" dirty="0" smtClean="0">
                <a:latin typeface="Arial" panose="020B0604020202020204" pitchFamily="34" charset="0"/>
                <a:ea typeface="標楷體" panose="03000509000000000000" pitchFamily="65" charset="-120"/>
              </a:endParaRPr>
            </a:p>
            <a:p>
              <a:pPr algn="ctr"/>
              <a:r>
                <a:rPr lang="zh-CN" altLang="en-US" sz="2400" dirty="0" smtClean="0">
                  <a:latin typeface="Arial" panose="020B0604020202020204" pitchFamily="34" charset="0"/>
                  <a:ea typeface="標楷體" panose="03000509000000000000" pitchFamily="65" charset="-120"/>
                </a:rPr>
                <a:t>資訊部</a:t>
              </a:r>
              <a:endParaRPr lang="en-US" altLang="zh-CN" sz="2400" dirty="0" smtClean="0">
                <a:latin typeface="Arial" panose="020B0604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20" name="圓角矩形 19"/>
            <p:cNvSpPr/>
            <p:nvPr/>
          </p:nvSpPr>
          <p:spPr>
            <a:xfrm>
              <a:off x="6034539" y="5157192"/>
              <a:ext cx="1196977" cy="1008112"/>
            </a:xfrm>
            <a:prstGeom prst="roundRect">
              <a:avLst/>
            </a:prstGeom>
            <a:solidFill>
              <a:schemeClr val="tx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latin typeface="Arial" panose="020B0604020202020204" pitchFamily="34" charset="0"/>
                  <a:ea typeface="標楷體" panose="03000509000000000000" pitchFamily="65" charset="-120"/>
                </a:rPr>
                <a:t>京津</a:t>
              </a:r>
              <a:endParaRPr lang="en-US" altLang="zh-CN" sz="2400" dirty="0" smtClean="0">
                <a:latin typeface="Arial" panose="020B0604020202020204" pitchFamily="34" charset="0"/>
                <a:ea typeface="標楷體" panose="03000509000000000000" pitchFamily="65" charset="-120"/>
              </a:endParaRPr>
            </a:p>
            <a:p>
              <a:pPr algn="ctr"/>
              <a:r>
                <a:rPr lang="zh-CN" altLang="en-US" sz="2400" dirty="0" smtClean="0">
                  <a:latin typeface="Arial" panose="020B0604020202020204" pitchFamily="34" charset="0"/>
                  <a:ea typeface="標楷體" panose="03000509000000000000" pitchFamily="65" charset="-120"/>
                </a:rPr>
                <a:t>資訊部</a:t>
              </a:r>
              <a:endParaRPr lang="en-US" altLang="zh-CN" sz="2400" dirty="0" smtClean="0">
                <a:latin typeface="Arial" panose="020B0604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64" name="圓角矩形 63"/>
            <p:cNvSpPr/>
            <p:nvPr/>
          </p:nvSpPr>
          <p:spPr>
            <a:xfrm>
              <a:off x="1907705" y="5157192"/>
              <a:ext cx="1296143" cy="1008112"/>
            </a:xfrm>
            <a:prstGeom prst="roundRect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latin typeface="Arial" panose="020B0604020202020204" pitchFamily="34" charset="0"/>
                  <a:ea typeface="標楷體" panose="03000509000000000000" pitchFamily="65" charset="-120"/>
                </a:rPr>
                <a:t>系統</a:t>
              </a:r>
              <a:endParaRPr lang="en-US" altLang="zh-CN" sz="2400" dirty="0" smtClean="0">
                <a:latin typeface="Arial" panose="020B0604020202020204" pitchFamily="34" charset="0"/>
                <a:ea typeface="標楷體" panose="03000509000000000000" pitchFamily="65" charset="-120"/>
              </a:endParaRPr>
            </a:p>
            <a:p>
              <a:pPr algn="ctr"/>
              <a:r>
                <a:rPr lang="zh-CN" altLang="en-US" sz="2400" dirty="0" smtClean="0">
                  <a:latin typeface="Arial" panose="020B0604020202020204" pitchFamily="34" charset="0"/>
                  <a:ea typeface="標楷體" panose="03000509000000000000" pitchFamily="65" charset="-120"/>
                </a:rPr>
                <a:t>整合部</a:t>
              </a:r>
              <a:endParaRPr lang="en-US" altLang="zh-CN" sz="2400" dirty="0" smtClean="0">
                <a:latin typeface="Arial" panose="020B0604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65" name="圓角矩形 64"/>
            <p:cNvSpPr/>
            <p:nvPr/>
          </p:nvSpPr>
          <p:spPr>
            <a:xfrm>
              <a:off x="3369963" y="5157192"/>
              <a:ext cx="1196977" cy="1008112"/>
            </a:xfrm>
            <a:prstGeom prst="roundRect">
              <a:avLst/>
            </a:prstGeom>
            <a:solidFill>
              <a:schemeClr val="tx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atin typeface="Arial" panose="020B0604020202020204" pitchFamily="34" charset="0"/>
                  <a:ea typeface="標楷體" panose="03000509000000000000" pitchFamily="65" charset="-120"/>
                </a:rPr>
                <a:t>SAP </a:t>
              </a:r>
              <a:r>
                <a:rPr lang="zh-CN" altLang="en-US" sz="2400" dirty="0" smtClean="0">
                  <a:latin typeface="Arial" panose="020B0604020202020204" pitchFamily="34" charset="0"/>
                  <a:ea typeface="標楷體" panose="03000509000000000000" pitchFamily="65" charset="-120"/>
                </a:rPr>
                <a:t>運維部</a:t>
              </a:r>
              <a:endParaRPr lang="en-US" altLang="zh-CN" sz="2400" dirty="0" smtClean="0">
                <a:latin typeface="Arial" panose="020B0604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66" name="圓角矩形 65"/>
            <p:cNvSpPr/>
            <p:nvPr/>
          </p:nvSpPr>
          <p:spPr>
            <a:xfrm>
              <a:off x="7318913" y="5157192"/>
              <a:ext cx="1196977" cy="1008112"/>
            </a:xfrm>
            <a:prstGeom prst="roundRect">
              <a:avLst/>
            </a:prstGeom>
            <a:solidFill>
              <a:schemeClr val="tx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latin typeface="Arial" panose="020B0604020202020204" pitchFamily="34" charset="0"/>
                  <a:ea typeface="標楷體" panose="03000509000000000000" pitchFamily="65" charset="-120"/>
                </a:rPr>
                <a:t>華南</a:t>
              </a:r>
              <a:endParaRPr lang="en-US" altLang="zh-CN" sz="2400" dirty="0" smtClean="0">
                <a:latin typeface="Arial" panose="020B0604020202020204" pitchFamily="34" charset="0"/>
                <a:ea typeface="標楷體" panose="03000509000000000000" pitchFamily="65" charset="-120"/>
              </a:endParaRPr>
            </a:p>
            <a:p>
              <a:pPr algn="ctr"/>
              <a:r>
                <a:rPr lang="zh-CN" altLang="en-US" sz="2400" dirty="0" smtClean="0">
                  <a:latin typeface="Arial" panose="020B0604020202020204" pitchFamily="34" charset="0"/>
                  <a:ea typeface="標楷體" panose="03000509000000000000" pitchFamily="65" charset="-120"/>
                </a:rPr>
                <a:t>資訊部</a:t>
              </a:r>
              <a:endParaRPr lang="en-US" altLang="zh-CN" sz="2400" dirty="0" smtClean="0">
                <a:latin typeface="Arial" panose="020B0604020202020204" pitchFamily="34" charset="0"/>
                <a:ea typeface="標楷體" panose="03000509000000000000" pitchFamily="65" charset="-120"/>
              </a:endParaRPr>
            </a:p>
          </p:txBody>
        </p:sp>
        <p:cxnSp>
          <p:nvCxnSpPr>
            <p:cNvPr id="76" name="直線單箭頭接點 75"/>
            <p:cNvCxnSpPr>
              <a:stCxn id="17" idx="2"/>
              <a:endCxn id="64" idx="0"/>
            </p:cNvCxnSpPr>
            <p:nvPr/>
          </p:nvCxnSpPr>
          <p:spPr>
            <a:xfrm flipH="1">
              <a:off x="2555777" y="4581128"/>
              <a:ext cx="504056" cy="5760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單箭頭接點 77"/>
            <p:cNvCxnSpPr>
              <a:stCxn id="17" idx="2"/>
              <a:endCxn id="19" idx="0"/>
            </p:cNvCxnSpPr>
            <p:nvPr/>
          </p:nvCxnSpPr>
          <p:spPr>
            <a:xfrm>
              <a:off x="3059833" y="4581128"/>
              <a:ext cx="2238869" cy="5760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單箭頭接點 79"/>
            <p:cNvCxnSpPr>
              <a:stCxn id="17" idx="2"/>
              <a:endCxn id="20" idx="0"/>
            </p:cNvCxnSpPr>
            <p:nvPr/>
          </p:nvCxnSpPr>
          <p:spPr>
            <a:xfrm>
              <a:off x="3059833" y="4581128"/>
              <a:ext cx="3573195" cy="5760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>
              <a:stCxn id="17" idx="2"/>
              <a:endCxn id="65" idx="0"/>
            </p:cNvCxnSpPr>
            <p:nvPr/>
          </p:nvCxnSpPr>
          <p:spPr>
            <a:xfrm>
              <a:off x="3059833" y="4581128"/>
              <a:ext cx="908619" cy="5760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>
              <a:stCxn id="17" idx="2"/>
              <a:endCxn id="66" idx="0"/>
            </p:cNvCxnSpPr>
            <p:nvPr/>
          </p:nvCxnSpPr>
          <p:spPr>
            <a:xfrm>
              <a:off x="3059833" y="4581128"/>
              <a:ext cx="4857569" cy="5760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橢圓 84"/>
          <p:cNvSpPr/>
          <p:nvPr/>
        </p:nvSpPr>
        <p:spPr>
          <a:xfrm>
            <a:off x="3832203" y="3877606"/>
            <a:ext cx="1639634" cy="93610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陳獻文經理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6" name="橢圓 85"/>
          <p:cNvSpPr/>
          <p:nvPr/>
        </p:nvSpPr>
        <p:spPr>
          <a:xfrm>
            <a:off x="3023844" y="5157192"/>
            <a:ext cx="2035831" cy="102186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朱優良</a:t>
            </a:r>
            <a:endParaRPr lang="en-US" altLang="zh-CN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資深專理</a:t>
            </a:r>
            <a:endParaRPr lang="en-US" altLang="zh-CN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95381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85" grpId="0" animBg="1"/>
      <p:bldP spid="8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67F0-45D4-4D07-8880-5B58BFBEC0C5}" type="slidenum">
              <a:rPr lang="zh-CN" altLang="en-US" smtClean="0"/>
              <a:pPr/>
              <a:t>5</a:t>
            </a:fld>
            <a:endParaRPr lang="en-US" altLang="zh-CN" dirty="0">
              <a:solidFill>
                <a:srgbClr val="7F7F7F"/>
              </a:solidFill>
            </a:endParaRPr>
          </a:p>
        </p:txBody>
      </p:sp>
      <p:sp>
        <p:nvSpPr>
          <p:cNvPr id="6" name="圓角矩形 5"/>
          <p:cNvSpPr/>
          <p:nvPr/>
        </p:nvSpPr>
        <p:spPr>
          <a:xfrm>
            <a:off x="395536" y="2348880"/>
            <a:ext cx="2736304" cy="2016224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系統整合部</a:t>
            </a:r>
            <a:endParaRPr lang="en-US" altLang="zh-CN" sz="2400" dirty="0" smtClean="0">
              <a:solidFill>
                <a:srgbClr val="FFFF00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  <a:p>
            <a:pPr algn="ctr"/>
            <a:endParaRPr lang="en-US" altLang="zh-CN" sz="2400" dirty="0" smtClean="0">
              <a:latin typeface="Arial" panose="020B0604020202020204" pitchFamily="34" charset="0"/>
              <a:ea typeface="標楷體" panose="03000509000000000000" pitchFamily="65" charset="-120"/>
            </a:endParaRPr>
          </a:p>
          <a:p>
            <a:pPr algn="ctr"/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朱</a:t>
            </a:r>
            <a:r>
              <a:rPr lang="zh-CN" alt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優良  資深專理</a:t>
            </a:r>
            <a:endParaRPr lang="en-US" altLang="zh-CN" sz="2400" dirty="0" smtClean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grpSp>
        <p:nvGrpSpPr>
          <p:cNvPr id="5" name="群組 4"/>
          <p:cNvGrpSpPr/>
          <p:nvPr/>
        </p:nvGrpSpPr>
        <p:grpSpPr>
          <a:xfrm>
            <a:off x="2987824" y="692696"/>
            <a:ext cx="6068709" cy="2808312"/>
            <a:chOff x="2987824" y="692696"/>
            <a:chExt cx="6068709" cy="2808312"/>
          </a:xfrm>
        </p:grpSpPr>
        <p:sp>
          <p:nvSpPr>
            <p:cNvPr id="8" name="圓角矩形 7"/>
            <p:cNvSpPr/>
            <p:nvPr/>
          </p:nvSpPr>
          <p:spPr>
            <a:xfrm>
              <a:off x="4067944" y="692696"/>
              <a:ext cx="2808312" cy="1008112"/>
            </a:xfrm>
            <a:prstGeom prst="roundRect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bg1"/>
                  </a:solidFill>
                  <a:latin typeface="Arial" panose="020B0604020202020204" pitchFamily="34" charset="0"/>
                  <a:ea typeface="標楷體" panose="03000509000000000000" pitchFamily="65" charset="-120"/>
                </a:rPr>
                <a:t>工品管系統開發課</a:t>
              </a:r>
              <a:r>
                <a:rPr lang="zh-CN" altLang="en-US" sz="2400" dirty="0" smtClean="0">
                  <a:solidFill>
                    <a:srgbClr val="428BCA"/>
                  </a:solidFill>
                  <a:latin typeface="Arial" panose="020B0604020202020204" pitchFamily="34" charset="0"/>
                  <a:ea typeface="標楷體" panose="03000509000000000000" pitchFamily="65" charset="-120"/>
                </a:rPr>
                <a:t>查志勇  專理</a:t>
              </a:r>
              <a:endParaRPr lang="en-US" altLang="zh-CN" sz="2400" dirty="0" smtClean="0">
                <a:solidFill>
                  <a:srgbClr val="428BCA"/>
                </a:solidFill>
                <a:latin typeface="Arial" panose="020B0604020202020204" pitchFamily="34" charset="0"/>
                <a:ea typeface="標楷體" panose="03000509000000000000" pitchFamily="65" charset="-120"/>
              </a:endParaRPr>
            </a:p>
          </p:txBody>
        </p:sp>
        <p:cxnSp>
          <p:nvCxnSpPr>
            <p:cNvPr id="14" name="直線單箭頭接點 13"/>
            <p:cNvCxnSpPr>
              <a:endCxn id="8" idx="1"/>
            </p:cNvCxnSpPr>
            <p:nvPr/>
          </p:nvCxnSpPr>
          <p:spPr>
            <a:xfrm flipV="1">
              <a:off x="2987824" y="1196752"/>
              <a:ext cx="1080120" cy="2304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6948264" y="848906"/>
              <a:ext cx="210826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研發工程 </a:t>
              </a:r>
              <a:r>
                <a:rPr lang="en-US" altLang="zh-CN" sz="20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/ </a:t>
              </a:r>
              <a:r>
                <a:rPr lang="zh-CN" altLang="en-US" sz="20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銷售</a:t>
              </a:r>
              <a:endParaRPr lang="en-US" altLang="zh-CN" sz="2000" dirty="0" smtClean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r>
                <a:rPr lang="zh-CN" altLang="en-US" sz="20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品質 </a:t>
              </a:r>
              <a:r>
                <a:rPr lang="en-US" altLang="zh-CN" sz="20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/ </a:t>
              </a:r>
              <a:r>
                <a:rPr lang="zh-CN" altLang="en-US" sz="20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設備</a:t>
              </a:r>
              <a:endPara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2987824" y="2167454"/>
            <a:ext cx="5812228" cy="1333554"/>
            <a:chOff x="2987824" y="2167454"/>
            <a:chExt cx="5812228" cy="1333554"/>
          </a:xfrm>
        </p:grpSpPr>
        <p:sp>
          <p:nvSpPr>
            <p:cNvPr id="9" name="圓角矩形 8"/>
            <p:cNvSpPr/>
            <p:nvPr/>
          </p:nvSpPr>
          <p:spPr>
            <a:xfrm>
              <a:off x="4061125" y="2167454"/>
              <a:ext cx="2808312" cy="1008112"/>
            </a:xfrm>
            <a:prstGeom prst="roundRect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bg1"/>
                  </a:solidFill>
                  <a:latin typeface="Arial" panose="020B0604020202020204" pitchFamily="34" charset="0"/>
                  <a:ea typeface="標楷體" panose="03000509000000000000" pitchFamily="65" charset="-120"/>
                </a:rPr>
                <a:t>生經管系統開發課</a:t>
              </a:r>
              <a:r>
                <a:rPr lang="zh-CN" altLang="en-US" sz="2400" dirty="0" smtClean="0">
                  <a:solidFill>
                    <a:srgbClr val="428BCA"/>
                  </a:solidFill>
                  <a:latin typeface="Arial" panose="020B0604020202020204" pitchFamily="34" charset="0"/>
                  <a:ea typeface="標楷體" panose="03000509000000000000" pitchFamily="65" charset="-120"/>
                </a:rPr>
                <a:t>段會峰  代課長</a:t>
              </a:r>
              <a:endParaRPr lang="en-US" altLang="zh-CN" sz="2400" dirty="0" smtClean="0">
                <a:solidFill>
                  <a:srgbClr val="428BCA"/>
                </a:solidFill>
                <a:latin typeface="Arial" panose="020B0604020202020204" pitchFamily="34" charset="0"/>
                <a:ea typeface="標楷體" panose="03000509000000000000" pitchFamily="65" charset="-120"/>
              </a:endParaRPr>
            </a:p>
          </p:txBody>
        </p:sp>
        <p:cxnSp>
          <p:nvCxnSpPr>
            <p:cNvPr id="16" name="直線單箭頭接點 15"/>
            <p:cNvCxnSpPr>
              <a:endCxn id="9" idx="1"/>
            </p:cNvCxnSpPr>
            <p:nvPr/>
          </p:nvCxnSpPr>
          <p:spPr>
            <a:xfrm flipV="1">
              <a:off x="2987824" y="2671510"/>
              <a:ext cx="1073301" cy="82949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/>
            <p:cNvSpPr txBox="1"/>
            <p:nvPr/>
          </p:nvSpPr>
          <p:spPr>
            <a:xfrm>
              <a:off x="6948263" y="2317567"/>
              <a:ext cx="185178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生產 </a:t>
              </a:r>
              <a:r>
                <a:rPr lang="en-US" altLang="zh-CN" sz="20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/ </a:t>
              </a:r>
              <a:r>
                <a:rPr lang="zh-CN" altLang="en-US" sz="20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供應鏈</a:t>
              </a:r>
              <a:endParaRPr lang="en-US" altLang="zh-CN" sz="2000" dirty="0" smtClean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r>
                <a:rPr lang="zh-CN" altLang="en-US" sz="20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經管 </a:t>
              </a:r>
              <a:r>
                <a:rPr lang="en-US" altLang="zh-CN" sz="20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/ </a:t>
              </a:r>
              <a:r>
                <a:rPr lang="zh-CN" altLang="en-US" sz="20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費用</a:t>
              </a:r>
              <a:endPara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2" name="群組 11"/>
          <p:cNvGrpSpPr/>
          <p:nvPr/>
        </p:nvGrpSpPr>
        <p:grpSpPr>
          <a:xfrm>
            <a:off x="2987824" y="3501008"/>
            <a:ext cx="5555749" cy="1152128"/>
            <a:chOff x="2987824" y="3501008"/>
            <a:chExt cx="5555749" cy="1152128"/>
          </a:xfrm>
        </p:grpSpPr>
        <p:sp>
          <p:nvSpPr>
            <p:cNvPr id="10" name="圓角矩形 9"/>
            <p:cNvSpPr/>
            <p:nvPr/>
          </p:nvSpPr>
          <p:spPr>
            <a:xfrm>
              <a:off x="4061125" y="3645024"/>
              <a:ext cx="2808312" cy="1008112"/>
            </a:xfrm>
            <a:prstGeom prst="roundRect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bg1"/>
                  </a:solidFill>
                  <a:latin typeface="Arial" panose="020B0604020202020204" pitchFamily="34" charset="0"/>
                  <a:ea typeface="標楷體" panose="03000509000000000000" pitchFamily="65" charset="-120"/>
                </a:rPr>
                <a:t>周邊系統開發課</a:t>
              </a:r>
              <a:endParaRPr lang="en-US" altLang="zh-CN" sz="2400" dirty="0" smtClean="0">
                <a:solidFill>
                  <a:schemeClr val="bg1"/>
                </a:solidFill>
                <a:latin typeface="Arial" panose="020B0604020202020204" pitchFamily="34" charset="0"/>
                <a:ea typeface="標楷體" panose="03000509000000000000" pitchFamily="65" charset="-120"/>
              </a:endParaRPr>
            </a:p>
            <a:p>
              <a:pPr algn="ctr"/>
              <a:r>
                <a:rPr lang="zh-CN" altLang="en-US" sz="2400" dirty="0" smtClean="0">
                  <a:solidFill>
                    <a:srgbClr val="428BCA"/>
                  </a:solidFill>
                  <a:latin typeface="Arial" panose="020B0604020202020204" pitchFamily="34" charset="0"/>
                  <a:ea typeface="標楷體" panose="03000509000000000000" pitchFamily="65" charset="-120"/>
                </a:rPr>
                <a:t>肖偉圣  課長</a:t>
              </a:r>
              <a:endParaRPr lang="en-US" altLang="zh-CN" sz="2400" dirty="0" smtClean="0">
                <a:solidFill>
                  <a:srgbClr val="428BCA"/>
                </a:solidFill>
                <a:latin typeface="Arial" panose="020B0604020202020204" pitchFamily="34" charset="0"/>
                <a:ea typeface="標楷體" panose="03000509000000000000" pitchFamily="65" charset="-120"/>
              </a:endParaRPr>
            </a:p>
          </p:txBody>
        </p:sp>
        <p:cxnSp>
          <p:nvCxnSpPr>
            <p:cNvPr id="18" name="直線單箭頭接點 17"/>
            <p:cNvCxnSpPr>
              <a:endCxn id="10" idx="1"/>
            </p:cNvCxnSpPr>
            <p:nvPr/>
          </p:nvCxnSpPr>
          <p:spPr>
            <a:xfrm>
              <a:off x="2987824" y="3501008"/>
              <a:ext cx="1073301" cy="64807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字方塊 29"/>
            <p:cNvSpPr txBox="1"/>
            <p:nvPr/>
          </p:nvSpPr>
          <p:spPr>
            <a:xfrm>
              <a:off x="6948264" y="3795137"/>
              <a:ext cx="159530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人資</a:t>
              </a:r>
              <a:r>
                <a:rPr lang="en-US" altLang="zh-CN" sz="20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 </a:t>
              </a:r>
              <a:r>
                <a:rPr lang="en-US" altLang="zh-CN" sz="20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/ </a:t>
              </a:r>
              <a:r>
                <a:rPr lang="zh-CN" altLang="en-US" sz="20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工務</a:t>
              </a:r>
              <a:endParaRPr lang="en-US" altLang="zh-CN" sz="2000" dirty="0" smtClean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r>
                <a:rPr lang="zh-CN" altLang="en-US" sz="20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行政 </a:t>
              </a:r>
              <a:r>
                <a:rPr lang="en-US" altLang="zh-CN" sz="20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/ </a:t>
              </a:r>
              <a:r>
                <a:rPr lang="zh-CN" altLang="en-US" sz="20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總務</a:t>
              </a:r>
              <a:endPara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2771800" y="3933056"/>
            <a:ext cx="5771773" cy="2448272"/>
            <a:chOff x="2771800" y="3933056"/>
            <a:chExt cx="5771773" cy="2448272"/>
          </a:xfrm>
        </p:grpSpPr>
        <p:sp>
          <p:nvSpPr>
            <p:cNvPr id="11" name="圓角矩形 10"/>
            <p:cNvSpPr/>
            <p:nvPr/>
          </p:nvSpPr>
          <p:spPr>
            <a:xfrm>
              <a:off x="4067944" y="5085184"/>
              <a:ext cx="2808312" cy="1296144"/>
            </a:xfrm>
            <a:prstGeom prst="roundRect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solidFill>
                    <a:schemeClr val="bg1"/>
                  </a:solidFill>
                  <a:latin typeface="Arial" panose="020B0604020202020204" pitchFamily="34" charset="0"/>
                  <a:ea typeface="標楷體" panose="03000509000000000000" pitchFamily="65" charset="-120"/>
                </a:rPr>
                <a:t>PDM 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Arial" panose="020B0604020202020204" pitchFamily="34" charset="0"/>
                  <a:ea typeface="標楷體" panose="03000509000000000000" pitchFamily="65" charset="-120"/>
                </a:rPr>
                <a:t>系統維護課</a:t>
              </a:r>
              <a:endParaRPr lang="en-US" altLang="zh-CN" sz="2400" dirty="0" smtClean="0">
                <a:solidFill>
                  <a:schemeClr val="bg1"/>
                </a:solidFill>
                <a:latin typeface="Arial" panose="020B0604020202020204" pitchFamily="34" charset="0"/>
                <a:ea typeface="標楷體" panose="03000509000000000000" pitchFamily="65" charset="-120"/>
              </a:endParaRPr>
            </a:p>
            <a:p>
              <a:pPr algn="ctr"/>
              <a:r>
                <a:rPr lang="zh-CN" altLang="en-US" sz="2400" dirty="0">
                  <a:solidFill>
                    <a:srgbClr val="428BCA"/>
                  </a:solidFill>
                  <a:latin typeface="Arial" panose="020B0604020202020204" pitchFamily="34" charset="0"/>
                  <a:ea typeface="標楷體" panose="03000509000000000000" pitchFamily="65" charset="-120"/>
                </a:rPr>
                <a:t>陳哲基  副</a:t>
              </a:r>
              <a:r>
                <a:rPr lang="zh-CN" altLang="en-US" sz="2400" dirty="0" smtClean="0">
                  <a:solidFill>
                    <a:srgbClr val="428BCA"/>
                  </a:solidFill>
                  <a:latin typeface="Arial" panose="020B0604020202020204" pitchFamily="34" charset="0"/>
                  <a:ea typeface="標楷體" panose="03000509000000000000" pitchFamily="65" charset="-120"/>
                </a:rPr>
                <a:t>理</a:t>
              </a:r>
              <a:endPara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標楷體" panose="03000509000000000000" pitchFamily="65" charset="-120"/>
              </a:endParaRPr>
            </a:p>
            <a:p>
              <a:pPr algn="ctr"/>
              <a:r>
                <a:rPr lang="zh-CN" altLang="en-US" sz="2400" dirty="0" smtClean="0">
                  <a:solidFill>
                    <a:srgbClr val="428BCA"/>
                  </a:solidFill>
                  <a:latin typeface="Arial" panose="020B0604020202020204" pitchFamily="34" charset="0"/>
                  <a:ea typeface="標楷體" panose="03000509000000000000" pitchFamily="65" charset="-120"/>
                </a:rPr>
                <a:t>詹明福  課長</a:t>
              </a:r>
              <a:endParaRPr lang="en-US" altLang="zh-CN" sz="2400" dirty="0" smtClean="0">
                <a:solidFill>
                  <a:srgbClr val="428BCA"/>
                </a:solidFill>
                <a:latin typeface="Arial" panose="020B0604020202020204" pitchFamily="34" charset="0"/>
                <a:ea typeface="標楷體" panose="03000509000000000000" pitchFamily="65" charset="-120"/>
              </a:endParaRPr>
            </a:p>
          </p:txBody>
        </p:sp>
        <p:cxnSp>
          <p:nvCxnSpPr>
            <p:cNvPr id="20" name="直線單箭頭接點 19"/>
            <p:cNvCxnSpPr>
              <a:endCxn id="11" idx="1"/>
            </p:cNvCxnSpPr>
            <p:nvPr/>
          </p:nvCxnSpPr>
          <p:spPr>
            <a:xfrm>
              <a:off x="2771800" y="3933056"/>
              <a:ext cx="1296144" cy="1800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6948264" y="5233576"/>
              <a:ext cx="159530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產品 </a:t>
              </a:r>
              <a:r>
                <a:rPr lang="en-US" altLang="zh-CN" sz="20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/ </a:t>
              </a:r>
              <a:r>
                <a:rPr lang="zh-CN" altLang="en-US" sz="20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專案</a:t>
              </a:r>
              <a:endParaRPr lang="en-US" altLang="zh-CN" sz="2000" dirty="0" smtClean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r>
                <a:rPr lang="zh-CN" altLang="en-US" sz="20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設計變更</a:t>
              </a:r>
              <a:endPara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2" name="橢圓 31"/>
          <p:cNvSpPr/>
          <p:nvPr/>
        </p:nvSpPr>
        <p:spPr>
          <a:xfrm>
            <a:off x="6537206" y="1308279"/>
            <a:ext cx="432048" cy="44424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rPr>
              <a:t>8</a:t>
            </a:r>
            <a:endParaRPr lang="zh-TW" altLang="en-US" sz="2400" dirty="0"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34" charset="-128"/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6537206" y="2803332"/>
            <a:ext cx="432048" cy="44424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rPr>
              <a:t>7</a:t>
            </a:r>
            <a:endParaRPr lang="zh-TW" altLang="en-US" sz="2400" dirty="0"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34" charset="-128"/>
            </a:endParaRPr>
          </a:p>
        </p:txBody>
      </p:sp>
      <p:sp>
        <p:nvSpPr>
          <p:cNvPr id="34" name="橢圓 33"/>
          <p:cNvSpPr/>
          <p:nvPr/>
        </p:nvSpPr>
        <p:spPr>
          <a:xfrm>
            <a:off x="6537206" y="4352910"/>
            <a:ext cx="432048" cy="44424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rPr>
              <a:t>8</a:t>
            </a:r>
            <a:endParaRPr lang="zh-TW" altLang="en-US" sz="2400" dirty="0"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34" charset="-128"/>
            </a:endParaRPr>
          </a:p>
        </p:txBody>
      </p:sp>
      <p:sp>
        <p:nvSpPr>
          <p:cNvPr id="35" name="橢圓 34"/>
          <p:cNvSpPr/>
          <p:nvPr/>
        </p:nvSpPr>
        <p:spPr>
          <a:xfrm>
            <a:off x="6572904" y="5805264"/>
            <a:ext cx="432048" cy="44424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rPr>
              <a:t>6</a:t>
            </a:r>
            <a:endParaRPr lang="zh-TW" altLang="en-US" sz="2400" dirty="0"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34" charset="-128"/>
            </a:endParaRPr>
          </a:p>
        </p:txBody>
      </p:sp>
      <p:sp>
        <p:nvSpPr>
          <p:cNvPr id="26" name="圓角矩形 25"/>
          <p:cNvSpPr/>
          <p:nvPr/>
        </p:nvSpPr>
        <p:spPr>
          <a:xfrm>
            <a:off x="611560" y="521313"/>
            <a:ext cx="2304256" cy="1008112"/>
          </a:xfrm>
          <a:prstGeom prst="roundRect">
            <a:avLst/>
          </a:prstGeom>
          <a:solidFill>
            <a:schemeClr val="tx2">
              <a:lumMod val="9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</a:rPr>
              <a:t>FIH 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</a:rPr>
              <a:t>全球資訊科技總處</a:t>
            </a:r>
            <a:endParaRPr lang="en-US" altLang="zh-CN" sz="2400" dirty="0" smtClean="0"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cxnSp>
        <p:nvCxnSpPr>
          <p:cNvPr id="17" name="直線接點 16"/>
          <p:cNvCxnSpPr>
            <a:stCxn id="26" idx="2"/>
            <a:endCxn id="6" idx="0"/>
          </p:cNvCxnSpPr>
          <p:nvPr/>
        </p:nvCxnSpPr>
        <p:spPr>
          <a:xfrm>
            <a:off x="1763688" y="1529425"/>
            <a:ext cx="0" cy="8194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501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67F0-45D4-4D07-8880-5B58BFBEC0C5}" type="slidenum">
              <a:rPr lang="zh-CN" altLang="en-US" smtClean="0"/>
              <a:pPr/>
              <a:t>6</a:t>
            </a:fld>
            <a:endParaRPr lang="en-US" altLang="zh-CN" dirty="0">
              <a:solidFill>
                <a:srgbClr val="7F7F7F"/>
              </a:solidFill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1403648" y="1052736"/>
            <a:ext cx="1512168" cy="72008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工管</a:t>
            </a:r>
            <a:endParaRPr lang="zh-TW" altLang="en-US" sz="28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圓角矩形 5"/>
          <p:cNvSpPr/>
          <p:nvPr/>
        </p:nvSpPr>
        <p:spPr>
          <a:xfrm>
            <a:off x="1403648" y="2348880"/>
            <a:ext cx="1512168" cy="72008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latin typeface="SimHei" panose="02010609060101010101" pitchFamily="49" charset="-122"/>
                <a:ea typeface="SimHei" panose="02010609060101010101" pitchFamily="49" charset="-122"/>
              </a:rPr>
              <a:t>生管</a:t>
            </a:r>
            <a:endParaRPr lang="zh-TW" altLang="en-US" sz="28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1404539" y="3645024"/>
            <a:ext cx="1512168" cy="72008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latin typeface="SimHei" panose="02010609060101010101" pitchFamily="49" charset="-122"/>
                <a:ea typeface="SimHei" panose="02010609060101010101" pitchFamily="49" charset="-122"/>
              </a:rPr>
              <a:t>品管</a:t>
            </a:r>
            <a:endParaRPr lang="zh-TW" altLang="en-US" sz="28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1403648" y="4941168"/>
            <a:ext cx="1512168" cy="72008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latin typeface="SimHei" panose="02010609060101010101" pitchFamily="49" charset="-122"/>
                <a:ea typeface="SimHei" panose="02010609060101010101" pitchFamily="49" charset="-122"/>
              </a:rPr>
              <a:t>經管</a:t>
            </a:r>
            <a:endParaRPr lang="zh-TW" altLang="en-US" sz="28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275856" y="1181943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尺寸、規格、檢驗規範、操作規範</a:t>
            </a:r>
            <a:endParaRPr lang="en-US" altLang="zh-CN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285092" y="2478087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料號、數量、時間、地點、單價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275856" y="3774231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品質（品質檢查、品質保證）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297916" y="5070375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資源（取得、運用、分配）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18" name="群組 17"/>
          <p:cNvGrpSpPr/>
          <p:nvPr/>
        </p:nvGrpSpPr>
        <p:grpSpPr>
          <a:xfrm>
            <a:off x="3045888" y="1643608"/>
            <a:ext cx="1443253" cy="1757809"/>
            <a:chOff x="3045888" y="1643608"/>
            <a:chExt cx="1443253" cy="1757809"/>
          </a:xfrm>
        </p:grpSpPr>
        <p:cxnSp>
          <p:nvCxnSpPr>
            <p:cNvPr id="14" name="直線單箭頭接點 13"/>
            <p:cNvCxnSpPr/>
            <p:nvPr/>
          </p:nvCxnSpPr>
          <p:spPr>
            <a:xfrm>
              <a:off x="3059832" y="1643608"/>
              <a:ext cx="504056" cy="20121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字方塊 14"/>
            <p:cNvSpPr txBox="1"/>
            <p:nvPr/>
          </p:nvSpPr>
          <p:spPr>
            <a:xfrm>
              <a:off x="3565949" y="1650668"/>
              <a:ext cx="8771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>
                  <a:solidFill>
                    <a:srgbClr val="FFFF00"/>
                  </a:solidFill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rPr>
                <a:t>0 ~ 1</a:t>
              </a:r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3563888" y="2939752"/>
              <a:ext cx="9252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>
                  <a:solidFill>
                    <a:srgbClr val="FFFF00"/>
                  </a:solidFill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rPr>
                <a:t>1 ~ ∞</a:t>
              </a:r>
            </a:p>
          </p:txBody>
        </p:sp>
        <p:cxnSp>
          <p:nvCxnSpPr>
            <p:cNvPr id="17" name="直線單箭頭接點 16"/>
            <p:cNvCxnSpPr/>
            <p:nvPr/>
          </p:nvCxnSpPr>
          <p:spPr>
            <a:xfrm>
              <a:off x="3045888" y="2942913"/>
              <a:ext cx="504056" cy="20121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564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直線接點 31"/>
          <p:cNvCxnSpPr/>
          <p:nvPr/>
        </p:nvCxnSpPr>
        <p:spPr>
          <a:xfrm>
            <a:off x="827584" y="3242593"/>
            <a:ext cx="7992888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67F0-45D4-4D07-8880-5B58BFBEC0C5}" type="slidenum">
              <a:rPr lang="zh-CN" altLang="en-US" smtClean="0"/>
              <a:pPr/>
              <a:t>7</a:t>
            </a:fld>
            <a:endParaRPr lang="en-US" altLang="zh-CN" dirty="0">
              <a:solidFill>
                <a:srgbClr val="7F7F7F"/>
              </a:solidFill>
            </a:endParaRPr>
          </a:p>
        </p:txBody>
      </p:sp>
      <p:cxnSp>
        <p:nvCxnSpPr>
          <p:cNvPr id="6" name="直線單箭頭接點 5"/>
          <p:cNvCxnSpPr/>
          <p:nvPr/>
        </p:nvCxnSpPr>
        <p:spPr>
          <a:xfrm>
            <a:off x="2195736" y="610235"/>
            <a:ext cx="0" cy="58431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899595" y="1196752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Level 1</a:t>
            </a:r>
            <a:endParaRPr lang="zh-TW" altLang="en-US" sz="20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899595" y="2236802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Level 3</a:t>
            </a:r>
            <a:endParaRPr lang="zh-TW" altLang="en-US" sz="20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899594" y="3388930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Level 6</a:t>
            </a:r>
            <a:endParaRPr lang="zh-TW" altLang="en-US" sz="20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99593" y="3933056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Level 7</a:t>
            </a:r>
            <a:endParaRPr lang="zh-TW" altLang="en-US" sz="20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899592" y="4469050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Level 8</a:t>
            </a:r>
            <a:endParaRPr lang="zh-TW" altLang="en-US" sz="20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899595" y="5035822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Level 9</a:t>
            </a:r>
            <a:endParaRPr lang="zh-TW" altLang="en-US" sz="20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899595" y="5549170"/>
            <a:ext cx="1154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Level 10</a:t>
            </a:r>
            <a:endParaRPr lang="zh-TW" altLang="en-US" sz="20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2627784" y="2204864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機構（非電子件）組裝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627784" y="2780928"/>
            <a:ext cx="4339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電子件組裝（</a:t>
            </a:r>
            <a:r>
              <a:rPr lang="en-US" altLang="zh-CN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LCD/</a:t>
            </a:r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話筒</a:t>
            </a:r>
            <a:r>
              <a:rPr lang="en-US" altLang="zh-CN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耳機</a:t>
            </a:r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627784" y="1124744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塑件成型、金屬衝壓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627784" y="390227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主板測試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899595" y="1732746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Level 2</a:t>
            </a:r>
            <a:endParaRPr lang="zh-TW" altLang="en-US" sz="2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899595" y="2812866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Level 5</a:t>
            </a:r>
            <a:endParaRPr lang="zh-TW" altLang="en-US" sz="2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627784" y="54868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模具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899595" y="610235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Level 0</a:t>
            </a:r>
            <a:endParaRPr lang="zh-TW" altLang="en-US" sz="2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2627784" y="170080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表面處理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2627784" y="335411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SMT </a:t>
            </a:r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主板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2627784" y="4438271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整機（系統）組裝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627784" y="5005044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整機包裝（不含商業包裝和軟件）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627784" y="5504049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整機出貨（可直接銷售）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3" name="直線接點 32"/>
          <p:cNvCxnSpPr/>
          <p:nvPr/>
        </p:nvCxnSpPr>
        <p:spPr>
          <a:xfrm>
            <a:off x="827584" y="5965714"/>
            <a:ext cx="7992888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>
            <a:off x="7812360" y="275131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FFFF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LV</a:t>
            </a:r>
            <a:endParaRPr lang="zh-TW" altLang="en-US" sz="2800" dirty="0">
              <a:solidFill>
                <a:srgbClr val="FFFF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7812360" y="542606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FFFF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LX</a:t>
            </a:r>
            <a:endParaRPr lang="zh-TW" altLang="en-US" sz="2800" dirty="0">
              <a:solidFill>
                <a:srgbClr val="FFFF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7149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67F0-45D4-4D07-8880-5B58BFBEC0C5}" type="slidenum">
              <a:rPr lang="zh-CN" altLang="en-US" smtClean="0"/>
              <a:pPr/>
              <a:t>8</a:t>
            </a:fld>
            <a:endParaRPr lang="en-US" altLang="zh-CN" dirty="0">
              <a:solidFill>
                <a:srgbClr val="7F7F7F"/>
              </a:solidFill>
            </a:endParaRPr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3203848" y="2371723"/>
            <a:ext cx="3133288" cy="86409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 dirty="0">
                <a:ln w="12700">
                  <a:noFill/>
                  <a:prstDash val="solid"/>
                </a:ln>
                <a:solidFill>
                  <a:srgbClr val="6EC9EE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dirty="0" smtClean="0">
                <a:latin typeface="Arial" charset="0"/>
              </a:rPr>
              <a:t>工作績效</a:t>
            </a:r>
            <a:endParaRPr lang="zh-TW" altLang="en-US" dirty="0" smtClean="0">
              <a:latin typeface="Arial" charset="0"/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915816" y="3573016"/>
            <a:ext cx="29523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3489857" y="3327375"/>
            <a:ext cx="1874231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latin typeface="Century Gothic" panose="020B0502020202020204" pitchFamily="34" charset="0"/>
              </a:rPr>
              <a:t>Do my best</a:t>
            </a:r>
            <a:endParaRPr lang="zh-TW" altLang="en-US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39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67F0-45D4-4D07-8880-5B58BFBEC0C5}" type="slidenum">
              <a:rPr lang="zh-CN" altLang="en-US" smtClean="0"/>
              <a:pPr/>
              <a:t>9</a:t>
            </a:fld>
            <a:endParaRPr lang="en-US" altLang="zh-CN" dirty="0">
              <a:solidFill>
                <a:srgbClr val="7F7F7F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726350" y="300115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服務範圍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26351" y="180062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工作責任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2" name="群組 1"/>
          <p:cNvGrpSpPr/>
          <p:nvPr/>
        </p:nvGrpSpPr>
        <p:grpSpPr>
          <a:xfrm>
            <a:off x="2515712" y="1800625"/>
            <a:ext cx="4104456" cy="523220"/>
            <a:chOff x="2515712" y="1800625"/>
            <a:chExt cx="4104456" cy="523220"/>
          </a:xfrm>
        </p:grpSpPr>
        <p:cxnSp>
          <p:nvCxnSpPr>
            <p:cNvPr id="8" name="直線單箭頭接點 7"/>
            <p:cNvCxnSpPr/>
            <p:nvPr/>
          </p:nvCxnSpPr>
          <p:spPr>
            <a:xfrm>
              <a:off x="2515712" y="2062235"/>
              <a:ext cx="57606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字方塊 8"/>
            <p:cNvSpPr txBox="1"/>
            <p:nvPr/>
          </p:nvSpPr>
          <p:spPr>
            <a:xfrm>
              <a:off x="3203848" y="1800625"/>
              <a:ext cx="34163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自製</a:t>
              </a:r>
              <a:r>
                <a:rPr lang="zh-CN" altLang="en-US" sz="28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系統開發與維護</a:t>
              </a:r>
              <a:endPara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3" name="群組 2"/>
          <p:cNvGrpSpPr/>
          <p:nvPr/>
        </p:nvGrpSpPr>
        <p:grpSpPr>
          <a:xfrm>
            <a:off x="2494822" y="2982369"/>
            <a:ext cx="3766273" cy="523220"/>
            <a:chOff x="2494822" y="2982369"/>
            <a:chExt cx="3766273" cy="523220"/>
          </a:xfrm>
        </p:grpSpPr>
        <p:cxnSp>
          <p:nvCxnSpPr>
            <p:cNvPr id="10" name="直線單箭頭接點 9"/>
            <p:cNvCxnSpPr/>
            <p:nvPr/>
          </p:nvCxnSpPr>
          <p:spPr>
            <a:xfrm>
              <a:off x="2494822" y="3243979"/>
              <a:ext cx="57606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字方塊 10"/>
            <p:cNvSpPr txBox="1"/>
            <p:nvPr/>
          </p:nvSpPr>
          <p:spPr>
            <a:xfrm>
              <a:off x="3203848" y="2982369"/>
              <a:ext cx="305724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組織</a:t>
              </a:r>
              <a:r>
                <a:rPr lang="en-US" altLang="zh-CN" sz="28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: FIH</a:t>
              </a:r>
              <a:r>
                <a:rPr lang="zh-CN" altLang="en-US" sz="28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 </a:t>
              </a:r>
              <a:r>
                <a:rPr lang="zh-CN" altLang="en-US" sz="28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各單位</a:t>
              </a:r>
              <a:endPara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12" name="文字方塊 11"/>
          <p:cNvSpPr txBox="1"/>
          <p:nvPr/>
        </p:nvSpPr>
        <p:spPr>
          <a:xfrm>
            <a:off x="3203848" y="3644446"/>
            <a:ext cx="521168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廠區</a:t>
            </a:r>
            <a:r>
              <a:rPr lang="en-US" altLang="zh-CN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CN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廊坊、北京、龍華、南京</a:t>
            </a:r>
            <a:endParaRPr lang="en-US" altLang="zh-CN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CN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CN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</a:t>
            </a:r>
            <a:r>
              <a:rPr lang="zh-CN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CN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杭州、鄭州、觀</a:t>
            </a:r>
            <a:r>
              <a:rPr lang="zh-CN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瀾</a:t>
            </a:r>
            <a:endParaRPr lang="en-US" altLang="zh-CN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CN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  </a:t>
            </a:r>
            <a:r>
              <a:rPr lang="zh-CN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印度、巴西、墨西哥</a:t>
            </a:r>
            <a:r>
              <a:rPr lang="zh-CN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等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788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考核原則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118CA-02C7-4976-9B30-3B105AA744FC}" type="slidenum">
              <a:rPr lang="zh-CN" altLang="en-US" smtClean="0"/>
              <a:pPr/>
              <a:t>10</a:t>
            </a:fld>
            <a:endParaRPr lang="en-US" altLang="zh-CN"/>
          </a:p>
        </p:txBody>
      </p:sp>
      <p:sp>
        <p:nvSpPr>
          <p:cNvPr id="5" name="橢圓 4"/>
          <p:cNvSpPr/>
          <p:nvPr/>
        </p:nvSpPr>
        <p:spPr bwMode="auto">
          <a:xfrm>
            <a:off x="3131840" y="1628800"/>
            <a:ext cx="2592288" cy="158417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工作成</a:t>
            </a:r>
            <a:r>
              <a:rPr lang="zh-CN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績日常表現</a:t>
            </a:r>
            <a:endParaRPr kumimoji="0" lang="zh-TW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1043608" y="3409191"/>
            <a:ext cx="2592288" cy="2941693"/>
            <a:chOff x="1043608" y="3409191"/>
            <a:chExt cx="2592288" cy="2941693"/>
          </a:xfrm>
        </p:grpSpPr>
        <p:sp>
          <p:nvSpPr>
            <p:cNvPr id="6" name="橢圓 5"/>
            <p:cNvSpPr/>
            <p:nvPr/>
          </p:nvSpPr>
          <p:spPr bwMode="auto">
            <a:xfrm>
              <a:off x="1043608" y="4221088"/>
              <a:ext cx="2592288" cy="15841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32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自我比較</a:t>
              </a:r>
              <a:endParaRPr kumimoji="0" lang="zh-TW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9" name="向下箭號 8"/>
            <p:cNvSpPr/>
            <p:nvPr/>
          </p:nvSpPr>
          <p:spPr bwMode="auto">
            <a:xfrm rot="2122696">
              <a:off x="3142335" y="3409191"/>
              <a:ext cx="360040" cy="576064"/>
            </a:xfrm>
            <a:prstGeom prst="downArrow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1593041" y="5889219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學習成長</a:t>
              </a:r>
              <a:endParaRPr lang="zh-TW" alt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5364088" y="3408612"/>
            <a:ext cx="2592288" cy="2942272"/>
            <a:chOff x="5364088" y="3408612"/>
            <a:chExt cx="2592288" cy="2942272"/>
          </a:xfrm>
        </p:grpSpPr>
        <p:sp>
          <p:nvSpPr>
            <p:cNvPr id="7" name="橢圓 6"/>
            <p:cNvSpPr/>
            <p:nvPr/>
          </p:nvSpPr>
          <p:spPr bwMode="auto">
            <a:xfrm>
              <a:off x="5364088" y="4221088"/>
              <a:ext cx="2592288" cy="15841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3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同級</a:t>
              </a:r>
              <a:r>
                <a:rPr lang="zh-CN" altLang="en-US" sz="32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別</a:t>
              </a:r>
              <a:endParaRPr lang="en-US" altLang="zh-CN" sz="3200" dirty="0" smtClean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32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比較</a:t>
              </a:r>
              <a:endParaRPr kumimoji="0" lang="zh-TW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8" name="向下箭號 7"/>
            <p:cNvSpPr/>
            <p:nvPr/>
          </p:nvSpPr>
          <p:spPr bwMode="auto">
            <a:xfrm rot="19653826">
              <a:off x="5490492" y="3408612"/>
              <a:ext cx="360040" cy="576064"/>
            </a:xfrm>
            <a:prstGeom prst="downArrow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5940152" y="5889219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公平競爭</a:t>
              </a:r>
              <a:endParaRPr lang="zh-TW" alt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12" name="文字方塊 11"/>
          <p:cNvSpPr txBox="1"/>
          <p:nvPr/>
        </p:nvSpPr>
        <p:spPr>
          <a:xfrm>
            <a:off x="5952346" y="219005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績效為主</a:t>
            </a:r>
            <a:endParaRPr lang="zh-TW" altLang="en-US" sz="2400" dirty="0">
              <a:solidFill>
                <a:schemeClr val="accent1">
                  <a:lumMod val="60000"/>
                  <a:lumOff val="4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47798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主觀依據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67F0-45D4-4D07-8880-5B58BFBEC0C5}" type="slidenum">
              <a:rPr lang="zh-CN" altLang="en-US" smtClean="0"/>
              <a:pPr/>
              <a:t>11</a:t>
            </a:fld>
            <a:endParaRPr lang="en-US" altLang="zh-CN" dirty="0">
              <a:solidFill>
                <a:srgbClr val="7F7F7F"/>
              </a:solidFill>
            </a:endParaRPr>
          </a:p>
        </p:txBody>
      </p:sp>
      <p:sp>
        <p:nvSpPr>
          <p:cNvPr id="5" name="圓角矩形 4"/>
          <p:cNvSpPr/>
          <p:nvPr/>
        </p:nvSpPr>
        <p:spPr bwMode="auto">
          <a:xfrm>
            <a:off x="467544" y="1911438"/>
            <a:ext cx="1224136" cy="720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速度</a:t>
            </a:r>
            <a:endParaRPr kumimoji="0" lang="zh-TW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圓角矩形 5"/>
          <p:cNvSpPr/>
          <p:nvPr/>
        </p:nvSpPr>
        <p:spPr bwMode="auto">
          <a:xfrm>
            <a:off x="467544" y="2991558"/>
            <a:ext cx="1224136" cy="720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品質</a:t>
            </a:r>
            <a:endParaRPr kumimoji="0" lang="zh-TW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圓角矩形 6"/>
          <p:cNvSpPr/>
          <p:nvPr/>
        </p:nvSpPr>
        <p:spPr bwMode="auto">
          <a:xfrm>
            <a:off x="467544" y="4071678"/>
            <a:ext cx="1224136" cy="720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技能</a:t>
            </a:r>
            <a:endParaRPr kumimoji="0" lang="zh-TW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圓角矩形 7"/>
          <p:cNvSpPr/>
          <p:nvPr/>
        </p:nvSpPr>
        <p:spPr bwMode="auto">
          <a:xfrm>
            <a:off x="467544" y="5157192"/>
            <a:ext cx="1224136" cy="720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服務</a:t>
            </a:r>
            <a:endParaRPr kumimoji="0" lang="zh-TW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圓角矩形 8"/>
          <p:cNvSpPr/>
          <p:nvPr/>
        </p:nvSpPr>
        <p:spPr bwMode="auto">
          <a:xfrm>
            <a:off x="7308304" y="1927865"/>
            <a:ext cx="1224136" cy="720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</a:t>
            </a:r>
            <a:endParaRPr kumimoji="0" lang="zh-TW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圓角矩形 9"/>
          <p:cNvSpPr/>
          <p:nvPr/>
        </p:nvSpPr>
        <p:spPr bwMode="auto">
          <a:xfrm>
            <a:off x="7308304" y="3007985"/>
            <a:ext cx="1224136" cy="720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責任</a:t>
            </a:r>
            <a:endParaRPr kumimoji="0" lang="zh-TW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圓角矩形 10"/>
          <p:cNvSpPr/>
          <p:nvPr/>
        </p:nvSpPr>
        <p:spPr bwMode="auto">
          <a:xfrm>
            <a:off x="7308304" y="4088105"/>
            <a:ext cx="1224136" cy="720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合作</a:t>
            </a:r>
            <a:endParaRPr kumimoji="0" lang="zh-TW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圓角矩形 11"/>
          <p:cNvSpPr/>
          <p:nvPr/>
        </p:nvSpPr>
        <p:spPr bwMode="auto">
          <a:xfrm>
            <a:off x="7308304" y="5173619"/>
            <a:ext cx="1224136" cy="720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創新</a:t>
            </a:r>
            <a:endParaRPr kumimoji="0" lang="zh-TW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笑臉 12"/>
          <p:cNvSpPr/>
          <p:nvPr/>
        </p:nvSpPr>
        <p:spPr bwMode="auto">
          <a:xfrm>
            <a:off x="3779912" y="3068960"/>
            <a:ext cx="1512168" cy="1584176"/>
          </a:xfrm>
          <a:prstGeom prst="smileyFac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4" name="直線單箭頭接點 13"/>
          <p:cNvCxnSpPr/>
          <p:nvPr/>
        </p:nvCxnSpPr>
        <p:spPr bwMode="auto">
          <a:xfrm flipV="1">
            <a:off x="5436096" y="2332330"/>
            <a:ext cx="1656184" cy="80864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 bwMode="auto">
          <a:xfrm flipV="1">
            <a:off x="5580112" y="3356992"/>
            <a:ext cx="1512168" cy="26322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 bwMode="auto">
          <a:xfrm>
            <a:off x="5580112" y="4128301"/>
            <a:ext cx="1512168" cy="247836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 bwMode="auto">
          <a:xfrm>
            <a:off x="5436096" y="4653136"/>
            <a:ext cx="1656184" cy="880523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 bwMode="auto">
          <a:xfrm flipH="1" flipV="1">
            <a:off x="1907704" y="2204864"/>
            <a:ext cx="1656184" cy="864096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 bwMode="auto">
          <a:xfrm flipH="1" flipV="1">
            <a:off x="1907704" y="3284984"/>
            <a:ext cx="1549335" cy="236643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 bwMode="auto">
          <a:xfrm flipH="1">
            <a:off x="1907704" y="4056747"/>
            <a:ext cx="1584176" cy="37497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 bwMode="auto">
          <a:xfrm flipH="1">
            <a:off x="1907704" y="4562817"/>
            <a:ext cx="1656184" cy="95441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2051720" y="4974267"/>
            <a:ext cx="23391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服務滿意度、</a:t>
            </a:r>
            <a:endParaRPr lang="en-US" altLang="zh-CN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客訴、用戶評價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2004100" y="3894147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開</a:t>
            </a:r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發技術</a:t>
            </a:r>
            <a:endParaRPr lang="en-US" altLang="zh-CN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解決</a:t>
            </a:r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問題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1979712" y="2996952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工作品質</a:t>
            </a:r>
            <a:endParaRPr lang="en-US" altLang="zh-CN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返工</a:t>
            </a:r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率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1979712" y="1916832"/>
            <a:ext cx="29546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相應問題、處理問題</a:t>
            </a:r>
            <a:endParaRPr lang="en-US" altLang="zh-CN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程序</a:t>
            </a:r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開</a:t>
            </a:r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發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5532492" y="1916832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紀律規章</a:t>
            </a:r>
            <a:endParaRPr lang="en-US" altLang="zh-CN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安全保密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5508104" y="2958043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工作態度</a:t>
            </a:r>
            <a:endParaRPr lang="en-US" altLang="zh-CN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做好該做的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508104" y="3966155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團隊領導</a:t>
            </a:r>
            <a:endParaRPr lang="en-US" altLang="zh-CN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培</a:t>
            </a:r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訓與教導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5508104" y="4974267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改善創新</a:t>
            </a:r>
            <a:endParaRPr lang="en-US" altLang="zh-CN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自我</a:t>
            </a:r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學習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371726" y="614949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壓力來源</a:t>
            </a:r>
            <a:endParaRPr lang="zh-TW" altLang="en-US" sz="2400" dirty="0">
              <a:solidFill>
                <a:srgbClr val="FFFF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352436" y="609207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價值觀</a:t>
            </a:r>
            <a:endParaRPr lang="zh-TW" altLang="en-US" sz="2400" dirty="0">
              <a:solidFill>
                <a:srgbClr val="FFFF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2884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客觀量化指標與 </a:t>
            </a:r>
            <a:r>
              <a:rPr lang="en-US" altLang="zh-CN" dirty="0" smtClean="0"/>
              <a:t>KPI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67F0-45D4-4D07-8880-5B58BFBEC0C5}" type="slidenum">
              <a:rPr lang="zh-CN" altLang="en-US" smtClean="0"/>
              <a:pPr/>
              <a:t>12</a:t>
            </a:fld>
            <a:endParaRPr lang="en-US" altLang="zh-CN" dirty="0">
              <a:solidFill>
                <a:srgbClr val="7F7F7F"/>
              </a:solidFill>
            </a:endParaRPr>
          </a:p>
        </p:txBody>
      </p:sp>
      <p:graphicFrame>
        <p:nvGraphicFramePr>
          <p:cNvPr id="5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9114564"/>
              </p:ext>
            </p:extLst>
          </p:nvPr>
        </p:nvGraphicFramePr>
        <p:xfrm>
          <a:off x="539553" y="1340768"/>
          <a:ext cx="8064895" cy="51177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4553"/>
                <a:gridCol w="2034553"/>
                <a:gridCol w="945508"/>
                <a:gridCol w="3050281"/>
              </a:tblGrid>
              <a:tr h="348645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000" u="none" strike="noStrike" baseline="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主要工作項目</a:t>
                      </a:r>
                      <a:endParaRPr lang="zh-TW" altLang="en-US" sz="2000" b="0" i="0" u="none" strike="noStrike" baseline="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baseline="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KPI</a:t>
                      </a:r>
                      <a:endParaRPr lang="en-US" sz="2000" b="0" i="0" u="none" strike="noStrike" baseline="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000" u="none" strike="noStrike" baseline="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目標</a:t>
                      </a:r>
                      <a:endParaRPr lang="zh-TW" altLang="en-US" sz="2000" b="0" i="0" u="none" strike="noStrike" baseline="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000" u="none" strike="noStrike" baseline="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相關數據</a:t>
                      </a:r>
                      <a:endParaRPr lang="zh-TW" altLang="en-US" sz="2000" b="0" i="0" u="none" strike="noStrike" baseline="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348645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專案開發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專案達交率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&gt;=80%</a:t>
                      </a:r>
                      <a:endParaRPr lang="en-US" altLang="zh-TW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專案開發完成狀況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552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TW" alt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系統維護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TW" alt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及時完工率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zh-TW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&gt;=90%</a:t>
                      </a:r>
                      <a:endParaRPr lang="en-US" altLang="zh-TW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PCR</a:t>
                      </a:r>
                      <a:r>
                        <a:rPr lang="zh-TW" alt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明細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552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493" marR="9493" marT="9493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493" marR="9493" marT="9493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493" marR="9493" marT="949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PCR</a:t>
                      </a:r>
                      <a:r>
                        <a:rPr lang="zh-TW" alt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統計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645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493" marR="9493" marT="9493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493" marR="9493" marT="9493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493" marR="9493" marT="949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106</a:t>
                      </a:r>
                      <a:r>
                        <a:rPr lang="zh-TW" alt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總服務報表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544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493" marR="9493" marT="9493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493" marR="9493" marT="9493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493" marR="9493" marT="949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106</a:t>
                      </a:r>
                      <a:r>
                        <a:rPr lang="zh-TW" alt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工程師接單排行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544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493" marR="9493" marT="9493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493" marR="9493" marT="9493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493" marR="9493" marT="949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106</a:t>
                      </a:r>
                      <a:r>
                        <a:rPr lang="zh-TW" alt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服務目錄統計報表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552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改善創新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著作權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&gt;=15</a:t>
                      </a:r>
                      <a:r>
                        <a:rPr lang="zh-TW" alt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件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著作權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64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教育訓練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授課達成率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TW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&gt;=100%</a:t>
                      </a:r>
                      <a:endParaRPr lang="en-US" altLang="zh-TW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教育訓練明細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645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493" marR="9493" marT="9493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493" marR="9493" marT="9493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493" marR="9493" marT="949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教育訓練統計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645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TW" alt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客戶服務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TW" alt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客戶滿意度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TW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&gt;=95%</a:t>
                      </a:r>
                      <a:endParaRPr lang="en-US" altLang="zh-TW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106</a:t>
                      </a:r>
                      <a:r>
                        <a:rPr lang="zh-TW" alt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滿意度報表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645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493" marR="9493" marT="9493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493" marR="9493" marT="9493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493" marR="9493" marT="949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106</a:t>
                      </a:r>
                      <a:r>
                        <a:rPr lang="zh-TW" alt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滿意度排行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645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493" marR="9493" marT="9493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493" marR="9493" marT="9493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493" marR="9493" marT="949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106</a:t>
                      </a:r>
                      <a:r>
                        <a:rPr lang="zh-TW" alt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不滿意度排行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645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493" marR="9493" marT="9493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493" marR="9493" marT="9493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493" marR="9493" marT="949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20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數據維護申請單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493" marR="9493" marT="9493" marB="0" anchor="ctr">
                    <a:lnL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3551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67F0-45D4-4D07-8880-5B58BFBEC0C5}" type="slidenum">
              <a:rPr lang="zh-CN" altLang="en-US" smtClean="0"/>
              <a:pPr/>
              <a:t>13</a:t>
            </a:fld>
            <a:endParaRPr lang="en-US" altLang="zh-CN" dirty="0">
              <a:solidFill>
                <a:srgbClr val="7F7F7F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60203"/>
              </p:ext>
            </p:extLst>
          </p:nvPr>
        </p:nvGraphicFramePr>
        <p:xfrm>
          <a:off x="251520" y="1412776"/>
          <a:ext cx="8640960" cy="4896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120"/>
                <a:gridCol w="1440160"/>
                <a:gridCol w="1512168"/>
                <a:gridCol w="1584176"/>
                <a:gridCol w="1584176"/>
                <a:gridCol w="1440160"/>
              </a:tblGrid>
              <a:tr h="864096">
                <a:tc>
                  <a:txBody>
                    <a:bodyPr/>
                    <a:lstStyle/>
                    <a:p>
                      <a:pPr algn="ctr" fontAlgn="ctr"/>
                      <a:r>
                        <a:rPr lang="zh-TW" sz="2400" u="none" strike="noStrike" baseline="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考績</a:t>
                      </a:r>
                      <a:endParaRPr lang="zh-TW" sz="2400" b="0" i="0" u="none" strike="noStrike" baseline="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baseline="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A+</a:t>
                      </a:r>
                      <a:endParaRPr lang="zh-TW" sz="2400" b="0" i="0" u="none" strike="noStrike" baseline="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solidFill>
                      <a:srgbClr val="1896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baseline="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A</a:t>
                      </a:r>
                      <a:endParaRPr lang="zh-TW" sz="2400" b="0" i="0" u="none" strike="noStrike" baseline="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solidFill>
                      <a:srgbClr val="1896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baseline="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B</a:t>
                      </a:r>
                      <a:endParaRPr lang="zh-TW" sz="2400" b="0" i="0" u="none" strike="noStrike" baseline="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solidFill>
                      <a:srgbClr val="1896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baseline="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C</a:t>
                      </a:r>
                      <a:endParaRPr lang="zh-TW" sz="2400" b="0" i="0" u="none" strike="noStrike" baseline="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solidFill>
                      <a:srgbClr val="1896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baseline="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D</a:t>
                      </a:r>
                      <a:endParaRPr lang="zh-TW" sz="2400" b="0" i="0" u="none" strike="noStrike" baseline="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solidFill>
                      <a:srgbClr val="1896C6"/>
                    </a:solidFill>
                  </a:tcPr>
                </a:tc>
              </a:tr>
              <a:tr h="1224136">
                <a:tc>
                  <a:txBody>
                    <a:bodyPr/>
                    <a:lstStyle/>
                    <a:p>
                      <a:pPr algn="ctr" fontAlgn="ctr"/>
                      <a:r>
                        <a:rPr lang="zh-TW" sz="240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績效</a:t>
                      </a:r>
                      <a:endParaRPr lang="en-US" altLang="zh-TW" sz="2400" u="none" strike="noStrike" baseline="0" dirty="0" smtClean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  <a:p>
                      <a:pPr algn="ctr" fontAlgn="ctr"/>
                      <a:r>
                        <a:rPr lang="zh-TW" sz="240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表徵</a:t>
                      </a:r>
                      <a:endParaRPr lang="zh-TW" sz="2400" b="0" i="0" u="none" strike="noStrike" baseline="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sz="24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非常卓越</a:t>
                      </a:r>
                      <a:endParaRPr lang="zh-TW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solidFill>
                      <a:srgbClr val="8BF6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sz="24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表現突出</a:t>
                      </a:r>
                      <a:endParaRPr lang="zh-TW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sz="24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符合要求,尚需提升</a:t>
                      </a:r>
                      <a:endParaRPr lang="zh-TW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sz="24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部分達標,須局部改善</a:t>
                      </a:r>
                      <a:endParaRPr lang="zh-TW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sz="24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未達要求必須改善</a:t>
                      </a:r>
                      <a:endParaRPr lang="zh-TW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368152">
                <a:tc>
                  <a:txBody>
                    <a:bodyPr/>
                    <a:lstStyle/>
                    <a:p>
                      <a:pPr algn="ctr" fontAlgn="ctr"/>
                      <a:r>
                        <a:rPr lang="zh-TW" sz="2400" u="none" strike="noStrike" baseline="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資職位晉升</a:t>
                      </a:r>
                      <a:endParaRPr lang="zh-TW" sz="2400" b="0" i="0" u="none" strike="noStrike" baseline="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sz="24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按</a:t>
                      </a:r>
                      <a:r>
                        <a:rPr lang="zh-TW" sz="2400" u="none" strike="noStrike" baseline="0" dirty="0" smtClean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條件</a:t>
                      </a:r>
                      <a:endParaRPr lang="en-US" altLang="zh-TW" sz="2400" u="none" strike="noStrike" baseline="0" dirty="0" smtClean="0"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  <a:p>
                      <a:pPr algn="l" fontAlgn="ctr"/>
                      <a:r>
                        <a:rPr lang="zh-TW" sz="2400" u="none" strike="noStrike" baseline="0" dirty="0" smtClean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優先</a:t>
                      </a:r>
                      <a:r>
                        <a:rPr lang="zh-TW" sz="24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晉升</a:t>
                      </a:r>
                      <a:endParaRPr lang="zh-TW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solidFill>
                      <a:srgbClr val="8BF6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sz="24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按</a:t>
                      </a:r>
                      <a:r>
                        <a:rPr lang="zh-TW" sz="2400" u="none" strike="noStrike" baseline="0" dirty="0" smtClean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條件</a:t>
                      </a:r>
                      <a:endParaRPr lang="en-US" altLang="zh-TW" sz="2400" u="none" strike="noStrike" baseline="0" dirty="0" smtClean="0"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  <a:p>
                      <a:pPr algn="l" fontAlgn="ctr"/>
                      <a:r>
                        <a:rPr lang="zh-TW" sz="2400" u="none" strike="noStrike" baseline="0" dirty="0" smtClean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可</a:t>
                      </a:r>
                      <a:r>
                        <a:rPr lang="zh-TW" sz="24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晉升</a:t>
                      </a:r>
                      <a:endParaRPr lang="zh-TW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sz="24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晉升</a:t>
                      </a:r>
                      <a:r>
                        <a:rPr lang="zh-TW" sz="2400" u="none" strike="noStrike" baseline="0" dirty="0" smtClean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時</a:t>
                      </a:r>
                      <a:endParaRPr lang="en-US" altLang="zh-TW" sz="2400" u="none" strike="noStrike" baseline="0" dirty="0" smtClean="0"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  <a:p>
                      <a:pPr algn="l" fontAlgn="ctr"/>
                      <a:r>
                        <a:rPr lang="zh-TW" sz="2400" u="none" strike="noStrike" baseline="0" dirty="0" smtClean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審慎</a:t>
                      </a:r>
                      <a:r>
                        <a:rPr lang="zh-TW" sz="24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作業</a:t>
                      </a:r>
                      <a:endParaRPr lang="zh-TW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sz="2400" u="none" strike="noStrike" baseline="0" dirty="0" smtClean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原則</a:t>
                      </a:r>
                      <a:endParaRPr lang="en-US" altLang="zh-TW" sz="2400" u="none" strike="noStrike" baseline="0" dirty="0" smtClean="0"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  <a:p>
                      <a:pPr algn="l" fontAlgn="ctr"/>
                      <a:r>
                        <a:rPr lang="zh-TW" sz="2400" u="none" strike="noStrike" baseline="0" dirty="0" smtClean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不可</a:t>
                      </a:r>
                      <a:r>
                        <a:rPr lang="zh-TW" sz="24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晉升</a:t>
                      </a:r>
                      <a:endParaRPr lang="zh-TW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sz="24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留用察看/降級使用</a:t>
                      </a:r>
                      <a:endParaRPr lang="zh-TW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40160">
                <a:tc>
                  <a:txBody>
                    <a:bodyPr/>
                    <a:lstStyle/>
                    <a:p>
                      <a:pPr algn="ctr" fontAlgn="ctr"/>
                      <a:r>
                        <a:rPr lang="zh-TW" sz="240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薪資</a:t>
                      </a:r>
                      <a:endParaRPr lang="en-US" altLang="zh-TW" sz="2400" u="none" strike="noStrike" baseline="0" dirty="0" smtClean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  <a:p>
                      <a:pPr algn="ctr" fontAlgn="ctr"/>
                      <a:r>
                        <a:rPr lang="zh-TW" sz="240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福利</a:t>
                      </a:r>
                      <a:endParaRPr lang="zh-TW" sz="2400" b="0" i="0" u="none" strike="noStrike" baseline="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zh-TW" sz="24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同等條件下優先考慮</a:t>
                      </a:r>
                      <a:endParaRPr lang="zh-TW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solidFill>
                      <a:srgbClr val="99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sz="24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同等條件下可予考慮</a:t>
                      </a:r>
                      <a:endParaRPr lang="zh-TW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sz="2400" u="none" strike="noStrike" baseline="0" dirty="0" smtClean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原則</a:t>
                      </a:r>
                      <a:endParaRPr lang="en-US" altLang="zh-TW" sz="2400" u="none" strike="noStrike" baseline="0" dirty="0" smtClean="0"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  <a:p>
                      <a:pPr algn="l" fontAlgn="ctr"/>
                      <a:r>
                        <a:rPr lang="zh-TW" sz="2400" u="none" strike="noStrike" baseline="0" dirty="0" smtClean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不予</a:t>
                      </a:r>
                      <a:r>
                        <a:rPr lang="zh-TW" sz="24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考慮</a:t>
                      </a:r>
                      <a:endParaRPr lang="zh-TW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sz="2400" u="none" strike="noStrike" baseline="0" dirty="0">
                          <a:effectLst/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不予考慮</a:t>
                      </a:r>
                      <a:endParaRPr lang="zh-TW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467544" y="427311"/>
            <a:ext cx="46987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rgbClr val="6EC9EE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績效結果</a:t>
            </a:r>
            <a:r>
              <a:rPr lang="zh-CN" altLang="en-US" sz="4400" dirty="0" smtClean="0">
                <a:solidFill>
                  <a:srgbClr val="6EC9EE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及其運用</a:t>
            </a:r>
            <a:endParaRPr lang="zh-TW" altLang="en-US" sz="4400" dirty="0">
              <a:solidFill>
                <a:srgbClr val="6EC9EE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4082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118CA-02C7-4976-9B30-3B105AA744FC}" type="slidenum">
              <a:rPr lang="zh-CN" altLang="en-US" smtClean="0"/>
              <a:pPr/>
              <a:t>14</a:t>
            </a:fld>
            <a:endParaRPr lang="en-US" altLang="zh-CN"/>
          </a:p>
        </p:txBody>
      </p:sp>
      <p:cxnSp>
        <p:nvCxnSpPr>
          <p:cNvPr id="18" name="直線單箭頭接點 17"/>
          <p:cNvCxnSpPr/>
          <p:nvPr/>
        </p:nvCxnSpPr>
        <p:spPr>
          <a:xfrm flipV="1">
            <a:off x="869078" y="431199"/>
            <a:ext cx="5544616" cy="3960440"/>
          </a:xfrm>
          <a:prstGeom prst="straightConnector1">
            <a:avLst/>
          </a:prstGeom>
          <a:ln>
            <a:solidFill>
              <a:schemeClr val="bg2">
                <a:lumMod val="25000"/>
                <a:lumOff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1399878" y="2715282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低</a:t>
            </a:r>
            <a:endParaRPr lang="zh-TW" altLang="en-US" sz="3200" dirty="0">
              <a:solidFill>
                <a:srgbClr val="FFC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711683" y="406957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高</a:t>
            </a:r>
            <a:endParaRPr lang="zh-TW" altLang="en-US" sz="3200" dirty="0">
              <a:solidFill>
                <a:srgbClr val="FFC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2525262" y="1330286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資位</a:t>
            </a:r>
            <a:endParaRPr lang="zh-TW" altLang="en-US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55" name="群組 54"/>
          <p:cNvGrpSpPr/>
          <p:nvPr/>
        </p:nvGrpSpPr>
        <p:grpSpPr>
          <a:xfrm>
            <a:off x="-7937" y="9592"/>
            <a:ext cx="9184888" cy="6002171"/>
            <a:chOff x="-7937" y="423671"/>
            <a:chExt cx="9184888" cy="6002171"/>
          </a:xfrm>
        </p:grpSpPr>
        <p:sp>
          <p:nvSpPr>
            <p:cNvPr id="3" name="文字方塊 2"/>
            <p:cNvSpPr txBox="1"/>
            <p:nvPr/>
          </p:nvSpPr>
          <p:spPr>
            <a:xfrm>
              <a:off x="-7937" y="6025732"/>
              <a:ext cx="583814" cy="40011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員</a:t>
              </a:r>
              <a:r>
                <a:rPr lang="en-US" altLang="zh-CN" sz="2000" dirty="0">
                  <a:latin typeface="Century Gothic" panose="020B0502020202020204" pitchFamily="34" charset="0"/>
                  <a:ea typeface="標楷體" panose="03000509000000000000" pitchFamily="65" charset="-120"/>
                </a:rPr>
                <a:t>1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4" name="文字方塊 3"/>
            <p:cNvSpPr txBox="1"/>
            <p:nvPr/>
          </p:nvSpPr>
          <p:spPr>
            <a:xfrm>
              <a:off x="575877" y="5625622"/>
              <a:ext cx="583814" cy="40011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員</a:t>
              </a:r>
              <a:r>
                <a:rPr lang="en-US" altLang="zh-CN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2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5" name="文字方塊 4"/>
            <p:cNvSpPr txBox="1"/>
            <p:nvPr/>
          </p:nvSpPr>
          <p:spPr>
            <a:xfrm>
              <a:off x="1159691" y="5225512"/>
              <a:ext cx="583814" cy="40011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員</a:t>
              </a:r>
              <a:r>
                <a:rPr lang="en-US" altLang="zh-CN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3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1743505" y="4825402"/>
              <a:ext cx="583814" cy="40011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師</a:t>
              </a:r>
              <a:r>
                <a:rPr lang="en-US" altLang="zh-CN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1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2327319" y="4424771"/>
              <a:ext cx="583814" cy="40011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師</a:t>
              </a:r>
              <a:r>
                <a:rPr lang="en-US" altLang="zh-CN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2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2911133" y="4024661"/>
              <a:ext cx="583814" cy="40011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師</a:t>
              </a:r>
              <a:r>
                <a:rPr lang="en-US" altLang="zh-CN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3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3494947" y="3624551"/>
              <a:ext cx="583814" cy="40011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師</a:t>
              </a:r>
              <a:r>
                <a:rPr lang="en-US" altLang="zh-CN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4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4078438" y="3224441"/>
              <a:ext cx="583814" cy="40011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師</a:t>
              </a:r>
              <a:r>
                <a:rPr lang="en-US" altLang="zh-CN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5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4662252" y="2824331"/>
              <a:ext cx="583814" cy="40011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師</a:t>
              </a:r>
              <a:r>
                <a:rPr lang="en-US" altLang="zh-CN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6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5246066" y="2424221"/>
              <a:ext cx="583814" cy="40011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師</a:t>
              </a:r>
              <a:r>
                <a:rPr lang="en-US" altLang="zh-CN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7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5829880" y="2024111"/>
              <a:ext cx="583814" cy="40011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師</a:t>
              </a:r>
              <a:r>
                <a:rPr lang="en-US" altLang="zh-CN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8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6413694" y="1624001"/>
              <a:ext cx="583814" cy="40011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師</a:t>
              </a:r>
              <a:r>
                <a:rPr lang="en-US" altLang="zh-CN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9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6997508" y="1223891"/>
              <a:ext cx="726481" cy="40011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師</a:t>
              </a:r>
              <a:r>
                <a:rPr lang="en-US" altLang="zh-CN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10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7723989" y="823781"/>
              <a:ext cx="726481" cy="40011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師</a:t>
              </a:r>
              <a:r>
                <a:rPr lang="en-US" altLang="zh-CN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11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32" name="文字方塊 31"/>
            <p:cNvSpPr txBox="1"/>
            <p:nvPr/>
          </p:nvSpPr>
          <p:spPr>
            <a:xfrm>
              <a:off x="8450470" y="423671"/>
              <a:ext cx="726481" cy="40011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師</a:t>
              </a:r>
              <a:r>
                <a:rPr lang="en-US" altLang="zh-CN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12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1155673" y="1621710"/>
            <a:ext cx="8017260" cy="4903634"/>
            <a:chOff x="1159691" y="1941368"/>
            <a:chExt cx="8017260" cy="4903634"/>
          </a:xfrm>
        </p:grpSpPr>
        <p:sp>
          <p:nvSpPr>
            <p:cNvPr id="22" name="文字方塊 21"/>
            <p:cNvSpPr txBox="1"/>
            <p:nvPr/>
          </p:nvSpPr>
          <p:spPr>
            <a:xfrm>
              <a:off x="1159691" y="6444892"/>
              <a:ext cx="718629" cy="400110"/>
            </a:xfrm>
            <a:prstGeom prst="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線長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1743505" y="6034329"/>
              <a:ext cx="1167628" cy="400110"/>
            </a:xfrm>
            <a:prstGeom prst="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副組長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2911133" y="5623879"/>
              <a:ext cx="842326" cy="400110"/>
            </a:xfrm>
            <a:prstGeom prst="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組長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3527448" y="5214244"/>
              <a:ext cx="1101979" cy="400110"/>
            </a:xfrm>
            <a:prstGeom prst="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副課長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4078761" y="4806120"/>
              <a:ext cx="799569" cy="400110"/>
            </a:xfrm>
            <a:prstGeom prst="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課長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4662252" y="4399454"/>
              <a:ext cx="799569" cy="400110"/>
            </a:xfrm>
            <a:prstGeom prst="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專理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5257287" y="3996086"/>
              <a:ext cx="1250992" cy="400110"/>
            </a:xfrm>
            <a:prstGeom prst="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資深專理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5829880" y="3586451"/>
              <a:ext cx="799569" cy="400110"/>
            </a:xfrm>
            <a:prstGeom prst="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副理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6413694" y="3173906"/>
              <a:ext cx="1310295" cy="400110"/>
            </a:xfrm>
            <a:prstGeom prst="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資深副理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6997508" y="2763896"/>
              <a:ext cx="799569" cy="400110"/>
            </a:xfrm>
            <a:prstGeom prst="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經理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7723989" y="2354261"/>
              <a:ext cx="1304570" cy="400110"/>
            </a:xfrm>
            <a:prstGeom prst="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資深經理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8450470" y="1941368"/>
              <a:ext cx="726481" cy="400110"/>
            </a:xfrm>
            <a:prstGeom prst="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處長</a:t>
              </a:r>
              <a:endParaRPr lang="zh-TW" altLang="en-US" sz="20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</p:grpSp>
      <p:grpSp>
        <p:nvGrpSpPr>
          <p:cNvPr id="74" name="群組 73"/>
          <p:cNvGrpSpPr/>
          <p:nvPr/>
        </p:nvGrpSpPr>
        <p:grpSpPr>
          <a:xfrm>
            <a:off x="4110588" y="3140968"/>
            <a:ext cx="4374594" cy="3183113"/>
            <a:chOff x="4110588" y="3140968"/>
            <a:chExt cx="4374594" cy="3183113"/>
          </a:xfrm>
        </p:grpSpPr>
        <p:cxnSp>
          <p:nvCxnSpPr>
            <p:cNvPr id="36" name="直線單箭頭接點 35"/>
            <p:cNvCxnSpPr/>
            <p:nvPr/>
          </p:nvCxnSpPr>
          <p:spPr>
            <a:xfrm flipV="1">
              <a:off x="4110588" y="3140968"/>
              <a:ext cx="4205828" cy="300416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字方塊 37"/>
            <p:cNvSpPr txBox="1"/>
            <p:nvPr/>
          </p:nvSpPr>
          <p:spPr>
            <a:xfrm>
              <a:off x="6139937" y="4727678"/>
              <a:ext cx="172354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 dirty="0" smtClean="0">
                  <a:solidFill>
                    <a:srgbClr val="99FF99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管理職</a:t>
              </a:r>
              <a:endParaRPr lang="zh-TW" altLang="en-US" sz="4000" dirty="0">
                <a:solidFill>
                  <a:srgbClr val="99FF99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7890147" y="3501008"/>
              <a:ext cx="59503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 smtClean="0">
                  <a:solidFill>
                    <a:srgbClr val="FFC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高</a:t>
              </a:r>
              <a:endParaRPr lang="zh-TW" altLang="en-US" sz="3200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4788024" y="5739306"/>
              <a:ext cx="59503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solidFill>
                    <a:srgbClr val="FFC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低</a:t>
              </a:r>
              <a:endParaRPr lang="zh-TW" altLang="en-US" sz="3200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73" name="群組 72"/>
          <p:cNvGrpSpPr/>
          <p:nvPr/>
        </p:nvGrpSpPr>
        <p:grpSpPr>
          <a:xfrm>
            <a:off x="1451598" y="867039"/>
            <a:ext cx="7296866" cy="5010233"/>
            <a:chOff x="1451598" y="867039"/>
            <a:chExt cx="7296866" cy="5010233"/>
          </a:xfrm>
        </p:grpSpPr>
        <p:cxnSp>
          <p:nvCxnSpPr>
            <p:cNvPr id="61" name="直線單箭頭接點 60"/>
            <p:cNvCxnSpPr/>
            <p:nvPr/>
          </p:nvCxnSpPr>
          <p:spPr>
            <a:xfrm flipV="1">
              <a:off x="1451598" y="5477162"/>
              <a:ext cx="0" cy="40011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單箭頭接點 61"/>
            <p:cNvCxnSpPr/>
            <p:nvPr/>
          </p:nvCxnSpPr>
          <p:spPr>
            <a:xfrm flipV="1">
              <a:off x="2035412" y="5013176"/>
              <a:ext cx="0" cy="40011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/>
            <p:nvPr/>
          </p:nvCxnSpPr>
          <p:spPr>
            <a:xfrm flipV="1">
              <a:off x="3203040" y="4478697"/>
              <a:ext cx="0" cy="40011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單箭頭接點 63"/>
            <p:cNvCxnSpPr/>
            <p:nvPr/>
          </p:nvCxnSpPr>
          <p:spPr>
            <a:xfrm flipV="1">
              <a:off x="3786854" y="4127449"/>
              <a:ext cx="0" cy="40011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單箭頭接點 64"/>
            <p:cNvCxnSpPr/>
            <p:nvPr/>
          </p:nvCxnSpPr>
          <p:spPr>
            <a:xfrm flipV="1">
              <a:off x="4376452" y="3610582"/>
              <a:ext cx="0" cy="40011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單箭頭接點 65"/>
            <p:cNvCxnSpPr/>
            <p:nvPr/>
          </p:nvCxnSpPr>
          <p:spPr>
            <a:xfrm flipV="1">
              <a:off x="4954159" y="3210472"/>
              <a:ext cx="0" cy="40011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單箭頭接點 66"/>
            <p:cNvCxnSpPr/>
            <p:nvPr/>
          </p:nvCxnSpPr>
          <p:spPr>
            <a:xfrm flipV="1">
              <a:off x="5534844" y="2810362"/>
              <a:ext cx="0" cy="40011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單箭頭接點 67"/>
            <p:cNvCxnSpPr/>
            <p:nvPr/>
          </p:nvCxnSpPr>
          <p:spPr>
            <a:xfrm flipV="1">
              <a:off x="6121787" y="2410252"/>
              <a:ext cx="0" cy="40011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單箭頭接點 68"/>
            <p:cNvCxnSpPr/>
            <p:nvPr/>
          </p:nvCxnSpPr>
          <p:spPr>
            <a:xfrm flipV="1">
              <a:off x="6693235" y="2010142"/>
              <a:ext cx="0" cy="40011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單箭頭接點 69"/>
            <p:cNvCxnSpPr/>
            <p:nvPr/>
          </p:nvCxnSpPr>
          <p:spPr>
            <a:xfrm flipV="1">
              <a:off x="7308304" y="1610032"/>
              <a:ext cx="0" cy="40011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單箭頭接點 70"/>
            <p:cNvCxnSpPr/>
            <p:nvPr/>
          </p:nvCxnSpPr>
          <p:spPr>
            <a:xfrm flipV="1">
              <a:off x="8028384" y="1209922"/>
              <a:ext cx="0" cy="40011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單箭頭接點 71"/>
            <p:cNvCxnSpPr/>
            <p:nvPr/>
          </p:nvCxnSpPr>
          <p:spPr>
            <a:xfrm flipV="1">
              <a:off x="8748464" y="867039"/>
              <a:ext cx="0" cy="40011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2421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67F0-45D4-4D07-8880-5B58BFBEC0C5}" type="slidenum">
              <a:rPr lang="zh-CN" altLang="en-US" smtClean="0"/>
              <a:pPr/>
              <a:t>15</a:t>
            </a:fld>
            <a:endParaRPr lang="en-US" altLang="zh-CN" dirty="0">
              <a:solidFill>
                <a:srgbClr val="7F7F7F"/>
              </a:solidFill>
            </a:endParaRPr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3203848" y="2371723"/>
            <a:ext cx="3133288" cy="86409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 dirty="0">
                <a:ln w="12700">
                  <a:noFill/>
                  <a:prstDash val="solid"/>
                </a:ln>
                <a:solidFill>
                  <a:srgbClr val="6EC9EE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dirty="0" smtClean="0">
                <a:latin typeface="Arial" charset="0"/>
              </a:rPr>
              <a:t>技術平臺</a:t>
            </a:r>
            <a:endParaRPr lang="zh-TW" altLang="en-US" dirty="0" smtClean="0">
              <a:latin typeface="Arial" charset="0"/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555776" y="3573016"/>
            <a:ext cx="38164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2853044" y="3327375"/>
            <a:ext cx="3248005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latin typeface="Century Gothic" panose="020B0502020202020204" pitchFamily="34" charset="0"/>
              </a:rPr>
              <a:t>What I need to learn</a:t>
            </a:r>
            <a:endParaRPr lang="zh-TW" altLang="en-US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648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67F0-45D4-4D07-8880-5B58BFBEC0C5}" type="slidenum">
              <a:rPr lang="zh-CN" altLang="en-US" smtClean="0"/>
              <a:pPr/>
              <a:t>16</a:t>
            </a:fld>
            <a:endParaRPr lang="en-US" altLang="zh-CN" dirty="0">
              <a:solidFill>
                <a:srgbClr val="7F7F7F"/>
              </a:solidFill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611560" y="2348880"/>
            <a:ext cx="1152128" cy="216024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企業</a:t>
            </a:r>
            <a:endParaRPr lang="en-US" altLang="zh-CN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CN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應用</a:t>
            </a:r>
            <a:endParaRPr lang="en-US" altLang="zh-CN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CN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系統</a:t>
            </a:r>
            <a:endParaRPr lang="en-US" altLang="zh-CN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CN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開發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47" name="群組 46"/>
          <p:cNvGrpSpPr/>
          <p:nvPr/>
        </p:nvGrpSpPr>
        <p:grpSpPr>
          <a:xfrm>
            <a:off x="2054393" y="2699919"/>
            <a:ext cx="1654077" cy="1593177"/>
            <a:chOff x="1945815" y="683695"/>
            <a:chExt cx="1654077" cy="1593177"/>
          </a:xfrm>
        </p:grpSpPr>
        <p:cxnSp>
          <p:nvCxnSpPr>
            <p:cNvPr id="9" name="直線單箭頭接點 8"/>
            <p:cNvCxnSpPr/>
            <p:nvPr/>
          </p:nvCxnSpPr>
          <p:spPr>
            <a:xfrm>
              <a:off x="1945815" y="1497472"/>
              <a:ext cx="38775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0" name="圓角矩形 9"/>
            <p:cNvSpPr/>
            <p:nvPr/>
          </p:nvSpPr>
          <p:spPr>
            <a:xfrm>
              <a:off x="2447764" y="683695"/>
              <a:ext cx="1152128" cy="1593177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程序</a:t>
              </a:r>
              <a:r>
                <a:rPr lang="zh-CN" altLang="en-US" sz="28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開發語言</a:t>
              </a:r>
              <a:endPara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48" name="群組 47"/>
          <p:cNvGrpSpPr/>
          <p:nvPr/>
        </p:nvGrpSpPr>
        <p:grpSpPr>
          <a:xfrm>
            <a:off x="4032506" y="3064459"/>
            <a:ext cx="1890210" cy="864096"/>
            <a:chOff x="3923928" y="980728"/>
            <a:chExt cx="1890210" cy="864096"/>
          </a:xfrm>
        </p:grpSpPr>
        <p:sp>
          <p:nvSpPr>
            <p:cNvPr id="11" name="圓角矩形 10"/>
            <p:cNvSpPr/>
            <p:nvPr/>
          </p:nvSpPr>
          <p:spPr>
            <a:xfrm>
              <a:off x="4662010" y="980728"/>
              <a:ext cx="1152128" cy="86409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C#</a:t>
              </a:r>
              <a:endParaRPr lang="zh-TW" altLang="en-US" sz="28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cxnSp>
          <p:nvCxnSpPr>
            <p:cNvPr id="13" name="直線單箭頭接點 12"/>
            <p:cNvCxnSpPr/>
            <p:nvPr/>
          </p:nvCxnSpPr>
          <p:spPr>
            <a:xfrm>
              <a:off x="3923928" y="1412777"/>
              <a:ext cx="43204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49" name="群組 48"/>
          <p:cNvGrpSpPr/>
          <p:nvPr/>
        </p:nvGrpSpPr>
        <p:grpSpPr>
          <a:xfrm>
            <a:off x="1963692" y="646503"/>
            <a:ext cx="1758798" cy="1630369"/>
            <a:chOff x="1841094" y="2924944"/>
            <a:chExt cx="1758798" cy="1630369"/>
          </a:xfrm>
        </p:grpSpPr>
        <p:sp>
          <p:nvSpPr>
            <p:cNvPr id="22" name="圓角矩形 21"/>
            <p:cNvSpPr/>
            <p:nvPr/>
          </p:nvSpPr>
          <p:spPr>
            <a:xfrm>
              <a:off x="2447764" y="2924944"/>
              <a:ext cx="1152128" cy="1337607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開發環境</a:t>
              </a:r>
              <a:endPara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24" name="直線單箭頭接點 23"/>
            <p:cNvCxnSpPr/>
            <p:nvPr/>
          </p:nvCxnSpPr>
          <p:spPr>
            <a:xfrm flipV="1">
              <a:off x="1841094" y="4123264"/>
              <a:ext cx="414045" cy="43204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56" name="群組 55"/>
          <p:cNvGrpSpPr/>
          <p:nvPr/>
        </p:nvGrpSpPr>
        <p:grpSpPr>
          <a:xfrm>
            <a:off x="1963692" y="4436064"/>
            <a:ext cx="1744778" cy="1626687"/>
            <a:chOff x="1855114" y="4436064"/>
            <a:chExt cx="1744778" cy="1626687"/>
          </a:xfrm>
        </p:grpSpPr>
        <p:cxnSp>
          <p:nvCxnSpPr>
            <p:cNvPr id="26" name="直線單箭頭接點 25"/>
            <p:cNvCxnSpPr/>
            <p:nvPr/>
          </p:nvCxnSpPr>
          <p:spPr>
            <a:xfrm>
              <a:off x="1855114" y="4436064"/>
              <a:ext cx="440341" cy="43309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28" name="圓角矩形 27"/>
            <p:cNvSpPr/>
            <p:nvPr/>
          </p:nvSpPr>
          <p:spPr>
            <a:xfrm>
              <a:off x="2447764" y="4869160"/>
              <a:ext cx="1152128" cy="1193591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資料庫</a:t>
              </a:r>
              <a:endPara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51" name="群組 50"/>
          <p:cNvGrpSpPr/>
          <p:nvPr/>
        </p:nvGrpSpPr>
        <p:grpSpPr>
          <a:xfrm>
            <a:off x="3960498" y="730970"/>
            <a:ext cx="2160240" cy="1168674"/>
            <a:chOff x="3851920" y="2916671"/>
            <a:chExt cx="2160240" cy="1168674"/>
          </a:xfrm>
        </p:grpSpPr>
        <p:sp>
          <p:nvSpPr>
            <p:cNvPr id="19" name="圓角矩形 18"/>
            <p:cNvSpPr/>
            <p:nvPr/>
          </p:nvSpPr>
          <p:spPr>
            <a:xfrm>
              <a:off x="4463988" y="2916671"/>
              <a:ext cx="1548172" cy="1168674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Visual </a:t>
              </a:r>
            </a:p>
            <a:p>
              <a:pPr algn="ctr"/>
              <a:r>
                <a:rPr lang="en-US" altLang="zh-CN" sz="28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Studio</a:t>
              </a:r>
              <a:endParaRPr lang="zh-TW" altLang="en-US" sz="28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cxnSp>
          <p:nvCxnSpPr>
            <p:cNvPr id="31" name="直線單箭頭接點 30"/>
            <p:cNvCxnSpPr/>
            <p:nvPr/>
          </p:nvCxnSpPr>
          <p:spPr>
            <a:xfrm>
              <a:off x="3851920" y="3501008"/>
              <a:ext cx="43204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57" name="群組 56"/>
          <p:cNvGrpSpPr/>
          <p:nvPr/>
        </p:nvGrpSpPr>
        <p:grpSpPr>
          <a:xfrm>
            <a:off x="3960498" y="4958099"/>
            <a:ext cx="2202995" cy="1028843"/>
            <a:chOff x="3851920" y="4958099"/>
            <a:chExt cx="2202995" cy="1028843"/>
          </a:xfrm>
        </p:grpSpPr>
        <p:sp>
          <p:nvSpPr>
            <p:cNvPr id="40" name="圓角矩形 39"/>
            <p:cNvSpPr/>
            <p:nvPr/>
          </p:nvSpPr>
          <p:spPr>
            <a:xfrm>
              <a:off x="4506743" y="4958099"/>
              <a:ext cx="1548172" cy="1028843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SQL Server</a:t>
              </a:r>
              <a:endParaRPr lang="zh-TW" altLang="en-US" sz="28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cxnSp>
          <p:nvCxnSpPr>
            <p:cNvPr id="41" name="直線單箭頭接點 40"/>
            <p:cNvCxnSpPr/>
            <p:nvPr/>
          </p:nvCxnSpPr>
          <p:spPr>
            <a:xfrm>
              <a:off x="3851920" y="5472521"/>
              <a:ext cx="43204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58" name="群組 57"/>
          <p:cNvGrpSpPr/>
          <p:nvPr/>
        </p:nvGrpSpPr>
        <p:grpSpPr>
          <a:xfrm>
            <a:off x="6480778" y="1412776"/>
            <a:ext cx="2016224" cy="4053179"/>
            <a:chOff x="6372200" y="1412776"/>
            <a:chExt cx="2340260" cy="4053179"/>
          </a:xfrm>
        </p:grpSpPr>
        <p:sp>
          <p:nvSpPr>
            <p:cNvPr id="45" name="右大括弧 44"/>
            <p:cNvSpPr/>
            <p:nvPr/>
          </p:nvSpPr>
          <p:spPr>
            <a:xfrm>
              <a:off x="6372200" y="1412776"/>
              <a:ext cx="576064" cy="4053179"/>
            </a:xfrm>
            <a:prstGeom prst="rightBrac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圓角矩形 45"/>
            <p:cNvSpPr/>
            <p:nvPr/>
          </p:nvSpPr>
          <p:spPr>
            <a:xfrm>
              <a:off x="7164288" y="2855028"/>
              <a:ext cx="1548172" cy="1168674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微軟</a:t>
              </a:r>
              <a:endParaRPr lang="en-US" altLang="zh-CN" sz="2800" dirty="0" smtClean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zh-CN" altLang="en-US" sz="2800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平臺</a:t>
              </a:r>
              <a:endPara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7113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圓角矩形 2"/>
          <p:cNvSpPr/>
          <p:nvPr/>
        </p:nvSpPr>
        <p:spPr>
          <a:xfrm>
            <a:off x="476182" y="1196752"/>
            <a:ext cx="8128266" cy="4320480"/>
          </a:xfrm>
          <a:prstGeom prst="roundRect">
            <a:avLst>
              <a:gd name="adj" fmla="val 4187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2800" dirty="0" smtClean="0">
                <a:latin typeface="Century Gothic" panose="020B0502020202020204" pitchFamily="34" charset="0"/>
                <a:ea typeface="標楷體" panose="03000509000000000000" pitchFamily="65" charset="-120"/>
              </a:rPr>
              <a:t>.NET </a:t>
            </a:r>
            <a:r>
              <a:rPr lang="zh-CN" altLang="en-US" sz="2800" dirty="0" smtClean="0">
                <a:latin typeface="Century Gothic" panose="020B0502020202020204" pitchFamily="34" charset="0"/>
                <a:ea typeface="標楷體" panose="03000509000000000000" pitchFamily="65" charset="-120"/>
              </a:rPr>
              <a:t>平臺</a:t>
            </a:r>
            <a:endParaRPr lang="zh-TW" altLang="en-US" sz="2800" dirty="0">
              <a:latin typeface="Century Gothic" panose="020B0502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21" name="圓角矩形 20"/>
          <p:cNvSpPr/>
          <p:nvPr/>
        </p:nvSpPr>
        <p:spPr>
          <a:xfrm>
            <a:off x="724562" y="1844824"/>
            <a:ext cx="7593192" cy="930271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dirty="0" smtClean="0">
                <a:latin typeface="Century Gothic" panose="020B0502020202020204" pitchFamily="34" charset="0"/>
                <a:ea typeface="標楷體" panose="03000509000000000000" pitchFamily="65" charset="-120"/>
              </a:rPr>
              <a:t>.NET</a:t>
            </a:r>
            <a:r>
              <a:rPr lang="zh-CN" altLang="en-US" sz="2800" dirty="0" smtClean="0">
                <a:latin typeface="Century Gothic" panose="020B0502020202020204" pitchFamily="34" charset="0"/>
                <a:ea typeface="標楷體" panose="03000509000000000000" pitchFamily="65" charset="-120"/>
              </a:rPr>
              <a:t>程序語言</a:t>
            </a:r>
            <a:endParaRPr lang="zh-TW" altLang="en-US" sz="2800" dirty="0">
              <a:latin typeface="Century Gothic" panose="020B0502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118CA-02C7-4976-9B30-3B105AA744FC}" type="slidenum">
              <a:rPr lang="zh-CN" altLang="en-US" smtClean="0"/>
              <a:pPr/>
              <a:t>17</a:t>
            </a:fld>
            <a:endParaRPr lang="en-US" altLang="zh-CN"/>
          </a:p>
        </p:txBody>
      </p:sp>
      <p:sp>
        <p:nvSpPr>
          <p:cNvPr id="4" name="圓角矩形 3"/>
          <p:cNvSpPr/>
          <p:nvPr/>
        </p:nvSpPr>
        <p:spPr>
          <a:xfrm>
            <a:off x="724560" y="3942184"/>
            <a:ext cx="7592290" cy="6480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800" dirty="0" smtClean="0">
                <a:latin typeface="Century Gothic" panose="020B0502020202020204" pitchFamily="34" charset="0"/>
                <a:ea typeface="標楷體" panose="03000509000000000000" pitchFamily="65" charset="-120"/>
              </a:rPr>
              <a:t>.NET Framework  </a:t>
            </a:r>
            <a:r>
              <a:rPr lang="zh-CN" altLang="en-US" sz="2800" dirty="0" smtClean="0">
                <a:latin typeface="Century Gothic" panose="020B0502020202020204" pitchFamily="34" charset="0"/>
                <a:ea typeface="標楷體" panose="03000509000000000000" pitchFamily="65" charset="-120"/>
              </a:rPr>
              <a:t>（</a:t>
            </a:r>
            <a:r>
              <a:rPr lang="en-US" altLang="zh-CN" sz="2800" dirty="0" smtClean="0">
                <a:latin typeface="Century Gothic" panose="020B0502020202020204" pitchFamily="34" charset="0"/>
                <a:ea typeface="標楷體" panose="03000509000000000000" pitchFamily="65" charset="-120"/>
              </a:rPr>
              <a:t>.NET </a:t>
            </a:r>
            <a:r>
              <a:rPr lang="zh-CN" altLang="en-US" sz="2800" dirty="0" smtClean="0">
                <a:latin typeface="Century Gothic" panose="020B0502020202020204" pitchFamily="34" charset="0"/>
                <a:ea typeface="標楷體" panose="03000509000000000000" pitchFamily="65" charset="-120"/>
              </a:rPr>
              <a:t>核心框架）</a:t>
            </a:r>
            <a:endParaRPr lang="zh-TW" altLang="en-US" sz="2800" dirty="0">
              <a:latin typeface="Century Gothic" panose="020B0502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4139851" y="1988840"/>
            <a:ext cx="1168606" cy="64807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latin typeface="Century Gothic" panose="020B0502020202020204" pitchFamily="34" charset="0"/>
                <a:ea typeface="標楷體" panose="03000509000000000000" pitchFamily="65" charset="-120"/>
              </a:rPr>
              <a:t>C#</a:t>
            </a:r>
            <a:endParaRPr lang="zh-TW" altLang="en-US" sz="2800" dirty="0">
              <a:latin typeface="Century Gothic" panose="020B0502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6" name="圓角矩形 5"/>
          <p:cNvSpPr/>
          <p:nvPr/>
        </p:nvSpPr>
        <p:spPr>
          <a:xfrm>
            <a:off x="5485637" y="1988840"/>
            <a:ext cx="1168606" cy="64807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latin typeface="Century Gothic" panose="020B0502020202020204" pitchFamily="34" charset="0"/>
                <a:ea typeface="標楷體" panose="03000509000000000000" pitchFamily="65" charset="-120"/>
              </a:rPr>
              <a:t>VB</a:t>
            </a:r>
            <a:endParaRPr lang="zh-TW" altLang="en-US" sz="2800" dirty="0">
              <a:latin typeface="Century Gothic" panose="020B0502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6900769" y="2016256"/>
            <a:ext cx="1168606" cy="62065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latin typeface="Century Gothic" panose="020B0502020202020204" pitchFamily="34" charset="0"/>
                <a:ea typeface="標楷體" panose="03000509000000000000" pitchFamily="65" charset="-120"/>
              </a:rPr>
              <a:t>C++</a:t>
            </a:r>
            <a:endParaRPr lang="zh-TW" altLang="en-US" sz="2800" dirty="0">
              <a:latin typeface="Century Gothic" panose="020B0502020202020204" pitchFamily="34" charset="0"/>
              <a:ea typeface="標楷體" panose="03000509000000000000" pitchFamily="65" charset="-120"/>
            </a:endParaRPr>
          </a:p>
        </p:txBody>
      </p:sp>
      <p:grpSp>
        <p:nvGrpSpPr>
          <p:cNvPr id="12" name="群組 11"/>
          <p:cNvGrpSpPr/>
          <p:nvPr/>
        </p:nvGrpSpPr>
        <p:grpSpPr>
          <a:xfrm>
            <a:off x="476182" y="5661248"/>
            <a:ext cx="8128266" cy="936104"/>
            <a:chOff x="507199" y="4437112"/>
            <a:chExt cx="8128266" cy="936104"/>
          </a:xfrm>
        </p:grpSpPr>
        <p:sp>
          <p:nvSpPr>
            <p:cNvPr id="9" name="圓角矩形 8"/>
            <p:cNvSpPr/>
            <p:nvPr/>
          </p:nvSpPr>
          <p:spPr>
            <a:xfrm>
              <a:off x="507199" y="4437112"/>
              <a:ext cx="8128266" cy="936104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8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.NET </a:t>
              </a:r>
              <a:r>
                <a:rPr lang="zh-CN" altLang="en-US" sz="28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運行環境</a:t>
              </a:r>
              <a:endParaRPr lang="zh-TW" altLang="en-US" sz="28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10" name="圓角矩形 9"/>
            <p:cNvSpPr/>
            <p:nvPr/>
          </p:nvSpPr>
          <p:spPr>
            <a:xfrm>
              <a:off x="3306873" y="4617132"/>
              <a:ext cx="2763164" cy="61206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Windows OS</a:t>
              </a:r>
              <a:endParaRPr lang="zh-TW" altLang="en-US" sz="28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11" name="圓角矩形 10"/>
            <p:cNvSpPr/>
            <p:nvPr/>
          </p:nvSpPr>
          <p:spPr>
            <a:xfrm>
              <a:off x="6260539" y="4617132"/>
              <a:ext cx="2088232" cy="61206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IIS</a:t>
              </a:r>
              <a:endParaRPr lang="zh-TW" altLang="en-US" sz="28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13" name="圓角矩形 12"/>
          <p:cNvSpPr/>
          <p:nvPr/>
        </p:nvSpPr>
        <p:spPr>
          <a:xfrm>
            <a:off x="724562" y="4725144"/>
            <a:ext cx="7593192" cy="648072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latin typeface="Century Gothic" panose="020B0502020202020204" pitchFamily="34" charset="0"/>
                <a:ea typeface="標楷體" panose="03000509000000000000" pitchFamily="65" charset="-120"/>
              </a:rPr>
              <a:t>CLR</a:t>
            </a:r>
            <a:r>
              <a:rPr lang="zh-CN" altLang="en-US" sz="2800" dirty="0" smtClean="0">
                <a:latin typeface="Century Gothic" panose="020B0502020202020204" pitchFamily="34" charset="0"/>
                <a:ea typeface="標楷體" panose="03000509000000000000" pitchFamily="65" charset="-120"/>
              </a:rPr>
              <a:t>（通用語言運行時）</a:t>
            </a:r>
            <a:endParaRPr lang="zh-TW" altLang="en-US" sz="2800" dirty="0">
              <a:latin typeface="Century Gothic" panose="020B0502020202020204" pitchFamily="34" charset="0"/>
              <a:ea typeface="標楷體" panose="03000509000000000000" pitchFamily="65" charset="-120"/>
            </a:endParaRPr>
          </a:p>
        </p:txBody>
      </p:sp>
      <p:grpSp>
        <p:nvGrpSpPr>
          <p:cNvPr id="20" name="群組 19"/>
          <p:cNvGrpSpPr/>
          <p:nvPr/>
        </p:nvGrpSpPr>
        <p:grpSpPr>
          <a:xfrm>
            <a:off x="724560" y="2880352"/>
            <a:ext cx="7593194" cy="908688"/>
            <a:chOff x="755577" y="2592320"/>
            <a:chExt cx="7593194" cy="908688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4" name="圓角矩形 13"/>
            <p:cNvSpPr/>
            <p:nvPr/>
          </p:nvSpPr>
          <p:spPr>
            <a:xfrm>
              <a:off x="755577" y="2592320"/>
              <a:ext cx="7593194" cy="908688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8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.NET </a:t>
              </a:r>
              <a:r>
                <a:rPr lang="zh-CN" altLang="en-US" sz="28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技術</a:t>
              </a:r>
              <a:endParaRPr lang="zh-TW" altLang="en-US" sz="28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15" name="圓角矩形 14"/>
            <p:cNvSpPr/>
            <p:nvPr/>
          </p:nvSpPr>
          <p:spPr>
            <a:xfrm>
              <a:off x="2627784" y="2736336"/>
              <a:ext cx="1659450" cy="62065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ASP.NET</a:t>
              </a:r>
              <a:endParaRPr lang="zh-TW" altLang="en-US" sz="28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16" name="圓角矩形 15"/>
            <p:cNvSpPr/>
            <p:nvPr/>
          </p:nvSpPr>
          <p:spPr>
            <a:xfrm>
              <a:off x="4450474" y="2736336"/>
              <a:ext cx="1273654" cy="62065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WCF</a:t>
              </a:r>
              <a:endParaRPr lang="zh-TW" altLang="en-US" sz="28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17" name="圓角矩形 16"/>
            <p:cNvSpPr/>
            <p:nvPr/>
          </p:nvSpPr>
          <p:spPr>
            <a:xfrm>
              <a:off x="5876528" y="2736336"/>
              <a:ext cx="1287760" cy="62065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ASMX</a:t>
              </a:r>
              <a:endParaRPr lang="zh-TW" altLang="en-US" sz="28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19" name="圓角矩形 18"/>
            <p:cNvSpPr/>
            <p:nvPr/>
          </p:nvSpPr>
          <p:spPr>
            <a:xfrm>
              <a:off x="7304654" y="2728410"/>
              <a:ext cx="795738" cy="62065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…</a:t>
              </a:r>
              <a:endParaRPr lang="zh-TW" altLang="en-US" sz="28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476181" y="260648"/>
            <a:ext cx="8109109" cy="792088"/>
            <a:chOff x="488042" y="188640"/>
            <a:chExt cx="8128266" cy="792088"/>
          </a:xfrm>
        </p:grpSpPr>
        <p:sp>
          <p:nvSpPr>
            <p:cNvPr id="8" name="圓角矩形 7"/>
            <p:cNvSpPr/>
            <p:nvPr/>
          </p:nvSpPr>
          <p:spPr>
            <a:xfrm>
              <a:off x="488042" y="188640"/>
              <a:ext cx="8128266" cy="792088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8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.NET </a:t>
              </a:r>
              <a:r>
                <a:rPr lang="zh-CN" altLang="en-US" sz="28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應用</a:t>
              </a:r>
              <a:endParaRPr lang="zh-TW" altLang="en-US" sz="28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22" name="圓角矩形 21"/>
            <p:cNvSpPr/>
            <p:nvPr/>
          </p:nvSpPr>
          <p:spPr>
            <a:xfrm>
              <a:off x="2592364" y="304948"/>
              <a:ext cx="2555700" cy="57606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Web Form</a:t>
              </a:r>
              <a:endParaRPr lang="zh-TW" altLang="en-US" sz="28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23" name="圓角矩形 22"/>
            <p:cNvSpPr/>
            <p:nvPr/>
          </p:nvSpPr>
          <p:spPr>
            <a:xfrm>
              <a:off x="5300464" y="304948"/>
              <a:ext cx="3159968" cy="57606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Windows Form</a:t>
              </a:r>
              <a:endParaRPr lang="zh-TW" altLang="en-US" sz="28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983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118CA-02C7-4976-9B30-3B105AA744FC}" type="slidenum">
              <a:rPr lang="zh-CN" altLang="en-US" smtClean="0"/>
              <a:pPr/>
              <a:t>18</a:t>
            </a:fld>
            <a:endParaRPr lang="en-US" altLang="zh-CN"/>
          </a:p>
        </p:txBody>
      </p:sp>
      <p:sp>
        <p:nvSpPr>
          <p:cNvPr id="3" name="圓角矩形 2"/>
          <p:cNvSpPr/>
          <p:nvPr/>
        </p:nvSpPr>
        <p:spPr bwMode="auto">
          <a:xfrm>
            <a:off x="6228184" y="1800822"/>
            <a:ext cx="2448272" cy="458050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動態</a:t>
            </a:r>
            <a:endParaRPr kumimoji="0" lang="zh-TW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圓角矩形 3"/>
          <p:cNvSpPr/>
          <p:nvPr/>
        </p:nvSpPr>
        <p:spPr bwMode="auto">
          <a:xfrm>
            <a:off x="3347864" y="1800822"/>
            <a:ext cx="2520280" cy="458050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32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數</a:t>
            </a:r>
            <a:r>
              <a:rPr lang="zh-CN" altLang="en-US" sz="32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據</a:t>
            </a:r>
            <a:endParaRPr kumimoji="0" lang="zh-TW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圓角矩形 4"/>
          <p:cNvSpPr/>
          <p:nvPr/>
        </p:nvSpPr>
        <p:spPr bwMode="auto">
          <a:xfrm>
            <a:off x="395536" y="1772816"/>
            <a:ext cx="2592288" cy="4608512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32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外觀</a:t>
            </a:r>
            <a:endParaRPr kumimoji="0" lang="zh-TW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圓角矩形 5"/>
          <p:cNvSpPr/>
          <p:nvPr/>
        </p:nvSpPr>
        <p:spPr bwMode="auto">
          <a:xfrm>
            <a:off x="539552" y="2636912"/>
            <a:ext cx="2304256" cy="936104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標楷體" panose="03000509000000000000" pitchFamily="65" charset="-120"/>
              </a:rPr>
              <a:t>HTML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 smtClean="0">
                <a:solidFill>
                  <a:schemeClr val="tx1"/>
                </a:solidFill>
                <a:latin typeface="Century Gothic" panose="020B0502020202020204" pitchFamily="34" charset="0"/>
                <a:ea typeface="標楷體" panose="03000509000000000000" pitchFamily="65" charset="-120"/>
              </a:rPr>
              <a:t>文本對象</a:t>
            </a: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7" name="圓角矩形 6"/>
          <p:cNvSpPr/>
          <p:nvPr/>
        </p:nvSpPr>
        <p:spPr bwMode="auto">
          <a:xfrm>
            <a:off x="539552" y="3809911"/>
            <a:ext cx="2304256" cy="987241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標楷體" panose="03000509000000000000" pitchFamily="65" charset="-120"/>
              </a:rPr>
              <a:t>CSS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 smtClean="0">
                <a:solidFill>
                  <a:schemeClr val="tx1"/>
                </a:solidFill>
                <a:latin typeface="Century Gothic" panose="020B0502020202020204" pitchFamily="34" charset="0"/>
                <a:ea typeface="標楷體" panose="03000509000000000000" pitchFamily="65" charset="-120"/>
              </a:rPr>
              <a:t>樣式處理</a:t>
            </a: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8" name="圓角矩形 7"/>
          <p:cNvSpPr/>
          <p:nvPr/>
        </p:nvSpPr>
        <p:spPr bwMode="auto">
          <a:xfrm>
            <a:off x="539552" y="5037886"/>
            <a:ext cx="2304256" cy="1032821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標楷體" panose="03000509000000000000" pitchFamily="65" charset="-120"/>
              </a:rPr>
              <a:t>Photoshop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>
                <a:solidFill>
                  <a:schemeClr val="tx1"/>
                </a:solidFill>
                <a:latin typeface="Century Gothic" panose="020B0502020202020204" pitchFamily="34" charset="0"/>
                <a:ea typeface="標楷體" panose="03000509000000000000" pitchFamily="65" charset="-120"/>
              </a:rPr>
              <a:t>圖像處</a:t>
            </a:r>
            <a:r>
              <a:rPr lang="zh-CN" altLang="en-US" sz="2400" dirty="0" smtClean="0">
                <a:solidFill>
                  <a:schemeClr val="tx1"/>
                </a:solidFill>
                <a:latin typeface="Century Gothic" panose="020B0502020202020204" pitchFamily="34" charset="0"/>
                <a:ea typeface="標楷體" panose="03000509000000000000" pitchFamily="65" charset="-120"/>
              </a:rPr>
              <a:t>理</a:t>
            </a: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9" name="圓角矩形 8"/>
          <p:cNvSpPr/>
          <p:nvPr/>
        </p:nvSpPr>
        <p:spPr bwMode="auto">
          <a:xfrm>
            <a:off x="3563888" y="2860073"/>
            <a:ext cx="2088232" cy="128900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標楷體" panose="03000509000000000000" pitchFamily="65" charset="-120"/>
              </a:rPr>
              <a:t>XML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>
                <a:solidFill>
                  <a:schemeClr val="tx1"/>
                </a:solidFill>
                <a:latin typeface="Century Gothic" panose="020B0502020202020204" pitchFamily="34" charset="0"/>
                <a:ea typeface="標楷體" panose="03000509000000000000" pitchFamily="65" charset="-120"/>
              </a:rPr>
              <a:t>複</a:t>
            </a:r>
            <a:r>
              <a:rPr lang="zh-CN" altLang="en-US" sz="2400" dirty="0" smtClean="0">
                <a:solidFill>
                  <a:schemeClr val="tx1"/>
                </a:solidFill>
                <a:latin typeface="Century Gothic" panose="020B0502020202020204" pitchFamily="34" charset="0"/>
                <a:ea typeface="標楷體" panose="03000509000000000000" pitchFamily="65" charset="-120"/>
              </a:rPr>
              <a:t>雜數據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10" name="圓角矩形 9"/>
          <p:cNvSpPr/>
          <p:nvPr/>
        </p:nvSpPr>
        <p:spPr bwMode="auto">
          <a:xfrm>
            <a:off x="3563888" y="4437112"/>
            <a:ext cx="2088232" cy="1375892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標楷體" panose="03000509000000000000" pitchFamily="65" charset="-120"/>
              </a:rPr>
              <a:t>JSON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>
                <a:solidFill>
                  <a:schemeClr val="tx1"/>
                </a:solidFill>
                <a:latin typeface="Century Gothic" panose="020B0502020202020204" pitchFamily="34" charset="0"/>
                <a:ea typeface="標楷體" panose="03000509000000000000" pitchFamily="65" charset="-120"/>
              </a:rPr>
              <a:t>輕</a:t>
            </a:r>
            <a:r>
              <a:rPr lang="zh-CN" altLang="en-US" sz="2400" dirty="0" smtClean="0">
                <a:solidFill>
                  <a:schemeClr val="tx1"/>
                </a:solidFill>
                <a:latin typeface="Century Gothic" panose="020B0502020202020204" pitchFamily="34" charset="0"/>
                <a:ea typeface="標楷體" panose="03000509000000000000" pitchFamily="65" charset="-120"/>
              </a:rPr>
              <a:t>量對象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11" name="圓角矩形 10"/>
          <p:cNvSpPr/>
          <p:nvPr/>
        </p:nvSpPr>
        <p:spPr bwMode="auto">
          <a:xfrm>
            <a:off x="6471575" y="2527115"/>
            <a:ext cx="2001533" cy="1045901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標楷體" panose="03000509000000000000" pitchFamily="65" charset="-120"/>
              </a:rPr>
              <a:t>Javascript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  <a:ea typeface="標楷體" panose="03000509000000000000" pitchFamily="65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>
                <a:solidFill>
                  <a:schemeClr val="tx1"/>
                </a:solidFill>
                <a:latin typeface="Century Gothic" panose="020B0502020202020204" pitchFamily="34" charset="0"/>
                <a:ea typeface="標楷體" panose="03000509000000000000" pitchFamily="65" charset="-120"/>
              </a:rPr>
              <a:t>原生語法</a:t>
            </a: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12" name="圓角矩形 11"/>
          <p:cNvSpPr/>
          <p:nvPr/>
        </p:nvSpPr>
        <p:spPr bwMode="auto">
          <a:xfrm>
            <a:off x="6471575" y="3809910"/>
            <a:ext cx="2001533" cy="987241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標楷體" panose="03000509000000000000" pitchFamily="65" charset="-120"/>
              </a:rPr>
              <a:t>jQuery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  <a:ea typeface="標楷體" panose="03000509000000000000" pitchFamily="65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 smtClean="0">
                <a:solidFill>
                  <a:schemeClr val="tx1"/>
                </a:solidFill>
                <a:latin typeface="Century Gothic" panose="020B0502020202020204" pitchFamily="34" charset="0"/>
                <a:ea typeface="標楷體" panose="03000509000000000000" pitchFamily="65" charset="-120"/>
              </a:rPr>
              <a:t>快速開發</a:t>
            </a: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13" name="圓角矩形 12"/>
          <p:cNvSpPr/>
          <p:nvPr/>
        </p:nvSpPr>
        <p:spPr bwMode="auto">
          <a:xfrm>
            <a:off x="6471575" y="5037885"/>
            <a:ext cx="2001533" cy="1032821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標楷體" panose="03000509000000000000" pitchFamily="65" charset="-120"/>
              </a:rPr>
              <a:t>Ajax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>
                <a:solidFill>
                  <a:schemeClr val="tx1"/>
                </a:solidFill>
                <a:latin typeface="Century Gothic" panose="020B0502020202020204" pitchFamily="34" charset="0"/>
                <a:ea typeface="標楷體" panose="03000509000000000000" pitchFamily="65" charset="-120"/>
              </a:rPr>
              <a:t>異</a:t>
            </a:r>
            <a:r>
              <a:rPr lang="zh-CN" altLang="en-US" sz="2400" dirty="0" smtClean="0">
                <a:solidFill>
                  <a:schemeClr val="tx1"/>
                </a:solidFill>
                <a:latin typeface="Century Gothic" panose="020B0502020202020204" pitchFamily="34" charset="0"/>
                <a:ea typeface="標楷體" panose="03000509000000000000" pitchFamily="65" charset="-120"/>
              </a:rPr>
              <a:t>步訪問</a:t>
            </a: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95536" y="548680"/>
            <a:ext cx="480131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dirty="0" smtClean="0">
                <a:solidFill>
                  <a:srgbClr val="6EC9EE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WEB </a:t>
            </a:r>
            <a:r>
              <a:rPr lang="zh-CN" altLang="en-US" sz="4000" dirty="0">
                <a:solidFill>
                  <a:srgbClr val="6EC9EE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客戶端開發技術</a:t>
            </a:r>
            <a:endParaRPr lang="zh-TW" altLang="en-US" sz="4000" dirty="0">
              <a:solidFill>
                <a:srgbClr val="6EC9EE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523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118CA-02C7-4976-9B30-3B105AA744FC}" type="slidenum">
              <a:rPr lang="zh-CN" altLang="en-US" smtClean="0"/>
              <a:pPr/>
              <a:t>19</a:t>
            </a:fld>
            <a:endParaRPr lang="en-US" altLang="zh-CN"/>
          </a:p>
        </p:txBody>
      </p:sp>
      <p:grpSp>
        <p:nvGrpSpPr>
          <p:cNvPr id="8" name="群組 7"/>
          <p:cNvGrpSpPr/>
          <p:nvPr/>
        </p:nvGrpSpPr>
        <p:grpSpPr>
          <a:xfrm>
            <a:off x="3059832" y="1826823"/>
            <a:ext cx="2376264" cy="3227873"/>
            <a:chOff x="3059832" y="1569278"/>
            <a:chExt cx="2376264" cy="3227873"/>
          </a:xfrm>
        </p:grpSpPr>
        <p:sp>
          <p:nvSpPr>
            <p:cNvPr id="3" name="圓角矩形 2"/>
            <p:cNvSpPr/>
            <p:nvPr/>
          </p:nvSpPr>
          <p:spPr>
            <a:xfrm>
              <a:off x="3059832" y="1569278"/>
              <a:ext cx="2376264" cy="3227873"/>
            </a:xfrm>
            <a:prstGeom prst="roundRect">
              <a:avLst>
                <a:gd name="adj" fmla="val 4187"/>
              </a:avLst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zh-CN" altLang="en-US" sz="28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系統開發技術</a:t>
              </a:r>
              <a:endParaRPr lang="zh-TW" altLang="en-US" sz="28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4" name="圓角矩形 3"/>
            <p:cNvSpPr/>
            <p:nvPr/>
          </p:nvSpPr>
          <p:spPr>
            <a:xfrm>
              <a:off x="3275856" y="2276872"/>
              <a:ext cx="1944216" cy="648072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.NET </a:t>
              </a:r>
              <a:r>
                <a:rPr lang="zh-CN" altLang="en-US" sz="2400" dirty="0">
                  <a:latin typeface="Century Gothic" panose="020B0502020202020204" pitchFamily="34" charset="0"/>
                  <a:ea typeface="標楷體" panose="03000509000000000000" pitchFamily="65" charset="-120"/>
                </a:rPr>
                <a:t>平</a:t>
              </a:r>
              <a:r>
                <a:rPr lang="zh-CN" altLang="en-US" sz="24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臺</a:t>
              </a:r>
              <a:endParaRPr lang="zh-TW" altLang="en-US" sz="24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6" name="圓角矩形 5"/>
            <p:cNvSpPr/>
            <p:nvPr/>
          </p:nvSpPr>
          <p:spPr>
            <a:xfrm>
              <a:off x="3275856" y="3077344"/>
              <a:ext cx="1944216" cy="648072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latin typeface="Century Gothic" panose="020B0502020202020204" pitchFamily="34" charset="0"/>
                  <a:ea typeface="標楷體" panose="03000509000000000000" pitchFamily="65" charset="-120"/>
                </a:rPr>
                <a:t>資料庫</a:t>
              </a:r>
              <a:endParaRPr lang="zh-TW" altLang="en-US" sz="24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7" name="圓角矩形 6"/>
            <p:cNvSpPr/>
            <p:nvPr/>
          </p:nvSpPr>
          <p:spPr>
            <a:xfrm>
              <a:off x="3275856" y="3861048"/>
              <a:ext cx="1944216" cy="648072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Web </a:t>
              </a:r>
              <a:r>
                <a:rPr lang="zh-CN" altLang="en-US" sz="2400" dirty="0" smtClean="0">
                  <a:latin typeface="Century Gothic" panose="020B0502020202020204" pitchFamily="34" charset="0"/>
                  <a:ea typeface="標楷體" panose="03000509000000000000" pitchFamily="65" charset="-120"/>
                </a:rPr>
                <a:t>開發</a:t>
              </a:r>
              <a:endParaRPr lang="zh-TW" altLang="en-US" sz="2400" dirty="0">
                <a:latin typeface="Century Gothic" panose="020B0502020202020204" pitchFamily="34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9" name="圓角矩形 8"/>
          <p:cNvSpPr/>
          <p:nvPr/>
        </p:nvSpPr>
        <p:spPr>
          <a:xfrm>
            <a:off x="339504" y="2965303"/>
            <a:ext cx="2232247" cy="950912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企業流程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3059831" y="5499231"/>
            <a:ext cx="2376265" cy="914906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系統</a:t>
            </a:r>
            <a:r>
              <a:rPr lang="zh-CN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整合</a:t>
            </a:r>
            <a:endParaRPr lang="en-US" altLang="zh-CN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圓角矩形 10"/>
          <p:cNvSpPr/>
          <p:nvPr/>
        </p:nvSpPr>
        <p:spPr>
          <a:xfrm>
            <a:off x="3059832" y="476672"/>
            <a:ext cx="2376263" cy="914907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軟件工程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圓角矩形 12"/>
          <p:cNvSpPr/>
          <p:nvPr/>
        </p:nvSpPr>
        <p:spPr>
          <a:xfrm>
            <a:off x="6012160" y="2965303"/>
            <a:ext cx="2376264" cy="950912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特定平臺</a:t>
            </a:r>
            <a:endParaRPr lang="en-US" altLang="zh-CN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580112" y="3980022"/>
            <a:ext cx="3416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移動平臺</a:t>
            </a:r>
            <a:r>
              <a:rPr lang="en-US" altLang="zh-CN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電子簽核平臺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6" name="直線單箭頭接點 15"/>
          <p:cNvCxnSpPr>
            <a:stCxn id="3" idx="3"/>
            <a:endCxn id="13" idx="1"/>
          </p:cNvCxnSpPr>
          <p:nvPr/>
        </p:nvCxnSpPr>
        <p:spPr>
          <a:xfrm flipV="1">
            <a:off x="5436096" y="3440759"/>
            <a:ext cx="576064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5508104" y="703292"/>
            <a:ext cx="3108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CN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r>
              <a:rPr lang="en-US" altLang="zh-CN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設計</a:t>
            </a:r>
            <a:r>
              <a:rPr lang="en-US" altLang="zh-CN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測試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4" name="直線單箭頭接點 23"/>
          <p:cNvCxnSpPr>
            <a:stCxn id="3" idx="0"/>
            <a:endCxn id="11" idx="2"/>
          </p:cNvCxnSpPr>
          <p:nvPr/>
        </p:nvCxnSpPr>
        <p:spPr>
          <a:xfrm flipV="1">
            <a:off x="4247964" y="1391579"/>
            <a:ext cx="0" cy="4352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3" idx="2"/>
            <a:endCxn id="10" idx="0"/>
          </p:cNvCxnSpPr>
          <p:nvPr/>
        </p:nvCxnSpPr>
        <p:spPr>
          <a:xfrm>
            <a:off x="4247964" y="5054696"/>
            <a:ext cx="0" cy="444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5537837" y="5757646"/>
            <a:ext cx="2922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latin typeface="Century Gothic" panose="020B0502020202020204" pitchFamily="34" charset="0"/>
                <a:ea typeface="標楷體" panose="03000509000000000000" pitchFamily="65" charset="-120"/>
              </a:rPr>
              <a:t>SAP/</a:t>
            </a:r>
            <a:r>
              <a:rPr lang="en-US" altLang="zh-TW" sz="2400" dirty="0">
                <a:latin typeface="Century Gothic" panose="020B0502020202020204" pitchFamily="34" charset="0"/>
                <a:ea typeface="標楷體" panose="03000509000000000000" pitchFamily="65" charset="-120"/>
              </a:rPr>
              <a:t>PDM/B2B/SFC</a:t>
            </a:r>
          </a:p>
        </p:txBody>
      </p:sp>
      <p:cxnSp>
        <p:nvCxnSpPr>
          <p:cNvPr id="33" name="直線單箭頭接點 32"/>
          <p:cNvCxnSpPr>
            <a:stCxn id="3" idx="1"/>
            <a:endCxn id="9" idx="3"/>
          </p:cNvCxnSpPr>
          <p:nvPr/>
        </p:nvCxnSpPr>
        <p:spPr>
          <a:xfrm flipH="1" flipV="1">
            <a:off x="2571751" y="3440759"/>
            <a:ext cx="488081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132189" y="4072541"/>
            <a:ext cx="2646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製造</a:t>
            </a:r>
            <a:r>
              <a:rPr lang="en-US" altLang="zh-CN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研發</a:t>
            </a:r>
            <a:r>
              <a:rPr lang="en-US" altLang="zh-CN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供應鏈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7966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67F0-45D4-4D07-8880-5B58BFBEC0C5}" type="slidenum">
              <a:rPr lang="zh-CN" altLang="en-US" smtClean="0"/>
              <a:pPr/>
              <a:t>20</a:t>
            </a:fld>
            <a:endParaRPr lang="en-US" altLang="zh-CN" dirty="0">
              <a:solidFill>
                <a:srgbClr val="7F7F7F"/>
              </a:solidFill>
            </a:endParaRPr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3159987" y="2371723"/>
            <a:ext cx="2966508" cy="86409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 dirty="0">
                <a:ln w="12700">
                  <a:noFill/>
                  <a:prstDash val="solid"/>
                </a:ln>
                <a:solidFill>
                  <a:srgbClr val="6EC9EE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dirty="0" smtClean="0">
                <a:latin typeface="Arial" charset="0"/>
              </a:rPr>
              <a:t>培訓計劃</a:t>
            </a:r>
            <a:endParaRPr lang="zh-TW" altLang="en-US" dirty="0" smtClean="0">
              <a:latin typeface="Arial" charset="0"/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1187624" y="3573016"/>
            <a:ext cx="61926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1619672" y="3342183"/>
            <a:ext cx="5319085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latin typeface="Century Gothic" panose="020B0502020202020204" pitchFamily="34" charset="0"/>
              </a:rPr>
              <a:t>Chance favors the prepared mind</a:t>
            </a:r>
            <a:endParaRPr lang="zh-TW" altLang="en-US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510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118CA-02C7-4976-9B30-3B105AA744FC}" type="slidenum">
              <a:rPr lang="zh-CN" altLang="en-US" smtClean="0"/>
              <a:pPr/>
              <a:t>21</a:t>
            </a:fld>
            <a:endParaRPr lang="en-US" altLang="zh-CN"/>
          </a:p>
        </p:txBody>
      </p:sp>
      <p:sp>
        <p:nvSpPr>
          <p:cNvPr id="3" name="圓角矩形 2"/>
          <p:cNvSpPr/>
          <p:nvPr/>
        </p:nvSpPr>
        <p:spPr>
          <a:xfrm>
            <a:off x="1467528" y="2597689"/>
            <a:ext cx="1520296" cy="885292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入職規章制度培訓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691680" y="162879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新人訓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334806" y="163100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在職培訓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045854" y="1631005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年度常規訓練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424446" y="162879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外部培訓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9" name="直線接點 8"/>
          <p:cNvCxnSpPr/>
          <p:nvPr/>
        </p:nvCxnSpPr>
        <p:spPr>
          <a:xfrm>
            <a:off x="251520" y="2204864"/>
            <a:ext cx="86409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1259632" y="1268760"/>
            <a:ext cx="0" cy="51845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294926" y="280950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人資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94927" y="413848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部門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93835" y="541981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集團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標題 1"/>
          <p:cNvSpPr txBox="1">
            <a:spLocks/>
          </p:cNvSpPr>
          <p:nvPr/>
        </p:nvSpPr>
        <p:spPr>
          <a:xfrm>
            <a:off x="457200" y="274638"/>
            <a:ext cx="7776000" cy="114300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 dirty="0">
                <a:ln w="12700">
                  <a:noFill/>
                  <a:prstDash val="solid"/>
                </a:ln>
                <a:solidFill>
                  <a:srgbClr val="6EC9EE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dirty="0" smtClean="0"/>
              <a:t>教育訓練體系</a:t>
            </a:r>
            <a:endParaRPr lang="zh-TW" altLang="en-US" dirty="0"/>
          </a:p>
        </p:txBody>
      </p:sp>
      <p:sp>
        <p:nvSpPr>
          <p:cNvPr id="17" name="圓角矩形 16"/>
          <p:cNvSpPr/>
          <p:nvPr/>
        </p:nvSpPr>
        <p:spPr>
          <a:xfrm>
            <a:off x="1505531" y="3890664"/>
            <a:ext cx="1520296" cy="95730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入職基礎技能培訓</a:t>
            </a:r>
            <a:endParaRPr lang="en-US" altLang="zh-CN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圓角矩形 17"/>
          <p:cNvSpPr/>
          <p:nvPr/>
        </p:nvSpPr>
        <p:spPr>
          <a:xfrm>
            <a:off x="3334806" y="3890664"/>
            <a:ext cx="1520296" cy="9573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師徒制</a:t>
            </a:r>
            <a:endParaRPr lang="en-US" altLang="zh-CN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在職訓練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9" name="圓角矩形 18"/>
          <p:cNvSpPr/>
          <p:nvPr/>
        </p:nvSpPr>
        <p:spPr>
          <a:xfrm>
            <a:off x="5148064" y="5208004"/>
            <a:ext cx="1800200" cy="885292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Century Gothic" panose="020B0502020202020204" pitchFamily="34" charset="0"/>
                <a:ea typeface="標楷體" panose="03000509000000000000" pitchFamily="65" charset="-120"/>
              </a:rPr>
              <a:t>技委會</a:t>
            </a:r>
            <a:endParaRPr lang="en-US" altLang="zh-CN" sz="2400" dirty="0" smtClean="0">
              <a:latin typeface="Century Gothic" panose="020B0502020202020204" pitchFamily="34" charset="0"/>
              <a:ea typeface="標楷體" panose="03000509000000000000" pitchFamily="65" charset="-120"/>
            </a:endParaRPr>
          </a:p>
          <a:p>
            <a:pPr algn="ctr"/>
            <a:r>
              <a:rPr lang="zh-CN" altLang="en-US" sz="2400" dirty="0" smtClean="0">
                <a:latin typeface="Century Gothic" panose="020B0502020202020204" pitchFamily="34" charset="0"/>
                <a:ea typeface="標楷體" panose="03000509000000000000" pitchFamily="65" charset="-120"/>
              </a:rPr>
              <a:t>遠程課程</a:t>
            </a:r>
            <a:endParaRPr lang="zh-TW" altLang="en-US" sz="2400" dirty="0">
              <a:latin typeface="Century Gothic" panose="020B0502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20" name="圓角矩形 19"/>
          <p:cNvSpPr/>
          <p:nvPr/>
        </p:nvSpPr>
        <p:spPr>
          <a:xfrm>
            <a:off x="7372184" y="2597689"/>
            <a:ext cx="1520296" cy="88529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管理崗位培訓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" name="圓角矩形 21"/>
          <p:cNvSpPr/>
          <p:nvPr/>
        </p:nvSpPr>
        <p:spPr>
          <a:xfrm>
            <a:off x="7372184" y="5208004"/>
            <a:ext cx="1520296" cy="885292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學歷教育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" name="圓角矩形 22"/>
          <p:cNvSpPr/>
          <p:nvPr/>
        </p:nvSpPr>
        <p:spPr>
          <a:xfrm>
            <a:off x="5148064" y="3890664"/>
            <a:ext cx="1800200" cy="9573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專業技能培訓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84519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118CA-02C7-4976-9B30-3B105AA744FC}" type="slidenum">
              <a:rPr lang="zh-CN" altLang="en-US" smtClean="0"/>
              <a:pPr/>
              <a:t>22</a:t>
            </a:fld>
            <a:endParaRPr lang="en-US" altLang="zh-CN"/>
          </a:p>
        </p:txBody>
      </p:sp>
      <p:sp>
        <p:nvSpPr>
          <p:cNvPr id="3" name="標題 1"/>
          <p:cNvSpPr txBox="1">
            <a:spLocks/>
          </p:cNvSpPr>
          <p:nvPr/>
        </p:nvSpPr>
        <p:spPr>
          <a:xfrm>
            <a:off x="457200" y="274638"/>
            <a:ext cx="7776000" cy="114300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 dirty="0">
                <a:ln w="12700">
                  <a:noFill/>
                  <a:prstDash val="solid"/>
                </a:ln>
                <a:solidFill>
                  <a:srgbClr val="6EC9EE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dirty="0" smtClean="0"/>
              <a:t>入職培訓計劃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585797"/>
              </p:ext>
            </p:extLst>
          </p:nvPr>
        </p:nvGraphicFramePr>
        <p:xfrm>
          <a:off x="453434" y="1441291"/>
          <a:ext cx="8208912" cy="486802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12168"/>
                <a:gridCol w="3672408"/>
                <a:gridCol w="1382262"/>
                <a:gridCol w="1642074"/>
              </a:tblGrid>
              <a:tr h="81133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aseline="0" dirty="0" smtClean="0"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類別</a:t>
                      </a:r>
                      <a:endParaRPr lang="zh-TW" altLang="en-US" sz="2400" baseline="0" dirty="0"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aseline="0" dirty="0" smtClean="0"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課程名稱</a:t>
                      </a:r>
                      <a:endParaRPr lang="zh-TW" altLang="en-US" sz="2400" baseline="0" dirty="0" smtClean="0"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aseline="0" dirty="0" smtClean="0"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三月</a:t>
                      </a:r>
                      <a:endParaRPr lang="zh-TW" altLang="en-US" sz="2400" baseline="0" dirty="0"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aseline="0" dirty="0" smtClean="0"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四月</a:t>
                      </a:r>
                      <a:endParaRPr lang="zh-TW" altLang="en-US" sz="2400" baseline="0" dirty="0" smtClean="0"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</a:tr>
              <a:tr h="811338">
                <a:tc>
                  <a:txBody>
                    <a:bodyPr/>
                    <a:lstStyle/>
                    <a:p>
                      <a:r>
                        <a:rPr lang="en-US" altLang="zh-TW" sz="2400" baseline="0" dirty="0" smtClean="0"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.NET </a:t>
                      </a:r>
                      <a:r>
                        <a:rPr lang="zh-CN" altLang="en-US" sz="2400" baseline="0" dirty="0" smtClean="0"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平臺</a:t>
                      </a:r>
                      <a:endParaRPr lang="zh-TW" altLang="en-US" sz="2400" baseline="0" dirty="0"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400" baseline="0" dirty="0" smtClean="0"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C#, ASP.NET, ADO.NET</a:t>
                      </a:r>
                      <a:endParaRPr lang="zh-TW" altLang="en-US" sz="2400" baseline="0" dirty="0"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2400" baseline="0" dirty="0"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2400" baseline="0" dirty="0"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</a:tr>
              <a:tr h="811338">
                <a:tc>
                  <a:txBody>
                    <a:bodyPr/>
                    <a:lstStyle/>
                    <a:p>
                      <a:r>
                        <a:rPr lang="en-US" altLang="zh-TW" sz="2400" baseline="0" dirty="0" smtClean="0"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WEB </a:t>
                      </a:r>
                      <a:r>
                        <a:rPr lang="zh-CN" altLang="en-US" sz="2400" baseline="0" dirty="0" smtClean="0"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開發</a:t>
                      </a:r>
                      <a:endParaRPr lang="zh-TW" altLang="en-US" sz="2400" baseline="0" dirty="0"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 baseline="0" dirty="0" smtClean="0"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Ajax, </a:t>
                      </a:r>
                      <a:r>
                        <a:rPr lang="en-US" altLang="zh-CN" sz="2400" baseline="0" dirty="0" err="1" smtClean="0"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Javascript</a:t>
                      </a:r>
                      <a:r>
                        <a:rPr lang="en-US" altLang="zh-CN" sz="2400" baseline="0" dirty="0" smtClean="0"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, jQuery</a:t>
                      </a:r>
                      <a:endParaRPr lang="zh-TW" altLang="en-US" sz="2400" baseline="0" dirty="0"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2400" baseline="0" dirty="0"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2400" baseline="0" dirty="0"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</a:tr>
              <a:tr h="811338">
                <a:tc>
                  <a:txBody>
                    <a:bodyPr/>
                    <a:lstStyle/>
                    <a:p>
                      <a:r>
                        <a:rPr lang="zh-CN" altLang="en-US" sz="2400" baseline="0" dirty="0" smtClean="0"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數據庫</a:t>
                      </a:r>
                      <a:endParaRPr lang="zh-TW" altLang="en-US" sz="2400" baseline="0" dirty="0"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 baseline="0" dirty="0" smtClean="0"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SQL Server, Oracle</a:t>
                      </a:r>
                      <a:endParaRPr lang="zh-TW" altLang="en-US" sz="2400" baseline="0" dirty="0"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2400" baseline="0"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2400" baseline="0" dirty="0"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</a:tr>
              <a:tr h="811338">
                <a:tc>
                  <a:txBody>
                    <a:bodyPr/>
                    <a:lstStyle/>
                    <a:p>
                      <a:r>
                        <a:rPr lang="zh-CN" altLang="en-US" sz="2400" baseline="0" dirty="0" smtClean="0"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平臺架構</a:t>
                      </a:r>
                      <a:endParaRPr lang="zh-TW" altLang="en-US" sz="2400" baseline="0" dirty="0"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400" baseline="0" dirty="0" smtClean="0"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電子簽核</a:t>
                      </a:r>
                      <a:r>
                        <a:rPr lang="en-US" altLang="zh-CN" sz="2400" baseline="0" dirty="0" smtClean="0"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, </a:t>
                      </a:r>
                      <a:r>
                        <a:rPr lang="en-US" altLang="zh-CN" sz="2400" baseline="0" dirty="0" err="1" smtClean="0"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OpenFx</a:t>
                      </a:r>
                      <a:endParaRPr lang="zh-TW" altLang="en-US" sz="2400" baseline="0" dirty="0"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2400" baseline="0" dirty="0"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2400" baseline="0" dirty="0"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</a:tr>
              <a:tr h="811338">
                <a:tc>
                  <a:txBody>
                    <a:bodyPr/>
                    <a:lstStyle/>
                    <a:p>
                      <a:r>
                        <a:rPr lang="zh-CN" altLang="en-US" sz="2400" baseline="0" dirty="0" smtClean="0"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企業流程</a:t>
                      </a:r>
                      <a:endParaRPr lang="zh-TW" altLang="en-US" sz="2400" baseline="0" dirty="0"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400" baseline="0" dirty="0" smtClean="0"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工管流程</a:t>
                      </a:r>
                      <a:r>
                        <a:rPr lang="en-US" altLang="zh-CN" sz="2400" baseline="0" dirty="0" smtClean="0"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, </a:t>
                      </a:r>
                      <a:r>
                        <a:rPr lang="zh-CN" altLang="en-US" sz="2400" baseline="0" dirty="0" smtClean="0">
                          <a:latin typeface="Century Gothic" panose="020B0502020202020204" pitchFamily="34" charset="0"/>
                          <a:ea typeface="標楷體" panose="03000509000000000000" pitchFamily="65" charset="-120"/>
                        </a:rPr>
                        <a:t>生管流程</a:t>
                      </a:r>
                      <a:endParaRPr lang="zh-TW" altLang="en-US" sz="2400" baseline="0" dirty="0"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2400" baseline="0" dirty="0"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2400" baseline="0" dirty="0">
                        <a:latin typeface="Century Gothic" panose="020B0502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5" name="等腰三角形 24"/>
          <p:cNvSpPr/>
          <p:nvPr/>
        </p:nvSpPr>
        <p:spPr>
          <a:xfrm>
            <a:off x="5736417" y="2502063"/>
            <a:ext cx="144016" cy="216024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等腰三角形 27"/>
          <p:cNvSpPr/>
          <p:nvPr/>
        </p:nvSpPr>
        <p:spPr>
          <a:xfrm>
            <a:off x="6137704" y="2501280"/>
            <a:ext cx="144016" cy="216024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等腰三角形 28"/>
          <p:cNvSpPr/>
          <p:nvPr/>
        </p:nvSpPr>
        <p:spPr>
          <a:xfrm>
            <a:off x="6444208" y="2501280"/>
            <a:ext cx="144016" cy="216024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等腰三角形 29"/>
          <p:cNvSpPr/>
          <p:nvPr/>
        </p:nvSpPr>
        <p:spPr>
          <a:xfrm>
            <a:off x="6750712" y="2501280"/>
            <a:ext cx="144016" cy="216024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等腰三角形 30"/>
          <p:cNvSpPr/>
          <p:nvPr/>
        </p:nvSpPr>
        <p:spPr>
          <a:xfrm>
            <a:off x="7812360" y="2501280"/>
            <a:ext cx="144016" cy="216024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等腰三角形 32"/>
          <p:cNvSpPr/>
          <p:nvPr/>
        </p:nvSpPr>
        <p:spPr>
          <a:xfrm>
            <a:off x="7105740" y="3356992"/>
            <a:ext cx="144016" cy="216024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等腰三角形 33"/>
          <p:cNvSpPr/>
          <p:nvPr/>
        </p:nvSpPr>
        <p:spPr>
          <a:xfrm>
            <a:off x="7478148" y="4174976"/>
            <a:ext cx="144016" cy="216024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等腰三角形 34"/>
          <p:cNvSpPr/>
          <p:nvPr/>
        </p:nvSpPr>
        <p:spPr>
          <a:xfrm>
            <a:off x="6137704" y="4174976"/>
            <a:ext cx="144016" cy="216024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等腰三角形 35"/>
          <p:cNvSpPr/>
          <p:nvPr/>
        </p:nvSpPr>
        <p:spPr>
          <a:xfrm>
            <a:off x="8100392" y="4174976"/>
            <a:ext cx="144016" cy="216024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等腰三角形 36"/>
          <p:cNvSpPr/>
          <p:nvPr/>
        </p:nvSpPr>
        <p:spPr>
          <a:xfrm>
            <a:off x="7812360" y="5033067"/>
            <a:ext cx="144016" cy="216024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等腰三角形 37"/>
          <p:cNvSpPr/>
          <p:nvPr/>
        </p:nvSpPr>
        <p:spPr>
          <a:xfrm>
            <a:off x="8388424" y="5013176"/>
            <a:ext cx="144016" cy="216024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等腰三角形 38"/>
          <p:cNvSpPr/>
          <p:nvPr/>
        </p:nvSpPr>
        <p:spPr>
          <a:xfrm>
            <a:off x="6750712" y="5805264"/>
            <a:ext cx="144016" cy="216024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等腰三角形 39"/>
          <p:cNvSpPr/>
          <p:nvPr/>
        </p:nvSpPr>
        <p:spPr>
          <a:xfrm>
            <a:off x="8388424" y="5862685"/>
            <a:ext cx="144016" cy="216024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3" name="直線接點 42"/>
          <p:cNvCxnSpPr/>
          <p:nvPr/>
        </p:nvCxnSpPr>
        <p:spPr>
          <a:xfrm>
            <a:off x="6005125" y="2267636"/>
            <a:ext cx="0" cy="4034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等腰三角形 40"/>
          <p:cNvSpPr/>
          <p:nvPr/>
        </p:nvSpPr>
        <p:spPr>
          <a:xfrm>
            <a:off x="6444208" y="3509392"/>
            <a:ext cx="144016" cy="216024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等腰三角形 26"/>
          <p:cNvSpPr/>
          <p:nvPr/>
        </p:nvSpPr>
        <p:spPr>
          <a:xfrm>
            <a:off x="5888817" y="2501280"/>
            <a:ext cx="144016" cy="216024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6" name="直線接點 45"/>
          <p:cNvCxnSpPr/>
          <p:nvPr/>
        </p:nvCxnSpPr>
        <p:spPr>
          <a:xfrm>
            <a:off x="6335256" y="2265756"/>
            <a:ext cx="0" cy="4034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>
            <a:off x="6678704" y="2265756"/>
            <a:ext cx="0" cy="4034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7369196" y="2265756"/>
            <a:ext cx="0" cy="4034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7721880" y="2265756"/>
            <a:ext cx="0" cy="4034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8019148" y="2267636"/>
            <a:ext cx="0" cy="4034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等腰三角形 31"/>
          <p:cNvSpPr/>
          <p:nvPr/>
        </p:nvSpPr>
        <p:spPr>
          <a:xfrm>
            <a:off x="7308304" y="3356992"/>
            <a:ext cx="144016" cy="216024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1" name="直線接點 50"/>
          <p:cNvCxnSpPr/>
          <p:nvPr/>
        </p:nvCxnSpPr>
        <p:spPr>
          <a:xfrm>
            <a:off x="8334888" y="2267636"/>
            <a:ext cx="0" cy="4034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39782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3911123-265D-4EF9-B2D6-0056904EBE69}" type="slidenum">
              <a:rPr lang="zh-CN" altLang="en-US" sz="1400" smtClean="0">
                <a:solidFill>
                  <a:srgbClr val="2578B0"/>
                </a:solidFill>
                <a:ea typeface="宋体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zh-CN" sz="1400" dirty="0">
              <a:solidFill>
                <a:srgbClr val="7F7F7F"/>
              </a:solidFill>
              <a:ea typeface="宋体" pitchFamily="2" charset="-122"/>
            </a:endParaRPr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2128196" y="2204864"/>
            <a:ext cx="4371630" cy="86409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 dirty="0">
                <a:ln w="12700">
                  <a:noFill/>
                  <a:prstDash val="solid"/>
                </a:ln>
                <a:solidFill>
                  <a:srgbClr val="6EC9EE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dirty="0" smtClean="0">
                <a:latin typeface="Arial" charset="0"/>
              </a:rPr>
              <a:t>歡迎諮詢與溝通</a:t>
            </a:r>
            <a:endParaRPr lang="zh-TW" altLang="en-US" dirty="0" smtClean="0">
              <a:latin typeface="Arial" charset="0"/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2267744" y="3573016"/>
            <a:ext cx="38884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2906746" y="3338520"/>
            <a:ext cx="2654894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Century Gothic" panose="020B0502020202020204" pitchFamily="34" charset="0"/>
                <a:ea typeface="標楷體" panose="03000509000000000000" pitchFamily="65" charset="-120"/>
              </a:rPr>
              <a:t>朱優良 </a:t>
            </a:r>
            <a:r>
              <a:rPr lang="en-US" altLang="zh-CN" sz="2400" dirty="0" smtClean="0">
                <a:latin typeface="Century Gothic" panose="020B0502020202020204" pitchFamily="34" charset="0"/>
                <a:ea typeface="標楷體" panose="03000509000000000000" pitchFamily="65" charset="-120"/>
              </a:rPr>
              <a:t>566-76694</a:t>
            </a:r>
            <a:endParaRPr lang="zh-TW" altLang="en-US" sz="2400" dirty="0">
              <a:latin typeface="Century Gothic" panose="020B0502020202020204" pitchFamily="34" charset="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鳳舞九天">
  <a:themeElements>
    <a:clrScheme name="自訂 1">
      <a:dk1>
        <a:srgbClr val="000000"/>
      </a:dk1>
      <a:lt1>
        <a:sysClr val="window" lastClr="FFFFFF"/>
      </a:lt1>
      <a:dk2>
        <a:srgbClr val="282828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0070C0"/>
      </a:accent6>
      <a:hlink>
        <a:srgbClr val="26CBEC"/>
      </a:hlink>
      <a:folHlink>
        <a:srgbClr val="598C8C"/>
      </a:folHlink>
    </a:clrScheme>
    <a:fontScheme name="鳳舞九天">
      <a:majorFont>
        <a:latin typeface="Footlight MT Light"/>
        <a:ea typeface=""/>
        <a:cs typeface=""/>
        <a:font script="Jpan" typeface="ＭＳ Ｐゴシック"/>
        <a:font script="Hang" typeface="맑은 고딕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oudy Old Style"/>
        <a:ea typeface=""/>
        <a:cs typeface=""/>
        <a:font script="Jpan" typeface="ＭＳ Ｐ明朝"/>
        <a:font script="Hang" typeface="HY견명조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鳳舞九天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atMod val="180000"/>
              </a:schemeClr>
            </a:gs>
            <a:gs pos="50000">
              <a:schemeClr val="phClr">
                <a:tint val="40000"/>
                <a:satMod val="175000"/>
              </a:schemeClr>
            </a:gs>
            <a:gs pos="100000">
              <a:schemeClr val="phClr">
                <a:tint val="65000"/>
                <a:satMod val="180000"/>
              </a:schemeClr>
            </a:gs>
          </a:gsLst>
          <a:lin ang="0" scaled="1"/>
        </a:gradFill>
        <a:gradFill rotWithShape="1">
          <a:gsLst>
            <a:gs pos="0">
              <a:schemeClr val="phClr">
                <a:shade val="38000"/>
                <a:satMod val="150000"/>
              </a:schemeClr>
            </a:gs>
            <a:gs pos="50000">
              <a:schemeClr val="phClr">
                <a:shade val="100000"/>
                <a:satMod val="100000"/>
              </a:schemeClr>
            </a:gs>
            <a:gs pos="100000">
              <a:schemeClr val="phClr">
                <a:shade val="38000"/>
                <a:satMod val="150000"/>
              </a:schemeClr>
            </a:gs>
          </a:gsLst>
          <a:lin ang="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00000"/>
              </a:schemeClr>
            </a:gs>
            <a:gs pos="100000">
              <a:schemeClr val="phClr">
                <a:shade val="15000"/>
                <a:satMod val="300000"/>
              </a:schemeClr>
            </a:gs>
          </a:gsLst>
          <a:path path="circle">
            <a:fillToRect l="10000" t="180000" r="1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tile tx="0" ty="0" sx="50000" sy="5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8E6D033576FE4C89B5B58F7CDD28F5" ma:contentTypeVersion="0" ma:contentTypeDescription="Create a new document." ma:contentTypeScope="" ma:versionID="18f551522bda887c93ad28cce0dadfc2">
  <xsd:schema xmlns:xsd="http://www.w3.org/2001/XMLSchema" xmlns:p="http://schemas.microsoft.com/office/2006/metadata/properties" targetNamespace="http://schemas.microsoft.com/office/2006/metadata/properties" ma:root="true" ma:fieldsID="3a4163e51cafc3020aa42c1bc2fb0c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Ite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284A1D-E0CC-43A7-8EDB-B0DE6D0C9185}"/>
</file>

<file path=customXml/itemProps2.xml><?xml version="1.0" encoding="utf-8"?>
<ds:datastoreItem xmlns:ds="http://schemas.openxmlformats.org/officeDocument/2006/customXml" ds:itemID="{4CE45F62-49ED-4087-BDAE-AC2A7BD5FBD7}"/>
</file>

<file path=customXml/itemProps3.xml><?xml version="1.0" encoding="utf-8"?>
<ds:datastoreItem xmlns:ds="http://schemas.openxmlformats.org/officeDocument/2006/customXml" ds:itemID="{06523C86-E6D7-4AEA-92E0-697FE3A81E84}"/>
</file>

<file path=docProps/app.xml><?xml version="1.0" encoding="utf-8"?>
<Properties xmlns="http://schemas.openxmlformats.org/officeDocument/2006/extended-properties" xmlns:vt="http://schemas.openxmlformats.org/officeDocument/2006/docPropsVTypes">
  <Template>灰與藍</Template>
  <TotalTime>16145</TotalTime>
  <Words>1003</Words>
  <Application>Microsoft Office PowerPoint</Application>
  <PresentationFormat>如螢幕大小 (4:3)</PresentationFormat>
  <Paragraphs>385</Paragraphs>
  <Slides>24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5" baseType="lpstr">
      <vt:lpstr>鳳舞九天</vt:lpstr>
      <vt:lpstr>新人入職須知</vt:lpstr>
      <vt:lpstr>大綱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考核原則</vt:lpstr>
      <vt:lpstr>主觀依據</vt:lpstr>
      <vt:lpstr>客觀量化指標與 KPI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F2806229</dc:creator>
  <cp:lastModifiedBy>Def Y.L. Zhu</cp:lastModifiedBy>
  <cp:revision>1352</cp:revision>
  <dcterms:created xsi:type="dcterms:W3CDTF">2012-09-13T07:43:19Z</dcterms:created>
  <dcterms:modified xsi:type="dcterms:W3CDTF">2014-03-12T04:06:31Z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0x010100358E6D033576FE4C89B5B58F7CDD28F5</vt:lpwstr>
  </property>
</Properties>
</file>