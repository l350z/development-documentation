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5" r:id="rId2"/>
    <p:sldId id="257" r:id="rId3"/>
    <p:sldId id="268" r:id="rId4"/>
    <p:sldId id="262" r:id="rId5"/>
    <p:sldId id="263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904"/>
    <a:srgbClr val="E06B0A"/>
    <a:srgbClr val="F4750C"/>
    <a:srgbClr val="990000"/>
    <a:srgbClr val="C75F09"/>
    <a:srgbClr val="004FEE"/>
    <a:srgbClr val="952B3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01" autoAdjust="0"/>
  </p:normalViewPr>
  <p:slideViewPr>
    <p:cSldViewPr>
      <p:cViewPr varScale="1">
        <p:scale>
          <a:sx n="73" d="100"/>
          <a:sy n="73" d="100"/>
        </p:scale>
        <p:origin x="-10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1878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B5293-6D7C-4C68-A015-C4F8144D15FB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ACEE8-7210-40B8-8E0E-536D82C545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E1CDE-BD83-4A06-B617-E0CB9E42B5AE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665DF-280E-4F62-B7E5-8CC08378D83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28596" y="50004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60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Documents and Settings\F6106155\桌面\背景\一個人思考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9144000" cy="5500702"/>
          </a:xfrm>
          <a:prstGeom prst="rect">
            <a:avLst/>
          </a:prstGeom>
          <a:noFill/>
        </p:spPr>
      </p:pic>
      <p:sp>
        <p:nvSpPr>
          <p:cNvPr id="5" name="文字方塊 4"/>
          <p:cNvSpPr txBox="1"/>
          <p:nvPr/>
        </p:nvSpPr>
        <p:spPr>
          <a:xfrm>
            <a:off x="60632" y="457838"/>
            <a:ext cx="88582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800" b="1" dirty="0" smtClean="0">
                <a:latin typeface="SimHei" pitchFamily="2" charset="-122"/>
                <a:ea typeface="SimHei" pitchFamily="2" charset="-122"/>
              </a:rPr>
              <a:t>好文推薦</a:t>
            </a:r>
            <a:r>
              <a:rPr lang="en-US" altLang="zh-TW" sz="3800" b="1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r>
              <a:rPr lang="en-US" altLang="zh-TW" sz="3800" b="1" dirty="0" smtClean="0">
                <a:latin typeface="SimHei" pitchFamily="2" charset="-122"/>
                <a:ea typeface="SimHei" pitchFamily="2" charset="-122"/>
              </a:rPr>
              <a:t>《</a:t>
            </a:r>
            <a:r>
              <a:rPr lang="zh-TW" altLang="en-US" sz="3800" b="1" i="1" dirty="0" smtClean="0">
                <a:solidFill>
                  <a:srgbClr val="004FEE"/>
                </a:solidFill>
                <a:latin typeface="SimHei" pitchFamily="2" charset="-122"/>
                <a:ea typeface="SimHei" pitchFamily="2" charset="-122"/>
              </a:rPr>
              <a:t>不要等老闆來安排你的工作</a:t>
            </a:r>
            <a:r>
              <a:rPr lang="en-US" altLang="zh-TW" sz="3800" b="1" dirty="0" smtClean="0">
                <a:latin typeface="SimHei" pitchFamily="2" charset="-122"/>
                <a:ea typeface="SimHei" pitchFamily="2" charset="-122"/>
              </a:rPr>
              <a:t>》</a:t>
            </a:r>
            <a:endParaRPr lang="zh-TW" altLang="en-US" sz="3800" b="1" dirty="0">
              <a:latin typeface="SimHei" pitchFamily="2" charset="-122"/>
              <a:ea typeface="SimHei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00364" y="4286256"/>
            <a:ext cx="59293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smtClean="0">
                <a:solidFill>
                  <a:schemeClr val="bg1"/>
                </a:solidFill>
                <a:latin typeface="SimHei" pitchFamily="2" charset="-122"/>
                <a:ea typeface="SimHei" pitchFamily="2" charset="-122"/>
              </a:rPr>
              <a:t>昔日</a:t>
            </a:r>
            <a:r>
              <a:rPr lang="zh-TW" altLang="en-US" sz="2400" b="1" dirty="0" smtClean="0">
                <a:solidFill>
                  <a:schemeClr val="bg1"/>
                </a:solidFill>
                <a:latin typeface="SimHei" pitchFamily="2" charset="-122"/>
                <a:ea typeface="SimHei" pitchFamily="2" charset="-122"/>
              </a:rPr>
              <a:t>那種“聽命行事”的員工已經失去競爭優勢了，今天企業欣賞的是那種不必老闆交代，就</a:t>
            </a:r>
            <a:r>
              <a:rPr lang="zh-TW" altLang="en-US" sz="3600" b="1" u="sng" dirty="0" smtClean="0">
                <a:solidFill>
                  <a:srgbClr val="FFFF00"/>
                </a:solidFill>
                <a:latin typeface="SimHei" pitchFamily="2" charset="-122"/>
                <a:ea typeface="SimHei" pitchFamily="2" charset="-122"/>
              </a:rPr>
              <a:t>自動自發</a:t>
            </a:r>
            <a:r>
              <a:rPr lang="zh-TW" altLang="en-US" sz="2400" b="1" dirty="0" smtClean="0">
                <a:solidFill>
                  <a:schemeClr val="bg1"/>
                </a:solidFill>
                <a:latin typeface="SimHei" pitchFamily="2" charset="-122"/>
                <a:ea typeface="SimHei" pitchFamily="2" charset="-122"/>
              </a:rPr>
              <a:t>去工作的人。</a:t>
            </a:r>
            <a:endParaRPr lang="zh-TW" altLang="en-US" sz="2400" dirty="0">
              <a:solidFill>
                <a:schemeClr val="bg1"/>
              </a:solidFill>
              <a:latin typeface="SimHei" pitchFamily="2" charset="-122"/>
              <a:ea typeface="SimHei" pitchFamily="2" charset="-122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000364" y="1857364"/>
            <a:ext cx="578647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 smtClean="0">
                <a:solidFill>
                  <a:schemeClr val="bg1"/>
                </a:solidFill>
                <a:latin typeface="SimHei" pitchFamily="2" charset="-122"/>
                <a:ea typeface="SimHei" pitchFamily="2" charset="-122"/>
              </a:rPr>
              <a:t>公司</a:t>
            </a:r>
            <a:r>
              <a:rPr lang="zh-TW" altLang="en-US" sz="2400" b="1" dirty="0" smtClean="0">
                <a:solidFill>
                  <a:schemeClr val="bg1"/>
                </a:solidFill>
                <a:latin typeface="SimHei" pitchFamily="2" charset="-122"/>
                <a:ea typeface="SimHei" pitchFamily="2" charset="-122"/>
              </a:rPr>
              <a:t>裡總有一些人認為做完老闆安排的事情就很不錯了。然而，在企業裡，雖然聽命行事相當重要，但是個人</a:t>
            </a:r>
            <a:endParaRPr lang="en-US" altLang="zh-TW" sz="2400" b="1" dirty="0" smtClean="0">
              <a:solidFill>
                <a:schemeClr val="bg1"/>
              </a:solidFill>
              <a:latin typeface="SimHei" pitchFamily="2" charset="-122"/>
              <a:ea typeface="SimHei" pitchFamily="2" charset="-122"/>
            </a:endParaRPr>
          </a:p>
          <a:p>
            <a:r>
              <a:rPr lang="zh-TW" altLang="en-US" sz="4000" b="1" u="sng" dirty="0" smtClean="0">
                <a:solidFill>
                  <a:srgbClr val="FFFF00"/>
                </a:solidFill>
                <a:latin typeface="SimHei" pitchFamily="2" charset="-122"/>
                <a:ea typeface="SimHei" pitchFamily="2" charset="-122"/>
              </a:rPr>
              <a:t>主動進取</a:t>
            </a:r>
            <a:r>
              <a:rPr lang="zh-TW" altLang="en-US" sz="2400" b="1" dirty="0" smtClean="0">
                <a:solidFill>
                  <a:schemeClr val="bg1"/>
                </a:solidFill>
                <a:latin typeface="SimHei" pitchFamily="2" charset="-122"/>
                <a:ea typeface="SimHei" pitchFamily="2" charset="-122"/>
              </a:rPr>
              <a:t>的精神更重要。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Documents and Settings\F6106155\桌面\背景\老板喊話工作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714752"/>
            <a:ext cx="4286280" cy="30003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214282" y="428604"/>
            <a:ext cx="8572560" cy="3143272"/>
          </a:xfrm>
          <a:prstGeom prst="rect">
            <a:avLst/>
          </a:prstGeom>
          <a:solidFill>
            <a:srgbClr val="E06B0A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700"/>
              </a:lnSpc>
            </a:pPr>
            <a:r>
              <a:rPr lang="zh-TW" altLang="en-US" sz="2400" b="1" dirty="0" smtClean="0">
                <a:latin typeface="微軟正黑體" pitchFamily="34" charset="-120"/>
                <a:ea typeface="微軟正黑體" pitchFamily="34" charset="-120"/>
              </a:rPr>
              <a:t>美國鋼鐵大王卡耐基說：“有兩種人註定一事無成</a:t>
            </a:r>
            <a:r>
              <a:rPr lang="zh-TW" altLang="en-US" sz="2400" b="1" dirty="0" smtClean="0">
                <a:latin typeface="微軟正黑體" pitchFamily="34" charset="-120"/>
                <a:ea typeface="微軟正黑體" pitchFamily="34" charset="-120"/>
              </a:rPr>
              <a:t>，</a:t>
            </a:r>
            <a:endParaRPr lang="en-US" altLang="zh-TW" sz="2400" b="1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ts val="3700"/>
              </a:lnSpc>
            </a:pPr>
            <a:r>
              <a:rPr lang="zh-TW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一種</a:t>
            </a:r>
            <a:r>
              <a:rPr lang="zh-TW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是除非別人要他去做，否則絕不會主動做事的人</a:t>
            </a:r>
            <a:r>
              <a:rPr lang="zh-TW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TW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另外</a:t>
            </a:r>
            <a:r>
              <a:rPr lang="zh-TW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一種人則是即使別人要他做，他也做不好事情的人</a:t>
            </a:r>
            <a:r>
              <a:rPr lang="zh-TW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r>
              <a:rPr lang="en-US" altLang="zh-TW" sz="2400" b="1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2400" b="1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2400" b="1" dirty="0" smtClean="0">
                <a:latin typeface="微軟正黑體" pitchFamily="34" charset="-120"/>
                <a:ea typeface="微軟正黑體" pitchFamily="34" charset="-120"/>
              </a:rPr>
              <a:t>那些</a:t>
            </a:r>
            <a:r>
              <a:rPr lang="zh-TW" altLang="en-US" sz="2400" b="1" dirty="0" smtClean="0">
                <a:latin typeface="微軟正黑體" pitchFamily="34" charset="-120"/>
                <a:ea typeface="微軟正黑體" pitchFamily="34" charset="-120"/>
              </a:rPr>
              <a:t>不需要別人催促，就會主動去做應該做的事，而且不會半途而廢的人必定成功，這種人懂得要求自己多努力一點多付出一點，而且比別人預期的還要多。”</a:t>
            </a:r>
            <a:endParaRPr lang="zh-TW" altLang="en-US" sz="24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9" name="Picture 5" descr="C:\Documents and Settings\F6106155\桌面\背景\兩人訓一人對話.jpg"/>
          <p:cNvPicPr>
            <a:picLocks noChangeAspect="1" noChangeArrowheads="1"/>
          </p:cNvPicPr>
          <p:nvPr/>
        </p:nvPicPr>
        <p:blipFill>
          <a:blip r:embed="rId3"/>
          <a:srcRect b="3493"/>
          <a:stretch>
            <a:fillRect/>
          </a:stretch>
        </p:blipFill>
        <p:spPr bwMode="auto">
          <a:xfrm>
            <a:off x="4572000" y="3714752"/>
            <a:ext cx="4214842" cy="30003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7224" y="1785926"/>
            <a:ext cx="7215238" cy="3357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著名職業經理人衛哲鋼在初入</a:t>
            </a:r>
            <a:endParaRPr lang="zh-TW" altLang="en-US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7" name="Picture 2" descr="C:\Documents and Settings\F6106155\桌面\背景\小黃人舉手.jpg"/>
          <p:cNvPicPr>
            <a:picLocks noChangeAspect="1" noChangeArrowheads="1"/>
          </p:cNvPicPr>
          <p:nvPr/>
        </p:nvPicPr>
        <p:blipFill>
          <a:blip r:embed="rId2"/>
          <a:srcRect l="23333" t="13107" r="28810" b="14125"/>
          <a:stretch>
            <a:fillRect/>
          </a:stretch>
        </p:blipFill>
        <p:spPr bwMode="auto">
          <a:xfrm>
            <a:off x="642910" y="5143512"/>
            <a:ext cx="1985963" cy="17144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圓角矩形圖說文字 5"/>
          <p:cNvSpPr/>
          <p:nvPr/>
        </p:nvSpPr>
        <p:spPr>
          <a:xfrm>
            <a:off x="0" y="158018"/>
            <a:ext cx="9144000" cy="4786346"/>
          </a:xfrm>
          <a:prstGeom prst="wedgeRoundRectCallout">
            <a:avLst>
              <a:gd name="adj1" fmla="val -26362"/>
              <a:gd name="adj2" fmla="val 56637"/>
              <a:gd name="adj3" fmla="val 16667"/>
            </a:avLst>
          </a:prstGeom>
          <a:solidFill>
            <a:srgbClr val="E06B0A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著名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職業經理人</a:t>
            </a: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衛哲</a:t>
            </a:r>
            <a:r>
              <a:rPr lang="en-US" sz="2000" b="1" dirty="0" smtClean="0">
                <a:latin typeface="微軟正黑體" pitchFamily="34" charset="-120"/>
                <a:ea typeface="微軟正黑體" pitchFamily="34" charset="-120"/>
              </a:rPr>
              <a:t>1992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年在就讀大學期間，曾到萬國證券勤工儉學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r>
              <a:rPr lang="en-US" altLang="zh-TW" sz="2000" b="1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2000" b="1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他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翻譯的一份年報得到了萬國總裁管金生的肯定，管金生表示一定要見見這個年輕人。就是這次見面，讓衛哲</a:t>
            </a:r>
            <a:r>
              <a:rPr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成為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了“中國證券之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父”</a:t>
            </a:r>
            <a:r>
              <a:rPr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管金生</a:t>
            </a:r>
            <a:r>
              <a:rPr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的秘書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000" b="1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ts val="2600"/>
              </a:lnSpc>
            </a:pPr>
            <a:endParaRPr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ts val="2600"/>
              </a:lnSpc>
            </a:pP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與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一般秘書不同，他</a:t>
            </a:r>
            <a:r>
              <a:rPr lang="zh-TW" altLang="en-US" sz="2000" b="1" u="sng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非常主動積極</a:t>
            </a:r>
            <a:r>
              <a:rPr lang="zh-TW" altLang="en-US" sz="20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，想老闆之所想，急老闆之所急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。雖然剛開始只是翻譯年報，剪剪報紙此類</a:t>
            </a:r>
            <a:r>
              <a:rPr lang="zh-TW" altLang="en-US" sz="2000" b="1" u="sng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小事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，他卻把它</a:t>
            </a:r>
            <a:r>
              <a:rPr lang="zh-TW" altLang="en-US" sz="2000" b="1" u="sng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當成大事對待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。就連做端茶倒水這樣的小事也能琢磨出很多技巧。</a:t>
            </a:r>
            <a:endParaRPr lang="en-US" altLang="zh-TW" sz="2000" b="1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ts val="2600"/>
              </a:lnSpc>
            </a:pPr>
            <a:endParaRPr lang="en-US" altLang="zh-TW" sz="2000" b="1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ts val="2600"/>
              </a:lnSpc>
            </a:pP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比如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開會時，什麼時候去倒茶水，才不會打斷老闆講話的激情；什麼時候光倒水不加茶葉，什麼時候該帶著茶葉進去，他都能做得很有分寸。</a:t>
            </a:r>
            <a:endParaRPr lang="en-US" altLang="zh-TW" sz="2000" b="1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000" b="1" dirty="0" smtClean="0">
                <a:solidFill>
                  <a:srgbClr val="004FEE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最終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管金生認識到，如果再讓他做複印、倒水、剪報等事情，就是屈才。於是，</a:t>
            </a:r>
            <a:r>
              <a:rPr lang="en-US" sz="2000" b="1" dirty="0" smtClean="0">
                <a:latin typeface="微軟正黑體" pitchFamily="34" charset="-120"/>
                <a:ea typeface="微軟正黑體" pitchFamily="34" charset="-120"/>
              </a:rPr>
              <a:t>24</a:t>
            </a:r>
            <a:r>
              <a:rPr lang="zh-TW" altLang="en-US" sz="20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歲的衛哲出任上海萬國證券公司資產管理總部的副總經理</a:t>
            </a:r>
            <a:r>
              <a:rPr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zh-TW" altLang="en-US" sz="2000" b="1" u="sng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成為當時國內證券界最年輕的副總。</a:t>
            </a:r>
            <a:endParaRPr lang="zh-TW" altLang="en-US" sz="2000" u="sng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57488" y="5643578"/>
            <a:ext cx="542928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perspectiveAbove"/>
              <a:lightRig rig="threePt" dir="t"/>
            </a:scene3d>
          </a:bodyPr>
          <a:lstStyle/>
          <a:p>
            <a:pPr algn="ctr"/>
            <a:r>
              <a:rPr lang="zh-TW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990000"/>
                </a:solidFill>
                <a:effectLst>
                  <a:outerShdw blurRad="50800" algn="tl" rotWithShape="0">
                    <a:srgbClr val="000000"/>
                  </a:outerShdw>
                </a:effectLst>
                <a:latin typeface="SimHei" pitchFamily="2" charset="-122"/>
                <a:ea typeface="SimHei" pitchFamily="2" charset="-122"/>
              </a:rPr>
              <a:t>做好每一件重要的小事</a:t>
            </a:r>
            <a:r>
              <a:rPr lang="en-US" altLang="zh-TW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990000"/>
                </a:solidFill>
                <a:effectLst>
                  <a:outerShdw blurRad="50800" algn="tl" rotWithShape="0">
                    <a:srgbClr val="000000"/>
                  </a:outerShdw>
                </a:effectLst>
                <a:latin typeface="SimHei" pitchFamily="2" charset="-122"/>
                <a:ea typeface="SimHei" pitchFamily="2" charset="-122"/>
              </a:rPr>
              <a:t>!</a:t>
            </a:r>
            <a:endParaRPr lang="zh-TW" altLang="en-US" sz="36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rgbClr val="990000"/>
              </a:solidFill>
              <a:effectLst>
                <a:outerShdw blurRad="50800" algn="tl" rotWithShape="0">
                  <a:srgbClr val="000000"/>
                </a:outerShdw>
              </a:effectLst>
              <a:latin typeface="SimHei" pitchFamily="2" charset="-122"/>
              <a:ea typeface="SimHei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070704" y="1003402"/>
            <a:ext cx="5929354" cy="5497432"/>
          </a:xfrm>
          <a:prstGeom prst="rect">
            <a:avLst/>
          </a:prstGeom>
          <a:solidFill>
            <a:srgbClr val="E06B0A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TW" altLang="en-US" b="1" dirty="0" smtClean="0">
                <a:latin typeface="微軟正黑體" pitchFamily="34" charset="-120"/>
                <a:ea typeface="微軟正黑體" pitchFamily="34" charset="-120"/>
              </a:rPr>
              <a:t>        </a:t>
            </a:r>
            <a:r>
              <a:rPr lang="zh-TW" altLang="en-US" sz="2000" b="1" dirty="0" smtClean="0">
                <a:latin typeface="SimHei" pitchFamily="2" charset="-122"/>
                <a:ea typeface="SimHei" pitchFamily="2" charset="-122"/>
              </a:rPr>
              <a:t>微軟企業文化的一個精髓是</a:t>
            </a:r>
            <a:r>
              <a:rPr lang="zh-TW" altLang="en-US" sz="2000" b="1" u="sng" dirty="0" smtClean="0">
                <a:solidFill>
                  <a:schemeClr val="tx1"/>
                </a:solidFill>
                <a:latin typeface="SimHei" pitchFamily="2" charset="-122"/>
                <a:ea typeface="SimHei" pitchFamily="2" charset="-122"/>
              </a:rPr>
              <a:t>員工要自己找事做</a:t>
            </a:r>
            <a:r>
              <a:rPr lang="zh-TW" altLang="en-US" sz="2000" b="1" dirty="0" smtClean="0">
                <a:solidFill>
                  <a:schemeClr val="tx1"/>
                </a:solidFill>
                <a:latin typeface="SimHei"/>
                <a:ea typeface="SimHei"/>
              </a:rPr>
              <a:t>、</a:t>
            </a:r>
            <a:r>
              <a:rPr lang="zh-TW" altLang="en-US" sz="2000" b="1" dirty="0" smtClean="0">
                <a:latin typeface="SimHei" pitchFamily="2" charset="-122"/>
                <a:ea typeface="SimHei" pitchFamily="2" charset="-122"/>
              </a:rPr>
              <a:t>發揮自己的</a:t>
            </a:r>
            <a:r>
              <a:rPr lang="zh-TW" altLang="en-US" sz="2000" b="1" u="sng" dirty="0" smtClean="0">
                <a:solidFill>
                  <a:schemeClr val="tx1"/>
                </a:solidFill>
                <a:latin typeface="SimHei" pitchFamily="2" charset="-122"/>
                <a:ea typeface="SimHei" pitchFamily="2" charset="-122"/>
              </a:rPr>
              <a:t>主動性</a:t>
            </a:r>
            <a:r>
              <a:rPr lang="zh-TW" altLang="en-US" sz="2000" b="1" dirty="0" smtClean="0">
                <a:latin typeface="SimHei" pitchFamily="2" charset="-122"/>
                <a:ea typeface="SimHei" pitchFamily="2" charset="-122"/>
              </a:rPr>
              <a:t>，要有很強的</a:t>
            </a:r>
            <a:r>
              <a:rPr lang="zh-TW" altLang="en-US" sz="2000" b="1" u="sng" dirty="0" smtClean="0">
                <a:solidFill>
                  <a:schemeClr val="tx1"/>
                </a:solidFill>
                <a:latin typeface="SimHei" pitchFamily="2" charset="-122"/>
                <a:ea typeface="SimHei" pitchFamily="2" charset="-122"/>
              </a:rPr>
              <a:t>責任感</a:t>
            </a:r>
            <a:r>
              <a:rPr lang="zh-TW" altLang="en-US" sz="2000" b="1" dirty="0" smtClean="0">
                <a:latin typeface="SimHei" pitchFamily="2" charset="-122"/>
                <a:ea typeface="SimHei" pitchFamily="2" charset="-122"/>
              </a:rPr>
              <a:t>，同時也要有</a:t>
            </a:r>
            <a:r>
              <a:rPr lang="zh-TW" altLang="en-US" sz="2000" b="1" u="sng" dirty="0" smtClean="0">
                <a:solidFill>
                  <a:schemeClr val="tx1"/>
                </a:solidFill>
                <a:latin typeface="SimHei" pitchFamily="2" charset="-122"/>
                <a:ea typeface="SimHei" pitchFamily="2" charset="-122"/>
              </a:rPr>
              <a:t>激情</a:t>
            </a:r>
            <a:r>
              <a:rPr lang="zh-TW" altLang="en-US" sz="2000" b="1" dirty="0" smtClean="0">
                <a:latin typeface="SimHei" pitchFamily="2" charset="-122"/>
                <a:ea typeface="SimHei" pitchFamily="2" charset="-122"/>
              </a:rPr>
              <a:t>。微軟的工作方式就是“給你一個抽象的任務，要你具體地完成”。微軟中國研發中心的桌面應用部經理毛永剛深有體會。</a:t>
            </a:r>
            <a:r>
              <a:rPr lang="en-US" sz="2000" b="1" dirty="0" smtClean="0">
                <a:latin typeface="SimHei" pitchFamily="2" charset="-122"/>
                <a:ea typeface="SimHei" pitchFamily="2" charset="-122"/>
              </a:rPr>
              <a:t>1997</a:t>
            </a:r>
            <a:r>
              <a:rPr lang="zh-TW" altLang="en-US" sz="2000" b="1" dirty="0" smtClean="0">
                <a:latin typeface="SimHei" pitchFamily="2" charset="-122"/>
                <a:ea typeface="SimHei" pitchFamily="2" charset="-122"/>
              </a:rPr>
              <a:t>年他剛被招進微軟時負責做</a:t>
            </a:r>
            <a:r>
              <a:rPr lang="en-US" sz="2000" b="1" dirty="0" smtClean="0">
                <a:latin typeface="SimHei" pitchFamily="2" charset="-122"/>
                <a:ea typeface="SimHei" pitchFamily="2" charset="-122"/>
              </a:rPr>
              <a:t>word</a:t>
            </a:r>
            <a:r>
              <a:rPr lang="zh-TW" altLang="en-US" sz="2000" b="1" dirty="0" smtClean="0">
                <a:latin typeface="SimHei" pitchFamily="2" charset="-122"/>
                <a:ea typeface="SimHei" pitchFamily="2" charset="-122"/>
              </a:rPr>
              <a:t>，當時他只有一個大概的瞭解，沒有人告訴他該怎麼做，該用什麼工具。他和美國總部溝通，得到的答覆是</a:t>
            </a:r>
            <a:r>
              <a:rPr lang="zh-TW" altLang="en-US" sz="2000" b="1" u="sng" dirty="0" smtClean="0">
                <a:solidFill>
                  <a:schemeClr val="tx1"/>
                </a:solidFill>
                <a:latin typeface="SimHei" pitchFamily="2" charset="-122"/>
                <a:ea typeface="SimHei" pitchFamily="2" charset="-122"/>
              </a:rPr>
              <a:t>一切都要靠自己去做</a:t>
            </a:r>
            <a:r>
              <a:rPr lang="zh-TW" altLang="en-US" sz="2000" b="1" dirty="0" smtClean="0">
                <a:latin typeface="SimHei" pitchFamily="2" charset="-122"/>
                <a:ea typeface="SimHei" pitchFamily="2" charset="-122"/>
              </a:rPr>
              <a:t>。這樣，員工才能發揮最大的主動性，設計出最令人滿意的產品。最後，毛永剛通過自己的努力，出色地完成了公司交給他的任務。</a:t>
            </a:r>
          </a:p>
        </p:txBody>
      </p:sp>
      <p:sp>
        <p:nvSpPr>
          <p:cNvPr id="5" name="Freeform 24"/>
          <p:cNvSpPr>
            <a:spLocks/>
          </p:cNvSpPr>
          <p:nvPr/>
        </p:nvSpPr>
        <p:spPr bwMode="gray">
          <a:xfrm>
            <a:off x="1" y="0"/>
            <a:ext cx="3571867" cy="6858000"/>
          </a:xfrm>
          <a:custGeom>
            <a:avLst/>
            <a:gdLst/>
            <a:ahLst/>
            <a:cxnLst>
              <a:cxn ang="0">
                <a:pos x="2540" y="0"/>
              </a:cxn>
              <a:cxn ang="0">
                <a:pos x="1638" y="1752"/>
              </a:cxn>
              <a:cxn ang="0">
                <a:pos x="2676" y="3765"/>
              </a:cxn>
              <a:cxn ang="0">
                <a:pos x="0" y="3765"/>
              </a:cxn>
              <a:cxn ang="0">
                <a:pos x="0" y="0"/>
              </a:cxn>
              <a:cxn ang="0">
                <a:pos x="2540" y="0"/>
              </a:cxn>
            </a:cxnLst>
            <a:rect l="0" t="0" r="r" b="b"/>
            <a:pathLst>
              <a:path w="2676" h="3765">
                <a:moveTo>
                  <a:pt x="2540" y="0"/>
                </a:moveTo>
                <a:cubicBezTo>
                  <a:pt x="2089" y="229"/>
                  <a:pt x="1644" y="1070"/>
                  <a:pt x="1638" y="1752"/>
                </a:cubicBezTo>
                <a:cubicBezTo>
                  <a:pt x="1632" y="2434"/>
                  <a:pt x="1791" y="3142"/>
                  <a:pt x="2676" y="3765"/>
                </a:cubicBezTo>
                <a:lnTo>
                  <a:pt x="0" y="3765"/>
                </a:lnTo>
                <a:lnTo>
                  <a:pt x="0" y="0"/>
                </a:lnTo>
                <a:lnTo>
                  <a:pt x="254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b="-17438"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5388" y="42204"/>
            <a:ext cx="389572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14282" y="1928802"/>
            <a:ext cx="8715436" cy="4786346"/>
          </a:xfrm>
          <a:prstGeom prst="rect">
            <a:avLst/>
          </a:prstGeom>
          <a:solidFill>
            <a:srgbClr val="E06B0A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TW" altLang="en-US" sz="2200" b="1" dirty="0" smtClean="0">
                <a:latin typeface="微軟正黑體" pitchFamily="34" charset="-120"/>
                <a:ea typeface="微軟正黑體" pitchFamily="34" charset="-120"/>
              </a:rPr>
              <a:t>沒有</a:t>
            </a:r>
            <a:r>
              <a:rPr lang="zh-TW" altLang="en-US" sz="2200" b="1" dirty="0" smtClean="0">
                <a:latin typeface="微軟正黑體" pitchFamily="34" charset="-120"/>
                <a:ea typeface="微軟正黑體" pitchFamily="34" charset="-120"/>
              </a:rPr>
              <a:t>人會告訴你</a:t>
            </a:r>
            <a:r>
              <a:rPr lang="zh-TW" altLang="en-US" sz="2200" b="1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“工作”</a:t>
            </a:r>
            <a:r>
              <a:rPr lang="zh-TW" altLang="en-US" sz="2200" b="1" dirty="0" smtClean="0">
                <a:latin typeface="微軟正黑體" pitchFamily="34" charset="-120"/>
                <a:ea typeface="微軟正黑體" pitchFamily="34" charset="-120"/>
              </a:rPr>
              <a:t>需要做的事，這都要靠你</a:t>
            </a:r>
            <a:r>
              <a:rPr lang="zh-TW" altLang="en-US" sz="2200" b="1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主動思考</a:t>
            </a:r>
            <a:r>
              <a:rPr lang="zh-TW" altLang="en-US" sz="2200" b="1" dirty="0" smtClean="0">
                <a:latin typeface="微軟正黑體" pitchFamily="34" charset="-120"/>
                <a:ea typeface="微軟正黑體" pitchFamily="34" charset="-120"/>
              </a:rPr>
              <a:t>。在自動自發工作的背後，需要你</a:t>
            </a:r>
            <a:r>
              <a:rPr lang="zh-TW" altLang="en-US" sz="2200" b="1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付出比別人更多的努力</a:t>
            </a:r>
            <a:r>
              <a:rPr lang="zh-TW" altLang="en-US" sz="2200" b="1" dirty="0" smtClean="0">
                <a:latin typeface="微軟正黑體" pitchFamily="34" charset="-120"/>
                <a:ea typeface="微軟正黑體" pitchFamily="34" charset="-120"/>
              </a:rPr>
              <a:t>。當你清楚地瞭解了企業的發展規劃和你的工作職責，你就知道該做些什麼，然後馬上行動，不需要老闆吩咐，反而將獲得工作所給予的更多的獎賞</a:t>
            </a:r>
            <a:endParaRPr lang="en-US" altLang="zh-TW" sz="2200" b="1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ts val="2400"/>
              </a:lnSpc>
            </a:pPr>
            <a:endParaRPr lang="en-US" altLang="zh-TW" sz="2200" b="1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200" b="1" dirty="0" smtClean="0">
                <a:latin typeface="微軟正黑體" pitchFamily="34" charset="-120"/>
                <a:ea typeface="微軟正黑體" pitchFamily="34" charset="-120"/>
              </a:rPr>
              <a:t>那些</a:t>
            </a:r>
            <a:r>
              <a:rPr lang="zh-TW" altLang="en-US" sz="2200" b="1" dirty="0" smtClean="0">
                <a:latin typeface="微軟正黑體" pitchFamily="34" charset="-120"/>
                <a:ea typeface="微軟正黑體" pitchFamily="34" charset="-120"/>
              </a:rPr>
              <a:t>每天早出晚歸的人不一定是認真工作的人，那些每天忙忙碌碌的人不一定是優秀地完成了工作的人，那些每天按時打卡、準時上下班的人不一定是盡職盡責的人。</a:t>
            </a:r>
            <a:r>
              <a:rPr lang="zh-TW" altLang="en-US" sz="2200" b="1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企業不需要循規蹈矩，卻缺乏熱情和責任感，不能夠積極主動、自動自發工作的員工。</a:t>
            </a:r>
            <a:endParaRPr lang="zh-TW" altLang="en-US" sz="2200" b="1" u="sng" dirty="0">
              <a:solidFill>
                <a:schemeClr val="tx1">
                  <a:lumMod val="95000"/>
                  <a:lumOff val="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8"/>
            <a:ext cx="8643998" cy="17144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1721</TotalTime>
  <Words>461</Words>
  <PresentationFormat>如螢幕大小 (4:3)</PresentationFormat>
  <Paragraphs>19</Paragraphs>
  <Slides>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投影片 1</vt:lpstr>
      <vt:lpstr>投影片 2</vt:lpstr>
      <vt:lpstr>投影片 3</vt:lpstr>
      <vt:lpstr>投影片 4</vt:lpstr>
      <vt:lpstr>投影片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cp:lastModifiedBy>FP1328</cp:lastModifiedBy>
  <cp:revision>133</cp:revision>
  <dcterms:modified xsi:type="dcterms:W3CDTF">2014-11-30T07:40:58Z</dcterms:modified>
</cp:coreProperties>
</file>