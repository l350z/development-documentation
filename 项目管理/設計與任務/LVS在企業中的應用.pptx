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673" autoAdjust="0"/>
    <p:restoredTop sz="94700" autoAdjust="0"/>
  </p:normalViewPr>
  <p:slideViewPr>
    <p:cSldViewPr>
      <p:cViewPr varScale="1">
        <p:scale>
          <a:sx n="110" d="100"/>
          <a:sy n="110" d="100"/>
        </p:scale>
        <p:origin x="-117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2015/1/7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AN_switching" TargetMode="External"/><Relationship Id="rId2" Type="http://schemas.openxmlformats.org/officeDocument/2006/relationships/hyperlink" Target="http://en.wikipedia.org/wiki/Layer_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500042"/>
            <a:ext cx="3364965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0" y="414338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LVS</a:t>
            </a:r>
            <a:r>
              <a:rPr lang="zh-CN" alt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在企業中的應用</a:t>
            </a:r>
            <a:endParaRPr lang="zh-TW" alt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786646" y="5715016"/>
            <a:ext cx="1357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段鶴齡</a:t>
            </a:r>
            <a:r>
              <a:rPr lang="en-US" altLang="zh-CN" sz="1400" b="1" dirty="0" smtClean="0"/>
              <a:t>/</a:t>
            </a:r>
            <a:r>
              <a:rPr lang="zh-CN" altLang="en-US" sz="1400" b="1" dirty="0" smtClean="0"/>
              <a:t>李連順</a:t>
            </a:r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0" y="990600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 Black" pitchFamily="34" charset="0"/>
              </a:rPr>
              <a:t>LVS</a:t>
            </a:r>
            <a:r>
              <a:rPr lang="zh-CN" altLang="en-US" sz="2800" dirty="0" smtClean="0">
                <a:latin typeface="Arial Black" pitchFamily="34" charset="0"/>
              </a:rPr>
              <a:t>是</a:t>
            </a:r>
            <a:r>
              <a:rPr lang="en-US" altLang="zh-CN" sz="2800" dirty="0" smtClean="0">
                <a:solidFill>
                  <a:srgbClr val="00B0F0"/>
                </a:solidFill>
                <a:latin typeface="Arial Black" pitchFamily="34" charset="0"/>
              </a:rPr>
              <a:t>Linux Virtual Server</a:t>
            </a:r>
            <a:r>
              <a:rPr lang="zh-CN" altLang="en-US" sz="2800" dirty="0" smtClean="0">
                <a:latin typeface="Arial Black" pitchFamily="34" charset="0"/>
              </a:rPr>
              <a:t>的簡稱，它是一款基於</a:t>
            </a:r>
            <a:r>
              <a:rPr lang="en-US" altLang="zh-CN" sz="2800" dirty="0" smtClean="0">
                <a:latin typeface="Arial Black" pitchFamily="34" charset="0"/>
              </a:rPr>
              <a:t>Linux</a:t>
            </a:r>
            <a:r>
              <a:rPr lang="zh-CN" altLang="en-US" sz="2800" dirty="0" smtClean="0">
                <a:latin typeface="Arial Black" pitchFamily="34" charset="0"/>
              </a:rPr>
              <a:t>內核的</a:t>
            </a:r>
            <a:r>
              <a:rPr lang="zh-CN" altLang="en-US" sz="2800" dirty="0" smtClean="0">
                <a:solidFill>
                  <a:srgbClr val="00B0F0"/>
                </a:solidFill>
                <a:latin typeface="Arial Black" pitchFamily="34" charset="0"/>
              </a:rPr>
              <a:t>負載均衡軟體</a:t>
            </a:r>
            <a:r>
              <a:rPr lang="zh-CN" altLang="en-US" sz="2800" dirty="0" smtClean="0">
                <a:latin typeface="Arial Black" pitchFamily="34" charset="0"/>
              </a:rPr>
              <a:t>。</a:t>
            </a:r>
            <a:r>
              <a:rPr lang="en-US" altLang="zh-CN" sz="2800" dirty="0" smtClean="0">
                <a:latin typeface="Arial Black" pitchFamily="34" charset="0"/>
              </a:rPr>
              <a:t>LVS</a:t>
            </a:r>
            <a:r>
              <a:rPr lang="zh-CN" altLang="en-US" sz="2800" dirty="0" smtClean="0">
                <a:latin typeface="Arial Black" pitchFamily="34" charset="0"/>
              </a:rPr>
              <a:t>是由</a:t>
            </a:r>
            <a:r>
              <a:rPr lang="zh-CN" altLang="en-US" sz="2800" dirty="0" smtClean="0">
                <a:solidFill>
                  <a:srgbClr val="00B0F0"/>
                </a:solidFill>
                <a:latin typeface="Arial Black" pitchFamily="34" charset="0"/>
              </a:rPr>
              <a:t>中國大陸章文嵩</a:t>
            </a:r>
            <a:r>
              <a:rPr lang="zh-CN" altLang="en-US" sz="2800" dirty="0" smtClean="0">
                <a:latin typeface="Arial Black" pitchFamily="34" charset="0"/>
              </a:rPr>
              <a:t>博士在</a:t>
            </a:r>
            <a:r>
              <a:rPr lang="en-US" altLang="zh-CN" sz="2800" dirty="0" smtClean="0">
                <a:latin typeface="Arial Black" pitchFamily="34" charset="0"/>
              </a:rPr>
              <a:t>1998</a:t>
            </a:r>
            <a:r>
              <a:rPr lang="zh-CN" altLang="en-US" sz="2800" dirty="0" smtClean="0">
                <a:latin typeface="Arial Black" pitchFamily="34" charset="0"/>
              </a:rPr>
              <a:t>年</a:t>
            </a:r>
            <a:r>
              <a:rPr lang="en-US" altLang="zh-CN" sz="2800" dirty="0" smtClean="0">
                <a:latin typeface="Arial Black" pitchFamily="34" charset="0"/>
              </a:rPr>
              <a:t>5</a:t>
            </a:r>
            <a:r>
              <a:rPr lang="zh-CN" altLang="en-US" sz="2800" dirty="0" smtClean="0">
                <a:latin typeface="Arial Black" pitchFamily="34" charset="0"/>
              </a:rPr>
              <a:t>月主導并建立的開源項目。這個項目的使命是基於群集技術，建立一個高性能、高可用性的伺服器，同時還可以提供很好的擴展性，可靠性和可用性。</a:t>
            </a:r>
            <a:endParaRPr lang="en-US" sz="2800" dirty="0">
              <a:latin typeface="Arial Black" pitchFamily="34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7929554" y="3200400"/>
            <a:ext cx="1214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FF0000"/>
                </a:solidFill>
              </a:rPr>
              <a:t>來源：維基百科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0" y="4553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7030A0"/>
                </a:solidFill>
              </a:rPr>
              <a:t>什麼是</a:t>
            </a:r>
            <a:r>
              <a:rPr lang="en-US" altLang="zh-CN" sz="4000" b="1" dirty="0" smtClean="0">
                <a:solidFill>
                  <a:srgbClr val="7030A0"/>
                </a:solidFill>
              </a:rPr>
              <a:t>LVS</a:t>
            </a:r>
            <a:endParaRPr lang="en-US" sz="4000" b="1" dirty="0">
              <a:solidFill>
                <a:srgbClr val="7030A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00400"/>
            <a:ext cx="5067300" cy="3426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文字方塊 9"/>
          <p:cNvSpPr txBox="1"/>
          <p:nvPr/>
        </p:nvSpPr>
        <p:spPr>
          <a:xfrm>
            <a:off x="4800600" y="3429000"/>
            <a:ext cx="19050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7030A0"/>
                </a:solidFill>
              </a:rPr>
              <a:t>現任淘寶網高級研究員，淘宝网高级研究员、核心系统负责人，主要负责基础核心软件研发、推进网络软硬件方面的性能优化、搭建下一代高可扩展低碳低成本的淘宝电子商务基础设施。</a:t>
            </a:r>
            <a:endParaRPr lang="en-US" sz="11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0" y="4553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7030A0"/>
                </a:solidFill>
              </a:rPr>
              <a:t>LVS</a:t>
            </a:r>
            <a:r>
              <a:rPr lang="zh-CN" altLang="en-US" sz="4000" b="1" dirty="0" smtClean="0">
                <a:solidFill>
                  <a:srgbClr val="7030A0"/>
                </a:solidFill>
              </a:rPr>
              <a:t>能幫我們做什麼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428736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LVS</a:t>
            </a:r>
            <a:r>
              <a:rPr lang="zh-CN" altLang="en-US" dirty="0" smtClean="0"/>
              <a:t>項目的主要工作，就是開發基於</a:t>
            </a:r>
            <a:r>
              <a:rPr lang="en-US" altLang="zh-CN" dirty="0" smtClean="0"/>
              <a:t>IP</a:t>
            </a:r>
            <a:r>
              <a:rPr lang="zh-CN" altLang="en-US" dirty="0" smtClean="0"/>
              <a:t>的負載均衡軟體</a:t>
            </a:r>
            <a:r>
              <a:rPr lang="en-US" altLang="zh-CN" dirty="0" smtClean="0"/>
              <a:t>IPVS(IP Virtual Server)</a:t>
            </a:r>
            <a:r>
              <a:rPr lang="zh-CN" altLang="en-US" dirty="0" smtClean="0"/>
              <a:t>，和基於應用程式的負載均衡軟體</a:t>
            </a:r>
            <a:r>
              <a:rPr lang="en-US" altLang="zh-CN" dirty="0" smtClean="0"/>
              <a:t>KTCPVS</a:t>
            </a:r>
            <a:r>
              <a:rPr lang="zh-CN" altLang="en-US" dirty="0" smtClean="0"/>
              <a:t>。</a:t>
            </a:r>
            <a:r>
              <a:rPr lang="en-US" altLang="zh-CN" dirty="0" smtClean="0"/>
              <a:t>LVS</a:t>
            </a:r>
            <a:r>
              <a:rPr lang="zh-CN" altLang="en-US" dirty="0" smtClean="0"/>
              <a:t>可以幫助建立</a:t>
            </a:r>
            <a:r>
              <a:rPr lang="zh-CN" altLang="en-US" dirty="0" smtClean="0">
                <a:solidFill>
                  <a:srgbClr val="00B0F0"/>
                </a:solidFill>
              </a:rPr>
              <a:t>高擴展性和高可用性的網絡服務</a:t>
            </a:r>
            <a:r>
              <a:rPr lang="zh-CN" altLang="en-US" dirty="0" smtClean="0"/>
              <a:t>，例如</a:t>
            </a:r>
            <a:r>
              <a:rPr lang="en-US" altLang="zh-CN" dirty="0" smtClean="0"/>
              <a:t>email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web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media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FTP</a:t>
            </a:r>
            <a:r>
              <a:rPr lang="zh-CN" altLang="en-US" dirty="0" smtClean="0"/>
              <a:t>等</a:t>
            </a:r>
            <a:r>
              <a:rPr lang="zh-CN" altLang="en-US" dirty="0" smtClean="0">
                <a:solidFill>
                  <a:srgbClr val="00B0F0"/>
                </a:solidFill>
              </a:rPr>
              <a:t>任何基於</a:t>
            </a:r>
            <a:r>
              <a:rPr lang="en-US" altLang="zh-CN" dirty="0" smtClean="0">
                <a:solidFill>
                  <a:srgbClr val="00B0F0"/>
                </a:solidFill>
              </a:rPr>
              <a:t>TCP</a:t>
            </a:r>
            <a:r>
              <a:rPr lang="zh-CN" altLang="en-US" dirty="0" smtClean="0">
                <a:solidFill>
                  <a:srgbClr val="00B0F0"/>
                </a:solidFill>
              </a:rPr>
              <a:t>或</a:t>
            </a:r>
            <a:r>
              <a:rPr lang="en-US" altLang="zh-CN" dirty="0" smtClean="0">
                <a:solidFill>
                  <a:srgbClr val="00B0F0"/>
                </a:solidFill>
              </a:rPr>
              <a:t>UDP</a:t>
            </a:r>
            <a:r>
              <a:rPr lang="zh-CN" altLang="en-US" dirty="0" smtClean="0">
                <a:solidFill>
                  <a:srgbClr val="00B0F0"/>
                </a:solidFill>
              </a:rPr>
              <a:t>協議的應用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dirty="0" smtClean="0"/>
          </a:p>
          <a:p>
            <a:r>
              <a:rPr lang="en-US" dirty="0" smtClean="0"/>
              <a:t>LVS</a:t>
            </a:r>
            <a:r>
              <a:rPr lang="zh-CN" altLang="en-US" dirty="0" smtClean="0"/>
              <a:t>分為兩個應用：</a:t>
            </a:r>
            <a:endParaRPr lang="en-US" altLang="zh-CN" dirty="0" smtClean="0"/>
          </a:p>
          <a:p>
            <a:endParaRPr lang="en-US" dirty="0" smtClean="0"/>
          </a:p>
          <a:p>
            <a:r>
              <a:rPr lang="en-US" dirty="0" smtClean="0"/>
              <a:t>IPVS:</a:t>
            </a:r>
            <a:r>
              <a:rPr lang="zh-CN" altLang="en-US" dirty="0" smtClean="0"/>
              <a:t>基於</a:t>
            </a:r>
            <a:r>
              <a:rPr lang="en-US" altLang="zh-CN" dirty="0" smtClean="0"/>
              <a:t>OSI</a:t>
            </a:r>
            <a:r>
              <a:rPr lang="zh-CN" altLang="en-US" dirty="0" smtClean="0"/>
              <a:t>七層模型中</a:t>
            </a:r>
            <a:r>
              <a:rPr lang="zh-CN" altLang="en-US" dirty="0" smtClean="0">
                <a:solidFill>
                  <a:srgbClr val="00B0F0"/>
                </a:solidFill>
              </a:rPr>
              <a:t>第四層傳輸層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轉發</a:t>
            </a:r>
            <a:endParaRPr lang="en-US" altLang="zh-CN" dirty="0" smtClean="0"/>
          </a:p>
          <a:p>
            <a:r>
              <a:rPr lang="en-US" altLang="zh-CN" u="sng" dirty="0" smtClean="0">
                <a:solidFill>
                  <a:srgbClr val="0070C0"/>
                </a:solidFill>
              </a:rPr>
              <a:t>(</a:t>
            </a:r>
            <a:r>
              <a:rPr lang="en-US" u="sng" dirty="0" smtClean="0">
                <a:solidFill>
                  <a:srgbClr val="0070C0"/>
                </a:solidFill>
                <a:hlinkClick r:id="rId2" tooltip="Layer 4"/>
              </a:rPr>
              <a:t>Layer 4</a:t>
            </a:r>
            <a:r>
              <a:rPr lang="en-US" u="sng" dirty="0" smtClean="0">
                <a:solidFill>
                  <a:srgbClr val="0070C0"/>
                </a:solidFill>
              </a:rPr>
              <a:t> </a:t>
            </a:r>
            <a:r>
              <a:rPr lang="en-US" u="sng" dirty="0" smtClean="0">
                <a:solidFill>
                  <a:srgbClr val="0070C0"/>
                </a:solidFill>
                <a:hlinkClick r:id="rId3" tooltip="LAN switching"/>
              </a:rPr>
              <a:t>LAN switching</a:t>
            </a:r>
            <a:r>
              <a:rPr lang="en-US" u="sng" dirty="0" smtClean="0">
                <a:solidFill>
                  <a:srgbClr val="0070C0"/>
                </a:solidFill>
              </a:rPr>
              <a:t>),</a:t>
            </a:r>
            <a:r>
              <a:rPr lang="zh-CN" altLang="en-US" dirty="0" smtClean="0"/>
              <a:t>目前已經有很成熟的應用實例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KTCPVS:</a:t>
            </a:r>
            <a:r>
              <a:rPr lang="zh-CN" altLang="en-US" dirty="0" smtClean="0"/>
              <a:t>基於</a:t>
            </a:r>
            <a:r>
              <a:rPr lang="en-US" altLang="zh-CN" dirty="0" smtClean="0"/>
              <a:t>OSI</a:t>
            </a:r>
            <a:r>
              <a:rPr lang="zh-CN" altLang="en-US" dirty="0" smtClean="0"/>
              <a:t>七層模型中</a:t>
            </a:r>
            <a:r>
              <a:rPr lang="zh-CN" altLang="en-US" dirty="0" smtClean="0">
                <a:solidFill>
                  <a:srgbClr val="00B0F0"/>
                </a:solidFill>
              </a:rPr>
              <a:t>第七層應用層</a:t>
            </a:r>
            <a:r>
              <a:rPr lang="zh-CN" altLang="en-US" dirty="0" smtClean="0"/>
              <a:t>的轉發，</a:t>
            </a:r>
            <a:endParaRPr lang="en-US" altLang="zh-CN" dirty="0" smtClean="0"/>
          </a:p>
          <a:p>
            <a:r>
              <a:rPr lang="zh-CN" altLang="en-US" dirty="0" smtClean="0"/>
              <a:t>目前還在開發中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2362200"/>
            <a:ext cx="1752600" cy="314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直線單箭頭接點 8"/>
          <p:cNvCxnSpPr/>
          <p:nvPr/>
        </p:nvCxnSpPr>
        <p:spPr>
          <a:xfrm>
            <a:off x="5257800" y="3505200"/>
            <a:ext cx="9906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5400000" flipH="1" flipV="1">
            <a:off x="4876800" y="2743200"/>
            <a:ext cx="1447800" cy="1295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0" y="4553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7030A0"/>
                </a:solidFill>
              </a:rPr>
              <a:t>LVS</a:t>
            </a:r>
            <a:r>
              <a:rPr lang="zh-CN" altLang="en-US" sz="4000" b="1" dirty="0" smtClean="0">
                <a:solidFill>
                  <a:srgbClr val="7030A0"/>
                </a:solidFill>
              </a:rPr>
              <a:t>怎麼幫我們實現高可用性</a:t>
            </a:r>
            <a:r>
              <a:rPr lang="en-US" altLang="zh-CN" sz="4000" b="1" dirty="0" smtClean="0">
                <a:solidFill>
                  <a:srgbClr val="7030A0"/>
                </a:solidFill>
              </a:rPr>
              <a:t>/</a:t>
            </a:r>
            <a:r>
              <a:rPr lang="zh-CN" altLang="en-US" sz="4000" b="1" dirty="0" smtClean="0">
                <a:solidFill>
                  <a:srgbClr val="7030A0"/>
                </a:solidFill>
              </a:rPr>
              <a:t>擴展性</a:t>
            </a:r>
            <a:endParaRPr lang="en-US" sz="4000" b="1" dirty="0">
              <a:solidFill>
                <a:srgbClr val="7030A0"/>
              </a:solidFill>
            </a:endParaRPr>
          </a:p>
        </p:txBody>
      </p:sp>
      <p:cxnSp>
        <p:nvCxnSpPr>
          <p:cNvPr id="9" name="直線接點 8"/>
          <p:cNvCxnSpPr/>
          <p:nvPr/>
        </p:nvCxnSpPr>
        <p:spPr>
          <a:xfrm rot="5400000">
            <a:off x="1322377" y="3821103"/>
            <a:ext cx="607220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57158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</a:t>
            </a:r>
            <a:r>
              <a:rPr lang="en-US" altLang="zh-CN" dirty="0" smtClean="0"/>
              <a:t>ser1</a:t>
            </a:r>
            <a:endParaRPr lang="en-US" dirty="0"/>
          </a:p>
        </p:txBody>
      </p:sp>
      <p:sp>
        <p:nvSpPr>
          <p:cNvPr id="14" name="矩形 13"/>
          <p:cNvSpPr/>
          <p:nvPr/>
        </p:nvSpPr>
        <p:spPr>
          <a:xfrm>
            <a:off x="1714480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</a:t>
            </a:r>
            <a:r>
              <a:rPr lang="en-US" altLang="zh-CN" dirty="0" smtClean="0"/>
              <a:t>ser2</a:t>
            </a:r>
            <a:endParaRPr lang="en-US" dirty="0"/>
          </a:p>
        </p:txBody>
      </p:sp>
      <p:sp>
        <p:nvSpPr>
          <p:cNvPr id="15" name="矩形 14"/>
          <p:cNvSpPr/>
          <p:nvPr/>
        </p:nvSpPr>
        <p:spPr>
          <a:xfrm>
            <a:off x="3071802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User3</a:t>
            </a:r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1714480" y="3286124"/>
            <a:ext cx="1000132" cy="4286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Web Server</a:t>
            </a:r>
            <a:endParaRPr 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1714480" y="4572008"/>
            <a:ext cx="1000132" cy="4286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9" name="直線單箭頭接點 18"/>
          <p:cNvCxnSpPr>
            <a:stCxn id="12" idx="2"/>
            <a:endCxn id="16" idx="0"/>
          </p:cNvCxnSpPr>
          <p:nvPr/>
        </p:nvCxnSpPr>
        <p:spPr>
          <a:xfrm rot="16200000" flipH="1">
            <a:off x="1142976" y="2214554"/>
            <a:ext cx="785818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2"/>
            <a:endCxn id="16" idx="0"/>
          </p:cNvCxnSpPr>
          <p:nvPr/>
        </p:nvCxnSpPr>
        <p:spPr>
          <a:xfrm rot="5400000">
            <a:off x="1821637" y="2893215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2"/>
            <a:endCxn id="16" idx="0"/>
          </p:cNvCxnSpPr>
          <p:nvPr/>
        </p:nvCxnSpPr>
        <p:spPr>
          <a:xfrm rot="5400000">
            <a:off x="2500298" y="2214554"/>
            <a:ext cx="785818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6" idx="2"/>
            <a:endCxn id="17" idx="0"/>
          </p:cNvCxnSpPr>
          <p:nvPr/>
        </p:nvCxnSpPr>
        <p:spPr>
          <a:xfrm rot="5400000">
            <a:off x="1785918" y="4143380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80032" y="1043238"/>
            <a:ext cx="421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2060"/>
                </a:solidFill>
              </a:rPr>
              <a:t>傳統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架構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714908" y="1043238"/>
            <a:ext cx="421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2060"/>
                </a:solidFill>
              </a:rPr>
              <a:t>高</a:t>
            </a:r>
            <a:r>
              <a:rPr lang="zh-CN" altLang="en-US" dirty="0" smtClean="0">
                <a:solidFill>
                  <a:srgbClr val="002060"/>
                </a:solidFill>
              </a:rPr>
              <a:t>可用性</a:t>
            </a:r>
            <a:r>
              <a:rPr lang="en-US" altLang="zh-CN" dirty="0" smtClean="0">
                <a:solidFill>
                  <a:srgbClr val="002060"/>
                </a:solidFill>
              </a:rPr>
              <a:t>/</a:t>
            </a:r>
            <a:r>
              <a:rPr lang="zh-CN" altLang="en-US" dirty="0" smtClean="0">
                <a:solidFill>
                  <a:srgbClr val="002060"/>
                </a:solidFill>
              </a:rPr>
              <a:t>擴展性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架構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929190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</a:t>
            </a:r>
            <a:r>
              <a:rPr lang="en-US" altLang="zh-CN" dirty="0" smtClean="0"/>
              <a:t>ser1</a:t>
            </a:r>
            <a:endParaRPr lang="en-US" dirty="0"/>
          </a:p>
        </p:txBody>
      </p:sp>
      <p:sp>
        <p:nvSpPr>
          <p:cNvPr id="30" name="矩形 29"/>
          <p:cNvSpPr/>
          <p:nvPr/>
        </p:nvSpPr>
        <p:spPr>
          <a:xfrm>
            <a:off x="6286512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</a:t>
            </a:r>
            <a:r>
              <a:rPr lang="en-US" altLang="zh-CN" dirty="0" smtClean="0"/>
              <a:t>ser2</a:t>
            </a:r>
            <a:endParaRPr lang="en-US" dirty="0"/>
          </a:p>
        </p:txBody>
      </p:sp>
      <p:sp>
        <p:nvSpPr>
          <p:cNvPr id="31" name="矩形 30"/>
          <p:cNvSpPr/>
          <p:nvPr/>
        </p:nvSpPr>
        <p:spPr>
          <a:xfrm>
            <a:off x="7643834" y="2071678"/>
            <a:ext cx="1000132" cy="4286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User3</a:t>
            </a:r>
            <a:endParaRPr lang="en-US" dirty="0"/>
          </a:p>
        </p:txBody>
      </p:sp>
      <p:sp>
        <p:nvSpPr>
          <p:cNvPr id="32" name="矩形 31"/>
          <p:cNvSpPr/>
          <p:nvPr/>
        </p:nvSpPr>
        <p:spPr>
          <a:xfrm>
            <a:off x="6286512" y="3143248"/>
            <a:ext cx="1000132" cy="4286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LVS</a:t>
            </a:r>
            <a:r>
              <a:rPr lang="zh-CN" altLang="en-US" dirty="0" smtClean="0"/>
              <a:t>主</a:t>
            </a:r>
            <a:endParaRPr lang="en-US" dirty="0"/>
          </a:p>
        </p:txBody>
      </p:sp>
      <p:sp>
        <p:nvSpPr>
          <p:cNvPr id="33" name="矩形 32"/>
          <p:cNvSpPr/>
          <p:nvPr/>
        </p:nvSpPr>
        <p:spPr>
          <a:xfrm>
            <a:off x="5286380" y="4143380"/>
            <a:ext cx="1000132" cy="4286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Web Server</a:t>
            </a:r>
            <a:endParaRPr lang="en-US" sz="1200" dirty="0"/>
          </a:p>
        </p:txBody>
      </p:sp>
      <p:sp>
        <p:nvSpPr>
          <p:cNvPr id="34" name="矩形 33"/>
          <p:cNvSpPr/>
          <p:nvPr/>
        </p:nvSpPr>
        <p:spPr>
          <a:xfrm>
            <a:off x="7286644" y="4143380"/>
            <a:ext cx="1000132" cy="4286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Web Server</a:t>
            </a:r>
            <a:endParaRPr lang="en-US" sz="1200" dirty="0"/>
          </a:p>
        </p:txBody>
      </p:sp>
      <p:sp>
        <p:nvSpPr>
          <p:cNvPr id="35" name="矩形 34"/>
          <p:cNvSpPr/>
          <p:nvPr/>
        </p:nvSpPr>
        <p:spPr>
          <a:xfrm>
            <a:off x="6357950" y="5429264"/>
            <a:ext cx="1000132" cy="4286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37" name="直線單箭頭接點 36"/>
          <p:cNvCxnSpPr>
            <a:stCxn id="29" idx="2"/>
            <a:endCxn id="32" idx="0"/>
          </p:cNvCxnSpPr>
          <p:nvPr/>
        </p:nvCxnSpPr>
        <p:spPr>
          <a:xfrm rot="16200000" flipH="1">
            <a:off x="5786446" y="2143116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30" idx="2"/>
            <a:endCxn id="32" idx="0"/>
          </p:cNvCxnSpPr>
          <p:nvPr/>
        </p:nvCxnSpPr>
        <p:spPr>
          <a:xfrm rot="5400000">
            <a:off x="6465107" y="2821777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31" idx="2"/>
            <a:endCxn id="32" idx="0"/>
          </p:cNvCxnSpPr>
          <p:nvPr/>
        </p:nvCxnSpPr>
        <p:spPr>
          <a:xfrm rot="5400000">
            <a:off x="7143768" y="2143116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32" idx="2"/>
            <a:endCxn id="33" idx="0"/>
          </p:cNvCxnSpPr>
          <p:nvPr/>
        </p:nvCxnSpPr>
        <p:spPr>
          <a:xfrm rot="5400000">
            <a:off x="6000760" y="3357562"/>
            <a:ext cx="571504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32" idx="2"/>
            <a:endCxn id="34" idx="0"/>
          </p:cNvCxnSpPr>
          <p:nvPr/>
        </p:nvCxnSpPr>
        <p:spPr>
          <a:xfrm rot="16200000" flipH="1">
            <a:off x="7000892" y="3357562"/>
            <a:ext cx="571504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33" idx="2"/>
            <a:endCxn id="35" idx="0"/>
          </p:cNvCxnSpPr>
          <p:nvPr/>
        </p:nvCxnSpPr>
        <p:spPr>
          <a:xfrm rot="16200000" flipH="1">
            <a:off x="5893603" y="4464851"/>
            <a:ext cx="857256" cy="1071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34" idx="2"/>
            <a:endCxn id="35" idx="0"/>
          </p:cNvCxnSpPr>
          <p:nvPr/>
        </p:nvCxnSpPr>
        <p:spPr>
          <a:xfrm rot="5400000">
            <a:off x="6893735" y="4536289"/>
            <a:ext cx="857256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向左箭號 49"/>
          <p:cNvSpPr/>
          <p:nvPr/>
        </p:nvSpPr>
        <p:spPr>
          <a:xfrm>
            <a:off x="4500562" y="4214818"/>
            <a:ext cx="667132" cy="262493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 smtClean="0"/>
              <a:t>擴展</a:t>
            </a:r>
            <a:endParaRPr lang="en-US" sz="1050" dirty="0"/>
          </a:p>
        </p:txBody>
      </p:sp>
      <p:sp>
        <p:nvSpPr>
          <p:cNvPr id="51" name="向右箭號 50"/>
          <p:cNvSpPr/>
          <p:nvPr/>
        </p:nvSpPr>
        <p:spPr>
          <a:xfrm>
            <a:off x="8429652" y="4214818"/>
            <a:ext cx="695837" cy="29642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 smtClean="0"/>
              <a:t>擴展</a:t>
            </a:r>
            <a:endParaRPr lang="en-US" sz="105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6143636" y="3714752"/>
            <a:ext cx="500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FF0000"/>
                </a:solidFill>
              </a:rPr>
              <a:t>分發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000892" y="3714752"/>
            <a:ext cx="500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FF0000"/>
                </a:solidFill>
              </a:rPr>
              <a:t>分發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43834" y="3143248"/>
            <a:ext cx="1000132" cy="4286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LVS</a:t>
            </a:r>
            <a:r>
              <a:rPr lang="zh-CN" altLang="en-US" dirty="0" smtClean="0"/>
              <a:t>備</a:t>
            </a:r>
            <a:endParaRPr lang="en-US" dirty="0"/>
          </a:p>
        </p:txBody>
      </p:sp>
      <p:cxnSp>
        <p:nvCxnSpPr>
          <p:cNvPr id="56" name="直線單箭頭接點 55"/>
          <p:cNvCxnSpPr>
            <a:stCxn id="32" idx="3"/>
            <a:endCxn id="54" idx="1"/>
          </p:cNvCxnSpPr>
          <p:nvPr/>
        </p:nvCxnSpPr>
        <p:spPr>
          <a:xfrm>
            <a:off x="7286644" y="335756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0" y="3450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7030A0"/>
                </a:solidFill>
              </a:rPr>
              <a:t>各大廠商負載均衡產品的對比</a:t>
            </a:r>
            <a:endParaRPr lang="en-US" altLang="zh-CN" sz="4000" b="1" dirty="0" smtClean="0">
              <a:solidFill>
                <a:srgbClr val="7030A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0" y="1600200"/>
          <a:ext cx="9144000" cy="25016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2976"/>
                <a:gridCol w="1000132"/>
                <a:gridCol w="1071570"/>
                <a:gridCol w="2071702"/>
                <a:gridCol w="1143008"/>
                <a:gridCol w="785818"/>
                <a:gridCol w="714380"/>
                <a:gridCol w="1214414"/>
              </a:tblGrid>
              <a:tr h="58141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廠商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/>
                        <a:t>負載均衡產品名稱</a:t>
                      </a:r>
                      <a:endParaRPr lang="en-US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軟</a:t>
                      </a:r>
                      <a:r>
                        <a:rPr lang="en-US" altLang="zh-CN" b="1" dirty="0" smtClean="0"/>
                        <a:t>/</a:t>
                      </a:r>
                      <a:r>
                        <a:rPr lang="zh-CN" altLang="en-US" b="1" dirty="0" smtClean="0"/>
                        <a:t>硬體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應用範圍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配置難度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性能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價格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/>
                        <a:t>綜合評價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1971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Linux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LVS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軟體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廣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基於任何</a:t>
                      </a:r>
                      <a:r>
                        <a:rPr lang="en-US" altLang="zh-CN" dirty="0" smtClean="0"/>
                        <a:t>TCP</a:t>
                      </a:r>
                      <a:r>
                        <a:rPr lang="zh-CN" altLang="en-US" dirty="0" smtClean="0"/>
                        <a:t>、</a:t>
                      </a:r>
                      <a:r>
                        <a:rPr lang="en-US" altLang="zh-CN" dirty="0" smtClean="0"/>
                        <a:t>UDP</a:t>
                      </a:r>
                      <a:r>
                        <a:rPr lang="zh-CN" altLang="en-US" dirty="0" smtClean="0"/>
                        <a:t>協議</a:t>
                      </a:r>
                      <a:r>
                        <a:rPr lang="en-US" altLang="zh-CN" dirty="0" smtClean="0"/>
                        <a:t>)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較複雜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高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低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高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971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</a:t>
                      </a:r>
                      <a:r>
                        <a:rPr lang="en-US" altLang="zh-CN" dirty="0" smtClean="0"/>
                        <a:t>icrosoft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NLB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軟體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低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只支持很少的應用</a:t>
                      </a:r>
                      <a:r>
                        <a:rPr lang="en-US" altLang="zh-CN" dirty="0" smtClean="0"/>
                        <a:t>)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簡單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971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F5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r>
                        <a:rPr lang="en-US" altLang="zh-CN" dirty="0" smtClean="0"/>
                        <a:t>ig-IP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硬體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廣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基於任何</a:t>
                      </a:r>
                      <a:r>
                        <a:rPr lang="en-US" altLang="zh-CN" dirty="0" smtClean="0"/>
                        <a:t>TCP</a:t>
                      </a:r>
                      <a:r>
                        <a:rPr lang="zh-CN" altLang="en-US" dirty="0" smtClean="0"/>
                        <a:t>、</a:t>
                      </a:r>
                      <a:r>
                        <a:rPr lang="en-US" altLang="zh-CN" dirty="0" smtClean="0"/>
                        <a:t>UDP</a:t>
                      </a:r>
                      <a:r>
                        <a:rPr lang="zh-CN" altLang="en-US" dirty="0" smtClean="0"/>
                        <a:t>協議</a:t>
                      </a:r>
                      <a:r>
                        <a:rPr lang="en-US" altLang="zh-CN" dirty="0" smtClean="0"/>
                        <a:t>)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較簡單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高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高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0" y="3450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7030A0"/>
                </a:solidFill>
              </a:rPr>
              <a:t>已經應用</a:t>
            </a:r>
            <a:r>
              <a:rPr lang="en-US" altLang="zh-CN" sz="4000" b="1" dirty="0" smtClean="0">
                <a:solidFill>
                  <a:srgbClr val="7030A0"/>
                </a:solidFill>
              </a:rPr>
              <a:t>LVS</a:t>
            </a:r>
            <a:r>
              <a:rPr lang="zh-CN" altLang="en-US" sz="4000" b="1" dirty="0" smtClean="0">
                <a:solidFill>
                  <a:srgbClr val="7030A0"/>
                </a:solidFill>
              </a:rPr>
              <a:t>的企業</a:t>
            </a:r>
            <a:endParaRPr lang="en-US" altLang="zh-CN" sz="4000" b="1" dirty="0" smtClean="0">
              <a:solidFill>
                <a:srgbClr val="7030A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928670"/>
            <a:ext cx="2357454" cy="2695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496" y="1571612"/>
            <a:ext cx="424135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3372" y="4214818"/>
            <a:ext cx="4572032" cy="1481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4000504"/>
            <a:ext cx="3730037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文字方塊 11"/>
          <p:cNvSpPr txBox="1"/>
          <p:nvPr/>
        </p:nvSpPr>
        <p:spPr>
          <a:xfrm>
            <a:off x="8215306" y="5786454"/>
            <a:ext cx="928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……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LVS</a:t>
            </a:r>
            <a:r>
              <a:rPr lang="zh-CN" altLang="en-US" dirty="0" smtClean="0"/>
              <a:t>負載均衡與負載調度算法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◇VS/NAT</a:t>
            </a:r>
            <a:r>
              <a:rPr lang="en-US" altLang="zh-CN" dirty="0" smtClean="0"/>
              <a:t>:</a:t>
            </a:r>
            <a:r>
              <a:rPr lang="zh-CN" altLang="en-US" dirty="0" smtClean="0"/>
              <a:t>即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Vitual</a:t>
            </a:r>
            <a:r>
              <a:rPr lang="en-US" altLang="zh-CN" dirty="0" smtClean="0"/>
              <a:t> Server via Network Address    </a:t>
            </a:r>
          </a:p>
          <a:p>
            <a:pPr marL="0" indent="0">
              <a:buNone/>
            </a:pPr>
            <a:r>
              <a:rPr lang="en-US" altLang="zh-CN" dirty="0" smtClean="0"/>
              <a:t>                       Translation)</a:t>
            </a:r>
          </a:p>
          <a:p>
            <a:pPr marL="457200" lvl="1" indent="0">
              <a:buNone/>
            </a:pPr>
            <a:r>
              <a:rPr lang="zh-CN" altLang="en-US" dirty="0" smtClean="0"/>
              <a:t>     也就是網絡地址翻譯技術實現虛擬服務器。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◇VS/TUN</a:t>
            </a:r>
            <a:r>
              <a:rPr lang="en-US" altLang="zh-CN" dirty="0" smtClean="0"/>
              <a:t>:</a:t>
            </a:r>
            <a:r>
              <a:rPr lang="zh-CN" altLang="en-US" dirty="0" smtClean="0"/>
              <a:t>即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Vitual</a:t>
            </a:r>
            <a:r>
              <a:rPr lang="en-US" altLang="zh-CN" dirty="0" smtClean="0"/>
              <a:t> Server </a:t>
            </a:r>
            <a:r>
              <a:rPr lang="en-US" altLang="zh-CN" dirty="0" err="1" smtClean="0"/>
              <a:t>vis</a:t>
            </a:r>
            <a:r>
              <a:rPr lang="en-US" altLang="zh-CN" dirty="0" smtClean="0"/>
              <a:t> IP Tunneling)</a:t>
            </a:r>
          </a:p>
          <a:p>
            <a:pPr marL="457200" lvl="1" indent="0">
              <a:buNone/>
            </a:pPr>
            <a:r>
              <a:rPr lang="en-US" altLang="zh-CN" dirty="0" smtClean="0"/>
              <a:t>     </a:t>
            </a:r>
            <a:r>
              <a:rPr lang="zh-CN" altLang="en-US" dirty="0" smtClean="0"/>
              <a:t>也就是</a:t>
            </a:r>
            <a:r>
              <a:rPr lang="en-US" altLang="zh-CN" dirty="0" smtClean="0"/>
              <a:t>IP</a:t>
            </a:r>
            <a:r>
              <a:rPr lang="zh-CN" altLang="en-US" dirty="0" smtClean="0"/>
              <a:t>隧道技術實現虛擬服務器。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◇VS/DR</a:t>
            </a:r>
            <a:r>
              <a:rPr lang="en-US" altLang="zh-CN" dirty="0" smtClean="0"/>
              <a:t>:</a:t>
            </a:r>
            <a:r>
              <a:rPr lang="zh-CN" altLang="en-US" dirty="0" smtClean="0"/>
              <a:t>即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Vitual</a:t>
            </a:r>
            <a:r>
              <a:rPr lang="en-US" altLang="zh-CN" dirty="0" smtClean="0"/>
              <a:t> Server via Direct Routing)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也就是用直接路由技術實現虛擬服務器。</a:t>
            </a:r>
            <a:r>
              <a:rPr lang="en-US" altLang="zh-CN" dirty="0" smtClean="0"/>
              <a:t> 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3499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LVS-DR</a:t>
            </a:r>
            <a:r>
              <a:rPr lang="zh-CN" altLang="en-US" dirty="0"/>
              <a:t>模式</a:t>
            </a:r>
            <a:r>
              <a:rPr lang="en-US" altLang="zh-CN" dirty="0"/>
              <a:t>(</a:t>
            </a:r>
            <a:r>
              <a:rPr lang="zh-CN" altLang="en-US" dirty="0"/>
              <a:t>直接路由模式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當</a:t>
            </a:r>
            <a:r>
              <a:rPr lang="en-US" altLang="zh-CN" dirty="0"/>
              <a:t>client</a:t>
            </a:r>
            <a:r>
              <a:rPr lang="zh-CN" altLang="en-US" dirty="0"/>
              <a:t>端發送請求到</a:t>
            </a:r>
            <a:r>
              <a:rPr lang="en-US" altLang="zh-CN" dirty="0"/>
              <a:t>VIP</a:t>
            </a:r>
            <a:r>
              <a:rPr lang="zh-CN" altLang="en-US" dirty="0"/>
              <a:t>。</a:t>
            </a:r>
            <a:r>
              <a:rPr lang="en-US" altLang="zh-CN" dirty="0"/>
              <a:t>LVS</a:t>
            </a:r>
            <a:r>
              <a:rPr lang="zh-CN" altLang="en-US" dirty="0"/>
              <a:t>服務器根據</a:t>
            </a:r>
            <a:r>
              <a:rPr lang="en-US" altLang="zh-CN" dirty="0"/>
              <a:t>VIP</a:t>
            </a:r>
            <a:r>
              <a:rPr lang="zh-CN" altLang="en-US" dirty="0"/>
              <a:t>和調度算法選擇對應的</a:t>
            </a:r>
            <a:r>
              <a:rPr lang="en-US" altLang="zh-CN" dirty="0"/>
              <a:t>real-server</a:t>
            </a:r>
            <a:r>
              <a:rPr lang="zh-CN" altLang="en-US" dirty="0"/>
              <a:t>，把相應的請求發送給此臺</a:t>
            </a:r>
            <a:r>
              <a:rPr lang="en-US" altLang="zh-CN" dirty="0"/>
              <a:t>real-server</a:t>
            </a:r>
            <a:r>
              <a:rPr lang="zh-CN" altLang="en-US" dirty="0"/>
              <a:t>。當</a:t>
            </a:r>
            <a:r>
              <a:rPr lang="en-US" altLang="zh-CN" dirty="0"/>
              <a:t>real-server</a:t>
            </a:r>
            <a:r>
              <a:rPr lang="zh-CN" altLang="en-US" dirty="0"/>
              <a:t>相應請求完成之後，直接將結果傳遞給</a:t>
            </a:r>
            <a:r>
              <a:rPr lang="en-US" altLang="zh-CN" dirty="0"/>
              <a:t>client</a:t>
            </a:r>
            <a:r>
              <a:rPr lang="zh-CN" altLang="en-US" dirty="0"/>
              <a:t>端。不再經過</a:t>
            </a:r>
            <a:r>
              <a:rPr lang="en-US" altLang="zh-CN" dirty="0"/>
              <a:t>LVS</a:t>
            </a:r>
            <a:r>
              <a:rPr lang="zh-CN" altLang="en-US" dirty="0"/>
              <a:t>服務器。</a:t>
            </a:r>
            <a:endParaRPr lang="en-US" altLang="zh-CN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6244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LVS-NAT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zh-CN" altLang="en-US" dirty="0"/>
              <a:t>跟</a:t>
            </a:r>
            <a:r>
              <a:rPr lang="en-US" altLang="zh-CN" dirty="0"/>
              <a:t>DR</a:t>
            </a:r>
            <a:r>
              <a:rPr lang="zh-CN" altLang="en-US" dirty="0"/>
              <a:t>模式主要的區別是當</a:t>
            </a:r>
            <a:r>
              <a:rPr lang="en-US" altLang="zh-CN" dirty="0"/>
              <a:t>client</a:t>
            </a:r>
            <a:r>
              <a:rPr lang="zh-CN" altLang="en-US" dirty="0"/>
              <a:t>端相應完畢之後，把結果會返回給</a:t>
            </a:r>
            <a:r>
              <a:rPr lang="en-US" altLang="zh-CN" dirty="0"/>
              <a:t>LVS</a:t>
            </a:r>
            <a:r>
              <a:rPr lang="zh-CN" altLang="en-US" dirty="0"/>
              <a:t>服務器，由</a:t>
            </a:r>
            <a:r>
              <a:rPr lang="en-US" altLang="zh-CN" dirty="0"/>
              <a:t>LVS</a:t>
            </a:r>
            <a:r>
              <a:rPr lang="zh-CN" altLang="en-US" dirty="0"/>
              <a:t>服務器轉發給</a:t>
            </a:r>
            <a:r>
              <a:rPr lang="en-US" altLang="zh-CN" dirty="0"/>
              <a:t>client</a:t>
            </a:r>
            <a:r>
              <a:rPr lang="zh-CN" altLang="en-US" dirty="0"/>
              <a:t>端。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70245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LVS-TUN</a:t>
            </a:r>
            <a:r>
              <a:rPr lang="zh-CN" altLang="en-US" dirty="0"/>
              <a:t>模式（隧道模式）</a:t>
            </a:r>
            <a:endParaRPr lang="en-US" altLang="zh-CN" dirty="0"/>
          </a:p>
          <a:p>
            <a:pPr lvl="1"/>
            <a:r>
              <a:rPr lang="zh-CN" altLang="en-US" dirty="0"/>
              <a:t>把客戶端發送的數據包，封裝成新的</a:t>
            </a:r>
            <a:r>
              <a:rPr lang="en-US" altLang="zh-CN" dirty="0"/>
              <a:t>IP</a:t>
            </a:r>
            <a:r>
              <a:rPr lang="zh-CN" altLang="en-US" dirty="0"/>
              <a:t>頭標記。然後</a:t>
            </a:r>
            <a:r>
              <a:rPr lang="en-US" altLang="zh-CN" dirty="0"/>
              <a:t>real-server</a:t>
            </a:r>
            <a:r>
              <a:rPr lang="zh-CN" altLang="en-US" dirty="0"/>
              <a:t>收到后重新把數據包頭解開，還原數據包。處理完之後也是直接返回給客戶端。</a:t>
            </a:r>
            <a:endParaRPr lang="en-US" altLang="zh-CN" dirty="0"/>
          </a:p>
          <a:p>
            <a:pPr lvl="1"/>
            <a:r>
              <a:rPr lang="zh-CN" altLang="en-US" dirty="0"/>
              <a:t>由於</a:t>
            </a:r>
            <a:r>
              <a:rPr lang="en-US" altLang="zh-CN" dirty="0"/>
              <a:t>real-server</a:t>
            </a:r>
            <a:r>
              <a:rPr lang="zh-CN" altLang="en-US" dirty="0"/>
              <a:t>需要對</a:t>
            </a:r>
            <a:r>
              <a:rPr lang="en-US" altLang="zh-CN" dirty="0"/>
              <a:t>LVS</a:t>
            </a:r>
            <a:r>
              <a:rPr lang="zh-CN" altLang="en-US" dirty="0"/>
              <a:t>發過來的數據包進行還原，所以必須支持“</a:t>
            </a:r>
            <a:r>
              <a:rPr lang="en-US" altLang="zh-CN" dirty="0"/>
              <a:t>IP Tunneling</a:t>
            </a:r>
          </a:p>
          <a:p>
            <a:pPr lvl="1"/>
            <a:r>
              <a:rPr lang="zh-CN" altLang="en-US" dirty="0"/>
              <a:t>”</a:t>
            </a:r>
            <a:r>
              <a:rPr lang="en-US" altLang="zh-CN" dirty="0"/>
              <a:t>(IP Encapsulation)</a:t>
            </a:r>
            <a:r>
              <a:rPr lang="zh-CN" altLang="en-US" dirty="0"/>
              <a:t>協議。服務器可能只局限于部分</a:t>
            </a:r>
            <a:r>
              <a:rPr lang="en-US" altLang="zh-CN" dirty="0"/>
              <a:t>Linux</a:t>
            </a:r>
            <a:r>
              <a:rPr lang="zh-CN" altLang="en-US" dirty="0"/>
              <a:t>系統上。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07913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LVS</a:t>
            </a:r>
            <a:r>
              <a:rPr lang="zh-CN" altLang="en-US" dirty="0" smtClean="0"/>
              <a:t>名詞解釋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VIP</a:t>
            </a:r>
            <a:r>
              <a:rPr lang="zh-CN" altLang="en-US" dirty="0" smtClean="0"/>
              <a:t>：虛擬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地址，并不提供服務，而是將用戶的請求轉發到後方</a:t>
            </a:r>
            <a:endParaRPr lang="en-US" altLang="zh-CN" dirty="0" smtClean="0"/>
          </a:p>
          <a:p>
            <a:r>
              <a:rPr lang="en-US" altLang="zh-CN" dirty="0"/>
              <a:t>RIP</a:t>
            </a:r>
            <a:r>
              <a:rPr lang="zh-CN" altLang="en-US" dirty="0" smtClean="0"/>
              <a:t>：真正的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地址，客戶端真正提供服務的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en-US" altLang="zh-CN" dirty="0" smtClean="0"/>
              <a:t>DIP</a:t>
            </a:r>
            <a:r>
              <a:rPr lang="zh-CN" altLang="en-US" dirty="0" smtClean="0"/>
              <a:t>：調度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地址，通常是和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相連的</a:t>
            </a:r>
            <a:r>
              <a:rPr lang="en-US" altLang="zh-CN" dirty="0" smtClean="0"/>
              <a:t>LVS</a:t>
            </a:r>
            <a:r>
              <a:rPr lang="zh-CN" altLang="en-US" dirty="0" smtClean="0"/>
              <a:t>的地址</a:t>
            </a:r>
            <a:endParaRPr lang="en-US" altLang="zh-CN" dirty="0" smtClean="0"/>
          </a:p>
          <a:p>
            <a:r>
              <a:rPr lang="en-US" altLang="zh-CN" dirty="0" smtClean="0"/>
              <a:t>CIP</a:t>
            </a:r>
            <a:r>
              <a:rPr lang="zh-CN" altLang="en-US" dirty="0" smtClean="0"/>
              <a:t>：客戶端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地址，用戶請求時用戶的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47413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負載均衡調度算法（靜態）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輪循調度（</a:t>
            </a:r>
            <a:r>
              <a:rPr lang="en-US" altLang="zh-CN" dirty="0"/>
              <a:t>Round Robin</a:t>
            </a:r>
            <a:r>
              <a:rPr lang="zh-CN" altLang="en-US" dirty="0"/>
              <a:t>）</a:t>
            </a:r>
            <a:r>
              <a:rPr lang="en-US" altLang="zh-CN" dirty="0"/>
              <a:t>(</a:t>
            </a:r>
            <a:r>
              <a:rPr lang="en-US" altLang="zh-CN" dirty="0" err="1"/>
              <a:t>rr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調度器通過“輪循”算法將外部的請求按順序輪流分配到群集的真是服務器，它均衡的對待每一臺服務器，不管服務器實際的連接數和負載</a:t>
            </a:r>
            <a:endParaRPr lang="en-US" altLang="zh-CN" dirty="0"/>
          </a:p>
          <a:p>
            <a:r>
              <a:rPr lang="zh-CN" altLang="en-US" dirty="0"/>
              <a:t>加權輪循（</a:t>
            </a:r>
            <a:r>
              <a:rPr lang="en-US" altLang="zh-CN" dirty="0"/>
              <a:t>Weighted Round robin</a:t>
            </a:r>
            <a:r>
              <a:rPr lang="zh-CN" altLang="en-US" dirty="0"/>
              <a:t>）</a:t>
            </a:r>
            <a:r>
              <a:rPr lang="en-US" altLang="zh-CN" dirty="0"/>
              <a:t>(</a:t>
            </a:r>
            <a:r>
              <a:rPr lang="en-US" altLang="zh-CN" dirty="0" err="1"/>
              <a:t>wrr</a:t>
            </a:r>
            <a:r>
              <a:rPr lang="en-US" altLang="zh-CN" dirty="0"/>
              <a:t>)</a:t>
            </a:r>
          </a:p>
          <a:p>
            <a:pPr marL="402336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調度器通過“加權輪循”算法根據實際服務器的不同處理能力進行訪問請求。</a:t>
            </a:r>
            <a:endParaRPr lang="en-US" altLang="zh-CN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400501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負載均衡調度算法（靜態）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目標地址散列</a:t>
            </a:r>
            <a:r>
              <a:rPr lang="en-US" altLang="zh-CN" dirty="0"/>
              <a:t>(Destination Hashing)(DH)</a:t>
            </a:r>
          </a:p>
          <a:p>
            <a:pPr lvl="1"/>
            <a:r>
              <a:rPr lang="zh-CN" altLang="en-US" dirty="0"/>
              <a:t>根據請求的目的</a:t>
            </a:r>
            <a:r>
              <a:rPr lang="en-US" altLang="zh-CN" dirty="0"/>
              <a:t>IP</a:t>
            </a:r>
            <a:r>
              <a:rPr lang="zh-CN" altLang="en-US" dirty="0"/>
              <a:t>地址作為散列鍵從靜態分配的散列表中找出對應的服務器，若該服務器是可用且為超載，將請求發送到該服務器，否則返回空</a:t>
            </a:r>
            <a:endParaRPr lang="en-US" altLang="zh-CN" dirty="0"/>
          </a:p>
          <a:p>
            <a:r>
              <a:rPr lang="zh-CN" altLang="en-US" dirty="0"/>
              <a:t>源地址散列</a:t>
            </a:r>
            <a:r>
              <a:rPr lang="en-US" altLang="zh-CN" dirty="0"/>
              <a:t>(Source Hashing)(SH)</a:t>
            </a:r>
          </a:p>
          <a:p>
            <a:pPr lvl="1"/>
            <a:r>
              <a:rPr lang="zh-CN" altLang="en-US" dirty="0"/>
              <a:t>根據請求的源</a:t>
            </a:r>
            <a:r>
              <a:rPr lang="en-US" altLang="zh-CN" dirty="0"/>
              <a:t>IP</a:t>
            </a:r>
            <a:r>
              <a:rPr lang="zh-CN" altLang="en-US" dirty="0"/>
              <a:t>地址為散列鍵從靜態分配的散列表中找出對應的服務器，若該服務器是可用且為超載，將請求發送到該服務器，否則返回空</a:t>
            </a:r>
            <a:endParaRPr lang="en-US" altLang="zh-CN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8828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</a:t>
            </a:r>
            <a:r>
              <a:rPr lang="zh-CN" altLang="en-US" dirty="0"/>
              <a:t>動</a:t>
            </a:r>
            <a:r>
              <a:rPr lang="zh-CN" altLang="en-US" dirty="0" smtClean="0"/>
              <a:t>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最少鏈接</a:t>
            </a:r>
            <a:r>
              <a:rPr lang="en-US" altLang="zh-CN" dirty="0"/>
              <a:t>(Least Connections)(LC)</a:t>
            </a:r>
          </a:p>
          <a:p>
            <a:pPr lvl="1"/>
            <a:r>
              <a:rPr lang="zh-CN" altLang="en-US" dirty="0"/>
              <a:t>調度器動態的將網絡請求調度到已建立的連接數最少的服務器上。如果群集的真實服務器具有相近的性能，採用</a:t>
            </a:r>
            <a:r>
              <a:rPr lang="en-US" altLang="zh-CN" dirty="0"/>
              <a:t>LC</a:t>
            </a:r>
            <a:r>
              <a:rPr lang="zh-CN" altLang="en-US" dirty="0"/>
              <a:t>算法可以較好的均衡負載</a:t>
            </a:r>
            <a:endParaRPr lang="en-US" altLang="zh-CN" dirty="0"/>
          </a:p>
          <a:p>
            <a:r>
              <a:rPr lang="zh-CN" altLang="en-US" dirty="0"/>
              <a:t>加權最少鏈接</a:t>
            </a:r>
            <a:r>
              <a:rPr lang="en-US" altLang="zh-CN" dirty="0"/>
              <a:t>(Weighted Least Connections)(WLC)</a:t>
            </a:r>
          </a:p>
          <a:p>
            <a:pPr lvl="1"/>
            <a:r>
              <a:rPr lang="zh-CN" altLang="en-US" dirty="0"/>
              <a:t>主要針對真實服務器性能差異較大的情況，具有較高權值的服務器承受較大比例的活動鏈接負載。目前最優秀的算法。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07056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</a:t>
            </a:r>
            <a:r>
              <a:rPr lang="zh-CN" altLang="en-US" dirty="0"/>
              <a:t>動</a:t>
            </a:r>
            <a:r>
              <a:rPr lang="zh-CN" altLang="en-US" dirty="0" smtClean="0"/>
              <a:t>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最短的期望延遲</a:t>
            </a:r>
            <a:r>
              <a:rPr lang="en-US" altLang="zh-CN" dirty="0"/>
              <a:t>(Shortest Expected Delay Scheduling )(SED)</a:t>
            </a:r>
          </a:p>
          <a:p>
            <a:pPr lvl="1"/>
            <a:r>
              <a:rPr lang="zh-CN" altLang="en-US" dirty="0"/>
              <a:t>基於</a:t>
            </a:r>
            <a:r>
              <a:rPr lang="en-US" altLang="zh-CN" dirty="0" err="1"/>
              <a:t>wlc</a:t>
            </a:r>
            <a:r>
              <a:rPr lang="zh-CN" altLang="en-US" dirty="0"/>
              <a:t>的優化，不考慮非活動鏈接</a:t>
            </a:r>
            <a:endParaRPr lang="en-US" altLang="zh-CN" dirty="0"/>
          </a:p>
          <a:p>
            <a:r>
              <a:rPr lang="zh-CN" altLang="en-US" dirty="0"/>
              <a:t>最少隊列調度</a:t>
            </a:r>
            <a:r>
              <a:rPr lang="en-US" altLang="zh-CN" dirty="0"/>
              <a:t>(Never Queue Scheduling)(NQ)</a:t>
            </a:r>
          </a:p>
          <a:p>
            <a:pPr lvl="1"/>
            <a:r>
              <a:rPr lang="zh-CN" altLang="en-US" dirty="0"/>
              <a:t>基於</a:t>
            </a:r>
            <a:r>
              <a:rPr lang="en-US" altLang="zh-CN" dirty="0"/>
              <a:t>SED</a:t>
            </a:r>
            <a:r>
              <a:rPr lang="zh-CN" altLang="en-US" dirty="0"/>
              <a:t>的優化，當有一台</a:t>
            </a:r>
            <a:r>
              <a:rPr lang="en-US" altLang="zh-CN" dirty="0"/>
              <a:t>Real-server</a:t>
            </a:r>
            <a:r>
              <a:rPr lang="zh-CN" altLang="en-US" dirty="0"/>
              <a:t>的連接數為</a:t>
            </a:r>
            <a:r>
              <a:rPr lang="en-US" altLang="zh-CN" dirty="0"/>
              <a:t>0</a:t>
            </a:r>
            <a:r>
              <a:rPr lang="zh-CN" altLang="en-US" dirty="0"/>
              <a:t>的時候直接分配過去，不需要計算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4022410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</a:t>
            </a:r>
            <a:r>
              <a:rPr lang="zh-CN" altLang="en-US" dirty="0"/>
              <a:t>動</a:t>
            </a:r>
            <a:r>
              <a:rPr lang="zh-CN" altLang="en-US" dirty="0" smtClean="0"/>
              <a:t>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基於局部性的最少鏈接</a:t>
            </a:r>
            <a:r>
              <a:rPr lang="en-US" altLang="zh-CN" dirty="0"/>
              <a:t>(Locality-Based Least Connections)(LBLC)</a:t>
            </a:r>
          </a:p>
          <a:p>
            <a:pPr lvl="1"/>
            <a:r>
              <a:rPr lang="zh-CN" altLang="en-US" dirty="0"/>
              <a:t>對於</a:t>
            </a:r>
            <a:r>
              <a:rPr lang="en-US" altLang="zh-CN" dirty="0"/>
              <a:t>DH</a:t>
            </a:r>
            <a:r>
              <a:rPr lang="zh-CN" altLang="en-US" dirty="0"/>
              <a:t>的動態算法。針對目標</a:t>
            </a:r>
            <a:r>
              <a:rPr lang="en-US" altLang="zh-CN" dirty="0"/>
              <a:t>IP</a:t>
            </a:r>
            <a:r>
              <a:rPr lang="zh-CN" altLang="en-US" dirty="0"/>
              <a:t>地址的負載均衡，目前主要用於</a:t>
            </a:r>
            <a:r>
              <a:rPr lang="en-US" altLang="zh-CN" dirty="0"/>
              <a:t>Cache</a:t>
            </a:r>
            <a:r>
              <a:rPr lang="zh-CN" altLang="en-US" dirty="0"/>
              <a:t>集群系統。該算法根據請求的目標</a:t>
            </a:r>
            <a:r>
              <a:rPr lang="en-US" altLang="zh-CN" dirty="0"/>
              <a:t>IP</a:t>
            </a:r>
            <a:r>
              <a:rPr lang="zh-CN" altLang="en-US" dirty="0"/>
              <a:t>地址找出該目標</a:t>
            </a:r>
            <a:r>
              <a:rPr lang="en-US" altLang="zh-CN" dirty="0"/>
              <a:t>IP</a:t>
            </a:r>
            <a:r>
              <a:rPr lang="zh-CN" altLang="en-US" dirty="0"/>
              <a:t>地址最近使用的服務器，若該服務器是可用的且沒有超載，將請求發送到該服務器；若服務器不存在或者超載且有服務器處於一半的工作負載，則選出一個可用的服務器，將請求發送到該服務器。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49386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負載均衡調度算法（</a:t>
            </a:r>
            <a:r>
              <a:rPr lang="zh-CN" altLang="en-US" dirty="0"/>
              <a:t>動</a:t>
            </a:r>
            <a:r>
              <a:rPr lang="zh-CN" altLang="en-US" dirty="0" smtClean="0"/>
              <a:t>態）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帶複製的基於局部性最少鏈接</a:t>
            </a:r>
            <a:r>
              <a:rPr lang="en-US" altLang="zh-CN" dirty="0"/>
              <a:t>(Locality-Based Least Connections with Replication)(LBLCR)</a:t>
            </a:r>
          </a:p>
          <a:p>
            <a:pPr lvl="1"/>
            <a:r>
              <a:rPr lang="zh-CN" altLang="en-US" dirty="0"/>
              <a:t>此算法也是針對目標</a:t>
            </a:r>
            <a:r>
              <a:rPr lang="en-US" altLang="zh-CN" dirty="0"/>
              <a:t>IP</a:t>
            </a:r>
            <a:r>
              <a:rPr lang="zh-CN" altLang="en-US" dirty="0"/>
              <a:t>地址的負載均衡，目前主要用於</a:t>
            </a:r>
            <a:r>
              <a:rPr lang="en-US" altLang="zh-CN" dirty="0"/>
              <a:t>Cache</a:t>
            </a:r>
            <a:r>
              <a:rPr lang="zh-CN" altLang="en-US" dirty="0"/>
              <a:t>集群系統。它與</a:t>
            </a:r>
            <a:r>
              <a:rPr lang="en-US" altLang="zh-CN" dirty="0"/>
              <a:t>LBLC</a:t>
            </a:r>
            <a:r>
              <a:rPr lang="zh-CN" altLang="en-US" dirty="0" smtClean="0"/>
              <a:t>不同的</a:t>
            </a:r>
            <a:r>
              <a:rPr lang="zh-CN" altLang="en-US" dirty="0"/>
              <a:t>是它要維護從一個目標</a:t>
            </a:r>
            <a:r>
              <a:rPr lang="en-US" altLang="zh-CN" dirty="0"/>
              <a:t>IP</a:t>
            </a:r>
            <a:r>
              <a:rPr lang="zh-CN" altLang="en-US" dirty="0"/>
              <a:t>地址到一組服務器的映射，而</a:t>
            </a:r>
            <a:r>
              <a:rPr lang="en-US" altLang="zh-CN" dirty="0"/>
              <a:t>LBLC</a:t>
            </a:r>
            <a:r>
              <a:rPr lang="zh-CN" altLang="en-US" dirty="0"/>
              <a:t>算法維護從一個目標地址到一台服務器的映射。該算法根據請求的目標</a:t>
            </a:r>
            <a:r>
              <a:rPr lang="en-US" altLang="zh-CN" dirty="0"/>
              <a:t>IP</a:t>
            </a:r>
            <a:r>
              <a:rPr lang="zh-CN" altLang="en-US" dirty="0"/>
              <a:t>地址找出該目標</a:t>
            </a:r>
            <a:r>
              <a:rPr lang="en-US" altLang="zh-CN" dirty="0"/>
              <a:t>IP</a:t>
            </a:r>
            <a:r>
              <a:rPr lang="zh-CN" altLang="en-US" dirty="0"/>
              <a:t>地址對應的服務器組，按最小鏈接原則從服務器組選出一台，若此服務器沒有超載，則發送請求；若超載，則按最小鏈接原則從這個集群中選擇一台服務器加入到服務器組中，請請求發送至此服務器。同時，當該服務器組有一段時間沒有被修改，將最忙的服務器從改組刪除，以降低複製程度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71272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LVS+Keepalived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LVS+keepalived</a:t>
            </a:r>
            <a:r>
              <a:rPr lang="zh-CN" altLang="en-US" dirty="0"/>
              <a:t>能很好的實現系統高可用性、系統可擴展性和負載均衡的作用。</a:t>
            </a:r>
            <a:endParaRPr lang="en-US" altLang="zh-CN" dirty="0"/>
          </a:p>
          <a:p>
            <a:r>
              <a:rPr lang="en-US" altLang="zh-CN" dirty="0"/>
              <a:t>LVS</a:t>
            </a:r>
            <a:r>
              <a:rPr lang="zh-CN" altLang="en-US" dirty="0"/>
              <a:t>提供負載均衡，</a:t>
            </a:r>
            <a:r>
              <a:rPr lang="en-US" altLang="zh-CN" dirty="0" err="1"/>
              <a:t>keepalived</a:t>
            </a:r>
            <a:r>
              <a:rPr lang="zh-CN" altLang="en-US" dirty="0"/>
              <a:t>提供健康檢查，故障轉移，提高系統的可用性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56960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</a:t>
            </a:r>
            <a:r>
              <a:rPr lang="zh-CN" altLang="en-US" dirty="0" smtClean="0"/>
              <a:t>裝配置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OS</a:t>
            </a:r>
            <a:r>
              <a:rPr lang="zh-CN" altLang="en-US" dirty="0" smtClean="0"/>
              <a:t>版本：目前</a:t>
            </a:r>
            <a:r>
              <a:rPr lang="en-US" altLang="zh-CN" dirty="0" err="1" smtClean="0"/>
              <a:t>lvs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keepalived</a:t>
            </a:r>
            <a:r>
              <a:rPr lang="zh-CN" altLang="en-US" dirty="0" smtClean="0"/>
              <a:t>已經集成在</a:t>
            </a:r>
            <a:r>
              <a:rPr lang="en-US" altLang="zh-CN" dirty="0" smtClean="0"/>
              <a:t>linux6.4</a:t>
            </a:r>
            <a:r>
              <a:rPr lang="zh-CN" altLang="en-US" dirty="0" smtClean="0"/>
              <a:t>以及以上的版本中。</a:t>
            </a:r>
            <a:endParaRPr lang="en-US" altLang="zh-CN" dirty="0" smtClean="0"/>
          </a:p>
          <a:p>
            <a:r>
              <a:rPr lang="zh-CN" altLang="en-US" dirty="0"/>
              <a:t>安裝包選擇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 smtClean="0"/>
              <a:t>   安</a:t>
            </a:r>
            <a:r>
              <a:rPr lang="zh-CN" altLang="en-US" dirty="0"/>
              <a:t>裝過程中選擇</a:t>
            </a:r>
            <a:r>
              <a:rPr lang="en-US" altLang="zh-CN" dirty="0"/>
              <a:t>Load Balancer</a:t>
            </a:r>
            <a:r>
              <a:rPr lang="zh-CN" altLang="en-US" dirty="0"/>
              <a:t>裡面的所有包</a:t>
            </a:r>
            <a:endParaRPr lang="en-US" altLang="zh-CN" dirty="0"/>
          </a:p>
          <a:p>
            <a:r>
              <a:rPr lang="zh-CN" altLang="en-US" dirty="0"/>
              <a:t>防火墻設置</a:t>
            </a:r>
            <a:endParaRPr lang="en-US" altLang="zh-CN" dirty="0"/>
          </a:p>
          <a:p>
            <a:pPr marL="82296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關閉防火墻</a:t>
            </a:r>
            <a:endParaRPr lang="en-US" altLang="zh-CN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3525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LVS</a:t>
            </a:r>
            <a:r>
              <a:rPr lang="zh-CN" altLang="en-US" dirty="0" smtClean="0"/>
              <a:t>的實際運行截圖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14488"/>
            <a:ext cx="761047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85617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LVS</a:t>
            </a:r>
            <a:r>
              <a:rPr lang="zh-CN" altLang="en-US" dirty="0"/>
              <a:t>的實際運行截圖</a:t>
            </a:r>
            <a:endParaRPr lang="zh-TW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484784"/>
            <a:ext cx="7429500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818217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70386"/>
          </a:xfrm>
        </p:spPr>
        <p:txBody>
          <a:bodyPr>
            <a:normAutofit/>
          </a:bodyPr>
          <a:lstStyle/>
          <a:p>
            <a:r>
              <a:rPr lang="en-US" altLang="zh-CN" sz="6600" dirty="0" smtClean="0"/>
              <a:t>Q&amp;A</a:t>
            </a:r>
            <a:endParaRPr lang="zh-TW" altLang="en-US" sz="6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>
            <a:normAutofit/>
          </a:bodyPr>
          <a:lstStyle/>
          <a:p>
            <a:pPr marL="3200400" lvl="7" indent="0">
              <a:buNone/>
            </a:pPr>
            <a:r>
              <a:rPr lang="zh-CN" altLang="en-US" sz="6000" b="1" dirty="0" smtClean="0"/>
              <a:t> 謝謝</a:t>
            </a:r>
            <a:endParaRPr lang="zh-TW" altLang="en-US" sz="6000" b="1" dirty="0"/>
          </a:p>
        </p:txBody>
      </p:sp>
    </p:spTree>
    <p:extLst>
      <p:ext uri="{BB962C8B-B14F-4D97-AF65-F5344CB8AC3E}">
        <p14:creationId xmlns="" xmlns:p14="http://schemas.microsoft.com/office/powerpoint/2010/main" val="27784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1479</Words>
  <Application>Microsoft Office PowerPoint</Application>
  <PresentationFormat>如螢幕大小 (4:3)</PresentationFormat>
  <Paragraphs>134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Office 佈景主題</vt:lpstr>
      <vt:lpstr>投影片 1</vt:lpstr>
      <vt:lpstr>投影片 2</vt:lpstr>
      <vt:lpstr>投影片 3</vt:lpstr>
      <vt:lpstr>投影片 4</vt:lpstr>
      <vt:lpstr>投影片 5</vt:lpstr>
      <vt:lpstr>投影片 6</vt:lpstr>
      <vt:lpstr>LVS負載均衡與負載調度算法</vt:lpstr>
      <vt:lpstr>LVS負載均衡</vt:lpstr>
      <vt:lpstr>LVS負載均衡</vt:lpstr>
      <vt:lpstr>LVS負載均衡</vt:lpstr>
      <vt:lpstr>LVS名詞解釋</vt:lpstr>
      <vt:lpstr>LVS負載均衡調度算法（靜態）</vt:lpstr>
      <vt:lpstr>LVS負載均衡調度算法（靜態）</vt:lpstr>
      <vt:lpstr>LVS負載均衡調度算法（動態）</vt:lpstr>
      <vt:lpstr>LVS負載均衡調度算法（動態）</vt:lpstr>
      <vt:lpstr>LVS負載均衡調度算法（動態）</vt:lpstr>
      <vt:lpstr>LVS負載均衡調度算法（動態）</vt:lpstr>
      <vt:lpstr>LVS+Keepalived</vt:lpstr>
      <vt:lpstr>安裝配置</vt:lpstr>
      <vt:lpstr>LVS的實際運行截圖</vt:lpstr>
      <vt:lpstr>LVS的實際運行截圖</vt:lpstr>
      <vt:lpstr>Q&amp;A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Duan Heling</dc:creator>
  <cp:lastModifiedBy>Duan Heling</cp:lastModifiedBy>
  <cp:revision>64</cp:revision>
  <dcterms:created xsi:type="dcterms:W3CDTF">2015-01-05T00:51:23Z</dcterms:created>
  <dcterms:modified xsi:type="dcterms:W3CDTF">2015-01-07T06:08:30Z</dcterms:modified>
</cp:coreProperties>
</file>