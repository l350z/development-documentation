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536" r:id="rId1"/>
  </p:sldMasterIdLst>
  <p:sldIdLst>
    <p:sldId id="256" r:id="rId2"/>
    <p:sldId id="262" r:id="rId3"/>
    <p:sldId id="257" r:id="rId4"/>
    <p:sldId id="258" r:id="rId5"/>
    <p:sldId id="259" r:id="rId6"/>
    <p:sldId id="263" r:id="rId7"/>
    <p:sldId id="260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92428-C48E-49F3-892B-4B8031EC9BD5}" type="datetimeFigureOut">
              <a:rPr lang="zh-CN" altLang="en-US" smtClean="0"/>
              <a:t>2020/12/26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6656A-2CA2-4C26-ABAE-B6C1D61A9D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684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92428-C48E-49F3-892B-4B8031EC9BD5}" type="datetimeFigureOut">
              <a:rPr lang="zh-CN" altLang="en-US" smtClean="0"/>
              <a:t>2020/12/26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6656A-2CA2-4C26-ABAE-B6C1D61A9D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4705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92428-C48E-49F3-892B-4B8031EC9BD5}" type="datetimeFigureOut">
              <a:rPr lang="zh-CN" altLang="en-US" smtClean="0"/>
              <a:t>2020/12/26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6656A-2CA2-4C26-ABAE-B6C1D61A9D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8933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92428-C48E-49F3-892B-4B8031EC9BD5}" type="datetimeFigureOut">
              <a:rPr lang="zh-CN" altLang="en-US" smtClean="0"/>
              <a:t>2020/12/26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6656A-2CA2-4C26-ABAE-B6C1D61A9D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5845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92428-C48E-49F3-892B-4B8031EC9BD5}" type="datetimeFigureOut">
              <a:rPr lang="zh-CN" altLang="en-US" smtClean="0"/>
              <a:t>2020/12/26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6656A-2CA2-4C26-ABAE-B6C1D61A9D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6731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92428-C48E-49F3-892B-4B8031EC9BD5}" type="datetimeFigureOut">
              <a:rPr lang="zh-CN" altLang="en-US" smtClean="0"/>
              <a:t>2020/12/26</a:t>
            </a:fld>
            <a:endParaRPr lang="zh-CN" alt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6656A-2CA2-4C26-ABAE-B6C1D61A9D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7287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92428-C48E-49F3-892B-4B8031EC9BD5}" type="datetimeFigureOut">
              <a:rPr lang="zh-CN" altLang="en-US" smtClean="0"/>
              <a:t>2020/12/26</a:t>
            </a:fld>
            <a:endParaRPr lang="zh-CN" alt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6656A-2CA2-4C26-ABAE-B6C1D61A9D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9103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92428-C48E-49F3-892B-4B8031EC9BD5}" type="datetimeFigureOut">
              <a:rPr lang="zh-CN" altLang="en-US" smtClean="0"/>
              <a:t>2020/12/26</a:t>
            </a:fld>
            <a:endParaRPr lang="zh-CN" alt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6656A-2CA2-4C26-ABAE-B6C1D61A9D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2346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92428-C48E-49F3-892B-4B8031EC9BD5}" type="datetimeFigureOut">
              <a:rPr lang="zh-CN" altLang="en-US" smtClean="0"/>
              <a:t>2020/12/26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6656A-2CA2-4C26-ABAE-B6C1D61A9D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3855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92428-C48E-49F3-892B-4B8031EC9BD5}" type="datetimeFigureOut">
              <a:rPr lang="zh-CN" altLang="en-US" smtClean="0"/>
              <a:t>2020/12/26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6656A-2CA2-4C26-ABAE-B6C1D61A9D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699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92428-C48E-49F3-892B-4B8031EC9BD5}" type="datetimeFigureOut">
              <a:rPr lang="zh-CN" altLang="en-US" smtClean="0"/>
              <a:t>2020/12/26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6656A-2CA2-4C26-ABAE-B6C1D61A9D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67485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92428-C48E-49F3-892B-4B8031EC9BD5}" type="datetimeFigureOut">
              <a:rPr lang="zh-CN" altLang="en-US" smtClean="0"/>
              <a:t>2020/12/26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6656A-2CA2-4C26-ABAE-B6C1D61A9D8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036130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92428-C48E-49F3-892B-4B8031EC9BD5}" type="datetimeFigureOut">
              <a:rPr lang="zh-CN" altLang="en-US" smtClean="0"/>
              <a:t>2020/12/26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6656A-2CA2-4C26-ABAE-B6C1D61A9D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4557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92428-C48E-49F3-892B-4B8031EC9BD5}" type="datetimeFigureOut">
              <a:rPr lang="zh-CN" altLang="en-US" smtClean="0"/>
              <a:t>2020/12/26</a:t>
            </a:fld>
            <a:endParaRPr lang="zh-CN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6656A-2CA2-4C26-ABAE-B6C1D61A9D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85166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圖片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92428-C48E-49F3-892B-4B8031EC9BD5}" type="datetimeFigureOut">
              <a:rPr lang="zh-CN" altLang="en-US" smtClean="0"/>
              <a:t>2020/12/26</a:t>
            </a:fld>
            <a:endParaRPr lang="zh-CN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6656A-2CA2-4C26-ABAE-B6C1D61A9D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69641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92428-C48E-49F3-892B-4B8031EC9BD5}" type="datetimeFigureOut">
              <a:rPr lang="zh-CN" altLang="en-US" smtClean="0"/>
              <a:t>2020/12/26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6656A-2CA2-4C26-ABAE-B6C1D61A9D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84087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92428-C48E-49F3-892B-4B8031EC9BD5}" type="datetimeFigureOut">
              <a:rPr lang="zh-CN" altLang="en-US" smtClean="0"/>
              <a:t>2020/12/26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A6656A-2CA2-4C26-ABAE-B6C1D61A9D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4082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DFF92428-C48E-49F3-892B-4B8031EC9BD5}" type="datetimeFigureOut">
              <a:rPr lang="zh-CN" altLang="en-US" smtClean="0"/>
              <a:t>2020/12/26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A6656A-2CA2-4C26-ABAE-B6C1D61A9D8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30999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537" r:id="rId1"/>
    <p:sldLayoutId id="2147484538" r:id="rId2"/>
    <p:sldLayoutId id="2147484539" r:id="rId3"/>
    <p:sldLayoutId id="2147484540" r:id="rId4"/>
    <p:sldLayoutId id="2147484541" r:id="rId5"/>
    <p:sldLayoutId id="2147484542" r:id="rId6"/>
    <p:sldLayoutId id="2147484543" r:id="rId7"/>
    <p:sldLayoutId id="2147484544" r:id="rId8"/>
    <p:sldLayoutId id="2147484545" r:id="rId9"/>
    <p:sldLayoutId id="2147484546" r:id="rId10"/>
    <p:sldLayoutId id="2147484547" r:id="rId11"/>
    <p:sldLayoutId id="2147484548" r:id="rId12"/>
    <p:sldLayoutId id="2147484549" r:id="rId13"/>
    <p:sldLayoutId id="2147484550" r:id="rId14"/>
    <p:sldLayoutId id="2147484551" r:id="rId15"/>
    <p:sldLayoutId id="2147484552" r:id="rId16"/>
    <p:sldLayoutId id="214748455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://redmine.efih-foxconn.com/issues/1569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err="1" smtClean="0"/>
              <a:t>Redmine</a:t>
            </a:r>
            <a:r>
              <a:rPr lang="en-US" altLang="zh-CN" dirty="0" smtClean="0"/>
              <a:t> Issue</a:t>
            </a:r>
            <a:r>
              <a:rPr lang="zh-CN" altLang="en-US" dirty="0" smtClean="0"/>
              <a:t>管理</a:t>
            </a:r>
            <a:endParaRPr lang="zh-CN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/>
              <a:t>應用系統開發部</a:t>
            </a:r>
            <a:endParaRPr lang="en-US" altLang="zh-CN" dirty="0" smtClean="0"/>
          </a:p>
          <a:p>
            <a:r>
              <a:rPr lang="en-US" altLang="zh-CN" dirty="0" smtClean="0"/>
              <a:t>2020-12-26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677061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1. </a:t>
            </a:r>
            <a:r>
              <a:rPr lang="zh-CN" altLang="en-US" dirty="0" smtClean="0"/>
              <a:t>版本管理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sz="3600" dirty="0"/>
              <a:t> </a:t>
            </a:r>
            <a:r>
              <a:rPr lang="en-US" altLang="zh-CN" sz="3600" dirty="0" smtClean="0"/>
              <a:t>   -</a:t>
            </a:r>
            <a:r>
              <a:rPr lang="zh-CN" altLang="en-US" sz="3600" dirty="0" smtClean="0"/>
              <a:t>建立代碼版本與</a:t>
            </a:r>
            <a:r>
              <a:rPr lang="en-US" altLang="zh-CN" sz="3600" dirty="0" smtClean="0"/>
              <a:t>Issue</a:t>
            </a:r>
            <a:r>
              <a:rPr lang="zh-CN" altLang="en-US" sz="3600" dirty="0" smtClean="0"/>
              <a:t>對應關係</a:t>
            </a:r>
            <a:endParaRPr lang="zh-CN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6558" y="1853248"/>
            <a:ext cx="8592589" cy="493660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208712" y="4214553"/>
            <a:ext cx="748145" cy="247719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圓角矩形圖說文字 5"/>
          <p:cNvSpPr/>
          <p:nvPr/>
        </p:nvSpPr>
        <p:spPr>
          <a:xfrm>
            <a:off x="241069" y="4148051"/>
            <a:ext cx="2676698" cy="1995054"/>
          </a:xfrm>
          <a:prstGeom prst="wedgeRoundRectCallout">
            <a:avLst>
              <a:gd name="adj1" fmla="val 60412"/>
              <a:gd name="adj2" fmla="val 1510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 smtClean="0"/>
              <a:t>為每個功能需求變更建立新版本，版本號應與</a:t>
            </a:r>
            <a:r>
              <a:rPr lang="en-US" altLang="zh-CN" dirty="0" err="1"/>
              <a:t>G</a:t>
            </a:r>
            <a:r>
              <a:rPr lang="en-US" altLang="zh-CN" dirty="0" err="1" smtClean="0"/>
              <a:t>itlab</a:t>
            </a:r>
            <a:r>
              <a:rPr lang="zh-CN" altLang="en-US" dirty="0" smtClean="0"/>
              <a:t>中</a:t>
            </a:r>
            <a:r>
              <a:rPr lang="en-US" altLang="zh-CN" dirty="0" smtClean="0"/>
              <a:t>Release</a:t>
            </a:r>
            <a:r>
              <a:rPr lang="zh-CN" altLang="en-US" dirty="0" smtClean="0"/>
              <a:t>版本號保持一致</a:t>
            </a:r>
            <a:endParaRPr lang="zh-CN" altLang="en-US" dirty="0"/>
          </a:p>
        </p:txBody>
      </p:sp>
      <p:sp>
        <p:nvSpPr>
          <p:cNvPr id="7" name="圓角矩形圖說文字 6"/>
          <p:cNvSpPr/>
          <p:nvPr/>
        </p:nvSpPr>
        <p:spPr>
          <a:xfrm>
            <a:off x="7268093" y="3458734"/>
            <a:ext cx="1983972" cy="1213018"/>
          </a:xfrm>
          <a:prstGeom prst="wedgeRoundRectCallout">
            <a:avLst>
              <a:gd name="adj1" fmla="val -82457"/>
              <a:gd name="adj2" fmla="val -2189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 smtClean="0"/>
              <a:t>為每個功能</a:t>
            </a:r>
            <a:r>
              <a:rPr lang="zh-CN" altLang="en-US" dirty="0"/>
              <a:t>或</a:t>
            </a:r>
            <a:r>
              <a:rPr lang="zh-CN" altLang="en-US" dirty="0" smtClean="0"/>
              <a:t>缺陷建立新</a:t>
            </a:r>
            <a:r>
              <a:rPr lang="en-US" altLang="zh-CN" dirty="0" smtClean="0"/>
              <a:t>Issue</a:t>
            </a:r>
            <a:r>
              <a:rPr lang="zh-CN" altLang="en-US" dirty="0" smtClean="0"/>
              <a:t>並與版本關聯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4826199" y="3543993"/>
            <a:ext cx="1782418" cy="72874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4222141" y="2175165"/>
            <a:ext cx="604058" cy="2022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5763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2. </a:t>
            </a:r>
            <a:r>
              <a:rPr lang="zh-CN" altLang="en-US" dirty="0" smtClean="0"/>
              <a:t>版本維護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sz="3600" dirty="0" smtClean="0"/>
              <a:t>    -</a:t>
            </a:r>
            <a:r>
              <a:rPr lang="zh-CN" altLang="en-US" sz="3600" dirty="0" smtClean="0"/>
              <a:t>當有新功能需求時要先建立新版本</a:t>
            </a:r>
            <a:endParaRPr lang="zh-CN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8217" y="1853248"/>
            <a:ext cx="8560550" cy="4889786"/>
          </a:xfrm>
          <a:prstGeom prst="rect">
            <a:avLst/>
          </a:prstGeom>
        </p:spPr>
      </p:pic>
      <p:sp>
        <p:nvSpPr>
          <p:cNvPr id="5" name="圓角矩形圖說文字 4"/>
          <p:cNvSpPr/>
          <p:nvPr/>
        </p:nvSpPr>
        <p:spPr>
          <a:xfrm>
            <a:off x="646111" y="5355434"/>
            <a:ext cx="1983972" cy="1213018"/>
          </a:xfrm>
          <a:prstGeom prst="wedgeRoundRectCallout">
            <a:avLst>
              <a:gd name="adj1" fmla="val 77599"/>
              <a:gd name="adj2" fmla="val 4869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 smtClean="0"/>
              <a:t>後續</a:t>
            </a:r>
            <a:r>
              <a:rPr lang="en-US" altLang="zh-CN" dirty="0" err="1" smtClean="0"/>
              <a:t>Gitlab</a:t>
            </a:r>
            <a:r>
              <a:rPr lang="zh-CN" altLang="en-US" dirty="0" smtClean="0"/>
              <a:t>發佈代碼應與此版本一致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3158217" y="3111731"/>
            <a:ext cx="960222" cy="2216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8674838" y="2200176"/>
            <a:ext cx="507800" cy="2022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4118439" y="2815272"/>
            <a:ext cx="384134" cy="20227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235801" y="6457616"/>
            <a:ext cx="8349215" cy="2216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4288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3. </a:t>
            </a:r>
            <a:r>
              <a:rPr lang="zh-CN" altLang="en-US" dirty="0" smtClean="0"/>
              <a:t>新建</a:t>
            </a:r>
            <a:r>
              <a:rPr lang="en-US" altLang="zh-CN" dirty="0" smtClean="0"/>
              <a:t>Issue</a:t>
            </a:r>
            <a:br>
              <a:rPr lang="en-US" altLang="zh-CN" dirty="0" smtClean="0"/>
            </a:br>
            <a:r>
              <a:rPr lang="en-US" altLang="zh-CN" sz="3600" dirty="0"/>
              <a:t> </a:t>
            </a:r>
            <a:r>
              <a:rPr lang="en-US" altLang="zh-CN" sz="3600" dirty="0" smtClean="0"/>
              <a:t>   -</a:t>
            </a:r>
            <a:r>
              <a:rPr lang="zh-CN" altLang="en-US" sz="3600" dirty="0" smtClean="0"/>
              <a:t>為每個需求變更或缺陷建立</a:t>
            </a:r>
            <a:r>
              <a:rPr lang="en-US" altLang="zh-CN" sz="3600" dirty="0" smtClean="0"/>
              <a:t>Issue</a:t>
            </a:r>
            <a:endParaRPr lang="zh-CN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0552" y="1990165"/>
            <a:ext cx="9248112" cy="4679589"/>
          </a:xfrm>
          <a:prstGeom prst="rect">
            <a:avLst/>
          </a:prstGeom>
        </p:spPr>
      </p:pic>
      <p:sp>
        <p:nvSpPr>
          <p:cNvPr id="6" name="圓角矩形圖說文字 5"/>
          <p:cNvSpPr/>
          <p:nvPr/>
        </p:nvSpPr>
        <p:spPr>
          <a:xfrm>
            <a:off x="6830680" y="2025854"/>
            <a:ext cx="4990019" cy="1213018"/>
          </a:xfrm>
          <a:prstGeom prst="wedgeRoundRectCallout">
            <a:avLst>
              <a:gd name="adj1" fmla="val -88015"/>
              <a:gd name="adj2" fmla="val -613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 smtClean="0"/>
              <a:t>選擇變更類型</a:t>
            </a:r>
            <a:endParaRPr lang="en-US" altLang="zh-CN" dirty="0" smtClean="0"/>
          </a:p>
          <a:p>
            <a:r>
              <a:rPr lang="zh-CN" altLang="en-US" dirty="0" smtClean="0"/>
              <a:t>功能：需求變更，對應</a:t>
            </a:r>
            <a:r>
              <a:rPr lang="en-US" altLang="zh-CN" dirty="0" err="1" smtClean="0"/>
              <a:t>feature&amp;release</a:t>
            </a:r>
            <a:r>
              <a:rPr lang="zh-CN" altLang="en-US" dirty="0"/>
              <a:t>分支</a:t>
            </a:r>
            <a:endParaRPr lang="en-US" altLang="zh-CN" dirty="0" smtClean="0"/>
          </a:p>
          <a:p>
            <a:r>
              <a:rPr lang="zh-CN" altLang="en-US" dirty="0" smtClean="0"/>
              <a:t>缺陷：</a:t>
            </a:r>
            <a:r>
              <a:rPr lang="en-US" altLang="zh-CN" dirty="0" smtClean="0"/>
              <a:t>Bug fix</a:t>
            </a:r>
            <a:r>
              <a:rPr lang="zh-CN" altLang="en-US" dirty="0" smtClean="0"/>
              <a:t>，對應</a:t>
            </a:r>
            <a:r>
              <a:rPr lang="en-US" altLang="zh-CN" dirty="0" smtClean="0"/>
              <a:t>hotfix</a:t>
            </a:r>
            <a:r>
              <a:rPr lang="zh-CN" altLang="en-US" dirty="0" smtClean="0"/>
              <a:t>分支</a:t>
            </a:r>
            <a:endParaRPr lang="en-US" altLang="zh-CN" dirty="0" smtClean="0"/>
          </a:p>
          <a:p>
            <a:r>
              <a:rPr lang="zh-CN" altLang="en-US" dirty="0" smtClean="0"/>
              <a:t>支持：非代碼變更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3972864" y="2493818"/>
            <a:ext cx="960222" cy="2493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4042136" y="5389418"/>
            <a:ext cx="1984591" cy="2493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4042136" y="5651025"/>
            <a:ext cx="1984592" cy="2493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6999638" y="5638799"/>
            <a:ext cx="1354654" cy="2493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4042134" y="4881677"/>
            <a:ext cx="1984593" cy="2493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4042133" y="6154678"/>
            <a:ext cx="1984593" cy="2493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圓角矩形圖說文字 12"/>
          <p:cNvSpPr/>
          <p:nvPr/>
        </p:nvSpPr>
        <p:spPr>
          <a:xfrm>
            <a:off x="4389121" y="4182024"/>
            <a:ext cx="3017520" cy="500870"/>
          </a:xfrm>
          <a:prstGeom prst="wedgeRoundRectCallout">
            <a:avLst>
              <a:gd name="adj1" fmla="val -37586"/>
              <a:gd name="adj2" fmla="val 8852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 err="1" smtClean="0"/>
              <a:t>Git</a:t>
            </a:r>
            <a:r>
              <a:rPr lang="zh-CN" altLang="en-US" dirty="0" smtClean="0"/>
              <a:t>推送狀態後自動更新</a:t>
            </a:r>
            <a:endParaRPr lang="zh-CN" altLang="en-US" dirty="0"/>
          </a:p>
        </p:txBody>
      </p:sp>
      <p:sp>
        <p:nvSpPr>
          <p:cNvPr id="14" name="圓角矩形圖說文字 13"/>
          <p:cNvSpPr/>
          <p:nvPr/>
        </p:nvSpPr>
        <p:spPr>
          <a:xfrm>
            <a:off x="8824901" y="5513054"/>
            <a:ext cx="1856953" cy="500870"/>
          </a:xfrm>
          <a:prstGeom prst="wedgeRoundRectCallout">
            <a:avLst>
              <a:gd name="adj1" fmla="val -74707"/>
              <a:gd name="adj2" fmla="val 1051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 smtClean="0"/>
              <a:t>輸入預估工時</a:t>
            </a:r>
            <a:endParaRPr lang="zh-CN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6999638" y="5904895"/>
            <a:ext cx="1354654" cy="2493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圓角矩形圖說文字 15"/>
          <p:cNvSpPr/>
          <p:nvPr/>
        </p:nvSpPr>
        <p:spPr>
          <a:xfrm>
            <a:off x="8620427" y="6126916"/>
            <a:ext cx="3075580" cy="500870"/>
          </a:xfrm>
          <a:prstGeom prst="wedgeRoundRectCallout">
            <a:avLst>
              <a:gd name="adj1" fmla="val -59121"/>
              <a:gd name="adj2" fmla="val -4922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 err="1" smtClean="0"/>
              <a:t>Git</a:t>
            </a:r>
            <a:r>
              <a:rPr lang="zh-CN" altLang="en-US" dirty="0" smtClean="0"/>
              <a:t>推送狀態後自動更新</a:t>
            </a:r>
            <a:endParaRPr lang="zh-CN" altLang="en-US" dirty="0"/>
          </a:p>
        </p:txBody>
      </p:sp>
      <p:sp>
        <p:nvSpPr>
          <p:cNvPr id="17" name="圓角矩形圖說文字 16"/>
          <p:cNvSpPr/>
          <p:nvPr/>
        </p:nvSpPr>
        <p:spPr>
          <a:xfrm>
            <a:off x="8695113" y="4682893"/>
            <a:ext cx="3067396" cy="530875"/>
          </a:xfrm>
          <a:prstGeom prst="wedgeRoundRectCallout">
            <a:avLst>
              <a:gd name="adj1" fmla="val -49512"/>
              <a:gd name="adj2" fmla="val 8520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 err="1" smtClean="0"/>
              <a:t>Git</a:t>
            </a:r>
            <a:r>
              <a:rPr lang="zh-CN" altLang="en-US" dirty="0" smtClean="0"/>
              <a:t>推送</a:t>
            </a:r>
            <a:r>
              <a:rPr lang="en-US" altLang="zh-CN" dirty="0" smtClean="0"/>
              <a:t>close</a:t>
            </a:r>
            <a:r>
              <a:rPr lang="zh-CN" altLang="en-US" dirty="0" smtClean="0"/>
              <a:t>狀態自動更新</a:t>
            </a:r>
            <a:endParaRPr lang="zh-CN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7037157" y="5371207"/>
            <a:ext cx="1657956" cy="2493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圓角矩形圖說文字 18"/>
          <p:cNvSpPr/>
          <p:nvPr/>
        </p:nvSpPr>
        <p:spPr>
          <a:xfrm>
            <a:off x="1746374" y="4396171"/>
            <a:ext cx="1868356" cy="500870"/>
          </a:xfrm>
          <a:prstGeom prst="wedgeRoundRectCallout">
            <a:avLst>
              <a:gd name="adj1" fmla="val 70954"/>
              <a:gd name="adj2" fmla="val 14992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 smtClean="0"/>
              <a:t>選擇責任人</a:t>
            </a:r>
            <a:endParaRPr lang="zh-CN" altLang="en-US" dirty="0"/>
          </a:p>
        </p:txBody>
      </p:sp>
      <p:sp>
        <p:nvSpPr>
          <p:cNvPr id="20" name="圓角矩形圖說文字 19"/>
          <p:cNvSpPr/>
          <p:nvPr/>
        </p:nvSpPr>
        <p:spPr>
          <a:xfrm>
            <a:off x="1206260" y="5159652"/>
            <a:ext cx="1868356" cy="500870"/>
          </a:xfrm>
          <a:prstGeom prst="wedgeRoundRectCallout">
            <a:avLst>
              <a:gd name="adj1" fmla="val 98094"/>
              <a:gd name="adj2" fmla="val 5864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 smtClean="0"/>
              <a:t>選擇當前版本</a:t>
            </a:r>
            <a:endParaRPr lang="zh-CN" altLang="en-US" dirty="0"/>
          </a:p>
        </p:txBody>
      </p:sp>
      <p:sp>
        <p:nvSpPr>
          <p:cNvPr id="21" name="圓角矩形圖說文字 20"/>
          <p:cNvSpPr/>
          <p:nvPr/>
        </p:nvSpPr>
        <p:spPr>
          <a:xfrm>
            <a:off x="1380883" y="5799631"/>
            <a:ext cx="1924104" cy="500870"/>
          </a:xfrm>
          <a:prstGeom prst="wedgeRoundRectCallout">
            <a:avLst>
              <a:gd name="adj1" fmla="val 86146"/>
              <a:gd name="adj2" fmla="val 2877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 smtClean="0"/>
              <a:t>選擇</a:t>
            </a:r>
            <a:r>
              <a:rPr lang="en-US" altLang="zh-CN" dirty="0" smtClean="0"/>
              <a:t>Issue</a:t>
            </a:r>
            <a:r>
              <a:rPr lang="zh-CN" altLang="en-US" dirty="0" smtClean="0"/>
              <a:t>提出者</a:t>
            </a:r>
            <a:endParaRPr lang="zh-CN" altLang="en-US" dirty="0"/>
          </a:p>
        </p:txBody>
      </p:sp>
      <p:sp>
        <p:nvSpPr>
          <p:cNvPr id="22" name="圓角矩形圖說文字 21"/>
          <p:cNvSpPr/>
          <p:nvPr/>
        </p:nvSpPr>
        <p:spPr>
          <a:xfrm>
            <a:off x="1448432" y="6345887"/>
            <a:ext cx="2126612" cy="500870"/>
          </a:xfrm>
          <a:prstGeom prst="wedgeRoundRectCallout">
            <a:avLst>
              <a:gd name="adj1" fmla="val 69338"/>
              <a:gd name="adj2" fmla="val -607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 smtClean="0"/>
              <a:t>上傳用戶需求文檔</a:t>
            </a:r>
            <a:endParaRPr lang="zh-CN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4029111" y="6428531"/>
            <a:ext cx="551202" cy="19925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0748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4. Issue</a:t>
            </a:r>
            <a:r>
              <a:rPr lang="zh-CN" altLang="en-US" dirty="0" smtClean="0"/>
              <a:t>狀態更新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sz="3600" dirty="0"/>
              <a:t> </a:t>
            </a:r>
            <a:r>
              <a:rPr lang="en-US" altLang="zh-CN" sz="3600" dirty="0" smtClean="0"/>
              <a:t>   -</a:t>
            </a:r>
            <a:r>
              <a:rPr lang="en-US" altLang="zh-CN" sz="3600" dirty="0" err="1" smtClean="0"/>
              <a:t>Git</a:t>
            </a:r>
            <a:r>
              <a:rPr lang="zh-CN" altLang="en-US" sz="3600" dirty="0" smtClean="0"/>
              <a:t>推送自動更新</a:t>
            </a:r>
            <a:r>
              <a:rPr lang="en-US" altLang="zh-CN" sz="3600" dirty="0" smtClean="0"/>
              <a:t>Issue</a:t>
            </a:r>
            <a:r>
              <a:rPr lang="zh-CN" altLang="en-US" sz="3600" dirty="0" smtClean="0"/>
              <a:t>狀態及百分比</a:t>
            </a:r>
            <a:endParaRPr lang="zh-CN" altLang="en-US" sz="3600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 rotWithShape="1">
          <a:blip r:embed="rId2"/>
          <a:srcRect t="6056"/>
          <a:stretch/>
        </p:blipFill>
        <p:spPr>
          <a:xfrm>
            <a:off x="2186160" y="1774063"/>
            <a:ext cx="7564669" cy="505068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6940507" y="2285999"/>
            <a:ext cx="2677317" cy="2493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2512596" y="2696094"/>
            <a:ext cx="1527390" cy="2493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2512596" y="3668194"/>
            <a:ext cx="1527390" cy="4133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2512596" y="4833116"/>
            <a:ext cx="1527390" cy="4133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2512596" y="6014285"/>
            <a:ext cx="1527390" cy="4133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6940507" y="2820784"/>
            <a:ext cx="2677317" cy="4211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6940506" y="3512586"/>
            <a:ext cx="2677317" cy="2364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6940506" y="4100943"/>
            <a:ext cx="2677317" cy="3214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線單箭頭接點 15"/>
          <p:cNvCxnSpPr/>
          <p:nvPr/>
        </p:nvCxnSpPr>
        <p:spPr>
          <a:xfrm flipH="1">
            <a:off x="4106488" y="2410691"/>
            <a:ext cx="2751512" cy="34913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/>
          <p:cNvCxnSpPr/>
          <p:nvPr/>
        </p:nvCxnSpPr>
        <p:spPr>
          <a:xfrm flipH="1">
            <a:off x="4106488" y="3092823"/>
            <a:ext cx="2751512" cy="76390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/>
          <p:nvPr/>
        </p:nvCxnSpPr>
        <p:spPr>
          <a:xfrm flipH="1">
            <a:off x="4061389" y="3668194"/>
            <a:ext cx="2796611" cy="137526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/>
          <p:cNvCxnSpPr/>
          <p:nvPr/>
        </p:nvCxnSpPr>
        <p:spPr>
          <a:xfrm flipH="1">
            <a:off x="4106488" y="4293303"/>
            <a:ext cx="2753707" cy="196499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6" name="圓角矩形圖說文字 25"/>
          <p:cNvSpPr/>
          <p:nvPr/>
        </p:nvSpPr>
        <p:spPr>
          <a:xfrm>
            <a:off x="7115402" y="4751502"/>
            <a:ext cx="4081842" cy="1506799"/>
          </a:xfrm>
          <a:prstGeom prst="wedgeRoundRectCallout">
            <a:avLst>
              <a:gd name="adj1" fmla="val -33886"/>
              <a:gd name="adj2" fmla="val -7048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 smtClean="0"/>
              <a:t>開發工作完成後可設置為</a:t>
            </a:r>
            <a:r>
              <a:rPr lang="en-US" altLang="zh-CN" dirty="0" smtClean="0"/>
              <a:t>fix(</a:t>
            </a:r>
            <a:r>
              <a:rPr lang="zh-CN" altLang="en-US" dirty="0" smtClean="0"/>
              <a:t>已解決</a:t>
            </a:r>
            <a:r>
              <a:rPr lang="en-US" altLang="zh-CN" dirty="0" smtClean="0"/>
              <a:t>)</a:t>
            </a:r>
            <a:r>
              <a:rPr lang="zh-CN" altLang="en-US" dirty="0" smtClean="0"/>
              <a:t>狀態，用戶測試完成並發佈到正式系統運行正常後，再設置為</a:t>
            </a:r>
            <a:r>
              <a:rPr lang="en-US" altLang="zh-CN" dirty="0" smtClean="0"/>
              <a:t>close(</a:t>
            </a:r>
            <a:r>
              <a:rPr lang="zh-CN" altLang="en-US" dirty="0" smtClean="0"/>
              <a:t>已關閉</a:t>
            </a:r>
            <a:r>
              <a:rPr lang="en-US" altLang="zh-CN" dirty="0" smtClean="0"/>
              <a:t>)</a:t>
            </a:r>
            <a:r>
              <a:rPr lang="zh-CN" altLang="en-US" dirty="0" smtClean="0"/>
              <a:t>狀態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79576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5. Issue</a:t>
            </a:r>
            <a:r>
              <a:rPr lang="zh-CN" altLang="en-US" dirty="0" smtClean="0"/>
              <a:t>自動更新設置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smtClean="0"/>
              <a:t>    </a:t>
            </a:r>
            <a:r>
              <a:rPr lang="en-US" altLang="zh-CN" sz="3600" dirty="0" smtClean="0"/>
              <a:t>-</a:t>
            </a:r>
            <a:r>
              <a:rPr lang="en-US" altLang="zh-CN" sz="3600" dirty="0" err="1" smtClean="0"/>
              <a:t>Git</a:t>
            </a:r>
            <a:r>
              <a:rPr lang="zh-CN" altLang="en-US" sz="3600" dirty="0" smtClean="0"/>
              <a:t>推送更新</a:t>
            </a:r>
            <a:r>
              <a:rPr lang="en-US" altLang="zh-CN" sz="3600" dirty="0" err="1" smtClean="0"/>
              <a:t>Isssue</a:t>
            </a:r>
            <a:r>
              <a:rPr lang="zh-CN" altLang="en-US" sz="3600" dirty="0" smtClean="0"/>
              <a:t>狀態、百分比、工時</a:t>
            </a:r>
            <a:endParaRPr lang="zh-CN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自動抓取</a:t>
            </a:r>
            <a:r>
              <a:rPr lang="en-US" altLang="zh-CN" dirty="0" err="1" smtClean="0"/>
              <a:t>git</a:t>
            </a:r>
            <a:r>
              <a:rPr lang="en-US" altLang="zh-CN" dirty="0" smtClean="0"/>
              <a:t> commit</a:t>
            </a:r>
            <a:r>
              <a:rPr lang="zh-CN" altLang="en-US" dirty="0" smtClean="0"/>
              <a:t>文字約定：狀態關鍵字 </a:t>
            </a:r>
            <a:r>
              <a:rPr lang="en-US" altLang="zh-CN" dirty="0" smtClean="0"/>
              <a:t>+ Issue</a:t>
            </a:r>
            <a:r>
              <a:rPr lang="zh-CN" altLang="en-US" dirty="0" smtClean="0"/>
              <a:t>號碼 </a:t>
            </a:r>
            <a:r>
              <a:rPr lang="en-US" altLang="zh-CN" dirty="0" smtClean="0"/>
              <a:t>+ </a:t>
            </a:r>
            <a:r>
              <a:rPr lang="zh-CN" altLang="en-US" dirty="0" smtClean="0"/>
              <a:t>工時</a:t>
            </a:r>
            <a:endParaRPr lang="en-US" altLang="zh-CN" dirty="0" smtClean="0"/>
          </a:p>
          <a:p>
            <a:r>
              <a:rPr lang="zh-CN" altLang="en-US" dirty="0" smtClean="0"/>
              <a:t>例：</a:t>
            </a:r>
            <a:r>
              <a:rPr lang="en-US" altLang="zh-CN" dirty="0"/>
              <a:t>ongoing </a:t>
            </a:r>
            <a:r>
              <a:rPr lang="en-US" altLang="zh-CN" dirty="0">
                <a:hlinkClick r:id="rId2" tooltip="功能: 增加评比激励模块 (已关闭)"/>
              </a:rPr>
              <a:t>#1569</a:t>
            </a:r>
            <a:r>
              <a:rPr lang="en-US" altLang="zh-CN" dirty="0"/>
              <a:t> @6h </a:t>
            </a:r>
            <a:r>
              <a:rPr lang="zh-CN" altLang="en-US" dirty="0"/>
              <a:t>製程</a:t>
            </a:r>
            <a:r>
              <a:rPr lang="zh-CN" altLang="en-US" dirty="0" smtClean="0"/>
              <a:t>變更</a:t>
            </a:r>
            <a:endParaRPr lang="en-US" altLang="zh-CN" dirty="0" smtClean="0"/>
          </a:p>
          <a:p>
            <a:r>
              <a:rPr lang="zh-CN" altLang="en-US" dirty="0" smtClean="0"/>
              <a:t>說明：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1.</a:t>
            </a:r>
            <a:r>
              <a:rPr lang="zh-CN" altLang="en-US" dirty="0" smtClean="0"/>
              <a:t> 狀態、</a:t>
            </a:r>
            <a:r>
              <a:rPr lang="en-US" altLang="zh-CN" dirty="0" smtClean="0"/>
              <a:t>Issue</a:t>
            </a:r>
            <a:r>
              <a:rPr lang="zh-CN" altLang="en-US" dirty="0" smtClean="0"/>
              <a:t>號碼、工時之間</a:t>
            </a:r>
            <a:r>
              <a:rPr lang="zh-CN" altLang="en-US" dirty="0"/>
              <a:t>加空格</a:t>
            </a:r>
            <a:r>
              <a:rPr lang="zh-CN" altLang="en-US" dirty="0" smtClean="0"/>
              <a:t>區分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2. </a:t>
            </a:r>
            <a:r>
              <a:rPr lang="zh-CN" altLang="en-US" dirty="0" smtClean="0"/>
              <a:t>關鍵字與狀態及完成百分比對應關係如圖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3. Issue</a:t>
            </a:r>
            <a:r>
              <a:rPr lang="zh-CN" altLang="en-US" dirty="0" smtClean="0"/>
              <a:t>號碼前必須加</a:t>
            </a:r>
            <a:r>
              <a:rPr lang="en-US" altLang="zh-CN" dirty="0" smtClean="0"/>
              <a:t>#</a:t>
            </a:r>
            <a:r>
              <a:rPr lang="zh-CN" altLang="en-US" dirty="0"/>
              <a:t>符號</a:t>
            </a:r>
            <a:r>
              <a:rPr lang="zh-CN" altLang="en-US" dirty="0" smtClean="0"/>
              <a:t>，工時前必須加</a:t>
            </a:r>
            <a:r>
              <a:rPr lang="en-US" altLang="zh-CN" dirty="0" smtClean="0"/>
              <a:t>@</a:t>
            </a:r>
            <a:r>
              <a:rPr lang="zh-CN" altLang="en-US" dirty="0" smtClean="0"/>
              <a:t>符號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4</a:t>
            </a:r>
            <a:r>
              <a:rPr lang="en-US" altLang="zh-CN" dirty="0"/>
              <a:t>.</a:t>
            </a:r>
            <a:r>
              <a:rPr lang="en-US" altLang="zh-CN" dirty="0" smtClean="0"/>
              <a:t> </a:t>
            </a:r>
            <a:r>
              <a:rPr lang="zh-CN" altLang="en-US" dirty="0" smtClean="0"/>
              <a:t>工時單位：</a:t>
            </a:r>
            <a:r>
              <a:rPr lang="en-US" altLang="zh-CN" dirty="0" smtClean="0"/>
              <a:t>d:</a:t>
            </a:r>
            <a:r>
              <a:rPr lang="zh-CN" altLang="en-US" dirty="0" smtClean="0"/>
              <a:t>天；</a:t>
            </a:r>
            <a:r>
              <a:rPr lang="en-US" altLang="zh-CN" dirty="0" smtClean="0"/>
              <a:t>h:</a:t>
            </a:r>
            <a:r>
              <a:rPr lang="zh-CN" altLang="en-US" dirty="0" smtClean="0"/>
              <a:t>小時；</a:t>
            </a:r>
            <a:r>
              <a:rPr lang="en-US" altLang="zh-CN" dirty="0" smtClean="0"/>
              <a:t>m:</a:t>
            </a:r>
            <a:r>
              <a:rPr lang="zh-CN" altLang="en-US" dirty="0" smtClean="0"/>
              <a:t>分鐘 </a:t>
            </a:r>
            <a:endParaRPr lang="zh-CN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 rotWithShape="1">
          <a:blip r:embed="rId3"/>
          <a:srcRect b="15060"/>
          <a:stretch/>
        </p:blipFill>
        <p:spPr>
          <a:xfrm>
            <a:off x="1676890" y="4988227"/>
            <a:ext cx="8007437" cy="1653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148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6. </a:t>
            </a:r>
            <a:r>
              <a:rPr lang="zh-CN" altLang="en-US" dirty="0" smtClean="0"/>
              <a:t>工時管理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sz="3600" dirty="0"/>
              <a:t> </a:t>
            </a:r>
            <a:r>
              <a:rPr lang="en-US" altLang="zh-CN" sz="3600" dirty="0" smtClean="0"/>
              <a:t>   -</a:t>
            </a:r>
            <a:r>
              <a:rPr lang="zh-CN" altLang="en-US" sz="3600" dirty="0" smtClean="0"/>
              <a:t>工時記錄查詢、手工建立工時記錄</a:t>
            </a:r>
            <a:endParaRPr lang="zh-CN" altLang="en-US" sz="3600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751" y="1914810"/>
            <a:ext cx="8298384" cy="4801874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8686801" y="4256115"/>
            <a:ext cx="423949" cy="24023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8747761" y="2513213"/>
            <a:ext cx="662246" cy="2964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圓角矩形圖說文字 6"/>
          <p:cNvSpPr/>
          <p:nvPr/>
        </p:nvSpPr>
        <p:spPr>
          <a:xfrm>
            <a:off x="9772552" y="1914810"/>
            <a:ext cx="1856953" cy="989937"/>
          </a:xfrm>
          <a:prstGeom prst="wedgeRoundRectCallout">
            <a:avLst>
              <a:gd name="adj1" fmla="val -68888"/>
              <a:gd name="adj2" fmla="val 2863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 smtClean="0"/>
              <a:t>忘記自動推送工時，可手工維護工時記錄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601742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離子">
  <a:themeElements>
    <a:clrScheme name="離子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離子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離子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107</TotalTime>
  <Words>342</Words>
  <Application>Microsoft Office PowerPoint</Application>
  <PresentationFormat>寬螢幕</PresentationFormat>
  <Paragraphs>33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新細明體</vt:lpstr>
      <vt:lpstr>宋体</vt:lpstr>
      <vt:lpstr>Arial</vt:lpstr>
      <vt:lpstr>Century Gothic</vt:lpstr>
      <vt:lpstr>Wingdings 3</vt:lpstr>
      <vt:lpstr>離子</vt:lpstr>
      <vt:lpstr>Redmine Issue管理</vt:lpstr>
      <vt:lpstr>1. 版本管理     -建立代碼版本與Issue對應關係</vt:lpstr>
      <vt:lpstr>2. 版本維護     -當有新功能需求時要先建立新版本</vt:lpstr>
      <vt:lpstr>3. 新建Issue     -為每個需求變更或缺陷建立Issue</vt:lpstr>
      <vt:lpstr>4. Issue狀態更新     -Git推送自動更新Issue狀態及百分比</vt:lpstr>
      <vt:lpstr>5. Issue自動更新設置     -Git推送更新Isssue狀態、百分比、工時</vt:lpstr>
      <vt:lpstr>6. 工時管理     -工時記錄查詢、手工建立工時記錄</vt:lpstr>
    </vt:vector>
  </TitlesOfParts>
  <Company>FoxconnIT-Team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Redmine Issue管理規範</dc:title>
  <dc:creator>查志勇</dc:creator>
  <cp:lastModifiedBy>查志勇</cp:lastModifiedBy>
  <cp:revision>16</cp:revision>
  <dcterms:created xsi:type="dcterms:W3CDTF">2020-12-26T00:55:57Z</dcterms:created>
  <dcterms:modified xsi:type="dcterms:W3CDTF">2020-12-26T02:43:26Z</dcterms:modified>
</cp:coreProperties>
</file>