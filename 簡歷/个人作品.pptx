
<file path=[Content_Types].xml><?xml version="1.0" encoding="utf-8"?>
<Types xmlns="http://schemas.openxmlformats.org/package/2006/content-types">
  <Default Extension="mp3" ContentType="audio/mpeg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19" r:id="rId4"/>
    <p:sldId id="322" r:id="rId5"/>
    <p:sldId id="325" r:id="rId6"/>
    <p:sldId id="324" r:id="rId7"/>
    <p:sldId id="343" r:id="rId8"/>
    <p:sldId id="341" r:id="rId9"/>
    <p:sldId id="329" r:id="rId10"/>
    <p:sldId id="336" r:id="rId11"/>
    <p:sldId id="326" r:id="rId12"/>
    <p:sldId id="327" r:id="rId13"/>
    <p:sldId id="328" r:id="rId14"/>
    <p:sldId id="344" r:id="rId15"/>
    <p:sldId id="345" r:id="rId16"/>
    <p:sldId id="334" r:id="rId17"/>
    <p:sldId id="338" r:id="rId18"/>
    <p:sldId id="34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AE2"/>
    <a:srgbClr val="1257F1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87EFAEB-F12C-4082-9597-875CFD2FE2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F45F317-1B13-4165-949C-164AA53B6FEE}"/>
              </a:ext>
            </a:extLst>
          </p:cNvPr>
          <p:cNvSpPr/>
          <p:nvPr userDrawn="1"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rgbClr val="8EB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62D74C2-49BE-4402-ACD2-DAF647AEF2EB}"/>
              </a:ext>
            </a:extLst>
          </p:cNvPr>
          <p:cNvGrpSpPr/>
          <p:nvPr userDrawn="1"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2A38271F-1833-4A43-AEC1-A61FD8E16157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420AE6F-ABC0-42E5-98F1-925313FC5417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7AB4E7BB-B63E-45FF-B846-D8C11327BCA7}"/>
              </a:ext>
            </a:extLst>
          </p:cNvPr>
          <p:cNvSpPr/>
          <p:nvPr userDrawn="1"/>
        </p:nvSpPr>
        <p:spPr>
          <a:xfrm flipH="1">
            <a:off x="-28836" y="240140"/>
            <a:ext cx="12220836" cy="6377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467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2911D-9D24-47F4-98EF-14714B6F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3E032-D7DD-4735-86E2-8031A84B4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E3292D-2364-4417-AC2D-A2B5EA30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484B6-26FB-41DA-9E8B-9D366E6E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141284-697E-4C1F-8DE9-AA4547CC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54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A1317-C0D6-4AA0-92AA-921A1C00A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67048A-2000-4DB4-998D-11FFCCEBE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07EAD2-14E9-43D3-B97F-77943486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1FBDEC-4CBC-4DC7-9FF5-AFBC3A61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892678-E36D-411D-B8A6-6B1E5238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5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8FD3B-A19B-4375-80D7-5C5B39754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027D9-3A55-458F-976B-F36D65D8F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8A1F8E-5C01-41D5-96B3-0AA329B49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D790CE-B792-43DD-A17A-29CC4C8C2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6316DF-A313-41BC-B61A-957CF369D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8F7B96-0BBB-4F06-9329-B4C64387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64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42859-4447-474E-8124-BD88E4CD0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2443F3-A152-42B2-8CAA-B4015AFB2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2506DD-A913-434A-BCD8-C36FCC41D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94EFA9-338B-44D6-9F0C-05B68180D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9823BD-5C8A-4E79-B5B5-96E97C7BC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1ADC29-CFB8-4187-98E6-9630C211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488BB8-7303-42C2-813C-0B46F307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FD2DB4-FF0F-46F3-8B5C-B38F5B7B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21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7BD13-B33F-42B4-A363-39B2B2029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5CE299-C8CD-43CF-9898-629B0C96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4B1AAE-0599-4891-937E-21BDF7247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687E5B-CBE8-4C7B-B18D-FAF63BB5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94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BD7CC9-8BFA-45E8-BF06-F2A88D7DB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C10BBD-FC2B-4FFE-A65C-F7A5D15F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9E261-CA43-4F94-B790-CC1D1B65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08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FEBFA-3D9F-4474-8644-D40299C98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D8FD41-8AE2-4981-88A0-3CBC33440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67FC95-443C-4044-8F01-AAFDF11DC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4B972E-52BC-4C0E-B139-A7F72C9A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84A6D3-3D30-4097-AC17-92722E3AD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EF2920-CD96-485E-87DC-B16F412C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05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610DB-B5D7-4C6E-B4C8-B08DD93DC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E4B9B4-F860-456C-8B4D-E407FAEF4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93A997-DB57-496F-9C00-AD9509C06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FF0DDC-2A93-4AB9-9595-241D1739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DBC99D-6159-4726-995F-7531AC2E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81BDFA-91F6-4120-B0AE-21B2EF93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38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44DCC-550E-4C32-A1C4-16B3B9CF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DC8784-FAD1-4D59-9921-85073186D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D69969-5433-4712-A571-206574A9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14135-97A7-4961-AE38-68C1F383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4C903-D1AC-444B-B0BA-F077EBB4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19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87E11C-A563-4C84-9754-476430A14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4AA106-3E0C-422D-AE6D-A754EDF4C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910F6-D3C0-4CFB-8759-68FD0ADFD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5E2186-AE6B-4BEB-A7C8-82504F9C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FFFFE7-6723-4C99-8EE9-5503F7D9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11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703255-458D-4D8C-AD7A-2589045D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3CC72B-B25E-4E33-83E4-6ABAE1C68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F48472-9965-4A68-8E33-0388324FB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AF402-534D-4FF6-A29C-2EB526479B24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CD484D-DDE5-478B-9D8D-A6304E00D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A8F200-2C8B-408F-AF5D-6523E8859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8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7" Type="http://schemas.openxmlformats.org/officeDocument/2006/relationships/image" Target="../media/image2.png"/><Relationship Id="rId2" Type="http://schemas.microsoft.com/office/2007/relationships/media" Target="../media/media1.mp3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hyperlink" Target="http://10.158.65.7/test/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710A07-2A28-40EC-8D93-D7387474F0E6}"/>
              </a:ext>
            </a:extLst>
          </p:cNvPr>
          <p:cNvSpPr/>
          <p:nvPr/>
        </p:nvSpPr>
        <p:spPr>
          <a:xfrm>
            <a:off x="-28836" y="1053684"/>
            <a:ext cx="12192001" cy="5804316"/>
          </a:xfrm>
          <a:prstGeom prst="rect">
            <a:avLst/>
          </a:prstGeom>
          <a:blipFill dpi="0" rotWithShape="1">
            <a:blip r:embed="rId6">
              <a:alphaModFix amt="10000"/>
            </a:blip>
            <a:srcRect/>
            <a:stretch>
              <a:fillRect t="1" b="-181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7A7BA-1DE5-4665-9D30-DF265963F3B3}"/>
              </a:ext>
            </a:extLst>
          </p:cNvPr>
          <p:cNvSpPr/>
          <p:nvPr/>
        </p:nvSpPr>
        <p:spPr>
          <a:xfrm>
            <a:off x="7281261" y="0"/>
            <a:ext cx="4472589" cy="685800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6B1D381-2032-4BBA-9BCC-3F2ED3F7A23C}"/>
              </a:ext>
            </a:extLst>
          </p:cNvPr>
          <p:cNvSpPr/>
          <p:nvPr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C6F1E2-5A04-4423-A6C1-9B04901EF96E}"/>
              </a:ext>
            </a:extLst>
          </p:cNvPr>
          <p:cNvSpPr/>
          <p:nvPr/>
        </p:nvSpPr>
        <p:spPr>
          <a:xfrm flipH="1">
            <a:off x="7707298" y="0"/>
            <a:ext cx="363697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PA_文本框 18">
            <a:extLst>
              <a:ext uri="{FF2B5EF4-FFF2-40B4-BE49-F238E27FC236}">
                <a16:creationId xmlns:a16="http://schemas.microsoft.com/office/drawing/2014/main" id="{85DB1B22-E95D-4460-B4D9-8349FB7A6AA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760486" y="3192711"/>
            <a:ext cx="1872000" cy="51935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应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聘人：李振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B07D08-4B7D-4FAD-8342-B3249DFBDEDF}"/>
              </a:ext>
            </a:extLst>
          </p:cNvPr>
          <p:cNvSpPr/>
          <p:nvPr/>
        </p:nvSpPr>
        <p:spPr>
          <a:xfrm>
            <a:off x="426321" y="2711034"/>
            <a:ext cx="66983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spc="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Evaluation </a:t>
            </a:r>
            <a:r>
              <a:rPr lang="en-US" altLang="zh-CN" b="1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Interview</a:t>
            </a:r>
            <a:endParaRPr lang="zh-CN" altLang="en-US" b="1" spc="150" dirty="0">
              <a:solidFill>
                <a:schemeClr val="tx1">
                  <a:lumMod val="75000"/>
                  <a:lumOff val="25000"/>
                </a:schemeClr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349288-1225-4444-BABC-9007227BB8CF}"/>
              </a:ext>
            </a:extLst>
          </p:cNvPr>
          <p:cNvSpPr/>
          <p:nvPr/>
        </p:nvSpPr>
        <p:spPr>
          <a:xfrm>
            <a:off x="488041" y="1837780"/>
            <a:ext cx="6480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个人作品评</a:t>
            </a:r>
            <a:r>
              <a:rPr lang="zh-CN" altLang="en-US" sz="3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鉴面试</a:t>
            </a:r>
            <a:endParaRPr lang="zh-CN" altLang="en-US" sz="3800" b="1" dirty="0">
              <a:solidFill>
                <a:schemeClr val="tx1">
                  <a:lumMod val="75000"/>
                  <a:lumOff val="25000"/>
                </a:schemeClr>
              </a:solidFill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B152BA-FB3A-4DEF-97AF-2D3132A6379B}"/>
              </a:ext>
            </a:extLst>
          </p:cNvPr>
          <p:cNvGrpSpPr/>
          <p:nvPr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16D1BA4-5DFB-495C-B4C0-D9BF0BD2A928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7585635-9F29-4E63-8ED6-2D0E97E9D29A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缓慢钢琴音乐">
            <a:hlinkClick r:id="" action="ppaction://media"/>
            <a:extLst>
              <a:ext uri="{FF2B5EF4-FFF2-40B4-BE49-F238E27FC236}">
                <a16:creationId xmlns:a16="http://schemas.microsoft.com/office/drawing/2014/main" id="{835AD22F-0388-44CF-A9E5-429FA7E3713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545961" y="-2509684"/>
            <a:ext cx="609600" cy="609600"/>
          </a:xfrm>
          <a:prstGeom prst="rect">
            <a:avLst/>
          </a:prstGeom>
        </p:spPr>
      </p:pic>
      <p:sp>
        <p:nvSpPr>
          <p:cNvPr id="28" name="PA_文本框 18">
            <a:extLst>
              <a:ext uri="{FF2B5EF4-FFF2-40B4-BE49-F238E27FC236}">
                <a16:creationId xmlns:a16="http://schemas.microsoft.com/office/drawing/2014/main" id="{613F8FCA-D71A-4DB0-BEA6-1CE17527F1B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09215" y="3985487"/>
            <a:ext cx="2637651" cy="51935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应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聘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岗位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：开发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工程师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8911994"/>
      </p:ext>
    </p:extLst>
  </p:cSld>
  <p:clrMapOvr>
    <a:masterClrMapping/>
  </p:clrMapOvr>
  <p:transition spd="med"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75"/>
                            </p:stCondLst>
                            <p:childTnLst>
                              <p:par>
                                <p:cTn id="2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  <p:bldP spid="11" grpId="0" animBg="1"/>
      <p:bldP spid="17" grpId="0" animBg="1"/>
      <p:bldP spid="19" grpId="0"/>
      <p:bldP spid="20" grpId="0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3688E2B-4A69-4912-9385-02F7BCB1FEDD}"/>
              </a:ext>
            </a:extLst>
          </p:cNvPr>
          <p:cNvGrpSpPr/>
          <p:nvPr/>
        </p:nvGrpSpPr>
        <p:grpSpPr>
          <a:xfrm>
            <a:off x="739952" y="0"/>
            <a:ext cx="4472589" cy="6858000"/>
            <a:chOff x="739952" y="0"/>
            <a:chExt cx="4472589" cy="68580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019EA95-F30B-4581-8F8A-F33A28D017DC}"/>
                </a:ext>
              </a:extLst>
            </p:cNvPr>
            <p:cNvSpPr/>
            <p:nvPr/>
          </p:nvSpPr>
          <p:spPr>
            <a:xfrm>
              <a:off x="739952" y="0"/>
              <a:ext cx="4472589" cy="6858000"/>
            </a:xfrm>
            <a:prstGeom prst="rect">
              <a:avLst/>
            </a:prstGeom>
            <a:pattFill prst="wdUpDiag">
              <a:fgClr>
                <a:srgbClr val="8EBAE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79622C1-C207-4CF6-A629-E94307ABD6FE}"/>
                </a:ext>
              </a:extLst>
            </p:cNvPr>
            <p:cNvSpPr/>
            <p:nvPr/>
          </p:nvSpPr>
          <p:spPr>
            <a:xfrm flipH="1">
              <a:off x="1165989" y="0"/>
              <a:ext cx="3636974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121F607-CECB-4F1C-B81C-0B3AA1F6C295}"/>
              </a:ext>
            </a:extLst>
          </p:cNvPr>
          <p:cNvGrpSpPr/>
          <p:nvPr/>
        </p:nvGrpSpPr>
        <p:grpSpPr>
          <a:xfrm flipH="1">
            <a:off x="0" y="4242544"/>
            <a:ext cx="2512596" cy="2615456"/>
            <a:chOff x="9679404" y="4242544"/>
            <a:chExt cx="2512596" cy="2615456"/>
          </a:xfrm>
        </p:grpSpPr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EF690674-91FD-49EF-ABBD-54DF6D8C511F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1DC01A66-6C49-48BE-9FC1-13844E1D2C10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46D14E2A-E116-4324-A0F5-26BC8B7A85CA}"/>
              </a:ext>
            </a:extLst>
          </p:cNvPr>
          <p:cNvSpPr txBox="1"/>
          <p:nvPr/>
        </p:nvSpPr>
        <p:spPr>
          <a:xfrm>
            <a:off x="1706019" y="251530"/>
            <a:ext cx="2222303" cy="124649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目录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65D3AE-107A-494D-A7F1-430B750AFFEA}"/>
              </a:ext>
            </a:extLst>
          </p:cNvPr>
          <p:cNvSpPr txBox="1"/>
          <p:nvPr/>
        </p:nvSpPr>
        <p:spPr>
          <a:xfrm>
            <a:off x="1780356" y="1433940"/>
            <a:ext cx="2147966" cy="43088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CONTENTS</a:t>
            </a:r>
            <a:endParaRPr lang="zh-CN" alt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A6E8F-3EAB-429C-BCDA-A9341AFC06D7}"/>
              </a:ext>
            </a:extLst>
          </p:cNvPr>
          <p:cNvGrpSpPr/>
          <p:nvPr/>
        </p:nvGrpSpPr>
        <p:grpSpPr>
          <a:xfrm>
            <a:off x="6366825" y="761710"/>
            <a:ext cx="1246549" cy="1021243"/>
            <a:chOff x="6328725" y="987403"/>
            <a:chExt cx="1246549" cy="1021243"/>
          </a:xfrm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6FCE2919-D0EC-4966-8B5F-64EB75F42EF1}"/>
                </a:ext>
              </a:extLst>
            </p:cNvPr>
            <p:cNvSpPr/>
            <p:nvPr/>
          </p:nvSpPr>
          <p:spPr>
            <a:xfrm flipH="1" flipV="1">
              <a:off x="6328725" y="987403"/>
              <a:ext cx="923496" cy="1021243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íśḻïḓè">
              <a:extLst>
                <a:ext uri="{FF2B5EF4-FFF2-40B4-BE49-F238E27FC236}">
                  <a16:creationId xmlns:a16="http://schemas.microsoft.com/office/drawing/2014/main" id="{2DFCAA9E-36B4-4D44-815B-D528459093CE}"/>
                </a:ext>
              </a:extLst>
            </p:cNvPr>
            <p:cNvSpPr txBox="1"/>
            <p:nvPr/>
          </p:nvSpPr>
          <p:spPr bwMode="auto">
            <a:xfrm>
              <a:off x="6651778" y="1364484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spc="6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4558CCC-CCCA-48DF-BBC5-AFB92E565530}"/>
              </a:ext>
            </a:extLst>
          </p:cNvPr>
          <p:cNvGrpSpPr/>
          <p:nvPr/>
        </p:nvGrpSpPr>
        <p:grpSpPr>
          <a:xfrm>
            <a:off x="7755647" y="1002052"/>
            <a:ext cx="3450739" cy="862775"/>
            <a:chOff x="7575273" y="1498025"/>
            <a:chExt cx="3450739" cy="862775"/>
          </a:xfrm>
        </p:grpSpPr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FA0AADBE-F1A7-40B8-B64C-BEEF8273C90C}"/>
                </a:ext>
              </a:extLst>
            </p:cNvPr>
            <p:cNvSpPr txBox="1"/>
            <p:nvPr/>
          </p:nvSpPr>
          <p:spPr bwMode="auto">
            <a:xfrm>
              <a:off x="7575273" y="1498025"/>
              <a:ext cx="2910707" cy="427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000" spc="6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个</a:t>
              </a:r>
              <a:r>
                <a:rPr lang="zh-CN" altLang="en-US" sz="3000" spc="60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人简介</a:t>
              </a:r>
              <a:endParaRPr lang="en-US" altLang="zh-CN" sz="3000" spc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DA03428-07F5-4FB4-B0E5-8949FBFBAB85}"/>
                </a:ext>
              </a:extLst>
            </p:cNvPr>
            <p:cNvSpPr txBox="1"/>
            <p:nvPr/>
          </p:nvSpPr>
          <p:spPr>
            <a:xfrm>
              <a:off x="7638832" y="2114579"/>
              <a:ext cx="3387180" cy="246221"/>
            </a:xfrm>
            <a:prstGeom prst="rect">
              <a:avLst/>
            </a:prstGeom>
            <a:noFill/>
          </p:spPr>
          <p:txBody>
            <a:bodyPr vert="horz" wrap="square" rtlCol="0" anchor="b">
              <a:spAutoFit/>
            </a:bodyPr>
            <a:lstStyle/>
            <a:p>
              <a:r>
                <a:rPr lang="en-US" altLang="zh-CN" sz="1000" spc="12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Personal </a:t>
              </a:r>
              <a:r>
                <a:rPr lang="en-US" altLang="zh-CN" sz="1000" spc="12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introduction</a:t>
              </a:r>
              <a:endParaRPr lang="zh-CN" altLang="en-US" sz="1000" spc="1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4FAF213-0257-4D85-9857-3A43936D83F3}"/>
              </a:ext>
            </a:extLst>
          </p:cNvPr>
          <p:cNvGrpSpPr/>
          <p:nvPr/>
        </p:nvGrpSpPr>
        <p:grpSpPr>
          <a:xfrm>
            <a:off x="6430384" y="2212987"/>
            <a:ext cx="1246549" cy="1021243"/>
            <a:chOff x="6328725" y="987403"/>
            <a:chExt cx="1246549" cy="1021243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DEF2E766-3D4A-4AD6-890E-8A1A049C557F}"/>
                </a:ext>
              </a:extLst>
            </p:cNvPr>
            <p:cNvSpPr/>
            <p:nvPr/>
          </p:nvSpPr>
          <p:spPr>
            <a:xfrm flipH="1" flipV="1">
              <a:off x="6328725" y="987403"/>
              <a:ext cx="923496" cy="1021243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íśḻïḓè">
              <a:extLst>
                <a:ext uri="{FF2B5EF4-FFF2-40B4-BE49-F238E27FC236}">
                  <a16:creationId xmlns:a16="http://schemas.microsoft.com/office/drawing/2014/main" id="{52978352-A6EF-4840-BC2C-28F62548C565}"/>
                </a:ext>
              </a:extLst>
            </p:cNvPr>
            <p:cNvSpPr txBox="1"/>
            <p:nvPr/>
          </p:nvSpPr>
          <p:spPr bwMode="auto">
            <a:xfrm>
              <a:off x="6651778" y="1364484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spc="6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42C6ABF-95D0-4B3E-90D1-020AC0CE35C6}"/>
              </a:ext>
            </a:extLst>
          </p:cNvPr>
          <p:cNvGrpSpPr/>
          <p:nvPr/>
        </p:nvGrpSpPr>
        <p:grpSpPr>
          <a:xfrm>
            <a:off x="7755647" y="2453329"/>
            <a:ext cx="3450739" cy="862775"/>
            <a:chOff x="7575273" y="1498025"/>
            <a:chExt cx="3450739" cy="862775"/>
          </a:xfrm>
        </p:grpSpPr>
        <p:sp>
          <p:nvSpPr>
            <p:cNvPr id="33" name="íśḻïḓè">
              <a:extLst>
                <a:ext uri="{FF2B5EF4-FFF2-40B4-BE49-F238E27FC236}">
                  <a16:creationId xmlns:a16="http://schemas.microsoft.com/office/drawing/2014/main" id="{A620EE44-488E-4814-A717-7E1ABB16B08A}"/>
                </a:ext>
              </a:extLst>
            </p:cNvPr>
            <p:cNvSpPr txBox="1"/>
            <p:nvPr/>
          </p:nvSpPr>
          <p:spPr bwMode="auto">
            <a:xfrm>
              <a:off x="7575273" y="1498025"/>
              <a:ext cx="2910707" cy="427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000" spc="6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主</a:t>
              </a:r>
              <a:r>
                <a:rPr lang="zh-CN" altLang="en-US" sz="3000" spc="60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导项目</a:t>
              </a:r>
              <a:endParaRPr lang="en-US" altLang="zh-CN" sz="3000" spc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FA7D2E0-E087-4066-8C77-6ACA619A7CDB}"/>
                </a:ext>
              </a:extLst>
            </p:cNvPr>
            <p:cNvSpPr txBox="1"/>
            <p:nvPr/>
          </p:nvSpPr>
          <p:spPr>
            <a:xfrm>
              <a:off x="7638832" y="2114579"/>
              <a:ext cx="3387180" cy="246221"/>
            </a:xfrm>
            <a:prstGeom prst="rect">
              <a:avLst/>
            </a:prstGeom>
            <a:noFill/>
          </p:spPr>
          <p:txBody>
            <a:bodyPr vert="horz" wrap="square" rtlCol="0" anchor="b">
              <a:spAutoFit/>
            </a:bodyPr>
            <a:lstStyle/>
            <a:p>
              <a:r>
                <a:rPr lang="en-US" altLang="zh-CN" sz="1000" spc="12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Leading </a:t>
              </a:r>
              <a:r>
                <a:rPr lang="en-US" altLang="zh-CN" sz="1000" spc="12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project</a:t>
              </a:r>
              <a:endParaRPr lang="zh-CN" altLang="en-US" sz="1000" spc="1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035E13D-FF3E-4427-AD37-392C51A855B6}"/>
              </a:ext>
            </a:extLst>
          </p:cNvPr>
          <p:cNvGrpSpPr/>
          <p:nvPr/>
        </p:nvGrpSpPr>
        <p:grpSpPr>
          <a:xfrm>
            <a:off x="6430384" y="3613667"/>
            <a:ext cx="1246549" cy="1021243"/>
            <a:chOff x="6328725" y="987403"/>
            <a:chExt cx="1246549" cy="1021243"/>
          </a:xfrm>
        </p:grpSpPr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33F11071-368F-480D-AB03-49A6CFB0AC59}"/>
                </a:ext>
              </a:extLst>
            </p:cNvPr>
            <p:cNvSpPr/>
            <p:nvPr/>
          </p:nvSpPr>
          <p:spPr>
            <a:xfrm flipH="1" flipV="1">
              <a:off x="6328725" y="987403"/>
              <a:ext cx="923496" cy="1021243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íśḻïḓè">
              <a:extLst>
                <a:ext uri="{FF2B5EF4-FFF2-40B4-BE49-F238E27FC236}">
                  <a16:creationId xmlns:a16="http://schemas.microsoft.com/office/drawing/2014/main" id="{51E28B3D-9E20-45F0-8120-613F2BA2FB77}"/>
                </a:ext>
              </a:extLst>
            </p:cNvPr>
            <p:cNvSpPr txBox="1"/>
            <p:nvPr/>
          </p:nvSpPr>
          <p:spPr bwMode="auto">
            <a:xfrm>
              <a:off x="6651778" y="1364484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spc="6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02DE879-6A2A-4882-BE76-D381AB6B3535}"/>
              </a:ext>
            </a:extLst>
          </p:cNvPr>
          <p:cNvGrpSpPr/>
          <p:nvPr/>
        </p:nvGrpSpPr>
        <p:grpSpPr>
          <a:xfrm>
            <a:off x="7755647" y="3854009"/>
            <a:ext cx="3450739" cy="862775"/>
            <a:chOff x="7575273" y="1498025"/>
            <a:chExt cx="3450739" cy="862775"/>
          </a:xfrm>
        </p:grpSpPr>
        <p:sp>
          <p:nvSpPr>
            <p:cNvPr id="39" name="íśḻïḓè">
              <a:extLst>
                <a:ext uri="{FF2B5EF4-FFF2-40B4-BE49-F238E27FC236}">
                  <a16:creationId xmlns:a16="http://schemas.microsoft.com/office/drawing/2014/main" id="{738EB60E-009F-4E4A-89CC-7472635F286C}"/>
                </a:ext>
              </a:extLst>
            </p:cNvPr>
            <p:cNvSpPr txBox="1"/>
            <p:nvPr/>
          </p:nvSpPr>
          <p:spPr bwMode="auto">
            <a:xfrm>
              <a:off x="7575273" y="1498025"/>
              <a:ext cx="2910707" cy="427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000" spc="60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工作成果</a:t>
              </a:r>
              <a:endParaRPr lang="en-US" altLang="zh-CN" sz="3000" spc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D09A785-8B2D-4123-B078-9F0DE0DA4F3A}"/>
                </a:ext>
              </a:extLst>
            </p:cNvPr>
            <p:cNvSpPr txBox="1"/>
            <p:nvPr/>
          </p:nvSpPr>
          <p:spPr>
            <a:xfrm>
              <a:off x="7638832" y="2114579"/>
              <a:ext cx="3387180" cy="246221"/>
            </a:xfrm>
            <a:prstGeom prst="rect">
              <a:avLst/>
            </a:prstGeom>
            <a:noFill/>
          </p:spPr>
          <p:txBody>
            <a:bodyPr vert="horz" wrap="square" rtlCol="0" anchor="b">
              <a:spAutoFit/>
            </a:bodyPr>
            <a:lstStyle/>
            <a:p>
              <a:r>
                <a:rPr lang="en-US" altLang="zh-CN" sz="1000" spc="12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Work </a:t>
              </a:r>
              <a:r>
                <a:rPr lang="en-US" altLang="zh-CN" sz="1000" spc="12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results</a:t>
              </a:r>
              <a:endParaRPr lang="zh-CN" altLang="en-US" sz="1000" spc="1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C72CC76-A5C2-44CA-BD3D-0D7F85DDB226}"/>
              </a:ext>
            </a:extLst>
          </p:cNvPr>
          <p:cNvGrpSpPr/>
          <p:nvPr/>
        </p:nvGrpSpPr>
        <p:grpSpPr>
          <a:xfrm>
            <a:off x="6430384" y="5144189"/>
            <a:ext cx="1246549" cy="1021243"/>
            <a:chOff x="6328725" y="987403"/>
            <a:chExt cx="1246549" cy="1021243"/>
          </a:xfrm>
        </p:grpSpPr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6218C750-8C4A-4EB9-99A7-B5CB9B3DE2C0}"/>
                </a:ext>
              </a:extLst>
            </p:cNvPr>
            <p:cNvSpPr/>
            <p:nvPr/>
          </p:nvSpPr>
          <p:spPr>
            <a:xfrm flipH="1" flipV="1">
              <a:off x="6328725" y="987403"/>
              <a:ext cx="923496" cy="1021243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íśḻïḓè">
              <a:extLst>
                <a:ext uri="{FF2B5EF4-FFF2-40B4-BE49-F238E27FC236}">
                  <a16:creationId xmlns:a16="http://schemas.microsoft.com/office/drawing/2014/main" id="{DE9A9F57-1593-456C-9A57-A81AF902AB01}"/>
                </a:ext>
              </a:extLst>
            </p:cNvPr>
            <p:cNvSpPr txBox="1"/>
            <p:nvPr/>
          </p:nvSpPr>
          <p:spPr bwMode="auto">
            <a:xfrm>
              <a:off x="6651778" y="1364484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spc="6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591D7E0-E0D4-4AB0-9FE1-860317E052D3}"/>
              </a:ext>
            </a:extLst>
          </p:cNvPr>
          <p:cNvGrpSpPr/>
          <p:nvPr/>
        </p:nvGrpSpPr>
        <p:grpSpPr>
          <a:xfrm>
            <a:off x="7755647" y="5384531"/>
            <a:ext cx="3450739" cy="862775"/>
            <a:chOff x="7575273" y="1498025"/>
            <a:chExt cx="3450739" cy="862775"/>
          </a:xfrm>
        </p:grpSpPr>
        <p:sp>
          <p:nvSpPr>
            <p:cNvPr id="45" name="íśḻïḓè">
              <a:extLst>
                <a:ext uri="{FF2B5EF4-FFF2-40B4-BE49-F238E27FC236}">
                  <a16:creationId xmlns:a16="http://schemas.microsoft.com/office/drawing/2014/main" id="{C616CF79-E9D5-4129-9480-8FFF651FDE24}"/>
                </a:ext>
              </a:extLst>
            </p:cNvPr>
            <p:cNvSpPr txBox="1"/>
            <p:nvPr/>
          </p:nvSpPr>
          <p:spPr bwMode="auto">
            <a:xfrm>
              <a:off x="7575273" y="1498025"/>
              <a:ext cx="2910707" cy="427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000" spc="60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职涯规划</a:t>
              </a:r>
              <a:endParaRPr lang="en-US" altLang="zh-CN" sz="3000" spc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96E38D6-4DA7-407E-9344-CEC35696193E}"/>
                </a:ext>
              </a:extLst>
            </p:cNvPr>
            <p:cNvSpPr txBox="1"/>
            <p:nvPr/>
          </p:nvSpPr>
          <p:spPr>
            <a:xfrm>
              <a:off x="7638832" y="2114579"/>
              <a:ext cx="3387180" cy="246221"/>
            </a:xfrm>
            <a:prstGeom prst="rect">
              <a:avLst/>
            </a:prstGeom>
            <a:noFill/>
          </p:spPr>
          <p:txBody>
            <a:bodyPr vert="horz" wrap="square" rtlCol="0" anchor="b">
              <a:spAutoFit/>
            </a:bodyPr>
            <a:lstStyle/>
            <a:p>
              <a:r>
                <a:rPr lang="en-US" altLang="zh-CN" sz="1000" spc="12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Career plan</a:t>
              </a:r>
              <a:endParaRPr lang="zh-CN" altLang="en-US" sz="1000" spc="1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993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710A07-2A28-40EC-8D93-D7387474F0E6}"/>
              </a:ext>
            </a:extLst>
          </p:cNvPr>
          <p:cNvSpPr/>
          <p:nvPr/>
        </p:nvSpPr>
        <p:spPr>
          <a:xfrm>
            <a:off x="-28836" y="1053684"/>
            <a:ext cx="12192001" cy="58043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t="1" b="-181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7A7BA-1DE5-4665-9D30-DF265963F3B3}"/>
              </a:ext>
            </a:extLst>
          </p:cNvPr>
          <p:cNvSpPr/>
          <p:nvPr/>
        </p:nvSpPr>
        <p:spPr>
          <a:xfrm>
            <a:off x="-57671" y="1657350"/>
            <a:ext cx="12249671" cy="390525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6B1D381-2032-4BBA-9BCC-3F2ED3F7A23C}"/>
              </a:ext>
            </a:extLst>
          </p:cNvPr>
          <p:cNvSpPr/>
          <p:nvPr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C6F1E2-5A04-4423-A6C1-9B04901EF96E}"/>
              </a:ext>
            </a:extLst>
          </p:cNvPr>
          <p:cNvSpPr/>
          <p:nvPr/>
        </p:nvSpPr>
        <p:spPr>
          <a:xfrm flipH="1">
            <a:off x="-47886" y="2076450"/>
            <a:ext cx="12240000" cy="3009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B152BA-FB3A-4DEF-97AF-2D3132A6379B}"/>
              </a:ext>
            </a:extLst>
          </p:cNvPr>
          <p:cNvGrpSpPr/>
          <p:nvPr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16D1BA4-5DFB-495C-B4C0-D9BF0BD2A928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7585635-9F29-4E63-8ED6-2D0E97E9D29A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D8AB465-9371-4219-94C0-2D44DDA759B9}"/>
              </a:ext>
            </a:extLst>
          </p:cNvPr>
          <p:cNvSpPr txBox="1"/>
          <p:nvPr/>
        </p:nvSpPr>
        <p:spPr>
          <a:xfrm>
            <a:off x="504801" y="2381071"/>
            <a:ext cx="266059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0" dirty="0">
                <a:ln w="15875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5000" dirty="0">
              <a:ln w="15875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4E23612-32A5-4085-A451-FACD073E4899}"/>
              </a:ext>
            </a:extLst>
          </p:cNvPr>
          <p:cNvSpPr txBox="1"/>
          <p:nvPr/>
        </p:nvSpPr>
        <p:spPr>
          <a:xfrm>
            <a:off x="4686426" y="2438042"/>
            <a:ext cx="449258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b="1" dirty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个</a:t>
            </a:r>
            <a:r>
              <a:rPr lang="zh-CN" altLang="en-US" sz="7500" b="1" dirty="0" smtClean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人简介</a:t>
            </a:r>
            <a:endParaRPr lang="zh-CN" altLang="en-US" sz="7500" b="1" dirty="0">
              <a:ln w="1905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30" name="íṧḷîḓé">
            <a:extLst>
              <a:ext uri="{FF2B5EF4-FFF2-40B4-BE49-F238E27FC236}">
                <a16:creationId xmlns:a16="http://schemas.microsoft.com/office/drawing/2014/main" id="{9A9CC219-B3C8-44F9-AAB1-61979C46557B}"/>
              </a:ext>
            </a:extLst>
          </p:cNvPr>
          <p:cNvSpPr/>
          <p:nvPr/>
        </p:nvSpPr>
        <p:spPr bwMode="auto">
          <a:xfrm>
            <a:off x="4528187" y="3826030"/>
            <a:ext cx="1768290" cy="385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习培训情况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íṧḷîḓé">
            <a:extLst>
              <a:ext uri="{FF2B5EF4-FFF2-40B4-BE49-F238E27FC236}">
                <a16:creationId xmlns:a16="http://schemas.microsoft.com/office/drawing/2014/main" id="{E1ACB847-3840-4A5F-B227-0725A8C1E106}"/>
              </a:ext>
            </a:extLst>
          </p:cNvPr>
          <p:cNvSpPr/>
          <p:nvPr/>
        </p:nvSpPr>
        <p:spPr bwMode="auto">
          <a:xfrm>
            <a:off x="6193282" y="3821367"/>
            <a:ext cx="1768290" cy="385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工作经历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íṧḷîḓé">
            <a:extLst>
              <a:ext uri="{FF2B5EF4-FFF2-40B4-BE49-F238E27FC236}">
                <a16:creationId xmlns:a16="http://schemas.microsoft.com/office/drawing/2014/main" id="{A4599828-4B71-4D0B-92F2-7486A305727B}"/>
              </a:ext>
            </a:extLst>
          </p:cNvPr>
          <p:cNvSpPr/>
          <p:nvPr/>
        </p:nvSpPr>
        <p:spPr bwMode="auto">
          <a:xfrm>
            <a:off x="7858377" y="3816704"/>
            <a:ext cx="1768290" cy="385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其他事项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79379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515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学习培训情况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Study and training 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</a:p>
          </p:txBody>
        </p:sp>
      </p:grpSp>
      <p:grpSp>
        <p:nvGrpSpPr>
          <p:cNvPr id="8" name="isḷiḓe">
            <a:extLst>
              <a:ext uri="{FF2B5EF4-FFF2-40B4-BE49-F238E27FC236}">
                <a16:creationId xmlns:a16="http://schemas.microsoft.com/office/drawing/2014/main" id="{1F8E104B-3A23-4543-B2F7-DC04C91538EA}"/>
              </a:ext>
            </a:extLst>
          </p:cNvPr>
          <p:cNvGrpSpPr/>
          <p:nvPr/>
        </p:nvGrpSpPr>
        <p:grpSpPr>
          <a:xfrm>
            <a:off x="5926700" y="2749549"/>
            <a:ext cx="2486025" cy="1266825"/>
            <a:chOff x="5890022" y="2539999"/>
            <a:chExt cx="2486025" cy="1266825"/>
          </a:xfrm>
          <a:solidFill>
            <a:srgbClr val="1257F1"/>
          </a:solidFill>
        </p:grpSpPr>
        <p:sp>
          <p:nvSpPr>
            <p:cNvPr id="12" name="isḻïde">
              <a:extLst>
                <a:ext uri="{FF2B5EF4-FFF2-40B4-BE49-F238E27FC236}">
                  <a16:creationId xmlns:a16="http://schemas.microsoft.com/office/drawing/2014/main" id="{D4B8BFB4-5694-474C-BAFC-19A529473B6D}"/>
                </a:ext>
              </a:extLst>
            </p:cNvPr>
            <p:cNvSpPr/>
            <p:nvPr/>
          </p:nvSpPr>
          <p:spPr>
            <a:xfrm>
              <a:off x="5890022" y="2539999"/>
              <a:ext cx="2486025" cy="1266825"/>
            </a:xfrm>
            <a:prstGeom prst="parallelogram">
              <a:avLst>
                <a:gd name="adj" fmla="val 340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ï$líḑê">
              <a:extLst>
                <a:ext uri="{FF2B5EF4-FFF2-40B4-BE49-F238E27FC236}">
                  <a16:creationId xmlns:a16="http://schemas.microsoft.com/office/drawing/2014/main" id="{FA6F988F-AEF6-4601-856E-CD438BF43338}"/>
                </a:ext>
              </a:extLst>
            </p:cNvPr>
            <p:cNvGrpSpPr/>
            <p:nvPr/>
          </p:nvGrpSpPr>
          <p:grpSpPr>
            <a:xfrm>
              <a:off x="6290735" y="2697579"/>
              <a:ext cx="1684599" cy="951664"/>
              <a:chOff x="6278300" y="1991000"/>
              <a:chExt cx="1684599" cy="951664"/>
            </a:xfrm>
            <a:grpFill/>
          </p:grpSpPr>
          <p:sp>
            <p:nvSpPr>
              <p:cNvPr id="14" name="iṡḻiḋè">
                <a:extLst>
                  <a:ext uri="{FF2B5EF4-FFF2-40B4-BE49-F238E27FC236}">
                    <a16:creationId xmlns:a16="http://schemas.microsoft.com/office/drawing/2014/main" id="{8D27710C-58F7-4EA1-9A87-3FD7E0B6699F}"/>
                  </a:ext>
                </a:extLst>
              </p:cNvPr>
              <p:cNvSpPr/>
              <p:nvPr/>
            </p:nvSpPr>
            <p:spPr bwMode="auto">
              <a:xfrm>
                <a:off x="6278300" y="2432805"/>
                <a:ext cx="1684599" cy="50985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机网络技术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îS1ïďe">
                <a:extLst>
                  <a:ext uri="{FF2B5EF4-FFF2-40B4-BE49-F238E27FC236}">
                    <a16:creationId xmlns:a16="http://schemas.microsoft.com/office/drawing/2014/main" id="{5C005CB1-E29C-465D-848E-599869597E1B}"/>
                  </a:ext>
                </a:extLst>
              </p:cNvPr>
              <p:cNvSpPr txBox="1"/>
              <p:nvPr/>
            </p:nvSpPr>
            <p:spPr bwMode="auto">
              <a:xfrm>
                <a:off x="6278300" y="1991000"/>
                <a:ext cx="1684599" cy="44180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学习专业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6" name="íş1íḍê">
            <a:extLst>
              <a:ext uri="{FF2B5EF4-FFF2-40B4-BE49-F238E27FC236}">
                <a16:creationId xmlns:a16="http://schemas.microsoft.com/office/drawing/2014/main" id="{AF197564-2384-454E-940A-C0458293D22C}"/>
              </a:ext>
            </a:extLst>
          </p:cNvPr>
          <p:cNvGrpSpPr/>
          <p:nvPr/>
        </p:nvGrpSpPr>
        <p:grpSpPr>
          <a:xfrm>
            <a:off x="5364725" y="4610101"/>
            <a:ext cx="2486025" cy="1266825"/>
            <a:chOff x="5328047" y="4400551"/>
            <a:chExt cx="2486025" cy="1266825"/>
          </a:xfrm>
          <a:solidFill>
            <a:srgbClr val="1257F1"/>
          </a:solidFill>
        </p:grpSpPr>
        <p:sp>
          <p:nvSpPr>
            <p:cNvPr id="17" name="ïṩľïḍe">
              <a:extLst>
                <a:ext uri="{FF2B5EF4-FFF2-40B4-BE49-F238E27FC236}">
                  <a16:creationId xmlns:a16="http://schemas.microsoft.com/office/drawing/2014/main" id="{46D7051A-5A2C-4349-A70C-387E2FCEB98A}"/>
                </a:ext>
              </a:extLst>
            </p:cNvPr>
            <p:cNvSpPr/>
            <p:nvPr/>
          </p:nvSpPr>
          <p:spPr>
            <a:xfrm>
              <a:off x="5328047" y="4400551"/>
              <a:ext cx="2486025" cy="1266825"/>
            </a:xfrm>
            <a:prstGeom prst="parallelogram">
              <a:avLst>
                <a:gd name="adj" fmla="val 340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" name="isļiḓé">
              <a:extLst>
                <a:ext uri="{FF2B5EF4-FFF2-40B4-BE49-F238E27FC236}">
                  <a16:creationId xmlns:a16="http://schemas.microsoft.com/office/drawing/2014/main" id="{14DE8027-A359-4C96-98CC-20AB453E2507}"/>
                </a:ext>
              </a:extLst>
            </p:cNvPr>
            <p:cNvGrpSpPr/>
            <p:nvPr/>
          </p:nvGrpSpPr>
          <p:grpSpPr>
            <a:xfrm>
              <a:off x="5728760" y="4558131"/>
              <a:ext cx="1684599" cy="951664"/>
              <a:chOff x="6278300" y="1991000"/>
              <a:chExt cx="1684599" cy="951664"/>
            </a:xfrm>
            <a:grpFill/>
          </p:grpSpPr>
          <p:sp>
            <p:nvSpPr>
              <p:cNvPr id="19" name="îşḷïḓê">
                <a:extLst>
                  <a:ext uri="{FF2B5EF4-FFF2-40B4-BE49-F238E27FC236}">
                    <a16:creationId xmlns:a16="http://schemas.microsoft.com/office/drawing/2014/main" id="{79C9A208-38DD-4CE3-A764-B1891E685558}"/>
                  </a:ext>
                </a:extLst>
              </p:cNvPr>
              <p:cNvSpPr/>
              <p:nvPr/>
            </p:nvSpPr>
            <p:spPr bwMode="auto">
              <a:xfrm>
                <a:off x="6278300" y="2432805"/>
                <a:ext cx="1684599" cy="50985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JAVA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软</a:t>
                </a: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件工程师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íS1íḓè">
                <a:extLst>
                  <a:ext uri="{FF2B5EF4-FFF2-40B4-BE49-F238E27FC236}">
                    <a16:creationId xmlns:a16="http://schemas.microsoft.com/office/drawing/2014/main" id="{6F63FB2F-E342-46B9-B600-971B1DFC5D81}"/>
                  </a:ext>
                </a:extLst>
              </p:cNvPr>
              <p:cNvSpPr txBox="1"/>
              <p:nvPr/>
            </p:nvSpPr>
            <p:spPr bwMode="auto">
              <a:xfrm>
                <a:off x="6278300" y="1991000"/>
                <a:ext cx="1684599" cy="44180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培</a:t>
                </a: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训方向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1" name="íSlíďè">
            <a:extLst>
              <a:ext uri="{FF2B5EF4-FFF2-40B4-BE49-F238E27FC236}">
                <a16:creationId xmlns:a16="http://schemas.microsoft.com/office/drawing/2014/main" id="{29C31F4C-7EFE-4A58-B90B-BBFAA35EAA3A}"/>
              </a:ext>
            </a:extLst>
          </p:cNvPr>
          <p:cNvGrpSpPr/>
          <p:nvPr/>
        </p:nvGrpSpPr>
        <p:grpSpPr>
          <a:xfrm>
            <a:off x="4443181" y="1819274"/>
            <a:ext cx="2486025" cy="1266825"/>
            <a:chOff x="4406503" y="1609724"/>
            <a:chExt cx="2486025" cy="1266825"/>
          </a:xfrm>
          <a:solidFill>
            <a:srgbClr val="8EBAE2"/>
          </a:solidFill>
        </p:grpSpPr>
        <p:sp>
          <p:nvSpPr>
            <p:cNvPr id="22" name="iŝľîḑè">
              <a:extLst>
                <a:ext uri="{FF2B5EF4-FFF2-40B4-BE49-F238E27FC236}">
                  <a16:creationId xmlns:a16="http://schemas.microsoft.com/office/drawing/2014/main" id="{6E895DD0-ED9F-43D9-9C42-22BDB7849F06}"/>
                </a:ext>
              </a:extLst>
            </p:cNvPr>
            <p:cNvSpPr/>
            <p:nvPr/>
          </p:nvSpPr>
          <p:spPr>
            <a:xfrm>
              <a:off x="4406503" y="1609724"/>
              <a:ext cx="2486025" cy="1266825"/>
            </a:xfrm>
            <a:prstGeom prst="parallelogram">
              <a:avLst>
                <a:gd name="adj" fmla="val 340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" name="íṩļiḑê">
              <a:extLst>
                <a:ext uri="{FF2B5EF4-FFF2-40B4-BE49-F238E27FC236}">
                  <a16:creationId xmlns:a16="http://schemas.microsoft.com/office/drawing/2014/main" id="{064E31F6-E39C-4240-ADAB-20F7119ADDF6}"/>
                </a:ext>
              </a:extLst>
            </p:cNvPr>
            <p:cNvGrpSpPr/>
            <p:nvPr/>
          </p:nvGrpSpPr>
          <p:grpSpPr>
            <a:xfrm>
              <a:off x="4807216" y="1767304"/>
              <a:ext cx="1684599" cy="951664"/>
              <a:chOff x="6278300" y="1991000"/>
              <a:chExt cx="1684599" cy="951664"/>
            </a:xfrm>
            <a:grpFill/>
          </p:grpSpPr>
          <p:sp>
            <p:nvSpPr>
              <p:cNvPr id="24" name="îşlîḑê">
                <a:extLst>
                  <a:ext uri="{FF2B5EF4-FFF2-40B4-BE49-F238E27FC236}">
                    <a16:creationId xmlns:a16="http://schemas.microsoft.com/office/drawing/2014/main" id="{E9CD8541-1486-436A-B2F2-D3B1C6E21EE4}"/>
                  </a:ext>
                </a:extLst>
              </p:cNvPr>
              <p:cNvSpPr/>
              <p:nvPr/>
            </p:nvSpPr>
            <p:spPr bwMode="auto">
              <a:xfrm>
                <a:off x="6278300" y="2432805"/>
                <a:ext cx="1684599" cy="50985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石家庄法商职业技术学院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í$ľïḑe">
                <a:extLst>
                  <a:ext uri="{FF2B5EF4-FFF2-40B4-BE49-F238E27FC236}">
                    <a16:creationId xmlns:a16="http://schemas.microsoft.com/office/drawing/2014/main" id="{36A633EF-344D-49C1-B536-2488947C4EC4}"/>
                  </a:ext>
                </a:extLst>
              </p:cNvPr>
              <p:cNvSpPr txBox="1"/>
              <p:nvPr/>
            </p:nvSpPr>
            <p:spPr bwMode="auto">
              <a:xfrm>
                <a:off x="6278300" y="1991000"/>
                <a:ext cx="1684599" cy="44180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</a:t>
                </a: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习院校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6" name="i$ḷiḋe">
            <a:extLst>
              <a:ext uri="{FF2B5EF4-FFF2-40B4-BE49-F238E27FC236}">
                <a16:creationId xmlns:a16="http://schemas.microsoft.com/office/drawing/2014/main" id="{D389D82E-E597-48D2-802B-32DFE76837F2}"/>
              </a:ext>
            </a:extLst>
          </p:cNvPr>
          <p:cNvGrpSpPr/>
          <p:nvPr/>
        </p:nvGrpSpPr>
        <p:grpSpPr>
          <a:xfrm>
            <a:off x="3852631" y="3679824"/>
            <a:ext cx="2486025" cy="1266825"/>
            <a:chOff x="3815953" y="3470274"/>
            <a:chExt cx="2486025" cy="1266825"/>
          </a:xfrm>
          <a:solidFill>
            <a:srgbClr val="8EBAE2"/>
          </a:solidFill>
        </p:grpSpPr>
        <p:sp>
          <p:nvSpPr>
            <p:cNvPr id="27" name="îsḷïḋe">
              <a:extLst>
                <a:ext uri="{FF2B5EF4-FFF2-40B4-BE49-F238E27FC236}">
                  <a16:creationId xmlns:a16="http://schemas.microsoft.com/office/drawing/2014/main" id="{4694196A-C1C5-4B8C-BB54-788718D5611B}"/>
                </a:ext>
              </a:extLst>
            </p:cNvPr>
            <p:cNvSpPr/>
            <p:nvPr/>
          </p:nvSpPr>
          <p:spPr>
            <a:xfrm>
              <a:off x="3815953" y="3470274"/>
              <a:ext cx="2486025" cy="1266825"/>
            </a:xfrm>
            <a:prstGeom prst="parallelogram">
              <a:avLst>
                <a:gd name="adj" fmla="val 340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" name="îšľîḑe">
              <a:extLst>
                <a:ext uri="{FF2B5EF4-FFF2-40B4-BE49-F238E27FC236}">
                  <a16:creationId xmlns:a16="http://schemas.microsoft.com/office/drawing/2014/main" id="{2DA6E699-8B5F-4691-A419-B28A90F7E47A}"/>
                </a:ext>
              </a:extLst>
            </p:cNvPr>
            <p:cNvGrpSpPr/>
            <p:nvPr/>
          </p:nvGrpSpPr>
          <p:grpSpPr>
            <a:xfrm>
              <a:off x="4216666" y="3627854"/>
              <a:ext cx="1684599" cy="951664"/>
              <a:chOff x="6278300" y="1991000"/>
              <a:chExt cx="1684599" cy="951664"/>
            </a:xfrm>
            <a:grpFill/>
          </p:grpSpPr>
          <p:sp>
            <p:nvSpPr>
              <p:cNvPr id="29" name="íśļiḓe">
                <a:extLst>
                  <a:ext uri="{FF2B5EF4-FFF2-40B4-BE49-F238E27FC236}">
                    <a16:creationId xmlns:a16="http://schemas.microsoft.com/office/drawing/2014/main" id="{E7216AED-AA25-45DB-BED0-581611DFB2A6}"/>
                  </a:ext>
                </a:extLst>
              </p:cNvPr>
              <p:cNvSpPr/>
              <p:nvPr/>
            </p:nvSpPr>
            <p:spPr bwMode="auto">
              <a:xfrm>
                <a:off x="6278300" y="2432805"/>
                <a:ext cx="1684599" cy="50985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北大青鸟</a:t>
                </a:r>
                <a:r>
                  <a:rPr lang="en-US" altLang="zh-CN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北京</a:t>
                </a:r>
                <a:r>
                  <a:rPr lang="en-US" altLang="zh-CN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íslîḓe">
                <a:extLst>
                  <a:ext uri="{FF2B5EF4-FFF2-40B4-BE49-F238E27FC236}">
                    <a16:creationId xmlns:a16="http://schemas.microsoft.com/office/drawing/2014/main" id="{989D4EFF-F9BE-4C5F-B64A-52810B85D0CE}"/>
                  </a:ext>
                </a:extLst>
              </p:cNvPr>
              <p:cNvSpPr txBox="1"/>
              <p:nvPr/>
            </p:nvSpPr>
            <p:spPr bwMode="auto">
              <a:xfrm>
                <a:off x="6278300" y="1991000"/>
                <a:ext cx="1684599" cy="44180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培</a:t>
                </a: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训机构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B59C58A-15D6-4332-99B6-092E0CB085C4}"/>
              </a:ext>
            </a:extLst>
          </p:cNvPr>
          <p:cNvGrpSpPr/>
          <p:nvPr/>
        </p:nvGrpSpPr>
        <p:grpSpPr>
          <a:xfrm>
            <a:off x="8419965" y="4150009"/>
            <a:ext cx="2716290" cy="326457"/>
            <a:chOff x="8383288" y="3940459"/>
            <a:chExt cx="2716290" cy="326457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B3F437BA-3552-4B2F-8BEF-914B9D7BECA9}"/>
                </a:ext>
              </a:extLst>
            </p:cNvPr>
            <p:cNvCxnSpPr/>
            <p:nvPr/>
          </p:nvCxnSpPr>
          <p:spPr>
            <a:xfrm>
              <a:off x="8534234" y="4103686"/>
              <a:ext cx="2565344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îśḻïḋè">
              <a:extLst>
                <a:ext uri="{FF2B5EF4-FFF2-40B4-BE49-F238E27FC236}">
                  <a16:creationId xmlns:a16="http://schemas.microsoft.com/office/drawing/2014/main" id="{8B58AEF4-B8A0-4F1B-863B-7D4541EAFFAA}"/>
                </a:ext>
              </a:extLst>
            </p:cNvPr>
            <p:cNvSpPr/>
            <p:nvPr/>
          </p:nvSpPr>
          <p:spPr>
            <a:xfrm>
              <a:off x="8383288" y="3940459"/>
              <a:ext cx="301892" cy="326457"/>
            </a:xfrm>
            <a:prstGeom prst="chevr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10000"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A5EC293-278D-443D-BC37-9506AAD6E802}"/>
              </a:ext>
            </a:extLst>
          </p:cNvPr>
          <p:cNvGrpSpPr/>
          <p:nvPr/>
        </p:nvGrpSpPr>
        <p:grpSpPr>
          <a:xfrm>
            <a:off x="1111706" y="3219733"/>
            <a:ext cx="2733683" cy="326457"/>
            <a:chOff x="1075029" y="3010183"/>
            <a:chExt cx="2733683" cy="326457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5D1629DB-2838-4DAC-BF9F-30C18063F219}"/>
                </a:ext>
              </a:extLst>
            </p:cNvPr>
            <p:cNvCxnSpPr/>
            <p:nvPr/>
          </p:nvCxnSpPr>
          <p:spPr>
            <a:xfrm>
              <a:off x="1075029" y="3138665"/>
              <a:ext cx="2565344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ïSlïḋé">
              <a:extLst>
                <a:ext uri="{FF2B5EF4-FFF2-40B4-BE49-F238E27FC236}">
                  <a16:creationId xmlns:a16="http://schemas.microsoft.com/office/drawing/2014/main" id="{D3F12547-9C76-4AD8-907C-86008C67C55F}"/>
                </a:ext>
              </a:extLst>
            </p:cNvPr>
            <p:cNvSpPr/>
            <p:nvPr/>
          </p:nvSpPr>
          <p:spPr>
            <a:xfrm flipH="1">
              <a:off x="3506820" y="3010183"/>
              <a:ext cx="301892" cy="32645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92500" lnSpcReduction="10000"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îśļíḋè">
            <a:extLst>
              <a:ext uri="{FF2B5EF4-FFF2-40B4-BE49-F238E27FC236}">
                <a16:creationId xmlns:a16="http://schemas.microsoft.com/office/drawing/2014/main" id="{893CB1E2-AD4A-433A-9E21-0F1ED56D9A4D}"/>
              </a:ext>
            </a:extLst>
          </p:cNvPr>
          <p:cNvSpPr txBox="1"/>
          <p:nvPr/>
        </p:nvSpPr>
        <p:spPr>
          <a:xfrm flipH="1">
            <a:off x="1084577" y="2130650"/>
            <a:ext cx="2613075" cy="79786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2004.9-2007.6 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在石家庄法商职业学院（河北工程技术学院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500" b="1" i="1" spc="15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就读</a:t>
            </a:r>
            <a:endParaRPr lang="en-US" altLang="zh-CN" sz="1500" b="1" i="1" spc="15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śļíḋè">
            <a:extLst>
              <a:ext uri="{FF2B5EF4-FFF2-40B4-BE49-F238E27FC236}">
                <a16:creationId xmlns:a16="http://schemas.microsoft.com/office/drawing/2014/main" id="{4F764AE6-F4E3-4071-995B-C0DCECAE3305}"/>
              </a:ext>
            </a:extLst>
          </p:cNvPr>
          <p:cNvSpPr txBox="1"/>
          <p:nvPr/>
        </p:nvSpPr>
        <p:spPr>
          <a:xfrm flipH="1">
            <a:off x="8873782" y="3114713"/>
            <a:ext cx="2650597" cy="83921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500" b="1" i="1" spc="15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习课程主要有：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程序设计，局域网组网，数据库技术</a:t>
            </a:r>
            <a:endParaRPr lang="en-US" altLang="zh-CN" sz="1500" b="1" i="1" spc="15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îśļíḋè">
            <a:extLst>
              <a:ext uri="{FF2B5EF4-FFF2-40B4-BE49-F238E27FC236}">
                <a16:creationId xmlns:a16="http://schemas.microsoft.com/office/drawing/2014/main" id="{98E8EB5E-755A-452F-BFD7-9C1E1E763B0C}"/>
              </a:ext>
            </a:extLst>
          </p:cNvPr>
          <p:cNvSpPr txBox="1"/>
          <p:nvPr/>
        </p:nvSpPr>
        <p:spPr>
          <a:xfrm flipH="1">
            <a:off x="1047055" y="4126369"/>
            <a:ext cx="2650597" cy="8202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2011.7-2012.7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在北京北大青鸟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北大公学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b="1" i="1" spc="15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区培训</a:t>
            </a:r>
            <a:endParaRPr lang="en-US" altLang="zh-CN" sz="1500" b="1" i="1" spc="15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śļíḋè">
            <a:extLst>
              <a:ext uri="{FF2B5EF4-FFF2-40B4-BE49-F238E27FC236}">
                <a16:creationId xmlns:a16="http://schemas.microsoft.com/office/drawing/2014/main" id="{226A17DB-DC89-45B1-8A0F-1067E2A7F224}"/>
              </a:ext>
            </a:extLst>
          </p:cNvPr>
          <p:cNvSpPr txBox="1"/>
          <p:nvPr/>
        </p:nvSpPr>
        <p:spPr>
          <a:xfrm flipH="1">
            <a:off x="8873783" y="4988583"/>
            <a:ext cx="2650597" cy="59924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500" b="1" spc="15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</a:t>
            </a:r>
            <a:r>
              <a:rPr lang="zh-CN" altLang="en-US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训科目：</a:t>
            </a:r>
            <a:r>
              <a:rPr lang="en-US" altLang="zh-CN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基础，</a:t>
            </a:r>
            <a:r>
              <a:rPr lang="en-US" altLang="zh-CN" sz="1500" b="1" spc="150" dirty="0" err="1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JSP+Serverlet</a:t>
            </a:r>
            <a:r>
              <a:rPr lang="zh-CN" altLang="en-US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网页开发，</a:t>
            </a:r>
            <a:r>
              <a:rPr lang="en-US" altLang="zh-CN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EE </a:t>
            </a:r>
            <a:r>
              <a:rPr lang="zh-CN" altLang="en-US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企业级应用开发</a:t>
            </a:r>
            <a:endParaRPr lang="en-US" altLang="zh-CN" sz="1500" b="1" spc="15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2346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115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</a:t>
                </a:r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经历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Work experience 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D9AD827-22F2-478A-8FEE-264ABF3E74AA}"/>
              </a:ext>
            </a:extLst>
          </p:cNvPr>
          <p:cNvGrpSpPr/>
          <p:nvPr/>
        </p:nvGrpSpPr>
        <p:grpSpPr>
          <a:xfrm>
            <a:off x="4299007" y="1902811"/>
            <a:ext cx="1481982" cy="1191014"/>
            <a:chOff x="4256516" y="1859205"/>
            <a:chExt cx="1481982" cy="1191014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AA21FD0-C24A-4DA0-98BD-85EE7F82288C}"/>
                </a:ext>
              </a:extLst>
            </p:cNvPr>
            <p:cNvCxnSpPr/>
            <p:nvPr/>
          </p:nvCxnSpPr>
          <p:spPr>
            <a:xfrm>
              <a:off x="4666133" y="2237647"/>
              <a:ext cx="107236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1974531-6C89-443C-ACD6-DAB94F66352D}"/>
                </a:ext>
              </a:extLst>
            </p:cNvPr>
            <p:cNvGrpSpPr/>
            <p:nvPr/>
          </p:nvGrpSpPr>
          <p:grpSpPr>
            <a:xfrm>
              <a:off x="4256516" y="1859205"/>
              <a:ext cx="409617" cy="1191014"/>
              <a:chOff x="4256516" y="1859205"/>
              <a:chExt cx="409617" cy="1191014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30B90FE3-7824-4EBF-9E83-2C771C346416}"/>
                  </a:ext>
                </a:extLst>
              </p:cNvPr>
              <p:cNvCxnSpPr/>
              <p:nvPr/>
            </p:nvCxnSpPr>
            <p:spPr>
              <a:xfrm flipV="1">
                <a:off x="4259847" y="2237647"/>
                <a:ext cx="406286" cy="812572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170896DD-B154-49A2-9523-A868E927F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56516" y="1859205"/>
                <a:ext cx="368711" cy="34507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E5DCEFF-B2C1-4C5F-878B-5B42A928F5A9}"/>
              </a:ext>
            </a:extLst>
          </p:cNvPr>
          <p:cNvCxnSpPr>
            <a:cxnSpLocks/>
          </p:cNvCxnSpPr>
          <p:nvPr/>
        </p:nvCxnSpPr>
        <p:spPr>
          <a:xfrm>
            <a:off x="7565045" y="3274062"/>
            <a:ext cx="366446" cy="73289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C176908-2C40-4751-993B-35078FB5CB30}"/>
              </a:ext>
            </a:extLst>
          </p:cNvPr>
          <p:cNvCxnSpPr/>
          <p:nvPr/>
        </p:nvCxnSpPr>
        <p:spPr>
          <a:xfrm>
            <a:off x="6365445" y="4997319"/>
            <a:ext cx="10723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îSlîdè">
            <a:extLst>
              <a:ext uri="{FF2B5EF4-FFF2-40B4-BE49-F238E27FC236}">
                <a16:creationId xmlns:a16="http://schemas.microsoft.com/office/drawing/2014/main" id="{DF7AEADF-2118-4817-8CEA-616C666A0851}"/>
              </a:ext>
            </a:extLst>
          </p:cNvPr>
          <p:cNvSpPr/>
          <p:nvPr/>
        </p:nvSpPr>
        <p:spPr>
          <a:xfrm>
            <a:off x="5973153" y="1451359"/>
            <a:ext cx="1883664" cy="1626114"/>
          </a:xfrm>
          <a:prstGeom prst="hexagon">
            <a:avLst/>
          </a:prstGeom>
          <a:blipFill dpi="0" rotWithShape="1">
            <a:blip r:embed="rId2"/>
            <a:srcRect/>
            <a:tile tx="0" ty="-215900" sx="100000" sy="100000" flip="none" algn="ctr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íṡlîďè">
            <a:extLst>
              <a:ext uri="{FF2B5EF4-FFF2-40B4-BE49-F238E27FC236}">
                <a16:creationId xmlns:a16="http://schemas.microsoft.com/office/drawing/2014/main" id="{F2CFBEBA-8D9B-4CF1-AD3F-0CEF4BB71ECC}"/>
              </a:ext>
            </a:extLst>
          </p:cNvPr>
          <p:cNvSpPr/>
          <p:nvPr/>
        </p:nvSpPr>
        <p:spPr>
          <a:xfrm>
            <a:off x="4367902" y="2356121"/>
            <a:ext cx="1883664" cy="1626114"/>
          </a:xfrm>
          <a:prstGeom prst="hexagon">
            <a:avLst/>
          </a:prstGeom>
          <a:solidFill>
            <a:srgbClr val="1257F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北京闻荫科技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iṣ1îḍé">
            <a:extLst>
              <a:ext uri="{FF2B5EF4-FFF2-40B4-BE49-F238E27FC236}">
                <a16:creationId xmlns:a16="http://schemas.microsoft.com/office/drawing/2014/main" id="{53A216A4-74A1-4AE9-B340-7531B0E5B3D2}"/>
              </a:ext>
            </a:extLst>
          </p:cNvPr>
          <p:cNvSpPr/>
          <p:nvPr/>
        </p:nvSpPr>
        <p:spPr>
          <a:xfrm>
            <a:off x="2738613" y="3251254"/>
            <a:ext cx="1883664" cy="1626114"/>
          </a:xfrm>
          <a:prstGeom prst="hexagon">
            <a:avLst/>
          </a:prstGeom>
          <a:blipFill dpi="0" rotWithShape="1">
            <a:blip r:embed="rId3"/>
            <a:srcRect/>
            <a:stretch>
              <a:fillRect l="-14844" r="-14646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islïḓe">
            <a:extLst>
              <a:ext uri="{FF2B5EF4-FFF2-40B4-BE49-F238E27FC236}">
                <a16:creationId xmlns:a16="http://schemas.microsoft.com/office/drawing/2014/main" id="{8685996B-66FF-456A-86BB-6A5DC97B5C7C}"/>
              </a:ext>
            </a:extLst>
          </p:cNvPr>
          <p:cNvSpPr/>
          <p:nvPr/>
        </p:nvSpPr>
        <p:spPr>
          <a:xfrm>
            <a:off x="5966474" y="3260630"/>
            <a:ext cx="1883664" cy="1626114"/>
          </a:xfrm>
          <a:prstGeom prst="hexagon">
            <a:avLst/>
          </a:prstGeom>
          <a:solidFill>
            <a:srgbClr val="1257F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 fontScale="92500" lnSpcReduction="20000"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富智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康精密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电子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（廊坊）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有限公司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ṧľiḑê">
            <a:extLst>
              <a:ext uri="{FF2B5EF4-FFF2-40B4-BE49-F238E27FC236}">
                <a16:creationId xmlns:a16="http://schemas.microsoft.com/office/drawing/2014/main" id="{79055E09-9A9B-4D4A-8A54-6632E3EA4343}"/>
              </a:ext>
            </a:extLst>
          </p:cNvPr>
          <p:cNvSpPr/>
          <p:nvPr/>
        </p:nvSpPr>
        <p:spPr>
          <a:xfrm>
            <a:off x="7569723" y="4126904"/>
            <a:ext cx="1883664" cy="1626114"/>
          </a:xfrm>
          <a:prstGeom prst="hexagon">
            <a:avLst/>
          </a:prstGeom>
          <a:blipFill dpi="0" rotWithShape="1">
            <a:blip r:embed="rId4"/>
            <a:srcRect/>
            <a:tile tx="527050" ty="152400" sx="100000" sy="100000" flip="none" algn="r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ïṥ1îḓé">
            <a:extLst>
              <a:ext uri="{FF2B5EF4-FFF2-40B4-BE49-F238E27FC236}">
                <a16:creationId xmlns:a16="http://schemas.microsoft.com/office/drawing/2014/main" id="{7C411E42-E51E-4E6D-B557-B5B0CD61EB73}"/>
              </a:ext>
            </a:extLst>
          </p:cNvPr>
          <p:cNvSpPr txBox="1"/>
          <p:nvPr/>
        </p:nvSpPr>
        <p:spPr>
          <a:xfrm>
            <a:off x="673100" y="1208858"/>
            <a:ext cx="3538267" cy="650348"/>
          </a:xfrm>
          <a:prstGeom prst="rect">
            <a:avLst/>
          </a:prstGeom>
          <a:solidFill>
            <a:srgbClr val="8EBAE2"/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en-US" altLang="zh-CN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</a:t>
            </a:r>
            <a:r>
              <a:rPr lang="zh-CN" altLang="en-US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件工程师 </a:t>
            </a:r>
            <a:r>
              <a:rPr lang="en-US" altLang="zh-CN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2012.7-2013.5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ïšľíḍê">
            <a:extLst>
              <a:ext uri="{FF2B5EF4-FFF2-40B4-BE49-F238E27FC236}">
                <a16:creationId xmlns:a16="http://schemas.microsoft.com/office/drawing/2014/main" id="{829472C4-6652-47C9-85BF-B914ADC0CE80}"/>
              </a:ext>
            </a:extLst>
          </p:cNvPr>
          <p:cNvSpPr txBox="1"/>
          <p:nvPr/>
        </p:nvSpPr>
        <p:spPr>
          <a:xfrm>
            <a:off x="673100" y="1859205"/>
            <a:ext cx="3538267" cy="7507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b="1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主要完成对企业内部定制应用程序的开发，测试，维护工作</a:t>
            </a:r>
            <a:endParaRPr lang="zh-CN" altLang="en-US" sz="1600" b="1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29" name="iṡḷïḑê">
            <a:extLst>
              <a:ext uri="{FF2B5EF4-FFF2-40B4-BE49-F238E27FC236}">
                <a16:creationId xmlns:a16="http://schemas.microsoft.com/office/drawing/2014/main" id="{92A5A592-2AE0-45C6-8420-7939175993FA}"/>
              </a:ext>
            </a:extLst>
          </p:cNvPr>
          <p:cNvSpPr txBox="1"/>
          <p:nvPr/>
        </p:nvSpPr>
        <p:spPr>
          <a:xfrm>
            <a:off x="673100" y="5518707"/>
            <a:ext cx="3600471" cy="6249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None/>
            </a:pPr>
            <a:endParaRPr lang="zh-CN" altLang="en-US" sz="120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30" name="iṡḷiḍe">
            <a:extLst>
              <a:ext uri="{FF2B5EF4-FFF2-40B4-BE49-F238E27FC236}">
                <a16:creationId xmlns:a16="http://schemas.microsoft.com/office/drawing/2014/main" id="{21BE4A19-8596-4569-AAF4-02FF698165C2}"/>
              </a:ext>
            </a:extLst>
          </p:cNvPr>
          <p:cNvSpPr txBox="1"/>
          <p:nvPr/>
        </p:nvSpPr>
        <p:spPr>
          <a:xfrm>
            <a:off x="7856817" y="2594168"/>
            <a:ext cx="3600471" cy="430455"/>
          </a:xfrm>
          <a:prstGeom prst="rect">
            <a:avLst/>
          </a:prstGeom>
          <a:solidFill>
            <a:srgbClr val="8EBAE2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统管理工程师 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2013.6-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至今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š1íďê">
            <a:extLst>
              <a:ext uri="{FF2B5EF4-FFF2-40B4-BE49-F238E27FC236}">
                <a16:creationId xmlns:a16="http://schemas.microsoft.com/office/drawing/2014/main" id="{0A930535-3C91-44BE-A898-AB3E9AD4457F}"/>
              </a:ext>
            </a:extLst>
          </p:cNvPr>
          <p:cNvSpPr txBox="1"/>
          <p:nvPr/>
        </p:nvSpPr>
        <p:spPr>
          <a:xfrm>
            <a:off x="7833511" y="2970791"/>
            <a:ext cx="3600471" cy="6249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负责</a:t>
            </a:r>
            <a:r>
              <a:rPr lang="zh-CN" altLang="en-US" sz="1600" b="1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企业生产管理软件的需求分析，系统设计，开发，维护，测试，交付等工作</a:t>
            </a:r>
            <a:endParaRPr lang="zh-CN" altLang="en-US" sz="1600" b="1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1129395"/>
      </p:ext>
    </p:extLst>
  </p:cSld>
  <p:clrMapOvr>
    <a:masterClrMapping/>
  </p:clrMapOvr>
  <p:transition spd="slow" advClick="0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000"/>
                            </p:stCondLst>
                            <p:childTnLst>
                              <p:par>
                                <p:cTn id="6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2" grpId="0" animBg="1"/>
      <p:bldP spid="22" grpId="1" animBg="1"/>
      <p:bldP spid="24" grpId="0" animBg="1"/>
      <p:bldP spid="25" grpId="0" animBg="1"/>
      <p:bldP spid="25" grpId="1" animBg="1"/>
      <p:bldP spid="26" grpId="0" animBg="1"/>
      <p:bldP spid="27" grpId="0"/>
      <p:bldP spid="29" grpId="0"/>
      <p:bldP spid="30" grpId="0" animBg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710A07-2A28-40EC-8D93-D7387474F0E6}"/>
              </a:ext>
            </a:extLst>
          </p:cNvPr>
          <p:cNvSpPr/>
          <p:nvPr/>
        </p:nvSpPr>
        <p:spPr>
          <a:xfrm>
            <a:off x="-28836" y="1053684"/>
            <a:ext cx="12192001" cy="58043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t="1" b="-181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7A7BA-1DE5-4665-9D30-DF265963F3B3}"/>
              </a:ext>
            </a:extLst>
          </p:cNvPr>
          <p:cNvSpPr/>
          <p:nvPr/>
        </p:nvSpPr>
        <p:spPr>
          <a:xfrm>
            <a:off x="-57671" y="1657350"/>
            <a:ext cx="12249671" cy="390525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6B1D381-2032-4BBA-9BCC-3F2ED3F7A23C}"/>
              </a:ext>
            </a:extLst>
          </p:cNvPr>
          <p:cNvSpPr/>
          <p:nvPr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C6F1E2-5A04-4423-A6C1-9B04901EF96E}"/>
              </a:ext>
            </a:extLst>
          </p:cNvPr>
          <p:cNvSpPr/>
          <p:nvPr/>
        </p:nvSpPr>
        <p:spPr>
          <a:xfrm flipH="1">
            <a:off x="-47886" y="2076450"/>
            <a:ext cx="12240000" cy="3009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B152BA-FB3A-4DEF-97AF-2D3132A6379B}"/>
              </a:ext>
            </a:extLst>
          </p:cNvPr>
          <p:cNvGrpSpPr/>
          <p:nvPr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16D1BA4-5DFB-495C-B4C0-D9BF0BD2A928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7585635-9F29-4E63-8ED6-2D0E97E9D29A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D8AB465-9371-4219-94C0-2D44DDA759B9}"/>
              </a:ext>
            </a:extLst>
          </p:cNvPr>
          <p:cNvSpPr txBox="1"/>
          <p:nvPr/>
        </p:nvSpPr>
        <p:spPr>
          <a:xfrm>
            <a:off x="504801" y="2381071"/>
            <a:ext cx="266059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0" dirty="0">
                <a:ln w="15875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5000" dirty="0">
              <a:ln w="15875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4E23612-32A5-4085-A451-FACD073E4899}"/>
              </a:ext>
            </a:extLst>
          </p:cNvPr>
          <p:cNvSpPr txBox="1"/>
          <p:nvPr/>
        </p:nvSpPr>
        <p:spPr>
          <a:xfrm>
            <a:off x="4686426" y="2778864"/>
            <a:ext cx="449258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b="1" dirty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主</a:t>
            </a:r>
            <a:r>
              <a:rPr lang="zh-CN" altLang="en-US" sz="7500" b="1" dirty="0" smtClean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导项目</a:t>
            </a:r>
            <a:endParaRPr lang="zh-CN" altLang="en-US" sz="7500" b="1" dirty="0">
              <a:ln w="1905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710A07-2A28-40EC-8D93-D7387474F0E6}"/>
              </a:ext>
            </a:extLst>
          </p:cNvPr>
          <p:cNvSpPr/>
          <p:nvPr/>
        </p:nvSpPr>
        <p:spPr>
          <a:xfrm>
            <a:off x="-28836" y="1053684"/>
            <a:ext cx="12192001" cy="58043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t="1" b="-181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07A7BA-1DE5-4665-9D30-DF265963F3B3}"/>
              </a:ext>
            </a:extLst>
          </p:cNvPr>
          <p:cNvSpPr/>
          <p:nvPr/>
        </p:nvSpPr>
        <p:spPr>
          <a:xfrm>
            <a:off x="-57671" y="1657350"/>
            <a:ext cx="12249671" cy="390525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32" name="任意多边形: 形状 8">
            <a:extLst>
              <a:ext uri="{FF2B5EF4-FFF2-40B4-BE49-F238E27FC236}">
                <a16:creationId xmlns:a16="http://schemas.microsoft.com/office/drawing/2014/main" id="{D6B1D381-2032-4BBA-9BCC-3F2ED3F7A23C}"/>
              </a:ext>
            </a:extLst>
          </p:cNvPr>
          <p:cNvSpPr/>
          <p:nvPr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3C6F1E2-5A04-4423-A6C1-9B04901EF96E}"/>
              </a:ext>
            </a:extLst>
          </p:cNvPr>
          <p:cNvSpPr/>
          <p:nvPr/>
        </p:nvSpPr>
        <p:spPr>
          <a:xfrm flipH="1">
            <a:off x="-47886" y="2076450"/>
            <a:ext cx="12240000" cy="3009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grpSp>
        <p:nvGrpSpPr>
          <p:cNvPr id="34" name="组合 7">
            <a:extLst>
              <a:ext uri="{FF2B5EF4-FFF2-40B4-BE49-F238E27FC236}">
                <a16:creationId xmlns:a16="http://schemas.microsoft.com/office/drawing/2014/main" id="{14B152BA-FB3A-4DEF-97AF-2D3132A6379B}"/>
              </a:ext>
            </a:extLst>
          </p:cNvPr>
          <p:cNvGrpSpPr/>
          <p:nvPr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35" name="任意多边形: 形状 9">
              <a:extLst>
                <a:ext uri="{FF2B5EF4-FFF2-40B4-BE49-F238E27FC236}">
                  <a16:creationId xmlns:a16="http://schemas.microsoft.com/office/drawing/2014/main" id="{616D1BA4-5DFB-495C-B4C0-D9BF0BD2A928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  <p:sp>
          <p:nvSpPr>
            <p:cNvPr id="36" name="任意多边形: 形状 21">
              <a:extLst>
                <a:ext uri="{FF2B5EF4-FFF2-40B4-BE49-F238E27FC236}">
                  <a16:creationId xmlns:a16="http://schemas.microsoft.com/office/drawing/2014/main" id="{A7585635-9F29-4E63-8ED6-2D0E97E9D29A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</p:grpSp>
      <p:sp>
        <p:nvSpPr>
          <p:cNvPr id="37" name="文本框 27">
            <a:extLst>
              <a:ext uri="{FF2B5EF4-FFF2-40B4-BE49-F238E27FC236}">
                <a16:creationId xmlns:a16="http://schemas.microsoft.com/office/drawing/2014/main" id="{5D8AB465-9371-4219-94C0-2D44DDA759B9}"/>
              </a:ext>
            </a:extLst>
          </p:cNvPr>
          <p:cNvSpPr txBox="1"/>
          <p:nvPr/>
        </p:nvSpPr>
        <p:spPr>
          <a:xfrm>
            <a:off x="504801" y="2381071"/>
            <a:ext cx="266059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0" dirty="0" smtClean="0">
                <a:ln w="15875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5000" dirty="0">
              <a:ln w="15875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28">
            <a:extLst>
              <a:ext uri="{FF2B5EF4-FFF2-40B4-BE49-F238E27FC236}">
                <a16:creationId xmlns:a16="http://schemas.microsoft.com/office/drawing/2014/main" id="{B4E23612-32A5-4085-A451-FACD073E4899}"/>
              </a:ext>
            </a:extLst>
          </p:cNvPr>
          <p:cNvSpPr txBox="1"/>
          <p:nvPr/>
        </p:nvSpPr>
        <p:spPr>
          <a:xfrm>
            <a:off x="4686426" y="2438042"/>
            <a:ext cx="449258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b="1" dirty="0" smtClean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主导项目</a:t>
            </a:r>
            <a:endParaRPr lang="zh-CN" altLang="en-US" sz="7500" b="1" dirty="0">
              <a:ln w="1905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39" name="íṧḷîḓé">
            <a:extLst>
              <a:ext uri="{FF2B5EF4-FFF2-40B4-BE49-F238E27FC236}">
                <a16:creationId xmlns:a16="http://schemas.microsoft.com/office/drawing/2014/main" id="{6EF993AD-9179-4D46-8B81-636085C1AF40}"/>
              </a:ext>
            </a:extLst>
          </p:cNvPr>
          <p:cNvSpPr/>
          <p:nvPr/>
        </p:nvSpPr>
        <p:spPr bwMode="auto">
          <a:xfrm>
            <a:off x="5408021" y="3861605"/>
            <a:ext cx="1768290" cy="385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目信息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" name="íṧḷîḓé">
            <a:extLst>
              <a:ext uri="{FF2B5EF4-FFF2-40B4-BE49-F238E27FC236}">
                <a16:creationId xmlns:a16="http://schemas.microsoft.com/office/drawing/2014/main" id="{61C32C76-6039-421F-AD48-32668F12D82A}"/>
              </a:ext>
            </a:extLst>
          </p:cNvPr>
          <p:cNvSpPr/>
          <p:nvPr/>
        </p:nvSpPr>
        <p:spPr bwMode="auto">
          <a:xfrm>
            <a:off x="7073116" y="3856942"/>
            <a:ext cx="1768290" cy="385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目功能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904197"/>
      </p:ext>
    </p:extLst>
  </p:cSld>
  <p:clrMapOvr>
    <a:masterClrMapping/>
  </p:clrMapOvr>
  <p:transition spd="slow" advClick="0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7" grpId="0"/>
      <p:bldP spid="38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6025669" y="2347849"/>
            <a:ext cx="5315376" cy="4865004"/>
            <a:chOff x="6025669" y="2347849"/>
            <a:chExt cx="5315376" cy="4865004"/>
          </a:xfrm>
        </p:grpSpPr>
        <p:sp>
          <p:nvSpPr>
            <p:cNvPr id="4" name="五边形 30"/>
            <p:cNvSpPr/>
            <p:nvPr/>
          </p:nvSpPr>
          <p:spPr>
            <a:xfrm>
              <a:off x="6078230" y="2347849"/>
              <a:ext cx="5262815" cy="420047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219170"/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03 </a:t>
              </a:r>
              <a:r>
                <a:rPr lang="zh-CN" altLang="en-US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分析维修技享平台 </a:t>
              </a:r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2021</a:t>
              </a:r>
              <a:endParaRPr lang="zh-CN" altLang="en-US" sz="2133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025669" y="3227147"/>
              <a:ext cx="2520277" cy="39857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19170">
                <a:lnSpc>
                  <a:spcPct val="150000"/>
                </a:lnSpc>
              </a:pPr>
              <a:r>
                <a:rPr lang="zh-CN" altLang="en-US" sz="16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担任角色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主程</a:t>
              </a:r>
              <a:endParaRPr lang="en-US" altLang="zh-CN" sz="1600" kern="0" dirty="0" smtClea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defTabSz="1219170">
                <a:lnSpc>
                  <a:spcPct val="150000"/>
                </a:lnSpc>
              </a:pPr>
              <a:r>
                <a:rPr lang="zh-CN" altLang="en-US" sz="1600" b="1" kern="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项</a:t>
              </a:r>
              <a:r>
                <a:rPr lang="zh-CN" altLang="en-US" sz="16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目背景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公司维修部门没有一套在线学习手机维修知识的网站系统，需要开发学习网站，实现在线学习，在线考试，在线评分功能。</a:t>
              </a:r>
              <a:endParaRPr lang="en-US" altLang="zh-CN" sz="1600" kern="0" dirty="0" smtClea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r>
                <a:rPr lang="zh-CN" altLang="en-US" sz="1600" b="1" kern="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语言与平台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endParaRPr lang="en-US" altLang="zh-CN" sz="1600" dirty="0">
                <a:solidFill>
                  <a:srgbClr val="0000FF"/>
                </a:solidFill>
                <a:latin typeface="Microsoft YaHei" panose="020B0503020204020204" pitchFamily="34" charset="-122"/>
                <a:ea typeface="站酷快乐体2016修订版" charset="-122"/>
              </a:endParaRPr>
            </a:p>
            <a:p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Razor page</a:t>
              </a:r>
              <a:endParaRPr lang="en-US" altLang="zh-CN" sz="1600" dirty="0">
                <a:solidFill>
                  <a:srgbClr val="0000FF"/>
                </a:solidFill>
                <a:latin typeface="站酷快乐体2016修订版" charset="-122"/>
                <a:ea typeface="站酷快乐体2016修订版" charset="-122"/>
              </a:endParaRPr>
            </a:p>
            <a:p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.NET 5.0</a:t>
              </a:r>
            </a:p>
            <a:p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C</a:t>
              </a:r>
              <a:r>
                <a:rPr lang="en-US" altLang="zh-CN" sz="1600" dirty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#,</a:t>
              </a:r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SQL</a:t>
              </a:r>
              <a:r>
                <a:rPr lang="en-US" altLang="zh-CN" sz="1600" dirty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,</a:t>
              </a:r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ABP</a:t>
              </a:r>
              <a:endParaRPr lang="en-US" altLang="zh-CN" sz="1600" dirty="0">
                <a:solidFill>
                  <a:srgbClr val="0000FF"/>
                </a:solidFill>
                <a:latin typeface="站酷快乐体2016修订版" charset="-122"/>
                <a:ea typeface="站酷快乐体2016修订版" charset="-122"/>
              </a:endParaRPr>
            </a:p>
            <a:p>
              <a:pPr defTabSz="1219170">
                <a:lnSpc>
                  <a:spcPct val="150000"/>
                </a:lnSpc>
              </a:pPr>
              <a:r>
                <a:rPr lang="en-US" altLang="zh-CN" sz="14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25699" y="1508787"/>
            <a:ext cx="10615349" cy="5680983"/>
            <a:chOff x="725699" y="1508787"/>
            <a:chExt cx="10615349" cy="5680983"/>
          </a:xfrm>
        </p:grpSpPr>
        <p:sp>
          <p:nvSpPr>
            <p:cNvPr id="2" name="五边形 27"/>
            <p:cNvSpPr/>
            <p:nvPr/>
          </p:nvSpPr>
          <p:spPr>
            <a:xfrm>
              <a:off x="815417" y="1508787"/>
              <a:ext cx="10525631" cy="420047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219170"/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 </a:t>
              </a:r>
              <a:r>
                <a:rPr lang="zh-CN" altLang="en-US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治具利旧管理系统 </a:t>
              </a:r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2018</a:t>
              </a:r>
              <a:endParaRPr lang="zh-CN" altLang="en-US" sz="2133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25699" y="2096068"/>
              <a:ext cx="2522945" cy="50937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19170">
                <a:lnSpc>
                  <a:spcPct val="150000"/>
                </a:lnSpc>
              </a:pPr>
              <a:r>
                <a:rPr lang="zh-CN" altLang="en-US" sz="16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担任角色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 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项目负责人</a:t>
              </a:r>
              <a:endParaRPr lang="en-US" altLang="zh-CN" sz="1600" kern="0" dirty="0" smtClea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zh-CN" altLang="en-US" sz="1600" b="1" kern="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项</a:t>
              </a:r>
              <a:r>
                <a:rPr lang="zh-CN" altLang="en-US" sz="16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目背景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r>
                <a:rPr lang="en-US" altLang="zh-CN" sz="160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1.</a:t>
              </a:r>
              <a:r>
                <a:rPr lang="zh-CN" altLang="en-US" sz="160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公司仓库部门无对应的系统对已经利旧的治具进行管理，仓库管理员采用纸档，电子档管理治具档案容易丢失。</a:t>
              </a:r>
              <a:r>
                <a:rPr lang="en-US" altLang="zh-CN" sz="160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          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en-US" altLang="zh-CN" sz="160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              2.</a:t>
              </a:r>
              <a:r>
                <a:rPr lang="zh-CN" altLang="en-US" sz="160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希望可以实现作业无纸化</a:t>
              </a:r>
              <a:r>
                <a:rPr lang="en-US" altLang="zh-CN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,</a:t>
              </a:r>
              <a:r>
                <a:rPr lang="zh-CN" altLang="en-US" sz="160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业务流程统一规范化，保证数据完整性，安全性。</a:t>
              </a:r>
              <a:endParaRPr lang="en-US" altLang="zh-CN" sz="1600" dirty="0" smtClea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r>
                <a:rPr lang="zh-CN" altLang="en-US" sz="1600" b="1" kern="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语言</a:t>
              </a:r>
              <a:r>
                <a:rPr lang="zh-CN" altLang="en-US" sz="16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与平台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r>
                <a:rPr lang="en-US" altLang="zh-CN" sz="1600" dirty="0" err="1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Html+css+jquery+ajax</a:t>
              </a:r>
              <a:endParaRPr lang="en-US" altLang="zh-CN" sz="1600" dirty="0">
                <a:solidFill>
                  <a:srgbClr val="0000FF"/>
                </a:solidFill>
                <a:latin typeface="站酷快乐体2016修订版" charset="-122"/>
                <a:ea typeface="站酷快乐体2016修订版" charset="-122"/>
              </a:endParaRPr>
            </a:p>
            <a:p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Asp.net </a:t>
              </a:r>
              <a:r>
                <a:rPr lang="en-US" altLang="zh-CN" sz="1600" dirty="0" err="1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W</a:t>
              </a:r>
              <a:r>
                <a:rPr lang="en-US" altLang="zh-CN" sz="1600" dirty="0" err="1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ebForm</a:t>
              </a:r>
              <a:r>
                <a:rPr lang="zh-CN" altLang="en-US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，</a:t>
              </a:r>
              <a:endParaRPr lang="en-US" altLang="zh-CN" sz="1600" dirty="0" smtClean="0">
                <a:solidFill>
                  <a:srgbClr val="0000FF"/>
                </a:solidFill>
                <a:latin typeface="站酷快乐体2016修订版" charset="-122"/>
                <a:ea typeface="站酷快乐体2016修订版" charset="-122"/>
              </a:endParaRPr>
            </a:p>
            <a:p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C</a:t>
              </a:r>
              <a:r>
                <a:rPr lang="en-US" altLang="zh-CN" sz="1600" dirty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#,SQL</a:t>
              </a:r>
            </a:p>
            <a:p>
              <a:pPr>
                <a:lnSpc>
                  <a:spcPct val="150000"/>
                </a:lnSpc>
                <a:spcBef>
                  <a:spcPct val="0"/>
                </a:spcBef>
                <a:defRPr/>
              </a:pPr>
              <a:endPara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335694" y="1927802"/>
            <a:ext cx="8005351" cy="5144417"/>
            <a:chOff x="3335694" y="1927802"/>
            <a:chExt cx="8005351" cy="5144417"/>
          </a:xfrm>
        </p:grpSpPr>
        <p:sp>
          <p:nvSpPr>
            <p:cNvPr id="3" name="五边形 28"/>
            <p:cNvSpPr/>
            <p:nvPr/>
          </p:nvSpPr>
          <p:spPr>
            <a:xfrm>
              <a:off x="3446821" y="1927802"/>
              <a:ext cx="7894224" cy="420047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219170"/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 EMS1 </a:t>
              </a:r>
              <a:r>
                <a:rPr lang="zh-CN" altLang="en-US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知识管理系统 </a:t>
              </a:r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2020</a:t>
              </a:r>
              <a:endParaRPr lang="zh-CN" altLang="en-US" sz="2133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335694" y="2347849"/>
              <a:ext cx="2522945" cy="47243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19170">
                <a:lnSpc>
                  <a:spcPct val="150000"/>
                </a:lnSpc>
              </a:pPr>
              <a:r>
                <a:rPr lang="zh-CN" altLang="en-US" sz="16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担任角色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主程</a:t>
              </a:r>
              <a:endParaRPr lang="en-US" altLang="zh-CN" sz="1600" kern="0" dirty="0" smtClea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defTabSz="1219170">
                <a:lnSpc>
                  <a:spcPct val="150000"/>
                </a:lnSpc>
              </a:pPr>
              <a:r>
                <a:rPr lang="zh-CN" altLang="en-US" sz="1600" b="1" kern="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项</a:t>
              </a:r>
              <a:r>
                <a:rPr lang="zh-CN" altLang="en-US" sz="16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目背景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公司品管部门对于一些机密的电子档文件需要统一进行管理，由于丢失了</a:t>
              </a:r>
              <a:r>
                <a:rPr lang="en-US" altLang="zh-CN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一些重要文件，需要开发文件管理系统，对文件进行统一管理。并实现机密文件的加密，解密，盖章，在线预览</a:t>
              </a:r>
              <a:r>
                <a:rPr lang="en-US" altLang="zh-CN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…</a:t>
              </a:r>
            </a:p>
            <a:p>
              <a:r>
                <a:rPr lang="zh-CN" altLang="en-US" sz="1600" b="1" kern="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语言与平台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r>
                <a:rPr lang="en-US" altLang="zh-CN" sz="1600" dirty="0" err="1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Razor,jquery,ajax</a:t>
              </a:r>
              <a:endParaRPr lang="en-US" altLang="zh-CN" sz="1600" dirty="0">
                <a:solidFill>
                  <a:srgbClr val="0000FF"/>
                </a:solidFill>
                <a:latin typeface="站酷快乐体2016修订版" charset="-122"/>
                <a:ea typeface="站酷快乐体2016修订版" charset="-122"/>
              </a:endParaRPr>
            </a:p>
            <a:p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Asp.net </a:t>
              </a:r>
              <a:r>
                <a:rPr lang="en-US" altLang="zh-CN" sz="1600" dirty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MVC</a:t>
              </a:r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,</a:t>
              </a:r>
            </a:p>
            <a:p>
              <a:r>
                <a:rPr lang="en-US" altLang="zh-CN" sz="1600" dirty="0" smtClean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C</a:t>
              </a:r>
              <a:r>
                <a:rPr lang="en-US" altLang="zh-CN" sz="1600" dirty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#,SQL,ABP</a:t>
              </a:r>
            </a:p>
            <a:p>
              <a:pPr defTabSz="1219170">
                <a:lnSpc>
                  <a:spcPct val="150000"/>
                </a:lnSpc>
              </a:pPr>
              <a:endPara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336132" y="2766864"/>
            <a:ext cx="3004913" cy="4440380"/>
            <a:chOff x="8336132" y="2787498"/>
            <a:chExt cx="3004913" cy="4440380"/>
          </a:xfrm>
        </p:grpSpPr>
        <p:sp>
          <p:nvSpPr>
            <p:cNvPr id="5" name="五边形 32"/>
            <p:cNvSpPr/>
            <p:nvPr/>
          </p:nvSpPr>
          <p:spPr>
            <a:xfrm>
              <a:off x="8336132" y="2787498"/>
              <a:ext cx="3004913" cy="420047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219170"/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04 </a:t>
              </a:r>
              <a:r>
                <a:rPr lang="zh-CN" altLang="en-US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库存可视化 </a:t>
              </a:r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2022</a:t>
              </a:r>
              <a:endParaRPr lang="zh-CN" altLang="en-US" sz="2133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8676287" y="3611503"/>
              <a:ext cx="2580283" cy="36163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19170">
                <a:lnSpc>
                  <a:spcPct val="150000"/>
                </a:lnSpc>
              </a:pPr>
              <a:r>
                <a:rPr lang="zh-CN" altLang="en-US" sz="16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担任角色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主程</a:t>
              </a:r>
              <a:endParaRPr lang="en-US" altLang="zh-CN" sz="1600" kern="0" dirty="0" smtClea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defTabSz="1219170">
                <a:lnSpc>
                  <a:spcPct val="150000"/>
                </a:lnSpc>
              </a:pPr>
              <a:r>
                <a:rPr lang="zh-CN" altLang="en-US" sz="1600" b="1" kern="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项</a:t>
              </a:r>
              <a:r>
                <a:rPr lang="zh-CN" altLang="en-US" sz="16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目背景</a:t>
              </a:r>
              <a:r>
                <a:rPr lang="zh-CN" altLang="en-US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r>
                <a:rPr lang="en-US" altLang="zh-CN" sz="16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公司产线部门需要一套实时查看库存数据的库存数据，但库存数据来自</a:t>
              </a:r>
              <a:r>
                <a:rPr lang="en-US" altLang="zh-CN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SAP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系统，</a:t>
              </a:r>
              <a:r>
                <a:rPr lang="en-US" altLang="zh-CN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SAP</a:t>
              </a:r>
              <a:r>
                <a:rPr lang="zh-CN" altLang="en-US" sz="1600" kern="0" dirty="0" smtClean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系统无法满足可视化需求。</a:t>
              </a:r>
              <a:endParaRPr lang="en-US" altLang="zh-CN" sz="1600" kern="0" dirty="0" smtClean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r>
                <a:rPr lang="zh-CN" altLang="en-US" sz="1600" b="1" kern="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语言与平台</a:t>
              </a:r>
              <a:r>
                <a:rPr lang="zh-CN" altLang="en-US" sz="16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：</a:t>
              </a:r>
              <a:endParaRPr lang="en-US" altLang="zh-CN" sz="1600" dirty="0">
                <a:solidFill>
                  <a:srgbClr val="0000FF"/>
                </a:solidFill>
                <a:latin typeface="Microsoft YaHei" panose="020B0503020204020204" pitchFamily="34" charset="-122"/>
                <a:ea typeface="站酷快乐体2016修订版" charset="-122"/>
              </a:endParaRPr>
            </a:p>
            <a:p>
              <a:r>
                <a:rPr lang="en-US" altLang="zh-CN" sz="1600" dirty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Razor page</a:t>
              </a:r>
            </a:p>
            <a:p>
              <a:r>
                <a:rPr lang="en-US" altLang="zh-CN" sz="1600" dirty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.NET 5.0</a:t>
              </a:r>
            </a:p>
            <a:p>
              <a:r>
                <a:rPr lang="en-US" altLang="zh-CN" sz="1600" dirty="0">
                  <a:solidFill>
                    <a:srgbClr val="0000FF"/>
                  </a:solidFill>
                  <a:latin typeface="站酷快乐体2016修订版" charset="-122"/>
                  <a:ea typeface="站酷快乐体2016修订版" charset="-122"/>
                </a:rPr>
                <a:t>C#,SQL,ABP</a:t>
              </a:r>
            </a:p>
            <a:p>
              <a:pPr defTabSz="1219170">
                <a:lnSpc>
                  <a:spcPct val="150000"/>
                </a:lnSpc>
              </a:pPr>
              <a:endPara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cxnSp>
        <p:nvCxnSpPr>
          <p:cNvPr id="14" name="直接连接符 47"/>
          <p:cNvCxnSpPr/>
          <p:nvPr/>
        </p:nvCxnSpPr>
        <p:spPr>
          <a:xfrm>
            <a:off x="3275687" y="3319755"/>
            <a:ext cx="0" cy="24054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48"/>
          <p:cNvCxnSpPr/>
          <p:nvPr/>
        </p:nvCxnSpPr>
        <p:spPr>
          <a:xfrm>
            <a:off x="5975987" y="3788601"/>
            <a:ext cx="0" cy="177517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49"/>
          <p:cNvCxnSpPr/>
          <p:nvPr/>
        </p:nvCxnSpPr>
        <p:spPr>
          <a:xfrm>
            <a:off x="8616280" y="4162182"/>
            <a:ext cx="0" cy="127299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29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30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32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115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</a:t>
                </a:r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目信息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Project information 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1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en-US" altLang="zh-CN" sz="22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751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115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</a:t>
                </a:r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目功能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Project function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</a:p>
          </p:txBody>
        </p:sp>
      </p:grpSp>
      <p:sp>
        <p:nvSpPr>
          <p:cNvPr id="28" name="投影片編號版面配置區 4"/>
          <p:cNvSpPr txBox="1">
            <a:spLocks/>
          </p:cNvSpPr>
          <p:nvPr/>
        </p:nvSpPr>
        <p:spPr>
          <a:xfrm>
            <a:off x="9717861" y="6338888"/>
            <a:ext cx="2133600" cy="2682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742950" indent="-28575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1143000" indent="-228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600200" indent="-228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2057400" indent="-228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8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8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8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18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fld id="{A64EF485-38DD-4AEE-96E4-A66646621CE0}" type="slidenum">
              <a:rPr lang="en-US" altLang="zh-TW" smtClean="0"/>
              <a:pPr/>
              <a:t>8</a:t>
            </a:fld>
            <a:endParaRPr lang="en-US" altLang="zh-TW"/>
          </a:p>
        </p:txBody>
      </p:sp>
      <p:pic>
        <p:nvPicPr>
          <p:cNvPr id="30" name="Picture 94" descr="j01953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1598" y="1304926"/>
            <a:ext cx="5175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AutoShape 33"/>
          <p:cNvSpPr>
            <a:spLocks noChangeArrowheads="1"/>
          </p:cNvSpPr>
          <p:nvPr/>
        </p:nvSpPr>
        <p:spPr bwMode="auto">
          <a:xfrm>
            <a:off x="6898461" y="2647951"/>
            <a:ext cx="1447800" cy="838200"/>
          </a:xfrm>
          <a:prstGeom prst="flowChartMagneticDisk">
            <a:avLst/>
          </a:prstGeom>
          <a:solidFill>
            <a:srgbClr val="FF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0000"/>
                </a:solidFill>
              </a:rPr>
              <a:t>治</a:t>
            </a:r>
            <a:r>
              <a:rPr lang="zh-CN" altLang="en-US" sz="1400" b="1" dirty="0" smtClean="0">
                <a:solidFill>
                  <a:srgbClr val="000000"/>
                </a:solidFill>
              </a:rPr>
              <a:t>具利旧管理系统</a:t>
            </a:r>
            <a:endParaRPr lang="en-US" altLang="zh-CN" sz="1400" b="1" dirty="0">
              <a:solidFill>
                <a:srgbClr val="000000"/>
              </a:solidFill>
            </a:endParaRPr>
          </a:p>
        </p:txBody>
      </p:sp>
      <p:sp>
        <p:nvSpPr>
          <p:cNvPr id="32" name="AutoShape 9"/>
          <p:cNvSpPr>
            <a:spLocks noChangeArrowheads="1"/>
          </p:cNvSpPr>
          <p:nvPr/>
        </p:nvSpPr>
        <p:spPr bwMode="auto">
          <a:xfrm>
            <a:off x="5906221" y="874719"/>
            <a:ext cx="1325563" cy="514350"/>
          </a:xfrm>
          <a:prstGeom prst="flowChartMagneticDisk">
            <a:avLst/>
          </a:prstGeom>
          <a:solidFill>
            <a:srgbClr val="AFA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1400" b="1" dirty="0" smtClean="0">
                <a:solidFill>
                  <a:srgbClr val="000000"/>
                </a:solidFill>
                <a:cs typeface="Arial" panose="020B0604020202020204" pitchFamily="34" charset="0"/>
              </a:rPr>
              <a:t>JPOS</a:t>
            </a:r>
            <a:r>
              <a:rPr lang="zh-CN" altLang="en-US" sz="1400" b="1" dirty="0">
                <a:solidFill>
                  <a:srgbClr val="000000"/>
                </a:solidFill>
                <a:cs typeface="Arial" panose="020B0604020202020204" pitchFamily="34" charset="0"/>
              </a:rPr>
              <a:t>治</a:t>
            </a:r>
            <a:r>
              <a:rPr lang="zh-CN" altLang="en-US" sz="1400" b="1" dirty="0" smtClean="0">
                <a:solidFill>
                  <a:srgbClr val="000000"/>
                </a:solidFill>
                <a:cs typeface="Arial" panose="020B0604020202020204" pitchFamily="34" charset="0"/>
              </a:rPr>
              <a:t>具系统</a:t>
            </a:r>
            <a:endParaRPr lang="en-US" altLang="zh-CN" sz="1400" b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/>
            <a:endParaRPr lang="en-US" altLang="zh-TW" sz="1400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8" name="Rectangle 39"/>
          <p:cNvSpPr>
            <a:spLocks noChangeArrowheads="1"/>
          </p:cNvSpPr>
          <p:nvPr/>
        </p:nvSpPr>
        <p:spPr bwMode="auto">
          <a:xfrm>
            <a:off x="9717861" y="5553076"/>
            <a:ext cx="7207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CN" altLang="en-US" sz="1400" dirty="0"/>
              <a:t>已</a:t>
            </a:r>
            <a:r>
              <a:rPr lang="zh-CN" altLang="en-US" sz="1400" dirty="0" smtClean="0"/>
              <a:t>有系统</a:t>
            </a:r>
            <a:endParaRPr lang="zh-CN" altLang="en-US" sz="1400" dirty="0"/>
          </a:p>
        </p:txBody>
      </p:sp>
      <p:grpSp>
        <p:nvGrpSpPr>
          <p:cNvPr id="7" name="组合 6"/>
          <p:cNvGrpSpPr/>
          <p:nvPr/>
        </p:nvGrpSpPr>
        <p:grpSpPr>
          <a:xfrm>
            <a:off x="9284473" y="5553076"/>
            <a:ext cx="1225550" cy="909637"/>
            <a:chOff x="9284473" y="5553076"/>
            <a:chExt cx="1225550" cy="909637"/>
          </a:xfrm>
        </p:grpSpPr>
        <p:sp>
          <p:nvSpPr>
            <p:cNvPr id="33" name="Line 14"/>
            <p:cNvSpPr>
              <a:spLocks noChangeShapeType="1"/>
            </p:cNvSpPr>
            <p:nvPr/>
          </p:nvSpPr>
          <p:spPr bwMode="auto">
            <a:xfrm>
              <a:off x="9284473" y="6391276"/>
              <a:ext cx="360363" cy="0"/>
            </a:xfrm>
            <a:prstGeom prst="line">
              <a:avLst/>
            </a:prstGeom>
            <a:noFill/>
            <a:ln w="190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9716273" y="6319838"/>
              <a:ext cx="792163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CN" altLang="en-US" sz="1400" dirty="0"/>
                <a:t>系</a:t>
              </a:r>
              <a:r>
                <a:rPr lang="zh-CN" altLang="en-US" sz="1400" dirty="0" smtClean="0"/>
                <a:t>统交互</a:t>
              </a:r>
              <a:endParaRPr lang="en-US" altLang="zh-CN" sz="1400" dirty="0">
                <a:solidFill>
                  <a:srgbClr val="0033CC"/>
                </a:solidFill>
              </a:endParaRPr>
            </a:p>
          </p:txBody>
        </p:sp>
        <p:sp>
          <p:nvSpPr>
            <p:cNvPr id="35" name="Line 16"/>
            <p:cNvSpPr>
              <a:spLocks noChangeShapeType="1"/>
            </p:cNvSpPr>
            <p:nvPr/>
          </p:nvSpPr>
          <p:spPr bwMode="auto">
            <a:xfrm>
              <a:off x="9286061" y="6154738"/>
              <a:ext cx="36036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Rectangle 17"/>
            <p:cNvSpPr>
              <a:spLocks noChangeArrowheads="1"/>
            </p:cNvSpPr>
            <p:nvPr/>
          </p:nvSpPr>
          <p:spPr bwMode="auto">
            <a:xfrm>
              <a:off x="9717861" y="6083301"/>
              <a:ext cx="792162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CN" altLang="en-US" sz="1400" dirty="0"/>
                <a:t>手</a:t>
              </a:r>
              <a:r>
                <a:rPr lang="zh-CN" altLang="en-US" sz="1400" dirty="0" smtClean="0"/>
                <a:t>工作业</a:t>
              </a:r>
              <a:endParaRPr lang="zh-CN" altLang="en-US" sz="1400" dirty="0"/>
            </a:p>
          </p:txBody>
        </p:sp>
        <p:sp>
          <p:nvSpPr>
            <p:cNvPr id="37" name="AutoShape 38"/>
            <p:cNvSpPr>
              <a:spLocks noChangeArrowheads="1"/>
            </p:cNvSpPr>
            <p:nvPr/>
          </p:nvSpPr>
          <p:spPr bwMode="auto">
            <a:xfrm>
              <a:off x="9286061" y="5553076"/>
              <a:ext cx="360362" cy="144462"/>
            </a:xfrm>
            <a:prstGeom prst="flowChartMagneticDisk">
              <a:avLst/>
            </a:prstGeom>
            <a:solidFill>
              <a:srgbClr val="AFA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endParaRPr lang="zh-TW" altLang="zh-TW" sz="1400">
                <a:solidFill>
                  <a:srgbClr val="000000"/>
                </a:solidFill>
              </a:endParaRPr>
            </a:p>
          </p:txBody>
        </p:sp>
        <p:sp>
          <p:nvSpPr>
            <p:cNvPr id="39" name="AutoShape 40"/>
            <p:cNvSpPr>
              <a:spLocks noChangeArrowheads="1"/>
            </p:cNvSpPr>
            <p:nvPr/>
          </p:nvSpPr>
          <p:spPr bwMode="auto">
            <a:xfrm>
              <a:off x="9286061" y="5794376"/>
              <a:ext cx="360362" cy="144462"/>
            </a:xfrm>
            <a:prstGeom prst="flowChartMagneticDisk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endParaRPr lang="zh-TW" altLang="zh-TW" sz="1400">
                <a:solidFill>
                  <a:srgbClr val="000000"/>
                </a:solidFill>
              </a:endParaRPr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9717861" y="5794376"/>
              <a:ext cx="720725" cy="144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CN" altLang="en-US" sz="1400" dirty="0"/>
                <a:t>开</a:t>
              </a:r>
              <a:r>
                <a:rPr lang="zh-CN" altLang="en-US" sz="1400" dirty="0" smtClean="0"/>
                <a:t>发系统</a:t>
              </a:r>
              <a:endParaRPr lang="zh-CN" altLang="en-US" sz="1400" dirty="0"/>
            </a:p>
          </p:txBody>
        </p:sp>
      </p:grpSp>
      <p:sp>
        <p:nvSpPr>
          <p:cNvPr id="41" name="Rectangle 10"/>
          <p:cNvSpPr txBox="1">
            <a:spLocks noChangeArrowheads="1"/>
          </p:cNvSpPr>
          <p:nvPr/>
        </p:nvSpPr>
        <p:spPr>
          <a:xfrm>
            <a:off x="9644836" y="1449388"/>
            <a:ext cx="914400" cy="265113"/>
          </a:xfrm>
          <a:prstGeom prst="rect">
            <a:avLst/>
          </a:prstGeom>
          <a:ln/>
        </p:spPr>
        <p:txBody>
          <a:bodyPr spcCol="180000"/>
          <a:lstStyle/>
          <a:p>
            <a:pPr>
              <a:defRPr/>
            </a:pPr>
            <a:r>
              <a:rPr lang="zh-CN" altLang="en-US" sz="1400" kern="0" dirty="0" smtClean="0">
                <a:latin typeface="SimHei" pitchFamily="2" charset="-122"/>
                <a:ea typeface="SimHei" pitchFamily="2" charset="-122"/>
                <a:cs typeface="Arial Unicode MS" pitchFamily="34" charset="-120"/>
              </a:rPr>
              <a:t>工程企划</a:t>
            </a:r>
            <a:endParaRPr lang="en-US" altLang="zh-CN" sz="1400" kern="0" dirty="0">
              <a:latin typeface="SimHei" pitchFamily="2" charset="-122"/>
              <a:ea typeface="SimHei" pitchFamily="2" charset="-122"/>
              <a:cs typeface="Arial Unicode MS" pitchFamily="34" charset="-120"/>
            </a:endParaRPr>
          </a:p>
          <a:p>
            <a:pPr>
              <a:defRPr/>
            </a:pPr>
            <a:endParaRPr lang="zh-TW" altLang="en-US" sz="1400" kern="0" dirty="0">
              <a:latin typeface="SimHei" pitchFamily="2" charset="-122"/>
              <a:ea typeface="SimHei" pitchFamily="2" charset="-122"/>
              <a:cs typeface="Arial Unicode MS" pitchFamily="34" charset="-120"/>
            </a:endParaRPr>
          </a:p>
        </p:txBody>
      </p:sp>
      <p:pic>
        <p:nvPicPr>
          <p:cNvPr id="42" name="Picture 94" descr="j01953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311" y="4545013"/>
            <a:ext cx="517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10"/>
          <p:cNvSpPr txBox="1">
            <a:spLocks noChangeArrowheads="1"/>
          </p:cNvSpPr>
          <p:nvPr/>
        </p:nvSpPr>
        <p:spPr>
          <a:xfrm>
            <a:off x="6259695" y="5016501"/>
            <a:ext cx="685800" cy="196850"/>
          </a:xfrm>
          <a:prstGeom prst="rect">
            <a:avLst/>
          </a:prstGeom>
          <a:ln/>
        </p:spPr>
        <p:txBody>
          <a:bodyPr spcCol="180000"/>
          <a:lstStyle/>
          <a:p>
            <a:pPr>
              <a:defRPr/>
            </a:pPr>
            <a:r>
              <a:rPr lang="zh-CN" altLang="en-US" sz="1400" kern="0" dirty="0">
                <a:latin typeface="SimHei" pitchFamily="2" charset="-122"/>
                <a:ea typeface="SimHei" pitchFamily="2" charset="-122"/>
                <a:cs typeface="Arial Unicode MS" pitchFamily="34" charset="-120"/>
              </a:rPr>
              <a:t>仓库</a:t>
            </a:r>
            <a:endParaRPr lang="zh-TW" altLang="en-US" sz="1400" kern="0" dirty="0">
              <a:latin typeface="SimHei" pitchFamily="2" charset="-122"/>
              <a:ea typeface="SimHei" pitchFamily="2" charset="-122"/>
              <a:cs typeface="Arial Unicode MS" pitchFamily="34" charset="-120"/>
            </a:endParaRPr>
          </a:p>
        </p:txBody>
      </p:sp>
      <p:pic>
        <p:nvPicPr>
          <p:cNvPr id="44" name="Picture 94" descr="j01953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761" y="4257676"/>
            <a:ext cx="5175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Rectangle 10"/>
          <p:cNvSpPr txBox="1">
            <a:spLocks noChangeArrowheads="1"/>
          </p:cNvSpPr>
          <p:nvPr/>
        </p:nvSpPr>
        <p:spPr>
          <a:xfrm>
            <a:off x="9691368" y="4787901"/>
            <a:ext cx="914400" cy="282575"/>
          </a:xfrm>
          <a:prstGeom prst="rect">
            <a:avLst/>
          </a:prstGeom>
          <a:ln/>
        </p:spPr>
        <p:txBody>
          <a:bodyPr spcCol="180000"/>
          <a:lstStyle/>
          <a:p>
            <a:pPr>
              <a:defRPr/>
            </a:pPr>
            <a:r>
              <a:rPr lang="zh-CN" altLang="en-US" sz="1400" kern="0" dirty="0" smtClean="0">
                <a:latin typeface="SimHei" pitchFamily="2" charset="-122"/>
                <a:ea typeface="SimHei" pitchFamily="2" charset="-122"/>
                <a:cs typeface="Arial Unicode MS" pitchFamily="34" charset="-120"/>
              </a:rPr>
              <a:t>治具组立</a:t>
            </a:r>
            <a:endParaRPr lang="zh-TW" altLang="en-US" sz="1400" kern="0" dirty="0">
              <a:latin typeface="SimHei" pitchFamily="2" charset="-122"/>
              <a:ea typeface="SimHei" pitchFamily="2" charset="-122"/>
              <a:cs typeface="Arial Unicode MS" pitchFamily="34" charset="-120"/>
            </a:endParaRPr>
          </a:p>
        </p:txBody>
      </p:sp>
      <p:pic>
        <p:nvPicPr>
          <p:cNvPr id="46" name="Picture 94" descr="j019538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198" y="2889251"/>
            <a:ext cx="51752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Rectangle 10"/>
          <p:cNvSpPr txBox="1">
            <a:spLocks noChangeArrowheads="1"/>
          </p:cNvSpPr>
          <p:nvPr/>
        </p:nvSpPr>
        <p:spPr>
          <a:xfrm>
            <a:off x="9789298" y="3394076"/>
            <a:ext cx="914400" cy="282575"/>
          </a:xfrm>
          <a:prstGeom prst="rect">
            <a:avLst/>
          </a:prstGeom>
          <a:ln/>
        </p:spPr>
        <p:txBody>
          <a:bodyPr spcCol="180000"/>
          <a:lstStyle/>
          <a:p>
            <a:pPr>
              <a:defRPr/>
            </a:pPr>
            <a:r>
              <a:rPr lang="zh-CN" altLang="en-US" sz="1400" kern="0" dirty="0">
                <a:latin typeface="SimHei" pitchFamily="2" charset="-122"/>
                <a:ea typeface="SimHei" pitchFamily="2" charset="-122"/>
                <a:cs typeface="Arial Unicode MS" pitchFamily="34" charset="-120"/>
              </a:rPr>
              <a:t>治</a:t>
            </a:r>
            <a:r>
              <a:rPr lang="zh-CN" altLang="en-US" sz="1400" kern="0" dirty="0" smtClean="0">
                <a:latin typeface="SimHei" pitchFamily="2" charset="-122"/>
                <a:ea typeface="SimHei" pitchFamily="2" charset="-122"/>
                <a:cs typeface="Arial Unicode MS" pitchFamily="34" charset="-120"/>
              </a:rPr>
              <a:t>具检测</a:t>
            </a:r>
            <a:endParaRPr lang="zh-TW" altLang="en-US" sz="1400" kern="0" dirty="0">
              <a:latin typeface="SimHei" pitchFamily="2" charset="-122"/>
              <a:ea typeface="SimHei" pitchFamily="2" charset="-122"/>
              <a:cs typeface="Arial Unicode MS" pitchFamily="34" charset="-120"/>
            </a:endParaRPr>
          </a:p>
        </p:txBody>
      </p:sp>
      <p:grpSp>
        <p:nvGrpSpPr>
          <p:cNvPr id="48" name="群組 38"/>
          <p:cNvGrpSpPr>
            <a:grpSpLocks/>
          </p:cNvGrpSpPr>
          <p:nvPr/>
        </p:nvGrpSpPr>
        <p:grpSpPr bwMode="auto">
          <a:xfrm>
            <a:off x="6044386" y="1164920"/>
            <a:ext cx="4406900" cy="4019524"/>
            <a:chOff x="3114601" y="1683443"/>
            <a:chExt cx="4176463" cy="3237302"/>
          </a:xfrm>
        </p:grpSpPr>
        <p:sp>
          <p:nvSpPr>
            <p:cNvPr id="49" name="Line 57"/>
            <p:cNvSpPr>
              <a:spLocks noChangeShapeType="1"/>
            </p:cNvSpPr>
            <p:nvPr/>
          </p:nvSpPr>
          <p:spPr bwMode="auto">
            <a:xfrm>
              <a:off x="4232787" y="1744609"/>
              <a:ext cx="349934" cy="1219201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AutoShape 35"/>
            <p:cNvSpPr>
              <a:spLocks noChangeArrowheads="1"/>
            </p:cNvSpPr>
            <p:nvPr/>
          </p:nvSpPr>
          <p:spPr bwMode="auto">
            <a:xfrm>
              <a:off x="3114601" y="2258119"/>
              <a:ext cx="1219200" cy="574675"/>
            </a:xfrm>
            <a:prstGeom prst="flowChartDocument">
              <a:avLst/>
            </a:prstGeom>
            <a:solidFill>
              <a:srgbClr val="FFFF99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CN" altLang="en-US" sz="1200" dirty="0" smtClean="0">
                  <a:solidFill>
                    <a:srgbClr val="000000"/>
                  </a:solidFill>
                </a:rPr>
                <a:t>提供基础资料</a:t>
              </a:r>
              <a:endParaRPr lang="en-US" altLang="zh-CN" sz="1200" dirty="0">
                <a:solidFill>
                  <a:srgbClr val="000000"/>
                </a:solidFill>
              </a:endParaRPr>
            </a:p>
            <a:p>
              <a:endParaRPr lang="en-US" altLang="zh-CN" sz="1200" dirty="0">
                <a:solidFill>
                  <a:srgbClr val="000000"/>
                </a:solidFill>
              </a:endParaRPr>
            </a:p>
          </p:txBody>
        </p:sp>
        <p:sp>
          <p:nvSpPr>
            <p:cNvPr id="51" name="Line 57"/>
            <p:cNvSpPr>
              <a:spLocks noChangeShapeType="1"/>
            </p:cNvSpPr>
            <p:nvPr/>
          </p:nvSpPr>
          <p:spPr bwMode="auto">
            <a:xfrm flipH="1">
              <a:off x="4650423" y="2042095"/>
              <a:ext cx="1704538" cy="9185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AutoShape 35"/>
            <p:cNvSpPr>
              <a:spLocks noChangeArrowheads="1"/>
            </p:cNvSpPr>
            <p:nvPr/>
          </p:nvSpPr>
          <p:spPr bwMode="auto">
            <a:xfrm>
              <a:off x="4706690" y="1683443"/>
              <a:ext cx="1219200" cy="574675"/>
            </a:xfrm>
            <a:prstGeom prst="flowChartDocument">
              <a:avLst/>
            </a:prstGeom>
            <a:solidFill>
              <a:srgbClr val="FFFF99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CN" sz="1200" dirty="0">
                  <a:solidFill>
                    <a:srgbClr val="000000"/>
                  </a:solidFill>
                </a:rPr>
                <a:t>1. </a:t>
              </a:r>
              <a:r>
                <a:rPr lang="zh-CN" altLang="en-US" sz="1200" dirty="0">
                  <a:solidFill>
                    <a:srgbClr val="000000"/>
                  </a:solidFill>
                </a:rPr>
                <a:t>维</a:t>
              </a:r>
              <a:r>
                <a:rPr lang="zh-CN" altLang="en-US" sz="1200" dirty="0" smtClean="0">
                  <a:solidFill>
                    <a:srgbClr val="000000"/>
                  </a:solidFill>
                </a:rPr>
                <a:t>护基础资料</a:t>
              </a:r>
              <a:endParaRPr lang="en-US" altLang="zh-CN" sz="1200" dirty="0">
                <a:solidFill>
                  <a:srgbClr val="000000"/>
                </a:solidFill>
              </a:endParaRPr>
            </a:p>
            <a:p>
              <a:r>
                <a:rPr lang="en-US" altLang="zh-CN" sz="1200" dirty="0">
                  <a:solidFill>
                    <a:srgbClr val="000000"/>
                  </a:solidFill>
                </a:rPr>
                <a:t>2.</a:t>
              </a:r>
              <a:r>
                <a:rPr lang="zh-CN" altLang="en-US" sz="1200" dirty="0">
                  <a:solidFill>
                    <a:srgbClr val="000000"/>
                  </a:solidFill>
                </a:rPr>
                <a:t> </a:t>
              </a:r>
              <a:r>
                <a:rPr lang="zh-CN" altLang="en-US" sz="1200" dirty="0" smtClean="0">
                  <a:solidFill>
                    <a:srgbClr val="000000"/>
                  </a:solidFill>
                </a:rPr>
                <a:t>制定回收计划</a:t>
              </a:r>
              <a:endParaRPr lang="en-US" altLang="zh-CN" sz="1200" dirty="0">
                <a:solidFill>
                  <a:srgbClr val="000000"/>
                </a:solidFill>
              </a:endParaRPr>
            </a:p>
          </p:txBody>
        </p:sp>
        <p:sp>
          <p:nvSpPr>
            <p:cNvPr id="53" name="Line 57"/>
            <p:cNvSpPr>
              <a:spLocks noChangeShapeType="1"/>
            </p:cNvSpPr>
            <p:nvPr/>
          </p:nvSpPr>
          <p:spPr bwMode="auto">
            <a:xfrm flipV="1">
              <a:off x="3618657" y="3536282"/>
              <a:ext cx="864096" cy="87010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AutoShape 35"/>
            <p:cNvSpPr>
              <a:spLocks noChangeArrowheads="1"/>
            </p:cNvSpPr>
            <p:nvPr/>
          </p:nvSpPr>
          <p:spPr bwMode="auto">
            <a:xfrm>
              <a:off x="3903264" y="4222612"/>
              <a:ext cx="1219200" cy="642143"/>
            </a:xfrm>
            <a:prstGeom prst="flowChartDocument">
              <a:avLst/>
            </a:prstGeom>
            <a:solidFill>
              <a:srgbClr val="FFFF99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2286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CN" sz="1200" dirty="0">
                  <a:solidFill>
                    <a:srgbClr val="000000"/>
                  </a:solidFill>
                </a:rPr>
                <a:t>1</a:t>
              </a:r>
              <a:r>
                <a:rPr lang="en-US" altLang="zh-CN" sz="1200" dirty="0" smtClean="0">
                  <a:solidFill>
                    <a:srgbClr val="000000"/>
                  </a:solidFill>
                </a:rPr>
                <a:t>.</a:t>
              </a:r>
              <a:r>
                <a:rPr lang="zh-CN" altLang="en-US" sz="1200" dirty="0">
                  <a:solidFill>
                    <a:srgbClr val="000000"/>
                  </a:solidFill>
                </a:rPr>
                <a:t>零件</a:t>
              </a:r>
              <a:r>
                <a:rPr lang="zh-CN" altLang="en-US" sz="1200" dirty="0" smtClean="0">
                  <a:solidFill>
                    <a:srgbClr val="000000"/>
                  </a:solidFill>
                </a:rPr>
                <a:t>接收</a:t>
              </a:r>
              <a:endParaRPr lang="en-US" altLang="zh-CN" sz="1200" dirty="0" smtClean="0">
                <a:solidFill>
                  <a:srgbClr val="000000"/>
                </a:solidFill>
              </a:endParaRPr>
            </a:p>
            <a:p>
              <a:r>
                <a:rPr lang="en-US" altLang="zh-CN" sz="1200" dirty="0" smtClean="0">
                  <a:solidFill>
                    <a:srgbClr val="000000"/>
                  </a:solidFill>
                </a:rPr>
                <a:t>2.</a:t>
              </a:r>
              <a:r>
                <a:rPr lang="zh-CN" altLang="en-US" sz="1200" dirty="0" smtClean="0">
                  <a:solidFill>
                    <a:srgbClr val="000000"/>
                  </a:solidFill>
                </a:rPr>
                <a:t>零件出库</a:t>
              </a:r>
              <a:endParaRPr lang="en-US" altLang="zh-CN" sz="1200" dirty="0">
                <a:solidFill>
                  <a:srgbClr val="000000"/>
                </a:solidFill>
              </a:endParaRPr>
            </a:p>
            <a:p>
              <a:r>
                <a:rPr lang="en-US" altLang="zh-CN" sz="1200" dirty="0" smtClean="0">
                  <a:solidFill>
                    <a:srgbClr val="000000"/>
                  </a:solidFill>
                </a:rPr>
                <a:t>3.</a:t>
              </a:r>
              <a:r>
                <a:rPr lang="zh-CN" altLang="en-US" sz="1200" dirty="0" smtClean="0">
                  <a:solidFill>
                    <a:srgbClr val="000000"/>
                  </a:solidFill>
                </a:rPr>
                <a:t>零件盘点</a:t>
              </a:r>
              <a:endParaRPr lang="en-US" altLang="zh-CN" sz="1200" dirty="0">
                <a:solidFill>
                  <a:srgbClr val="000000"/>
                </a:solidFill>
              </a:endParaRPr>
            </a:p>
          </p:txBody>
        </p:sp>
        <p:sp>
          <p:nvSpPr>
            <p:cNvPr id="55" name="Line 57"/>
            <p:cNvSpPr>
              <a:spLocks noChangeShapeType="1"/>
            </p:cNvSpPr>
            <p:nvPr/>
          </p:nvSpPr>
          <p:spPr bwMode="auto">
            <a:xfrm flipH="1" flipV="1">
              <a:off x="4986808" y="3536281"/>
              <a:ext cx="2304256" cy="81210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6" name="AutoShape 35"/>
            <p:cNvSpPr>
              <a:spLocks noChangeArrowheads="1"/>
            </p:cNvSpPr>
            <p:nvPr/>
          </p:nvSpPr>
          <p:spPr bwMode="auto">
            <a:xfrm>
              <a:off x="5588126" y="4186527"/>
              <a:ext cx="1036638" cy="734218"/>
            </a:xfrm>
            <a:prstGeom prst="flowChartDocument">
              <a:avLst/>
            </a:prstGeom>
            <a:solidFill>
              <a:srgbClr val="FFFF99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2286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CN" sz="1200" dirty="0">
                  <a:solidFill>
                    <a:srgbClr val="000000"/>
                  </a:solidFill>
                </a:rPr>
                <a:t>1</a:t>
              </a:r>
              <a:r>
                <a:rPr lang="en-US" altLang="zh-CN" sz="1200" dirty="0" smtClean="0">
                  <a:solidFill>
                    <a:srgbClr val="000000"/>
                  </a:solidFill>
                </a:rPr>
                <a:t>.</a:t>
              </a:r>
              <a:r>
                <a:rPr lang="zh-CN" altLang="en-US" sz="1200" dirty="0" smtClean="0">
                  <a:solidFill>
                    <a:srgbClr val="000000"/>
                  </a:solidFill>
                </a:rPr>
                <a:t>零件发送</a:t>
              </a:r>
              <a:endParaRPr lang="en-US" altLang="zh-CN" sz="1200" dirty="0">
                <a:solidFill>
                  <a:srgbClr val="000000"/>
                </a:solidFill>
              </a:endParaRPr>
            </a:p>
            <a:p>
              <a:r>
                <a:rPr lang="en-US" altLang="zh-CN" sz="1200" dirty="0">
                  <a:solidFill>
                    <a:srgbClr val="000000"/>
                  </a:solidFill>
                </a:rPr>
                <a:t>2</a:t>
              </a:r>
              <a:r>
                <a:rPr lang="en-US" altLang="zh-CN" sz="1200" dirty="0" smtClean="0">
                  <a:solidFill>
                    <a:srgbClr val="000000"/>
                  </a:solidFill>
                </a:rPr>
                <a:t>.</a:t>
              </a:r>
              <a:r>
                <a:rPr lang="zh-CN" altLang="en-US" sz="1200" dirty="0" smtClean="0">
                  <a:solidFill>
                    <a:srgbClr val="000000"/>
                  </a:solidFill>
                </a:rPr>
                <a:t>零件入库</a:t>
              </a:r>
              <a:endParaRPr lang="en-US" altLang="zh-CN" sz="1200" dirty="0">
                <a:solidFill>
                  <a:srgbClr val="000000"/>
                </a:solidFill>
              </a:endParaRPr>
            </a:p>
          </p:txBody>
        </p:sp>
        <p:sp>
          <p:nvSpPr>
            <p:cNvPr id="57" name="Line 57"/>
            <p:cNvSpPr>
              <a:spLocks noChangeShapeType="1"/>
            </p:cNvSpPr>
            <p:nvPr/>
          </p:nvSpPr>
          <p:spPr bwMode="auto">
            <a:xfrm flipH="1" flipV="1">
              <a:off x="5418856" y="3304253"/>
              <a:ext cx="1800199" cy="1559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AutoShape 35"/>
            <p:cNvSpPr>
              <a:spLocks noChangeArrowheads="1"/>
            </p:cNvSpPr>
            <p:nvPr/>
          </p:nvSpPr>
          <p:spPr bwMode="auto">
            <a:xfrm>
              <a:off x="6282975" y="2550895"/>
              <a:ext cx="936080" cy="574675"/>
            </a:xfrm>
            <a:prstGeom prst="flowChartDocument">
              <a:avLst/>
            </a:prstGeom>
            <a:solidFill>
              <a:srgbClr val="FFFF99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r>
                <a:rPr lang="zh-CN" altLang="en-US" sz="1200" dirty="0" smtClean="0">
                  <a:solidFill>
                    <a:srgbClr val="000000"/>
                  </a:solidFill>
                </a:rPr>
                <a:t>维护零件信息</a:t>
              </a:r>
              <a:endParaRPr lang="en-US" altLang="zh-CN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724" y="880476"/>
            <a:ext cx="4727575" cy="5689600"/>
            <a:chOff x="1027558" y="908051"/>
            <a:chExt cx="4727575" cy="5689600"/>
          </a:xfrm>
        </p:grpSpPr>
        <p:sp>
          <p:nvSpPr>
            <p:cNvPr id="59" name="AutoShape 3"/>
            <p:cNvSpPr>
              <a:spLocks noChangeArrowheads="1"/>
            </p:cNvSpPr>
            <p:nvPr/>
          </p:nvSpPr>
          <p:spPr bwMode="ltGray">
            <a:xfrm>
              <a:off x="1027558" y="908051"/>
              <a:ext cx="4727575" cy="5689600"/>
            </a:xfrm>
            <a:prstGeom prst="rightArrow">
              <a:avLst>
                <a:gd name="adj1" fmla="val 79306"/>
                <a:gd name="adj2" fmla="val 32395"/>
              </a:avLst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ffectLst/>
            <a:ex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60" name="AutoShape 4"/>
            <p:cNvSpPr>
              <a:spLocks noChangeArrowheads="1"/>
            </p:cNvSpPr>
            <p:nvPr/>
          </p:nvSpPr>
          <p:spPr bwMode="blackWhite">
            <a:xfrm>
              <a:off x="2594748" y="1660526"/>
              <a:ext cx="1433513" cy="581025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69804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b="1" dirty="0" smtClean="0">
                  <a:solidFill>
                    <a:schemeClr val="bg1"/>
                  </a:solidFill>
                  <a:ea typeface="宋体" charset="-122"/>
                </a:rPr>
                <a:t>基础资料</a:t>
              </a:r>
              <a:endParaRPr lang="en-US" altLang="zh-CN" b="1" dirty="0">
                <a:solidFill>
                  <a:schemeClr val="bg1"/>
                </a:solidFill>
                <a:ea typeface="宋体" charset="-122"/>
              </a:endParaRPr>
            </a:p>
          </p:txBody>
        </p:sp>
        <p:sp>
          <p:nvSpPr>
            <p:cNvPr id="61" name="AutoShape 5"/>
            <p:cNvSpPr>
              <a:spLocks noChangeArrowheads="1"/>
            </p:cNvSpPr>
            <p:nvPr/>
          </p:nvSpPr>
          <p:spPr bwMode="blackWhite">
            <a:xfrm>
              <a:off x="2588398" y="2386013"/>
              <a:ext cx="1433513" cy="895350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699D5F"/>
                </a:gs>
                <a:gs pos="50000">
                  <a:srgbClr val="96BB8F"/>
                </a:gs>
                <a:gs pos="100000">
                  <a:srgbClr val="699D5F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零件入库</a:t>
              </a:r>
              <a:endParaRPr lang="en-US" altLang="zh-CN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62" name="AutoShape 6"/>
            <p:cNvSpPr>
              <a:spLocks noChangeArrowheads="1"/>
            </p:cNvSpPr>
            <p:nvPr/>
          </p:nvSpPr>
          <p:spPr bwMode="blackWhite">
            <a:xfrm>
              <a:off x="2588398" y="4473576"/>
              <a:ext cx="1433513" cy="576262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69804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schemeClr val="bg1"/>
                  </a:solidFill>
                  <a:ea typeface="宋体" charset="-122"/>
                </a:rPr>
                <a:t>系</a:t>
              </a:r>
              <a:r>
                <a:rPr lang="zh-CN" altLang="en-US" b="1" dirty="0" smtClean="0">
                  <a:solidFill>
                    <a:schemeClr val="bg1"/>
                  </a:solidFill>
                  <a:ea typeface="宋体" charset="-122"/>
                </a:rPr>
                <a:t>统管理</a:t>
              </a:r>
              <a:endParaRPr lang="en-US" altLang="zh-CN" b="1" dirty="0">
                <a:solidFill>
                  <a:schemeClr val="bg1"/>
                </a:solidFill>
                <a:ea typeface="宋体" charset="-122"/>
              </a:endParaRPr>
            </a:p>
          </p:txBody>
        </p:sp>
        <p:sp>
          <p:nvSpPr>
            <p:cNvPr id="63" name="AutoShape 4"/>
            <p:cNvSpPr>
              <a:spLocks noChangeArrowheads="1"/>
            </p:cNvSpPr>
            <p:nvPr/>
          </p:nvSpPr>
          <p:spPr bwMode="blackWhite">
            <a:xfrm>
              <a:off x="2588398" y="5194301"/>
              <a:ext cx="1439863" cy="503237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FFC000"/>
                </a:gs>
                <a:gs pos="50000">
                  <a:srgbClr val="C28D3E"/>
                </a:gs>
                <a:gs pos="100000">
                  <a:srgbClr val="FFC000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bg1"/>
                  </a:solidFill>
                  <a:ea typeface="SimSun" panose="02010600030101010101" pitchFamily="2" charset="-122"/>
                </a:rPr>
                <a:t>开发</a:t>
              </a:r>
              <a:r>
                <a:rPr lang="zh-CN" altLang="en-US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者功能</a:t>
              </a:r>
              <a:endParaRPr lang="en-US" altLang="zh-CN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64" name="AutoShape 4"/>
            <p:cNvSpPr>
              <a:spLocks noChangeArrowheads="1"/>
            </p:cNvSpPr>
            <p:nvPr/>
          </p:nvSpPr>
          <p:spPr bwMode="blackWhite">
            <a:xfrm>
              <a:off x="4101286" y="1660526"/>
              <a:ext cx="1582737" cy="254000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69804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 smtClean="0">
                  <a:solidFill>
                    <a:schemeClr val="bg1"/>
                  </a:solidFill>
                  <a:ea typeface="宋体" charset="-122"/>
                </a:rPr>
                <a:t>零件主档资料</a:t>
              </a:r>
              <a:endParaRPr lang="en-US" altLang="zh-CN" sz="1400" b="1" dirty="0">
                <a:solidFill>
                  <a:schemeClr val="bg1"/>
                </a:solidFill>
                <a:ea typeface="宋体" charset="-122"/>
              </a:endParaRPr>
            </a:p>
          </p:txBody>
        </p:sp>
        <p:sp>
          <p:nvSpPr>
            <p:cNvPr id="65" name="AutoShape 4"/>
            <p:cNvSpPr>
              <a:spLocks noChangeArrowheads="1"/>
            </p:cNvSpPr>
            <p:nvPr/>
          </p:nvSpPr>
          <p:spPr bwMode="blackWhite">
            <a:xfrm>
              <a:off x="4101286" y="1987551"/>
              <a:ext cx="1582737" cy="254000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69804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solidFill>
                    <a:schemeClr val="bg1"/>
                  </a:solidFill>
                  <a:ea typeface="宋体" charset="-122"/>
                </a:rPr>
                <a:t>治</a:t>
              </a:r>
              <a:r>
                <a:rPr lang="zh-CN" altLang="en-US" sz="1400" b="1" dirty="0" smtClean="0">
                  <a:solidFill>
                    <a:schemeClr val="bg1"/>
                  </a:solidFill>
                  <a:ea typeface="宋体" charset="-122"/>
                </a:rPr>
                <a:t>具信息</a:t>
              </a:r>
              <a:endParaRPr lang="en-US" altLang="zh-CN" sz="1400" b="1" dirty="0">
                <a:solidFill>
                  <a:schemeClr val="bg1"/>
                </a:solidFill>
                <a:ea typeface="宋体" charset="-122"/>
              </a:endParaRPr>
            </a:p>
          </p:txBody>
        </p:sp>
        <p:sp>
          <p:nvSpPr>
            <p:cNvPr id="66" name="AutoShape 5"/>
            <p:cNvSpPr>
              <a:spLocks noChangeArrowheads="1"/>
            </p:cNvSpPr>
            <p:nvPr/>
          </p:nvSpPr>
          <p:spPr bwMode="blackWhite">
            <a:xfrm>
              <a:off x="4101286" y="2417763"/>
              <a:ext cx="1582737" cy="255588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699D5F"/>
                </a:gs>
                <a:gs pos="50000">
                  <a:srgbClr val="96BB8F"/>
                </a:gs>
                <a:gs pos="100000">
                  <a:srgbClr val="699D5F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a typeface="SimSun" panose="02010600030101010101" pitchFamily="2" charset="-122"/>
                </a:rPr>
                <a:t>治</a:t>
              </a:r>
              <a:r>
                <a:rPr lang="zh-CN" altLang="en-US" sz="1400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具拆解</a:t>
              </a:r>
              <a:endParaRPr lang="en-US" altLang="zh-CN" sz="1400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67" name="AutoShape 5"/>
            <p:cNvSpPr>
              <a:spLocks noChangeArrowheads="1"/>
            </p:cNvSpPr>
            <p:nvPr/>
          </p:nvSpPr>
          <p:spPr bwMode="blackWhite">
            <a:xfrm>
              <a:off x="4101286" y="2744788"/>
              <a:ext cx="1582737" cy="255588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699D5F"/>
                </a:gs>
                <a:gs pos="50000">
                  <a:srgbClr val="96BB8F"/>
                </a:gs>
                <a:gs pos="100000">
                  <a:srgbClr val="699D5F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a typeface="SimSun" panose="02010600030101010101" pitchFamily="2" charset="-122"/>
                </a:rPr>
                <a:t>入库单</a:t>
              </a:r>
              <a:endParaRPr lang="en-US" altLang="zh-CN" sz="1400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68" name="AutoShape 5"/>
            <p:cNvSpPr>
              <a:spLocks noChangeArrowheads="1"/>
            </p:cNvSpPr>
            <p:nvPr/>
          </p:nvSpPr>
          <p:spPr bwMode="blackWhite">
            <a:xfrm>
              <a:off x="4101286" y="3065463"/>
              <a:ext cx="1582737" cy="255588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699D5F"/>
                </a:gs>
                <a:gs pos="50000">
                  <a:srgbClr val="96BB8F"/>
                </a:gs>
                <a:gs pos="100000">
                  <a:srgbClr val="699D5F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sz="1400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回收计划</a:t>
              </a:r>
              <a:endParaRPr lang="en-US" altLang="zh-CN" sz="1400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69" name="AutoShape 6"/>
            <p:cNvSpPr>
              <a:spLocks noChangeArrowheads="1"/>
            </p:cNvSpPr>
            <p:nvPr/>
          </p:nvSpPr>
          <p:spPr bwMode="blackWhite">
            <a:xfrm>
              <a:off x="4101286" y="4473576"/>
              <a:ext cx="1582737" cy="255587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69804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200" b="1" dirty="0">
                  <a:solidFill>
                    <a:schemeClr val="bg1"/>
                  </a:solidFill>
                  <a:ea typeface="宋体" charset="-122"/>
                </a:rPr>
                <a:t>用</a:t>
              </a:r>
              <a:r>
                <a:rPr lang="zh-CN" altLang="en-US" sz="1200" b="1" dirty="0" smtClean="0">
                  <a:solidFill>
                    <a:schemeClr val="bg1"/>
                  </a:solidFill>
                  <a:ea typeface="宋体" charset="-122"/>
                </a:rPr>
                <a:t>户管理</a:t>
              </a:r>
              <a:endParaRPr lang="en-US" altLang="zh-CN" sz="1400" b="1" dirty="0">
                <a:solidFill>
                  <a:schemeClr val="bg1"/>
                </a:solidFill>
                <a:ea typeface="宋体" charset="-122"/>
              </a:endParaRPr>
            </a:p>
          </p:txBody>
        </p:sp>
        <p:sp>
          <p:nvSpPr>
            <p:cNvPr id="70" name="AutoShape 4"/>
            <p:cNvSpPr>
              <a:spLocks noChangeArrowheads="1"/>
            </p:cNvSpPr>
            <p:nvPr/>
          </p:nvSpPr>
          <p:spPr bwMode="blackWhite">
            <a:xfrm>
              <a:off x="4101286" y="5194301"/>
              <a:ext cx="1582737" cy="255587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FFC000"/>
                </a:gs>
                <a:gs pos="50000">
                  <a:srgbClr val="C28D3E"/>
                </a:gs>
                <a:gs pos="100000">
                  <a:srgbClr val="FFC000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a typeface="SimSun" panose="02010600030101010101" pitchFamily="2" charset="-122"/>
                </a:rPr>
                <a:t>系</a:t>
              </a:r>
              <a:r>
                <a:rPr lang="zh-CN" altLang="en-US" sz="1400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统功能管理</a:t>
              </a:r>
              <a:endParaRPr lang="en-US" altLang="zh-CN" sz="1400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71" name="AutoShape 5"/>
            <p:cNvSpPr>
              <a:spLocks noChangeArrowheads="1"/>
            </p:cNvSpPr>
            <p:nvPr/>
          </p:nvSpPr>
          <p:spPr bwMode="blackWhite">
            <a:xfrm>
              <a:off x="2588398" y="3465513"/>
              <a:ext cx="1433513" cy="896938"/>
            </a:xfrm>
            <a:prstGeom prst="roundRect">
              <a:avLst>
                <a:gd name="adj" fmla="val 9106"/>
              </a:avLst>
            </a:prstGeom>
            <a:solidFill>
              <a:srgbClr val="00B0F0"/>
            </a:soli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零件出库</a:t>
              </a:r>
              <a:endParaRPr lang="en-US" altLang="zh-CN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72" name="AutoShape 5"/>
            <p:cNvSpPr>
              <a:spLocks noChangeArrowheads="1"/>
            </p:cNvSpPr>
            <p:nvPr/>
          </p:nvSpPr>
          <p:spPr bwMode="blackWhite">
            <a:xfrm>
              <a:off x="4101286" y="3497263"/>
              <a:ext cx="1582737" cy="255588"/>
            </a:xfrm>
            <a:prstGeom prst="roundRect">
              <a:avLst>
                <a:gd name="adj" fmla="val 9106"/>
              </a:avLst>
            </a:prstGeom>
            <a:solidFill>
              <a:srgbClr val="00B0F0"/>
            </a:soli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a typeface="SimSun" panose="02010600030101010101" pitchFamily="2" charset="-122"/>
                </a:rPr>
                <a:t>设</a:t>
              </a:r>
              <a:r>
                <a:rPr lang="zh-CN" altLang="en-US" sz="1400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计单</a:t>
              </a:r>
              <a:endParaRPr lang="en-US" altLang="zh-CN" sz="1400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73" name="AutoShape 5"/>
            <p:cNvSpPr>
              <a:spLocks noChangeArrowheads="1"/>
            </p:cNvSpPr>
            <p:nvPr/>
          </p:nvSpPr>
          <p:spPr bwMode="blackWhite">
            <a:xfrm>
              <a:off x="4101286" y="3825876"/>
              <a:ext cx="1582737" cy="255587"/>
            </a:xfrm>
            <a:prstGeom prst="roundRect">
              <a:avLst>
                <a:gd name="adj" fmla="val 9106"/>
              </a:avLst>
            </a:prstGeom>
            <a:solidFill>
              <a:srgbClr val="00B0F0"/>
            </a:soli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a typeface="SimSun" panose="02010600030101010101" pitchFamily="2" charset="-122"/>
                </a:rPr>
                <a:t>利</a:t>
              </a:r>
              <a:r>
                <a:rPr lang="zh-CN" altLang="en-US" sz="1400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旧数据查询</a:t>
              </a:r>
              <a:endParaRPr lang="en-US" altLang="zh-CN" sz="1400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74" name="AutoShape 5"/>
            <p:cNvSpPr>
              <a:spLocks noChangeArrowheads="1"/>
            </p:cNvSpPr>
            <p:nvPr/>
          </p:nvSpPr>
          <p:spPr bwMode="blackWhite">
            <a:xfrm>
              <a:off x="4097319" y="4146173"/>
              <a:ext cx="1582737" cy="255587"/>
            </a:xfrm>
            <a:prstGeom prst="roundRect">
              <a:avLst>
                <a:gd name="adj" fmla="val 9106"/>
              </a:avLst>
            </a:prstGeom>
            <a:solidFill>
              <a:srgbClr val="00B0F0"/>
            </a:soli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a typeface="SimSun" panose="02010600030101010101" pitchFamily="2" charset="-122"/>
                </a:rPr>
                <a:t>库</a:t>
              </a:r>
              <a:r>
                <a:rPr lang="zh-CN" altLang="en-US" sz="1400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存管理</a:t>
              </a:r>
              <a:endParaRPr lang="en-US" altLang="zh-CN" sz="1400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75" name="AutoShape 6"/>
            <p:cNvSpPr>
              <a:spLocks noChangeArrowheads="1"/>
            </p:cNvSpPr>
            <p:nvPr/>
          </p:nvSpPr>
          <p:spPr bwMode="blackWhite">
            <a:xfrm>
              <a:off x="4101286" y="4760913"/>
              <a:ext cx="1582737" cy="255588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69804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 smtClean="0">
                  <a:solidFill>
                    <a:schemeClr val="bg1"/>
                  </a:solidFill>
                  <a:ea typeface="宋体" charset="-122"/>
                </a:rPr>
                <a:t>部门管理</a:t>
              </a:r>
              <a:endParaRPr lang="en-US" altLang="zh-CN" sz="1400" b="1" dirty="0">
                <a:solidFill>
                  <a:schemeClr val="bg1"/>
                </a:solidFill>
                <a:ea typeface="宋体" charset="-122"/>
              </a:endParaRPr>
            </a:p>
          </p:txBody>
        </p:sp>
        <p:sp>
          <p:nvSpPr>
            <p:cNvPr id="76" name="AutoShape 4"/>
            <p:cNvSpPr>
              <a:spLocks noChangeArrowheads="1"/>
            </p:cNvSpPr>
            <p:nvPr/>
          </p:nvSpPr>
          <p:spPr bwMode="blackWhite">
            <a:xfrm>
              <a:off x="4101286" y="5481638"/>
              <a:ext cx="1582737" cy="255588"/>
            </a:xfrm>
            <a:prstGeom prst="roundRect">
              <a:avLst>
                <a:gd name="adj" fmla="val 9106"/>
              </a:avLst>
            </a:prstGeom>
            <a:gradFill rotWithShape="1">
              <a:gsLst>
                <a:gs pos="0">
                  <a:srgbClr val="FFC000"/>
                </a:gs>
                <a:gs pos="50000">
                  <a:srgbClr val="C28D3E"/>
                </a:gs>
                <a:gs pos="100000">
                  <a:srgbClr val="FFC000"/>
                </a:gs>
              </a:gsLst>
              <a:lin ang="2700000" scaled="1"/>
            </a:gradFill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ea typeface="SimSun" panose="02010600030101010101" pitchFamily="2" charset="-122"/>
                </a:rPr>
                <a:t>日</a:t>
              </a:r>
              <a:r>
                <a:rPr lang="zh-CN" altLang="en-US" sz="1400" b="1" dirty="0" smtClean="0">
                  <a:solidFill>
                    <a:schemeClr val="bg1"/>
                  </a:solidFill>
                  <a:ea typeface="SimSun" panose="02010600030101010101" pitchFamily="2" charset="-122"/>
                </a:rPr>
                <a:t>志管理</a:t>
              </a:r>
              <a:endParaRPr lang="en-US" altLang="zh-CN" sz="1400" b="1" dirty="0">
                <a:solidFill>
                  <a:schemeClr val="bg1"/>
                </a:solidFill>
                <a:ea typeface="SimSun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4508022"/>
      </p:ext>
    </p:extLst>
  </p:cSld>
  <p:clrMapOvr>
    <a:masterClrMapping/>
  </p:clrMapOvr>
  <p:transition spd="slow" advClick="0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41" grpId="0" animBg="1"/>
      <p:bldP spid="43" grpId="0" animBg="1"/>
      <p:bldP spid="45" grpId="0" animBg="1"/>
      <p:bldP spid="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710A07-2A28-40EC-8D93-D7387474F0E6}"/>
              </a:ext>
            </a:extLst>
          </p:cNvPr>
          <p:cNvSpPr/>
          <p:nvPr/>
        </p:nvSpPr>
        <p:spPr>
          <a:xfrm>
            <a:off x="-28836" y="1053684"/>
            <a:ext cx="12192001" cy="58043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t="1" b="-181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7A7BA-1DE5-4665-9D30-DF265963F3B3}"/>
              </a:ext>
            </a:extLst>
          </p:cNvPr>
          <p:cNvSpPr/>
          <p:nvPr/>
        </p:nvSpPr>
        <p:spPr>
          <a:xfrm>
            <a:off x="-57671" y="1657350"/>
            <a:ext cx="12249671" cy="390525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6B1D381-2032-4BBA-9BCC-3F2ED3F7A23C}"/>
              </a:ext>
            </a:extLst>
          </p:cNvPr>
          <p:cNvSpPr/>
          <p:nvPr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C6F1E2-5A04-4423-A6C1-9B04901EF96E}"/>
              </a:ext>
            </a:extLst>
          </p:cNvPr>
          <p:cNvSpPr/>
          <p:nvPr/>
        </p:nvSpPr>
        <p:spPr>
          <a:xfrm flipH="1">
            <a:off x="-47886" y="2076450"/>
            <a:ext cx="12240000" cy="3009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B152BA-FB3A-4DEF-97AF-2D3132A6379B}"/>
              </a:ext>
            </a:extLst>
          </p:cNvPr>
          <p:cNvGrpSpPr/>
          <p:nvPr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16D1BA4-5DFB-495C-B4C0-D9BF0BD2A928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7585635-9F29-4E63-8ED6-2D0E97E9D29A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D8AB465-9371-4219-94C0-2D44DDA759B9}"/>
              </a:ext>
            </a:extLst>
          </p:cNvPr>
          <p:cNvSpPr txBox="1"/>
          <p:nvPr/>
        </p:nvSpPr>
        <p:spPr>
          <a:xfrm>
            <a:off x="504801" y="2381071"/>
            <a:ext cx="266059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0" dirty="0">
                <a:ln w="15875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5000" dirty="0">
              <a:ln w="15875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4E23612-32A5-4085-A451-FACD073E4899}"/>
              </a:ext>
            </a:extLst>
          </p:cNvPr>
          <p:cNvSpPr txBox="1"/>
          <p:nvPr/>
        </p:nvSpPr>
        <p:spPr>
          <a:xfrm>
            <a:off x="4686426" y="2438042"/>
            <a:ext cx="449258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b="1" dirty="0" smtClean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工作</a:t>
            </a:r>
            <a:r>
              <a:rPr lang="zh-CN" altLang="en-US" sz="7500" b="1" dirty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成果</a:t>
            </a:r>
          </a:p>
        </p:txBody>
      </p:sp>
      <p:sp>
        <p:nvSpPr>
          <p:cNvPr id="16" name="íṧḷîḓé">
            <a:extLst>
              <a:ext uri="{FF2B5EF4-FFF2-40B4-BE49-F238E27FC236}">
                <a16:creationId xmlns:a16="http://schemas.microsoft.com/office/drawing/2014/main" id="{6EF993AD-9179-4D46-8B81-636085C1AF40}"/>
              </a:ext>
            </a:extLst>
          </p:cNvPr>
          <p:cNvSpPr/>
          <p:nvPr/>
        </p:nvSpPr>
        <p:spPr bwMode="auto">
          <a:xfrm>
            <a:off x="5408021" y="3861605"/>
            <a:ext cx="1768290" cy="385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效益</a:t>
            </a:r>
          </a:p>
        </p:txBody>
      </p:sp>
      <p:sp>
        <p:nvSpPr>
          <p:cNvPr id="23" name="íṧḷîḓé">
            <a:extLst>
              <a:ext uri="{FF2B5EF4-FFF2-40B4-BE49-F238E27FC236}">
                <a16:creationId xmlns:a16="http://schemas.microsoft.com/office/drawing/2014/main" id="{61C32C76-6039-421F-AD48-32668F12D82A}"/>
              </a:ext>
            </a:extLst>
          </p:cNvPr>
          <p:cNvSpPr/>
          <p:nvPr/>
        </p:nvSpPr>
        <p:spPr bwMode="auto">
          <a:xfrm>
            <a:off x="7073116" y="3856942"/>
            <a:ext cx="1768290" cy="385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系</a:t>
            </a:r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统页面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01027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eelOff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16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0" y="375326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10643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效益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Benefit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en-US" altLang="zh-CN" sz="22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D35270-2587-4966-B4EB-BA1DF7F7CA25}"/>
              </a:ext>
            </a:extLst>
          </p:cNvPr>
          <p:cNvGrpSpPr/>
          <p:nvPr/>
        </p:nvGrpSpPr>
        <p:grpSpPr>
          <a:xfrm>
            <a:off x="6016322" y="2547240"/>
            <a:ext cx="1656379" cy="1656378"/>
            <a:chOff x="6120832" y="2499442"/>
            <a:chExt cx="1656379" cy="1656378"/>
          </a:xfrm>
        </p:grpSpPr>
        <p:sp>
          <p:nvSpPr>
            <p:cNvPr id="12" name="ïśľïḓê">
              <a:extLst>
                <a:ext uri="{FF2B5EF4-FFF2-40B4-BE49-F238E27FC236}">
                  <a16:creationId xmlns:a16="http://schemas.microsoft.com/office/drawing/2014/main" id="{884A0FAD-1EF1-49C2-94D4-774094F87209}"/>
                </a:ext>
              </a:extLst>
            </p:cNvPr>
            <p:cNvSpPr/>
            <p:nvPr/>
          </p:nvSpPr>
          <p:spPr>
            <a:xfrm rot="10800000">
              <a:off x="6120832" y="2499442"/>
              <a:ext cx="1656379" cy="1656378"/>
            </a:xfrm>
            <a:prstGeom prst="teardrop">
              <a:avLst/>
            </a:prstGeom>
            <a:solidFill>
              <a:srgbClr val="1257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iṩľíďè">
              <a:extLst>
                <a:ext uri="{FF2B5EF4-FFF2-40B4-BE49-F238E27FC236}">
                  <a16:creationId xmlns:a16="http://schemas.microsoft.com/office/drawing/2014/main" id="{2C30EBE2-B188-488E-8048-D8D3FA7BA762}"/>
                </a:ext>
              </a:extLst>
            </p:cNvPr>
            <p:cNvSpPr txBox="1"/>
            <p:nvPr/>
          </p:nvSpPr>
          <p:spPr>
            <a:xfrm>
              <a:off x="6330425" y="2977380"/>
              <a:ext cx="1313980" cy="643363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zh-CN" altLang="en-US" sz="2000" b="1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有形效益</a:t>
              </a:r>
              <a:endParaRPr lang="zh-CN" altLang="en-US" sz="20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1F56F14-FC49-4C5D-8312-0D01FF2F477A}"/>
              </a:ext>
            </a:extLst>
          </p:cNvPr>
          <p:cNvGrpSpPr/>
          <p:nvPr/>
        </p:nvGrpSpPr>
        <p:grpSpPr>
          <a:xfrm>
            <a:off x="4269098" y="3366287"/>
            <a:ext cx="1656379" cy="1656378"/>
            <a:chOff x="4373608" y="3318489"/>
            <a:chExt cx="1656379" cy="1656378"/>
          </a:xfrm>
        </p:grpSpPr>
        <p:sp>
          <p:nvSpPr>
            <p:cNvPr id="15" name="ïşḻiḋé">
              <a:extLst>
                <a:ext uri="{FF2B5EF4-FFF2-40B4-BE49-F238E27FC236}">
                  <a16:creationId xmlns:a16="http://schemas.microsoft.com/office/drawing/2014/main" id="{014361BA-59B1-4453-95FC-993934D40854}"/>
                </a:ext>
              </a:extLst>
            </p:cNvPr>
            <p:cNvSpPr/>
            <p:nvPr/>
          </p:nvSpPr>
          <p:spPr>
            <a:xfrm>
              <a:off x="4373608" y="3318489"/>
              <a:ext cx="1656379" cy="1656378"/>
            </a:xfrm>
            <a:prstGeom prst="teardrop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iš1iḓe">
              <a:extLst>
                <a:ext uri="{FF2B5EF4-FFF2-40B4-BE49-F238E27FC236}">
                  <a16:creationId xmlns:a16="http://schemas.microsoft.com/office/drawing/2014/main" id="{24AE6C51-9D75-4960-A74B-C6D604AF4755}"/>
                </a:ext>
              </a:extLst>
            </p:cNvPr>
            <p:cNvSpPr txBox="1"/>
            <p:nvPr/>
          </p:nvSpPr>
          <p:spPr>
            <a:xfrm>
              <a:off x="4517912" y="3796426"/>
              <a:ext cx="1379699" cy="643363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zh-CN" altLang="en-US" sz="2000" b="1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无形效益</a:t>
              </a:r>
              <a:endParaRPr lang="zh-CN" altLang="en-US" sz="2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0B576B5-7B3E-462C-8FCE-EA8821438B41}"/>
              </a:ext>
            </a:extLst>
          </p:cNvPr>
          <p:cNvGrpSpPr/>
          <p:nvPr/>
        </p:nvGrpSpPr>
        <p:grpSpPr>
          <a:xfrm>
            <a:off x="442697" y="920881"/>
            <a:ext cx="3457175" cy="929718"/>
            <a:chOff x="649333" y="1988637"/>
            <a:chExt cx="3457175" cy="929718"/>
          </a:xfrm>
        </p:grpSpPr>
        <p:sp>
          <p:nvSpPr>
            <p:cNvPr id="18" name="îṡḻïďè">
              <a:extLst>
                <a:ext uri="{FF2B5EF4-FFF2-40B4-BE49-F238E27FC236}">
                  <a16:creationId xmlns:a16="http://schemas.microsoft.com/office/drawing/2014/main" id="{5A46C238-CF40-4232-AA46-BDC8DC879515}"/>
                </a:ext>
              </a:extLst>
            </p:cNvPr>
            <p:cNvSpPr/>
            <p:nvPr/>
          </p:nvSpPr>
          <p:spPr>
            <a:xfrm>
              <a:off x="649333" y="2394384"/>
              <a:ext cx="2809070" cy="5239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平衡了员工的劳动强度</a:t>
              </a:r>
              <a:endParaRPr lang="zh-CN" altLang="en-US" sz="14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îŝļíḋé">
              <a:extLst>
                <a:ext uri="{FF2B5EF4-FFF2-40B4-BE49-F238E27FC236}">
                  <a16:creationId xmlns:a16="http://schemas.microsoft.com/office/drawing/2014/main" id="{C4BAB4D9-03FC-4A44-9336-2B66A896DCC4}"/>
                </a:ext>
              </a:extLst>
            </p:cNvPr>
            <p:cNvSpPr/>
            <p:nvPr/>
          </p:nvSpPr>
          <p:spPr>
            <a:xfrm>
              <a:off x="649333" y="1988637"/>
              <a:ext cx="2809070" cy="405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劳</a:t>
              </a: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动强度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B14A81A-7E51-4A3F-B536-B1B0D531C3B3}"/>
                </a:ext>
              </a:extLst>
            </p:cNvPr>
            <p:cNvGrpSpPr/>
            <p:nvPr/>
          </p:nvGrpSpPr>
          <p:grpSpPr>
            <a:xfrm>
              <a:off x="3584042" y="2266387"/>
              <a:ext cx="522466" cy="522466"/>
              <a:chOff x="3584042" y="2266387"/>
              <a:chExt cx="522466" cy="522466"/>
            </a:xfrm>
          </p:grpSpPr>
          <p:sp>
            <p:nvSpPr>
              <p:cNvPr id="21" name="iṣḻíḋe">
                <a:extLst>
                  <a:ext uri="{FF2B5EF4-FFF2-40B4-BE49-F238E27FC236}">
                    <a16:creationId xmlns:a16="http://schemas.microsoft.com/office/drawing/2014/main" id="{287EEE40-FA34-4469-8E5E-2FDEE2A06211}"/>
                  </a:ext>
                </a:extLst>
              </p:cNvPr>
              <p:cNvSpPr/>
              <p:nvPr/>
            </p:nvSpPr>
            <p:spPr>
              <a:xfrm>
                <a:off x="3584042" y="2266387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FBEC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iṡḷíḑé">
                <a:extLst>
                  <a:ext uri="{FF2B5EF4-FFF2-40B4-BE49-F238E27FC236}">
                    <a16:creationId xmlns:a16="http://schemas.microsoft.com/office/drawing/2014/main" id="{CD149BA6-684F-45CD-9557-6A34915024D9}"/>
                  </a:ext>
                </a:extLst>
              </p:cNvPr>
              <p:cNvSpPr/>
              <p:nvPr/>
            </p:nvSpPr>
            <p:spPr>
              <a:xfrm>
                <a:off x="3736622" y="2424491"/>
                <a:ext cx="217308" cy="20626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9800" y="63664"/>
                    </a:moveTo>
                    <a:lnTo>
                      <a:pt x="119800" y="63664"/>
                    </a:lnTo>
                    <a:cubicBezTo>
                      <a:pt x="119800" y="66596"/>
                      <a:pt x="118405" y="69528"/>
                      <a:pt x="114219" y="69528"/>
                    </a:cubicBezTo>
                    <a:cubicBezTo>
                      <a:pt x="112823" y="69528"/>
                      <a:pt x="111428" y="68062"/>
                      <a:pt x="111428" y="68062"/>
                    </a:cubicBezTo>
                    <a:lnTo>
                      <a:pt x="111428" y="68062"/>
                    </a:lnTo>
                    <a:cubicBezTo>
                      <a:pt x="60598" y="14869"/>
                      <a:pt x="60598" y="14869"/>
                      <a:pt x="60598" y="14869"/>
                    </a:cubicBezTo>
                    <a:lnTo>
                      <a:pt x="60598" y="14869"/>
                    </a:lnTo>
                    <a:lnTo>
                      <a:pt x="60598" y="14869"/>
                    </a:lnTo>
                    <a:lnTo>
                      <a:pt x="60598" y="14869"/>
                    </a:lnTo>
                    <a:cubicBezTo>
                      <a:pt x="9966" y="68062"/>
                      <a:pt x="9966" y="68062"/>
                      <a:pt x="9966" y="68062"/>
                    </a:cubicBezTo>
                    <a:lnTo>
                      <a:pt x="9966" y="68062"/>
                    </a:lnTo>
                    <a:cubicBezTo>
                      <a:pt x="8571" y="68062"/>
                      <a:pt x="7176" y="69528"/>
                      <a:pt x="5780" y="69528"/>
                    </a:cubicBezTo>
                    <a:cubicBezTo>
                      <a:pt x="2990" y="69528"/>
                      <a:pt x="0" y="66596"/>
                      <a:pt x="0" y="63664"/>
                    </a:cubicBezTo>
                    <a:cubicBezTo>
                      <a:pt x="0" y="62198"/>
                      <a:pt x="0" y="60523"/>
                      <a:pt x="1395" y="59057"/>
                    </a:cubicBezTo>
                    <a:cubicBezTo>
                      <a:pt x="56411" y="1465"/>
                      <a:pt x="56411" y="1465"/>
                      <a:pt x="56411" y="1465"/>
                    </a:cubicBezTo>
                    <a:cubicBezTo>
                      <a:pt x="57807" y="0"/>
                      <a:pt x="59202" y="0"/>
                      <a:pt x="60598" y="0"/>
                    </a:cubicBez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cubicBezTo>
                      <a:pt x="61993" y="0"/>
                      <a:pt x="63388" y="1465"/>
                      <a:pt x="64784" y="1465"/>
                    </a:cubicBezTo>
                    <a:lnTo>
                      <a:pt x="64784" y="1465"/>
                    </a:lnTo>
                    <a:cubicBezTo>
                      <a:pt x="85913" y="25130"/>
                      <a:pt x="85913" y="25130"/>
                      <a:pt x="85913" y="25130"/>
                    </a:cubicBezTo>
                    <a:cubicBezTo>
                      <a:pt x="85913" y="19267"/>
                      <a:pt x="85913" y="19267"/>
                      <a:pt x="85913" y="19267"/>
                    </a:cubicBezTo>
                    <a:cubicBezTo>
                      <a:pt x="85913" y="16335"/>
                      <a:pt x="88903" y="13193"/>
                      <a:pt x="91694" y="13193"/>
                    </a:cubicBezTo>
                    <a:cubicBezTo>
                      <a:pt x="95880" y="13193"/>
                      <a:pt x="97275" y="16335"/>
                      <a:pt x="97275" y="19267"/>
                    </a:cubicBezTo>
                    <a:cubicBezTo>
                      <a:pt x="97275" y="36858"/>
                      <a:pt x="97275" y="36858"/>
                      <a:pt x="97275" y="36858"/>
                    </a:cubicBezTo>
                    <a:cubicBezTo>
                      <a:pt x="118405" y="59057"/>
                      <a:pt x="118405" y="59057"/>
                      <a:pt x="118405" y="59057"/>
                    </a:cubicBezTo>
                    <a:lnTo>
                      <a:pt x="118405" y="59057"/>
                    </a:lnTo>
                    <a:cubicBezTo>
                      <a:pt x="119800" y="60523"/>
                      <a:pt x="119800" y="62198"/>
                      <a:pt x="119800" y="63664"/>
                    </a:cubicBezTo>
                    <a:close/>
                    <a:moveTo>
                      <a:pt x="108438" y="72460"/>
                    </a:moveTo>
                    <a:lnTo>
                      <a:pt x="108438" y="72460"/>
                    </a:lnTo>
                    <a:cubicBezTo>
                      <a:pt x="108438" y="90261"/>
                      <a:pt x="108438" y="90261"/>
                      <a:pt x="108438" y="90261"/>
                    </a:cubicBezTo>
                    <a:cubicBezTo>
                      <a:pt x="108438" y="99057"/>
                      <a:pt x="108438" y="99057"/>
                      <a:pt x="108438" y="99057"/>
                    </a:cubicBezTo>
                    <a:cubicBezTo>
                      <a:pt x="108438" y="113926"/>
                      <a:pt x="108438" y="113926"/>
                      <a:pt x="108438" y="113926"/>
                    </a:cubicBezTo>
                    <a:cubicBezTo>
                      <a:pt x="108438" y="118324"/>
                      <a:pt x="107043" y="119790"/>
                      <a:pt x="102857" y="119790"/>
                    </a:cubicBezTo>
                    <a:cubicBezTo>
                      <a:pt x="91694" y="119790"/>
                      <a:pt x="91694" y="119790"/>
                      <a:pt x="91694" y="119790"/>
                    </a:cubicBezTo>
                    <a:cubicBezTo>
                      <a:pt x="91694" y="72460"/>
                      <a:pt x="91694" y="72460"/>
                      <a:pt x="91694" y="72460"/>
                    </a:cubicBezTo>
                    <a:cubicBezTo>
                      <a:pt x="69169" y="72460"/>
                      <a:pt x="69169" y="72460"/>
                      <a:pt x="69169" y="72460"/>
                    </a:cubicBezTo>
                    <a:cubicBezTo>
                      <a:pt x="69169" y="119790"/>
                      <a:pt x="69169" y="119790"/>
                      <a:pt x="69169" y="119790"/>
                    </a:cubicBezTo>
                    <a:cubicBezTo>
                      <a:pt x="16943" y="119790"/>
                      <a:pt x="16943" y="119790"/>
                      <a:pt x="16943" y="119790"/>
                    </a:cubicBezTo>
                    <a:cubicBezTo>
                      <a:pt x="14152" y="119790"/>
                      <a:pt x="11362" y="118324"/>
                      <a:pt x="11362" y="113926"/>
                    </a:cubicBezTo>
                    <a:cubicBezTo>
                      <a:pt x="11362" y="99057"/>
                      <a:pt x="11362" y="99057"/>
                      <a:pt x="11362" y="99057"/>
                    </a:cubicBezTo>
                    <a:cubicBezTo>
                      <a:pt x="11362" y="90261"/>
                      <a:pt x="11362" y="90261"/>
                      <a:pt x="11362" y="90261"/>
                    </a:cubicBezTo>
                    <a:cubicBezTo>
                      <a:pt x="11362" y="72460"/>
                      <a:pt x="11362" y="72460"/>
                      <a:pt x="11362" y="72460"/>
                    </a:cubicBezTo>
                    <a:cubicBezTo>
                      <a:pt x="60598" y="22198"/>
                      <a:pt x="60598" y="22198"/>
                      <a:pt x="60598" y="22198"/>
                    </a:cubicBezTo>
                    <a:lnTo>
                      <a:pt x="108438" y="72460"/>
                    </a:lnTo>
                    <a:close/>
                    <a:moveTo>
                      <a:pt x="50830" y="72460"/>
                    </a:moveTo>
                    <a:lnTo>
                      <a:pt x="50830" y="72460"/>
                    </a:lnTo>
                    <a:cubicBezTo>
                      <a:pt x="28305" y="72460"/>
                      <a:pt x="28305" y="72460"/>
                      <a:pt x="28305" y="72460"/>
                    </a:cubicBezTo>
                    <a:cubicBezTo>
                      <a:pt x="28305" y="96125"/>
                      <a:pt x="28305" y="96125"/>
                      <a:pt x="28305" y="96125"/>
                    </a:cubicBezTo>
                    <a:cubicBezTo>
                      <a:pt x="50830" y="96125"/>
                      <a:pt x="50830" y="96125"/>
                      <a:pt x="50830" y="96125"/>
                    </a:cubicBezTo>
                    <a:lnTo>
                      <a:pt x="50830" y="72460"/>
                    </a:lnTo>
                    <a:close/>
                  </a:path>
                </a:pathLst>
              </a:custGeom>
              <a:solidFill>
                <a:srgbClr val="8EBAE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88DFF27-F098-40C9-8A71-E88DC1BA1DFC}"/>
              </a:ext>
            </a:extLst>
          </p:cNvPr>
          <p:cNvGrpSpPr/>
          <p:nvPr/>
        </p:nvGrpSpPr>
        <p:grpSpPr>
          <a:xfrm>
            <a:off x="437597" y="2220400"/>
            <a:ext cx="3457175" cy="929720"/>
            <a:chOff x="649333" y="3159155"/>
            <a:chExt cx="3457175" cy="929720"/>
          </a:xfrm>
        </p:grpSpPr>
        <p:sp>
          <p:nvSpPr>
            <p:cNvPr id="24" name="î$ḷídé">
              <a:extLst>
                <a:ext uri="{FF2B5EF4-FFF2-40B4-BE49-F238E27FC236}">
                  <a16:creationId xmlns:a16="http://schemas.microsoft.com/office/drawing/2014/main" id="{312C961E-0296-4245-B844-048FF6D10E4B}"/>
                </a:ext>
              </a:extLst>
            </p:cNvPr>
            <p:cNvSpPr/>
            <p:nvPr/>
          </p:nvSpPr>
          <p:spPr>
            <a:xfrm>
              <a:off x="649333" y="3564904"/>
              <a:ext cx="2809070" cy="5239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spc="1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现了零件的统一管理，下发，签收，使丢失的零件有迹可循</a:t>
              </a:r>
              <a:endParaRPr lang="zh-CN" altLang="en-US" sz="14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ïS1iḑè">
              <a:extLst>
                <a:ext uri="{FF2B5EF4-FFF2-40B4-BE49-F238E27FC236}">
                  <a16:creationId xmlns:a16="http://schemas.microsoft.com/office/drawing/2014/main" id="{8C6A37A1-2C83-48E3-A6E3-DC8C2469E978}"/>
                </a:ext>
              </a:extLst>
            </p:cNvPr>
            <p:cNvSpPr/>
            <p:nvPr/>
          </p:nvSpPr>
          <p:spPr>
            <a:xfrm>
              <a:off x="649333" y="3159155"/>
              <a:ext cx="2809070" cy="405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</a:t>
              </a: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险控制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DC616FA-1968-4ADD-9D4A-715FECF3C684}"/>
                </a:ext>
              </a:extLst>
            </p:cNvPr>
            <p:cNvGrpSpPr/>
            <p:nvPr/>
          </p:nvGrpSpPr>
          <p:grpSpPr>
            <a:xfrm>
              <a:off x="3584042" y="3418872"/>
              <a:ext cx="522466" cy="522466"/>
              <a:chOff x="3584042" y="3418872"/>
              <a:chExt cx="522466" cy="522466"/>
            </a:xfrm>
          </p:grpSpPr>
          <p:sp>
            <p:nvSpPr>
              <p:cNvPr id="27" name="ïŝḻïḍe">
                <a:extLst>
                  <a:ext uri="{FF2B5EF4-FFF2-40B4-BE49-F238E27FC236}">
                    <a16:creationId xmlns:a16="http://schemas.microsoft.com/office/drawing/2014/main" id="{1ABF8E62-827D-405D-9246-8DE3CD0CD21D}"/>
                  </a:ext>
                </a:extLst>
              </p:cNvPr>
              <p:cNvSpPr/>
              <p:nvPr/>
            </p:nvSpPr>
            <p:spPr>
              <a:xfrm>
                <a:off x="3584042" y="3418872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FBEC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îs1îḍê">
                <a:extLst>
                  <a:ext uri="{FF2B5EF4-FFF2-40B4-BE49-F238E27FC236}">
                    <a16:creationId xmlns:a16="http://schemas.microsoft.com/office/drawing/2014/main" id="{2F492022-6888-4B9E-B001-E91313E15AD7}"/>
                  </a:ext>
                </a:extLst>
              </p:cNvPr>
              <p:cNvSpPr/>
              <p:nvPr/>
            </p:nvSpPr>
            <p:spPr>
              <a:xfrm>
                <a:off x="3736622" y="3584908"/>
                <a:ext cx="217308" cy="190394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7009" y="65310"/>
                    </a:moveTo>
                    <a:lnTo>
                      <a:pt x="117009" y="65310"/>
                    </a:lnTo>
                    <a:lnTo>
                      <a:pt x="117009" y="65310"/>
                    </a:lnTo>
                    <a:cubicBezTo>
                      <a:pt x="61993" y="91073"/>
                      <a:pt x="61993" y="91073"/>
                      <a:pt x="61993" y="91073"/>
                    </a:cubicBezTo>
                    <a:lnTo>
                      <a:pt x="61993" y="91073"/>
                    </a:lnTo>
                    <a:lnTo>
                      <a:pt x="61993" y="91073"/>
                    </a:lnTo>
                    <a:lnTo>
                      <a:pt x="61993" y="91073"/>
                    </a:lnTo>
                    <a:cubicBezTo>
                      <a:pt x="61993" y="92655"/>
                      <a:pt x="60598" y="92655"/>
                      <a:pt x="60598" y="92655"/>
                    </a:cubicBezTo>
                    <a:cubicBezTo>
                      <a:pt x="59202" y="92655"/>
                      <a:pt x="59202" y="92655"/>
                      <a:pt x="57807" y="91073"/>
                    </a:cubicBezTo>
                    <a:lnTo>
                      <a:pt x="57807" y="91073"/>
                    </a:lnTo>
                    <a:lnTo>
                      <a:pt x="57807" y="91073"/>
                    </a:lnTo>
                    <a:lnTo>
                      <a:pt x="57807" y="91073"/>
                    </a:lnTo>
                    <a:cubicBezTo>
                      <a:pt x="2990" y="65310"/>
                      <a:pt x="2990" y="65310"/>
                      <a:pt x="2990" y="65310"/>
                    </a:cubicBezTo>
                    <a:lnTo>
                      <a:pt x="2990" y="65310"/>
                    </a:lnTo>
                    <a:cubicBezTo>
                      <a:pt x="1395" y="65310"/>
                      <a:pt x="0" y="62146"/>
                      <a:pt x="0" y="60564"/>
                    </a:cubicBezTo>
                    <a:cubicBezTo>
                      <a:pt x="0" y="55819"/>
                      <a:pt x="2990" y="54237"/>
                      <a:pt x="5780" y="54237"/>
                    </a:cubicBezTo>
                    <a:cubicBezTo>
                      <a:pt x="7176" y="54237"/>
                      <a:pt x="7176" y="54237"/>
                      <a:pt x="8571" y="54237"/>
                    </a:cubicBezTo>
                    <a:lnTo>
                      <a:pt x="8571" y="54237"/>
                    </a:lnTo>
                    <a:lnTo>
                      <a:pt x="8571" y="54237"/>
                    </a:lnTo>
                    <a:lnTo>
                      <a:pt x="8571" y="54237"/>
                    </a:lnTo>
                    <a:cubicBezTo>
                      <a:pt x="60598" y="78192"/>
                      <a:pt x="60598" y="78192"/>
                      <a:pt x="60598" y="78192"/>
                    </a:cubicBezTo>
                    <a:cubicBezTo>
                      <a:pt x="112823" y="54237"/>
                      <a:pt x="112823" y="54237"/>
                      <a:pt x="112823" y="54237"/>
                    </a:cubicBezTo>
                    <a:lnTo>
                      <a:pt x="112823" y="54237"/>
                    </a:lnTo>
                    <a:lnTo>
                      <a:pt x="112823" y="54237"/>
                    </a:lnTo>
                    <a:lnTo>
                      <a:pt x="112823" y="54237"/>
                    </a:lnTo>
                    <a:lnTo>
                      <a:pt x="114219" y="54237"/>
                    </a:lnTo>
                    <a:cubicBezTo>
                      <a:pt x="118405" y="54237"/>
                      <a:pt x="119800" y="55819"/>
                      <a:pt x="119800" y="60564"/>
                    </a:cubicBezTo>
                    <a:cubicBezTo>
                      <a:pt x="119800" y="62146"/>
                      <a:pt x="118405" y="65310"/>
                      <a:pt x="117009" y="65310"/>
                    </a:cubicBezTo>
                    <a:close/>
                    <a:moveTo>
                      <a:pt x="117009" y="38192"/>
                    </a:moveTo>
                    <a:lnTo>
                      <a:pt x="117009" y="38192"/>
                    </a:lnTo>
                    <a:lnTo>
                      <a:pt x="117009" y="38192"/>
                    </a:lnTo>
                    <a:cubicBezTo>
                      <a:pt x="61993" y="63728"/>
                      <a:pt x="61993" y="63728"/>
                      <a:pt x="61993" y="63728"/>
                    </a:cubicBezTo>
                    <a:lnTo>
                      <a:pt x="61993" y="63728"/>
                    </a:lnTo>
                    <a:lnTo>
                      <a:pt x="61993" y="63728"/>
                    </a:lnTo>
                    <a:lnTo>
                      <a:pt x="61993" y="63728"/>
                    </a:lnTo>
                    <a:lnTo>
                      <a:pt x="60598" y="63728"/>
                    </a:lnTo>
                    <a:cubicBezTo>
                      <a:pt x="59202" y="63728"/>
                      <a:pt x="59202" y="63728"/>
                      <a:pt x="57807" y="63728"/>
                    </a:cubicBezTo>
                    <a:lnTo>
                      <a:pt x="57807" y="63728"/>
                    </a:lnTo>
                    <a:lnTo>
                      <a:pt x="57807" y="63728"/>
                    </a:lnTo>
                    <a:lnTo>
                      <a:pt x="57807" y="63728"/>
                    </a:lnTo>
                    <a:cubicBezTo>
                      <a:pt x="2990" y="38192"/>
                      <a:pt x="2990" y="38192"/>
                      <a:pt x="2990" y="38192"/>
                    </a:cubicBezTo>
                    <a:lnTo>
                      <a:pt x="2990" y="38192"/>
                    </a:lnTo>
                    <a:cubicBezTo>
                      <a:pt x="1395" y="36610"/>
                      <a:pt x="0" y="35028"/>
                      <a:pt x="0" y="31864"/>
                    </a:cubicBezTo>
                    <a:cubicBezTo>
                      <a:pt x="0" y="30282"/>
                      <a:pt x="1395" y="27118"/>
                      <a:pt x="2990" y="27118"/>
                    </a:cubicBezTo>
                    <a:lnTo>
                      <a:pt x="2990" y="27118"/>
                    </a:lnTo>
                    <a:cubicBezTo>
                      <a:pt x="57807" y="1581"/>
                      <a:pt x="57807" y="1581"/>
                      <a:pt x="57807" y="1581"/>
                    </a:cubicBezTo>
                    <a:lnTo>
                      <a:pt x="57807" y="1581"/>
                    </a:lnTo>
                    <a:lnTo>
                      <a:pt x="57807" y="1581"/>
                    </a:lnTo>
                    <a:lnTo>
                      <a:pt x="57807" y="1581"/>
                    </a:lnTo>
                    <a:cubicBezTo>
                      <a:pt x="59202" y="0"/>
                      <a:pt x="59202" y="0"/>
                      <a:pt x="60598" y="0"/>
                    </a:cubicBezTo>
                    <a:cubicBezTo>
                      <a:pt x="60598" y="0"/>
                      <a:pt x="61993" y="0"/>
                      <a:pt x="61993" y="1581"/>
                    </a:cubicBezTo>
                    <a:lnTo>
                      <a:pt x="61993" y="1581"/>
                    </a:lnTo>
                    <a:lnTo>
                      <a:pt x="61993" y="1581"/>
                    </a:lnTo>
                    <a:lnTo>
                      <a:pt x="61993" y="1581"/>
                    </a:lnTo>
                    <a:cubicBezTo>
                      <a:pt x="117009" y="27118"/>
                      <a:pt x="117009" y="27118"/>
                      <a:pt x="117009" y="27118"/>
                    </a:cubicBezTo>
                    <a:lnTo>
                      <a:pt x="117009" y="27118"/>
                    </a:lnTo>
                    <a:cubicBezTo>
                      <a:pt x="118405" y="27118"/>
                      <a:pt x="119800" y="30282"/>
                      <a:pt x="119800" y="31864"/>
                    </a:cubicBezTo>
                    <a:cubicBezTo>
                      <a:pt x="119800" y="35028"/>
                      <a:pt x="118405" y="36610"/>
                      <a:pt x="117009" y="38192"/>
                    </a:cubicBezTo>
                    <a:close/>
                    <a:moveTo>
                      <a:pt x="5780" y="81355"/>
                    </a:moveTo>
                    <a:lnTo>
                      <a:pt x="5780" y="81355"/>
                    </a:lnTo>
                    <a:cubicBezTo>
                      <a:pt x="7176" y="81355"/>
                      <a:pt x="7176" y="81355"/>
                      <a:pt x="8571" y="81355"/>
                    </a:cubicBezTo>
                    <a:lnTo>
                      <a:pt x="8571" y="81355"/>
                    </a:lnTo>
                    <a:lnTo>
                      <a:pt x="8571" y="81355"/>
                    </a:lnTo>
                    <a:lnTo>
                      <a:pt x="8571" y="81355"/>
                    </a:lnTo>
                    <a:cubicBezTo>
                      <a:pt x="60598" y="106892"/>
                      <a:pt x="60598" y="106892"/>
                      <a:pt x="60598" y="106892"/>
                    </a:cubicBezTo>
                    <a:cubicBezTo>
                      <a:pt x="112823" y="81355"/>
                      <a:pt x="112823" y="81355"/>
                      <a:pt x="112823" y="81355"/>
                    </a:cubicBezTo>
                    <a:lnTo>
                      <a:pt x="112823" y="81355"/>
                    </a:lnTo>
                    <a:lnTo>
                      <a:pt x="112823" y="81355"/>
                    </a:lnTo>
                    <a:lnTo>
                      <a:pt x="112823" y="81355"/>
                    </a:lnTo>
                    <a:lnTo>
                      <a:pt x="114219" y="81355"/>
                    </a:lnTo>
                    <a:cubicBezTo>
                      <a:pt x="118405" y="81355"/>
                      <a:pt x="119800" y="84519"/>
                      <a:pt x="119800" y="87683"/>
                    </a:cubicBezTo>
                    <a:cubicBezTo>
                      <a:pt x="119800" y="91073"/>
                      <a:pt x="118405" y="92655"/>
                      <a:pt x="117009" y="94237"/>
                    </a:cubicBezTo>
                    <a:lnTo>
                      <a:pt x="117009" y="94237"/>
                    </a:lnTo>
                    <a:cubicBezTo>
                      <a:pt x="61993" y="119774"/>
                      <a:pt x="61993" y="119774"/>
                      <a:pt x="61993" y="119774"/>
                    </a:cubicBezTo>
                    <a:lnTo>
                      <a:pt x="61993" y="119774"/>
                    </a:lnTo>
                    <a:lnTo>
                      <a:pt x="61993" y="119774"/>
                    </a:lnTo>
                    <a:lnTo>
                      <a:pt x="61993" y="119774"/>
                    </a:lnTo>
                    <a:lnTo>
                      <a:pt x="60598" y="119774"/>
                    </a:lnTo>
                    <a:cubicBezTo>
                      <a:pt x="59202" y="119774"/>
                      <a:pt x="59202" y="119774"/>
                      <a:pt x="57807" y="119774"/>
                    </a:cubicBezTo>
                    <a:lnTo>
                      <a:pt x="57807" y="119774"/>
                    </a:lnTo>
                    <a:lnTo>
                      <a:pt x="57807" y="119774"/>
                    </a:lnTo>
                    <a:lnTo>
                      <a:pt x="57807" y="119774"/>
                    </a:lnTo>
                    <a:cubicBezTo>
                      <a:pt x="2990" y="94237"/>
                      <a:pt x="2990" y="94237"/>
                      <a:pt x="2990" y="94237"/>
                    </a:cubicBezTo>
                    <a:lnTo>
                      <a:pt x="2990" y="94237"/>
                    </a:lnTo>
                    <a:cubicBezTo>
                      <a:pt x="1395" y="92655"/>
                      <a:pt x="0" y="91073"/>
                      <a:pt x="0" y="87683"/>
                    </a:cubicBezTo>
                    <a:cubicBezTo>
                      <a:pt x="0" y="84519"/>
                      <a:pt x="2990" y="81355"/>
                      <a:pt x="5780" y="81355"/>
                    </a:cubicBezTo>
                    <a:close/>
                  </a:path>
                </a:pathLst>
              </a:custGeom>
              <a:solidFill>
                <a:srgbClr val="8EBAE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775CF4F-0452-4A91-8142-A3B98B53E5E6}"/>
              </a:ext>
            </a:extLst>
          </p:cNvPr>
          <p:cNvGrpSpPr/>
          <p:nvPr/>
        </p:nvGrpSpPr>
        <p:grpSpPr>
          <a:xfrm>
            <a:off x="444503" y="3700921"/>
            <a:ext cx="3457175" cy="929720"/>
            <a:chOff x="649333" y="4435229"/>
            <a:chExt cx="3457175" cy="929720"/>
          </a:xfrm>
        </p:grpSpPr>
        <p:sp>
          <p:nvSpPr>
            <p:cNvPr id="30" name="îṥļíďe">
              <a:extLst>
                <a:ext uri="{FF2B5EF4-FFF2-40B4-BE49-F238E27FC236}">
                  <a16:creationId xmlns:a16="http://schemas.microsoft.com/office/drawing/2014/main" id="{194EC214-2BE5-4EED-AB09-0257FBFBC2F3}"/>
                </a:ext>
              </a:extLst>
            </p:cNvPr>
            <p:cNvSpPr/>
            <p:nvPr/>
          </p:nvSpPr>
          <p:spPr>
            <a:xfrm>
              <a:off x="649333" y="4840978"/>
              <a:ext cx="2809070" cy="5239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取消了纸档作业</a:t>
              </a:r>
              <a:r>
                <a:rPr lang="en-US" altLang="zh-CN" sz="14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,</a:t>
              </a:r>
              <a:r>
                <a:rPr lang="zh-CN" altLang="en-US" sz="14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实现了自动化签核，提高了数据准确度，并自动汇总成报表</a:t>
              </a:r>
              <a:endParaRPr lang="zh-CN" altLang="en-US" sz="14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ïṣḻíḍè">
              <a:extLst>
                <a:ext uri="{FF2B5EF4-FFF2-40B4-BE49-F238E27FC236}">
                  <a16:creationId xmlns:a16="http://schemas.microsoft.com/office/drawing/2014/main" id="{D5B05BB7-FBB3-4943-878B-C5382C97CA7F}"/>
                </a:ext>
              </a:extLst>
            </p:cNvPr>
            <p:cNvSpPr/>
            <p:nvPr/>
          </p:nvSpPr>
          <p:spPr>
            <a:xfrm>
              <a:off x="649333" y="4435229"/>
              <a:ext cx="2809070" cy="405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</a:t>
              </a: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动化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AB3AACC-BDCD-4E44-8CE8-89482E0DCCBD}"/>
                </a:ext>
              </a:extLst>
            </p:cNvPr>
            <p:cNvGrpSpPr/>
            <p:nvPr/>
          </p:nvGrpSpPr>
          <p:grpSpPr>
            <a:xfrm>
              <a:off x="3584042" y="4672567"/>
              <a:ext cx="522466" cy="522466"/>
              <a:chOff x="3584042" y="4672567"/>
              <a:chExt cx="522466" cy="522466"/>
            </a:xfrm>
          </p:grpSpPr>
          <p:sp>
            <p:nvSpPr>
              <p:cNvPr id="33" name="íşḻiḑè">
                <a:extLst>
                  <a:ext uri="{FF2B5EF4-FFF2-40B4-BE49-F238E27FC236}">
                    <a16:creationId xmlns:a16="http://schemas.microsoft.com/office/drawing/2014/main" id="{17DB5A02-D64E-4E20-80D6-238C55C395ED}"/>
                  </a:ext>
                </a:extLst>
              </p:cNvPr>
              <p:cNvSpPr/>
              <p:nvPr/>
            </p:nvSpPr>
            <p:spPr>
              <a:xfrm>
                <a:off x="3584042" y="4672567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FBEC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îṡľïḋè">
                <a:extLst>
                  <a:ext uri="{FF2B5EF4-FFF2-40B4-BE49-F238E27FC236}">
                    <a16:creationId xmlns:a16="http://schemas.microsoft.com/office/drawing/2014/main" id="{B1E5F859-DF77-4B07-9E71-F80C35B1F28F}"/>
                  </a:ext>
                </a:extLst>
              </p:cNvPr>
              <p:cNvSpPr/>
              <p:nvPr/>
            </p:nvSpPr>
            <p:spPr>
              <a:xfrm>
                <a:off x="3757241" y="4825914"/>
                <a:ext cx="176066" cy="215776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2868" y="119800"/>
                    </a:moveTo>
                    <a:lnTo>
                      <a:pt x="112868" y="119800"/>
                    </a:lnTo>
                    <a:cubicBezTo>
                      <a:pt x="6885" y="119800"/>
                      <a:pt x="6885" y="119800"/>
                      <a:pt x="6885" y="119800"/>
                    </a:cubicBezTo>
                    <a:cubicBezTo>
                      <a:pt x="1721" y="119800"/>
                      <a:pt x="0" y="117004"/>
                      <a:pt x="0" y="114209"/>
                    </a:cubicBezTo>
                    <a:cubicBezTo>
                      <a:pt x="0" y="64891"/>
                      <a:pt x="0" y="64891"/>
                      <a:pt x="0" y="64891"/>
                    </a:cubicBezTo>
                    <a:cubicBezTo>
                      <a:pt x="0" y="62096"/>
                      <a:pt x="1721" y="59101"/>
                      <a:pt x="6885" y="59101"/>
                    </a:cubicBezTo>
                    <a:cubicBezTo>
                      <a:pt x="17213" y="59101"/>
                      <a:pt x="17213" y="59101"/>
                      <a:pt x="17213" y="59101"/>
                    </a:cubicBezTo>
                    <a:cubicBezTo>
                      <a:pt x="17213" y="33743"/>
                      <a:pt x="17213" y="33743"/>
                      <a:pt x="17213" y="33743"/>
                    </a:cubicBezTo>
                    <a:cubicBezTo>
                      <a:pt x="17213" y="13976"/>
                      <a:pt x="36393" y="0"/>
                      <a:pt x="59016" y="0"/>
                    </a:cubicBezTo>
                    <a:cubicBezTo>
                      <a:pt x="83360" y="0"/>
                      <a:pt x="100573" y="13976"/>
                      <a:pt x="100573" y="33743"/>
                    </a:cubicBezTo>
                    <a:cubicBezTo>
                      <a:pt x="100573" y="36539"/>
                      <a:pt x="98852" y="39534"/>
                      <a:pt x="93688" y="39534"/>
                    </a:cubicBezTo>
                    <a:cubicBezTo>
                      <a:pt x="90245" y="39534"/>
                      <a:pt x="86803" y="36539"/>
                      <a:pt x="86803" y="33743"/>
                    </a:cubicBezTo>
                    <a:cubicBezTo>
                      <a:pt x="86803" y="21164"/>
                      <a:pt x="74754" y="11181"/>
                      <a:pt x="59016" y="11181"/>
                    </a:cubicBezTo>
                    <a:cubicBezTo>
                      <a:pt x="43278" y="11181"/>
                      <a:pt x="31229" y="21164"/>
                      <a:pt x="31229" y="33743"/>
                    </a:cubicBezTo>
                    <a:cubicBezTo>
                      <a:pt x="31229" y="59101"/>
                      <a:pt x="31229" y="59101"/>
                      <a:pt x="31229" y="59101"/>
                    </a:cubicBezTo>
                    <a:cubicBezTo>
                      <a:pt x="86803" y="59101"/>
                      <a:pt x="86803" y="59101"/>
                      <a:pt x="86803" y="59101"/>
                    </a:cubicBezTo>
                    <a:cubicBezTo>
                      <a:pt x="100573" y="59101"/>
                      <a:pt x="100573" y="59101"/>
                      <a:pt x="100573" y="59101"/>
                    </a:cubicBezTo>
                    <a:cubicBezTo>
                      <a:pt x="112868" y="59101"/>
                      <a:pt x="112868" y="59101"/>
                      <a:pt x="112868" y="59101"/>
                    </a:cubicBezTo>
                    <a:cubicBezTo>
                      <a:pt x="116311" y="59101"/>
                      <a:pt x="119754" y="62096"/>
                      <a:pt x="119754" y="64891"/>
                    </a:cubicBezTo>
                    <a:cubicBezTo>
                      <a:pt x="119754" y="114209"/>
                      <a:pt x="119754" y="114209"/>
                      <a:pt x="119754" y="114209"/>
                    </a:cubicBezTo>
                    <a:cubicBezTo>
                      <a:pt x="119754" y="117004"/>
                      <a:pt x="116311" y="119800"/>
                      <a:pt x="112868" y="119800"/>
                    </a:cubicBezTo>
                    <a:close/>
                    <a:moveTo>
                      <a:pt x="59016" y="70482"/>
                    </a:moveTo>
                    <a:lnTo>
                      <a:pt x="59016" y="70482"/>
                    </a:lnTo>
                    <a:cubicBezTo>
                      <a:pt x="52131" y="70482"/>
                      <a:pt x="45000" y="76073"/>
                      <a:pt x="45000" y="81863"/>
                    </a:cubicBezTo>
                    <a:cubicBezTo>
                      <a:pt x="45000" y="86056"/>
                      <a:pt x="48688" y="90249"/>
                      <a:pt x="52131" y="91647"/>
                    </a:cubicBezTo>
                    <a:cubicBezTo>
                      <a:pt x="52131" y="103028"/>
                      <a:pt x="52131" y="103028"/>
                      <a:pt x="52131" y="103028"/>
                    </a:cubicBezTo>
                    <a:cubicBezTo>
                      <a:pt x="52131" y="105823"/>
                      <a:pt x="55573" y="108618"/>
                      <a:pt x="59016" y="108618"/>
                    </a:cubicBezTo>
                    <a:cubicBezTo>
                      <a:pt x="64180" y="108618"/>
                      <a:pt x="65901" y="105823"/>
                      <a:pt x="65901" y="103028"/>
                    </a:cubicBezTo>
                    <a:cubicBezTo>
                      <a:pt x="65901" y="91647"/>
                      <a:pt x="65901" y="91647"/>
                      <a:pt x="65901" y="91647"/>
                    </a:cubicBezTo>
                    <a:cubicBezTo>
                      <a:pt x="71065" y="90249"/>
                      <a:pt x="72786" y="86056"/>
                      <a:pt x="72786" y="81863"/>
                    </a:cubicBezTo>
                    <a:cubicBezTo>
                      <a:pt x="72786" y="76073"/>
                      <a:pt x="67622" y="70482"/>
                      <a:pt x="59016" y="70482"/>
                    </a:cubicBezTo>
                    <a:close/>
                  </a:path>
                </a:pathLst>
              </a:custGeom>
              <a:solidFill>
                <a:srgbClr val="8EBAE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4FFB9D0-636B-4D36-B213-B2849057E304}"/>
              </a:ext>
            </a:extLst>
          </p:cNvPr>
          <p:cNvGrpSpPr/>
          <p:nvPr/>
        </p:nvGrpSpPr>
        <p:grpSpPr>
          <a:xfrm>
            <a:off x="7745675" y="861487"/>
            <a:ext cx="3520025" cy="932125"/>
            <a:chOff x="7965942" y="1988637"/>
            <a:chExt cx="3520025" cy="929718"/>
          </a:xfrm>
        </p:grpSpPr>
        <p:sp>
          <p:nvSpPr>
            <p:cNvPr id="36" name="išļiḍè">
              <a:extLst>
                <a:ext uri="{FF2B5EF4-FFF2-40B4-BE49-F238E27FC236}">
                  <a16:creationId xmlns:a16="http://schemas.microsoft.com/office/drawing/2014/main" id="{A9EC1242-8743-4B4D-827E-4300E58B2930}"/>
                </a:ext>
              </a:extLst>
            </p:cNvPr>
            <p:cNvSpPr/>
            <p:nvPr/>
          </p:nvSpPr>
          <p:spPr>
            <a:xfrm>
              <a:off x="8544045" y="2394384"/>
              <a:ext cx="2941922" cy="5239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没有使用系统前，至少需要</a:t>
              </a:r>
              <a:r>
                <a:rPr lang="en-US" altLang="zh-CN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个人力去跑纸档签核单，需要各级主管审批</a:t>
              </a:r>
              <a:endParaRPr lang="zh-CN" altLang="en-US" sz="14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išľíḓê">
              <a:extLst>
                <a:ext uri="{FF2B5EF4-FFF2-40B4-BE49-F238E27FC236}">
                  <a16:creationId xmlns:a16="http://schemas.microsoft.com/office/drawing/2014/main" id="{7AEAE74E-1E23-4852-81E8-E109761FD084}"/>
                </a:ext>
              </a:extLst>
            </p:cNvPr>
            <p:cNvSpPr/>
            <p:nvPr/>
          </p:nvSpPr>
          <p:spPr>
            <a:xfrm>
              <a:off x="8544045" y="1988637"/>
              <a:ext cx="2941922" cy="405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人力成本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053B9C5-64EA-4114-90CE-ABDB84B77931}"/>
                </a:ext>
              </a:extLst>
            </p:cNvPr>
            <p:cNvGrpSpPr/>
            <p:nvPr/>
          </p:nvGrpSpPr>
          <p:grpSpPr>
            <a:xfrm>
              <a:off x="7965942" y="2266387"/>
              <a:ext cx="522466" cy="522466"/>
              <a:chOff x="7965942" y="2266387"/>
              <a:chExt cx="522466" cy="522466"/>
            </a:xfrm>
          </p:grpSpPr>
          <p:sp>
            <p:nvSpPr>
              <p:cNvPr id="39" name="îṥļide">
                <a:extLst>
                  <a:ext uri="{FF2B5EF4-FFF2-40B4-BE49-F238E27FC236}">
                    <a16:creationId xmlns:a16="http://schemas.microsoft.com/office/drawing/2014/main" id="{777CE2EF-E681-4574-8101-1F6E90D49E18}"/>
                  </a:ext>
                </a:extLst>
              </p:cNvPr>
              <p:cNvSpPr/>
              <p:nvPr/>
            </p:nvSpPr>
            <p:spPr>
              <a:xfrm>
                <a:off x="7965942" y="2266387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257F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íSḷíḑê">
                <a:extLst>
                  <a:ext uri="{FF2B5EF4-FFF2-40B4-BE49-F238E27FC236}">
                    <a16:creationId xmlns:a16="http://schemas.microsoft.com/office/drawing/2014/main" id="{25C3ED48-9023-489C-B1AE-F6506AB7F594}"/>
                  </a:ext>
                </a:extLst>
              </p:cNvPr>
              <p:cNvSpPr/>
              <p:nvPr/>
            </p:nvSpPr>
            <p:spPr>
              <a:xfrm>
                <a:off x="8133272" y="2424492"/>
                <a:ext cx="217308" cy="20626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9800" y="63664"/>
                    </a:moveTo>
                    <a:lnTo>
                      <a:pt x="119800" y="63664"/>
                    </a:lnTo>
                    <a:cubicBezTo>
                      <a:pt x="119800" y="66596"/>
                      <a:pt x="118405" y="69528"/>
                      <a:pt x="114219" y="69528"/>
                    </a:cubicBezTo>
                    <a:cubicBezTo>
                      <a:pt x="112823" y="69528"/>
                      <a:pt x="111428" y="68062"/>
                      <a:pt x="111428" y="68062"/>
                    </a:cubicBezTo>
                    <a:lnTo>
                      <a:pt x="111428" y="68062"/>
                    </a:lnTo>
                    <a:cubicBezTo>
                      <a:pt x="60598" y="14869"/>
                      <a:pt x="60598" y="14869"/>
                      <a:pt x="60598" y="14869"/>
                    </a:cubicBezTo>
                    <a:lnTo>
                      <a:pt x="60598" y="14869"/>
                    </a:lnTo>
                    <a:lnTo>
                      <a:pt x="60598" y="14869"/>
                    </a:lnTo>
                    <a:lnTo>
                      <a:pt x="60598" y="14869"/>
                    </a:lnTo>
                    <a:cubicBezTo>
                      <a:pt x="9966" y="68062"/>
                      <a:pt x="9966" y="68062"/>
                      <a:pt x="9966" y="68062"/>
                    </a:cubicBezTo>
                    <a:lnTo>
                      <a:pt x="9966" y="68062"/>
                    </a:lnTo>
                    <a:cubicBezTo>
                      <a:pt x="8571" y="68062"/>
                      <a:pt x="7176" y="69528"/>
                      <a:pt x="5780" y="69528"/>
                    </a:cubicBezTo>
                    <a:cubicBezTo>
                      <a:pt x="2990" y="69528"/>
                      <a:pt x="0" y="66596"/>
                      <a:pt x="0" y="63664"/>
                    </a:cubicBezTo>
                    <a:cubicBezTo>
                      <a:pt x="0" y="62198"/>
                      <a:pt x="0" y="60523"/>
                      <a:pt x="1395" y="59057"/>
                    </a:cubicBezTo>
                    <a:cubicBezTo>
                      <a:pt x="56411" y="1465"/>
                      <a:pt x="56411" y="1465"/>
                      <a:pt x="56411" y="1465"/>
                    </a:cubicBezTo>
                    <a:cubicBezTo>
                      <a:pt x="57807" y="0"/>
                      <a:pt x="59202" y="0"/>
                      <a:pt x="60598" y="0"/>
                    </a:cubicBez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cubicBezTo>
                      <a:pt x="61993" y="0"/>
                      <a:pt x="63388" y="1465"/>
                      <a:pt x="64784" y="1465"/>
                    </a:cubicBezTo>
                    <a:lnTo>
                      <a:pt x="64784" y="1465"/>
                    </a:lnTo>
                    <a:cubicBezTo>
                      <a:pt x="85913" y="25130"/>
                      <a:pt x="85913" y="25130"/>
                      <a:pt x="85913" y="25130"/>
                    </a:cubicBezTo>
                    <a:cubicBezTo>
                      <a:pt x="85913" y="19267"/>
                      <a:pt x="85913" y="19267"/>
                      <a:pt x="85913" y="19267"/>
                    </a:cubicBezTo>
                    <a:cubicBezTo>
                      <a:pt x="85913" y="16335"/>
                      <a:pt x="88903" y="13193"/>
                      <a:pt x="91694" y="13193"/>
                    </a:cubicBezTo>
                    <a:cubicBezTo>
                      <a:pt x="95880" y="13193"/>
                      <a:pt x="97275" y="16335"/>
                      <a:pt x="97275" y="19267"/>
                    </a:cubicBezTo>
                    <a:cubicBezTo>
                      <a:pt x="97275" y="36858"/>
                      <a:pt x="97275" y="36858"/>
                      <a:pt x="97275" y="36858"/>
                    </a:cubicBezTo>
                    <a:cubicBezTo>
                      <a:pt x="118405" y="59057"/>
                      <a:pt x="118405" y="59057"/>
                      <a:pt x="118405" y="59057"/>
                    </a:cubicBezTo>
                    <a:lnTo>
                      <a:pt x="118405" y="59057"/>
                    </a:lnTo>
                    <a:cubicBezTo>
                      <a:pt x="119800" y="60523"/>
                      <a:pt x="119800" y="62198"/>
                      <a:pt x="119800" y="63664"/>
                    </a:cubicBezTo>
                    <a:close/>
                    <a:moveTo>
                      <a:pt x="108438" y="72460"/>
                    </a:moveTo>
                    <a:lnTo>
                      <a:pt x="108438" y="72460"/>
                    </a:lnTo>
                    <a:cubicBezTo>
                      <a:pt x="108438" y="90261"/>
                      <a:pt x="108438" y="90261"/>
                      <a:pt x="108438" y="90261"/>
                    </a:cubicBezTo>
                    <a:cubicBezTo>
                      <a:pt x="108438" y="99057"/>
                      <a:pt x="108438" y="99057"/>
                      <a:pt x="108438" y="99057"/>
                    </a:cubicBezTo>
                    <a:cubicBezTo>
                      <a:pt x="108438" y="113926"/>
                      <a:pt x="108438" y="113926"/>
                      <a:pt x="108438" y="113926"/>
                    </a:cubicBezTo>
                    <a:cubicBezTo>
                      <a:pt x="108438" y="118324"/>
                      <a:pt x="107043" y="119790"/>
                      <a:pt x="102857" y="119790"/>
                    </a:cubicBezTo>
                    <a:cubicBezTo>
                      <a:pt x="91694" y="119790"/>
                      <a:pt x="91694" y="119790"/>
                      <a:pt x="91694" y="119790"/>
                    </a:cubicBezTo>
                    <a:cubicBezTo>
                      <a:pt x="91694" y="72460"/>
                      <a:pt x="91694" y="72460"/>
                      <a:pt x="91694" y="72460"/>
                    </a:cubicBezTo>
                    <a:cubicBezTo>
                      <a:pt x="69169" y="72460"/>
                      <a:pt x="69169" y="72460"/>
                      <a:pt x="69169" y="72460"/>
                    </a:cubicBezTo>
                    <a:cubicBezTo>
                      <a:pt x="69169" y="119790"/>
                      <a:pt x="69169" y="119790"/>
                      <a:pt x="69169" y="119790"/>
                    </a:cubicBezTo>
                    <a:cubicBezTo>
                      <a:pt x="16943" y="119790"/>
                      <a:pt x="16943" y="119790"/>
                      <a:pt x="16943" y="119790"/>
                    </a:cubicBezTo>
                    <a:cubicBezTo>
                      <a:pt x="14152" y="119790"/>
                      <a:pt x="11362" y="118324"/>
                      <a:pt x="11362" y="113926"/>
                    </a:cubicBezTo>
                    <a:cubicBezTo>
                      <a:pt x="11362" y="99057"/>
                      <a:pt x="11362" y="99057"/>
                      <a:pt x="11362" y="99057"/>
                    </a:cubicBezTo>
                    <a:cubicBezTo>
                      <a:pt x="11362" y="90261"/>
                      <a:pt x="11362" y="90261"/>
                      <a:pt x="11362" y="90261"/>
                    </a:cubicBezTo>
                    <a:cubicBezTo>
                      <a:pt x="11362" y="72460"/>
                      <a:pt x="11362" y="72460"/>
                      <a:pt x="11362" y="72460"/>
                    </a:cubicBezTo>
                    <a:cubicBezTo>
                      <a:pt x="60598" y="22198"/>
                      <a:pt x="60598" y="22198"/>
                      <a:pt x="60598" y="22198"/>
                    </a:cubicBezTo>
                    <a:lnTo>
                      <a:pt x="108438" y="72460"/>
                    </a:lnTo>
                    <a:close/>
                    <a:moveTo>
                      <a:pt x="50830" y="72460"/>
                    </a:moveTo>
                    <a:lnTo>
                      <a:pt x="50830" y="72460"/>
                    </a:lnTo>
                    <a:cubicBezTo>
                      <a:pt x="28305" y="72460"/>
                      <a:pt x="28305" y="72460"/>
                      <a:pt x="28305" y="72460"/>
                    </a:cubicBezTo>
                    <a:cubicBezTo>
                      <a:pt x="28305" y="96125"/>
                      <a:pt x="28305" y="96125"/>
                      <a:pt x="28305" y="96125"/>
                    </a:cubicBezTo>
                    <a:cubicBezTo>
                      <a:pt x="50830" y="96125"/>
                      <a:pt x="50830" y="96125"/>
                      <a:pt x="50830" y="96125"/>
                    </a:cubicBezTo>
                    <a:lnTo>
                      <a:pt x="50830" y="72460"/>
                    </a:lnTo>
                    <a:close/>
                  </a:path>
                </a:pathLst>
              </a:custGeom>
              <a:solidFill>
                <a:srgbClr val="1257F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F4D0828-F677-4056-8432-5DBBDAD143CA}"/>
              </a:ext>
            </a:extLst>
          </p:cNvPr>
          <p:cNvGrpSpPr/>
          <p:nvPr/>
        </p:nvGrpSpPr>
        <p:grpSpPr>
          <a:xfrm>
            <a:off x="7762780" y="3638241"/>
            <a:ext cx="3520025" cy="1501194"/>
            <a:chOff x="7965942" y="4432981"/>
            <a:chExt cx="3520025" cy="1501194"/>
          </a:xfrm>
        </p:grpSpPr>
        <p:sp>
          <p:nvSpPr>
            <p:cNvPr id="48" name="îṧľîdê">
              <a:extLst>
                <a:ext uri="{FF2B5EF4-FFF2-40B4-BE49-F238E27FC236}">
                  <a16:creationId xmlns:a16="http://schemas.microsoft.com/office/drawing/2014/main" id="{97DFC16C-32ED-4183-8107-13B8077909F5}"/>
                </a:ext>
              </a:extLst>
            </p:cNvPr>
            <p:cNvSpPr/>
            <p:nvPr/>
          </p:nvSpPr>
          <p:spPr>
            <a:xfrm>
              <a:off x="8544045" y="4848083"/>
              <a:ext cx="2941922" cy="10860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b="1" dirty="0" smtClean="0">
                  <a:solidFill>
                    <a:srgbClr val="0000FF"/>
                  </a:solidFill>
                </a:rPr>
                <a:t>1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年节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约金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额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(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人力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)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 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=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节约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人力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*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4000/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月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*12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个月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=1*4000*12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=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48000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RMB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 smtClean="0">
                  <a:solidFill>
                    <a:srgbClr val="0000FF"/>
                  </a:solidFill>
                </a:rPr>
                <a:t>1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年节约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金额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(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时间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)=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节约</a:t>
              </a:r>
              <a:r>
                <a:rPr lang="zh-TW" altLang="zh-TW" sz="1400" b="1" dirty="0" smtClean="0">
                  <a:solidFill>
                    <a:srgbClr val="0000FF"/>
                  </a:solidFill>
                </a:rPr>
                <a:t>时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间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人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均薪资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*12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个月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</a:t>
              </a:r>
              <a:r>
                <a:rPr lang="zh-TW" altLang="zh-TW" sz="1400" b="1" dirty="0" smtClean="0">
                  <a:solidFill>
                    <a:srgbClr val="0000FF"/>
                  </a:solidFill>
                </a:rPr>
                <a:t>人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数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 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=0.5*23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元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/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小時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*21.75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天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/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月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*12*125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=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375187.5</a:t>
              </a:r>
              <a:r>
                <a:rPr lang="en-US" altLang="zh-CN" b="1" dirty="0" smtClean="0">
                  <a:solidFill>
                    <a:srgbClr val="0000FF"/>
                  </a:solidFill>
                </a:rPr>
                <a:t>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RMB</a:t>
              </a:r>
              <a:endParaRPr lang="zh-TW" altLang="zh-TW" sz="1400" b="1" dirty="0">
                <a:solidFill>
                  <a:srgbClr val="0000FF"/>
                </a:solidFill>
              </a:endParaRPr>
            </a:p>
            <a:p>
              <a:endParaRPr lang="en-US" altLang="zh-CN" sz="1200" dirty="0">
                <a:solidFill>
                  <a:srgbClr val="0000FF"/>
                </a:solidFill>
              </a:endParaRPr>
            </a:p>
            <a:p>
              <a:pPr>
                <a:lnSpc>
                  <a:spcPct val="150000"/>
                </a:lnSpc>
              </a:pPr>
              <a:endParaRPr lang="zh-CN" altLang="en-US" sz="12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ïṣ1iḓe">
              <a:extLst>
                <a:ext uri="{FF2B5EF4-FFF2-40B4-BE49-F238E27FC236}">
                  <a16:creationId xmlns:a16="http://schemas.microsoft.com/office/drawing/2014/main" id="{F00529C3-59E6-41D4-850F-2117B779AD37}"/>
                </a:ext>
              </a:extLst>
            </p:cNvPr>
            <p:cNvSpPr/>
            <p:nvPr/>
          </p:nvSpPr>
          <p:spPr>
            <a:xfrm>
              <a:off x="8544045" y="4432981"/>
              <a:ext cx="2941922" cy="4151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</a:t>
              </a: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济成本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5B74FFA5-6CE4-458F-8E60-B467A20C795D}"/>
                </a:ext>
              </a:extLst>
            </p:cNvPr>
            <p:cNvGrpSpPr/>
            <p:nvPr/>
          </p:nvGrpSpPr>
          <p:grpSpPr>
            <a:xfrm>
              <a:off x="7965942" y="4672567"/>
              <a:ext cx="522466" cy="522466"/>
              <a:chOff x="7965942" y="4672567"/>
              <a:chExt cx="522466" cy="522466"/>
            </a:xfrm>
          </p:grpSpPr>
          <p:sp>
            <p:nvSpPr>
              <p:cNvPr id="51" name="ïS1iďé">
                <a:extLst>
                  <a:ext uri="{FF2B5EF4-FFF2-40B4-BE49-F238E27FC236}">
                    <a16:creationId xmlns:a16="http://schemas.microsoft.com/office/drawing/2014/main" id="{E4FEB158-D2F8-4354-A570-002084CD39E1}"/>
                  </a:ext>
                </a:extLst>
              </p:cNvPr>
              <p:cNvSpPr/>
              <p:nvPr/>
            </p:nvSpPr>
            <p:spPr>
              <a:xfrm>
                <a:off x="7965942" y="4672567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257F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îs1îďè">
                <a:extLst>
                  <a:ext uri="{FF2B5EF4-FFF2-40B4-BE49-F238E27FC236}">
                    <a16:creationId xmlns:a16="http://schemas.microsoft.com/office/drawing/2014/main" id="{223D15EA-ED37-437F-8EDE-D2E28718F075}"/>
                  </a:ext>
                </a:extLst>
              </p:cNvPr>
              <p:cNvSpPr/>
              <p:nvPr/>
            </p:nvSpPr>
            <p:spPr>
              <a:xfrm>
                <a:off x="8153890" y="4825914"/>
                <a:ext cx="176066" cy="215776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2868" y="119800"/>
                    </a:moveTo>
                    <a:lnTo>
                      <a:pt x="112868" y="119800"/>
                    </a:lnTo>
                    <a:cubicBezTo>
                      <a:pt x="6885" y="119800"/>
                      <a:pt x="6885" y="119800"/>
                      <a:pt x="6885" y="119800"/>
                    </a:cubicBezTo>
                    <a:cubicBezTo>
                      <a:pt x="1721" y="119800"/>
                      <a:pt x="0" y="117004"/>
                      <a:pt x="0" y="114209"/>
                    </a:cubicBezTo>
                    <a:cubicBezTo>
                      <a:pt x="0" y="64891"/>
                      <a:pt x="0" y="64891"/>
                      <a:pt x="0" y="64891"/>
                    </a:cubicBezTo>
                    <a:cubicBezTo>
                      <a:pt x="0" y="62096"/>
                      <a:pt x="1721" y="59101"/>
                      <a:pt x="6885" y="59101"/>
                    </a:cubicBezTo>
                    <a:cubicBezTo>
                      <a:pt x="17213" y="59101"/>
                      <a:pt x="17213" y="59101"/>
                      <a:pt x="17213" y="59101"/>
                    </a:cubicBezTo>
                    <a:cubicBezTo>
                      <a:pt x="17213" y="33743"/>
                      <a:pt x="17213" y="33743"/>
                      <a:pt x="17213" y="33743"/>
                    </a:cubicBezTo>
                    <a:cubicBezTo>
                      <a:pt x="17213" y="13976"/>
                      <a:pt x="36393" y="0"/>
                      <a:pt x="59016" y="0"/>
                    </a:cubicBezTo>
                    <a:cubicBezTo>
                      <a:pt x="83360" y="0"/>
                      <a:pt x="100573" y="13976"/>
                      <a:pt x="100573" y="33743"/>
                    </a:cubicBezTo>
                    <a:cubicBezTo>
                      <a:pt x="100573" y="36539"/>
                      <a:pt x="98852" y="39534"/>
                      <a:pt x="93688" y="39534"/>
                    </a:cubicBezTo>
                    <a:cubicBezTo>
                      <a:pt x="90245" y="39534"/>
                      <a:pt x="86803" y="36539"/>
                      <a:pt x="86803" y="33743"/>
                    </a:cubicBezTo>
                    <a:cubicBezTo>
                      <a:pt x="86803" y="21164"/>
                      <a:pt x="74754" y="11181"/>
                      <a:pt x="59016" y="11181"/>
                    </a:cubicBezTo>
                    <a:cubicBezTo>
                      <a:pt x="43278" y="11181"/>
                      <a:pt x="31229" y="21164"/>
                      <a:pt x="31229" y="33743"/>
                    </a:cubicBezTo>
                    <a:cubicBezTo>
                      <a:pt x="31229" y="59101"/>
                      <a:pt x="31229" y="59101"/>
                      <a:pt x="31229" y="59101"/>
                    </a:cubicBezTo>
                    <a:cubicBezTo>
                      <a:pt x="86803" y="59101"/>
                      <a:pt x="86803" y="59101"/>
                      <a:pt x="86803" y="59101"/>
                    </a:cubicBezTo>
                    <a:cubicBezTo>
                      <a:pt x="100573" y="59101"/>
                      <a:pt x="100573" y="59101"/>
                      <a:pt x="100573" y="59101"/>
                    </a:cubicBezTo>
                    <a:cubicBezTo>
                      <a:pt x="112868" y="59101"/>
                      <a:pt x="112868" y="59101"/>
                      <a:pt x="112868" y="59101"/>
                    </a:cubicBezTo>
                    <a:cubicBezTo>
                      <a:pt x="116311" y="59101"/>
                      <a:pt x="119754" y="62096"/>
                      <a:pt x="119754" y="64891"/>
                    </a:cubicBezTo>
                    <a:cubicBezTo>
                      <a:pt x="119754" y="114209"/>
                      <a:pt x="119754" y="114209"/>
                      <a:pt x="119754" y="114209"/>
                    </a:cubicBezTo>
                    <a:cubicBezTo>
                      <a:pt x="119754" y="117004"/>
                      <a:pt x="116311" y="119800"/>
                      <a:pt x="112868" y="119800"/>
                    </a:cubicBezTo>
                    <a:close/>
                    <a:moveTo>
                      <a:pt x="59016" y="70482"/>
                    </a:moveTo>
                    <a:lnTo>
                      <a:pt x="59016" y="70482"/>
                    </a:lnTo>
                    <a:cubicBezTo>
                      <a:pt x="52131" y="70482"/>
                      <a:pt x="45000" y="76073"/>
                      <a:pt x="45000" y="81863"/>
                    </a:cubicBezTo>
                    <a:cubicBezTo>
                      <a:pt x="45000" y="86056"/>
                      <a:pt x="48688" y="90249"/>
                      <a:pt x="52131" y="91647"/>
                    </a:cubicBezTo>
                    <a:cubicBezTo>
                      <a:pt x="52131" y="103028"/>
                      <a:pt x="52131" y="103028"/>
                      <a:pt x="52131" y="103028"/>
                    </a:cubicBezTo>
                    <a:cubicBezTo>
                      <a:pt x="52131" y="105823"/>
                      <a:pt x="55573" y="108618"/>
                      <a:pt x="59016" y="108618"/>
                    </a:cubicBezTo>
                    <a:cubicBezTo>
                      <a:pt x="64180" y="108618"/>
                      <a:pt x="65901" y="105823"/>
                      <a:pt x="65901" y="103028"/>
                    </a:cubicBezTo>
                    <a:cubicBezTo>
                      <a:pt x="65901" y="91647"/>
                      <a:pt x="65901" y="91647"/>
                      <a:pt x="65901" y="91647"/>
                    </a:cubicBezTo>
                    <a:cubicBezTo>
                      <a:pt x="71065" y="90249"/>
                      <a:pt x="72786" y="86056"/>
                      <a:pt x="72786" y="81863"/>
                    </a:cubicBezTo>
                    <a:cubicBezTo>
                      <a:pt x="72786" y="76073"/>
                      <a:pt x="67622" y="70482"/>
                      <a:pt x="59016" y="70482"/>
                    </a:cubicBezTo>
                    <a:close/>
                  </a:path>
                </a:pathLst>
              </a:custGeom>
              <a:solidFill>
                <a:srgbClr val="1257F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6" name="群組 65"/>
          <p:cNvGrpSpPr/>
          <p:nvPr/>
        </p:nvGrpSpPr>
        <p:grpSpPr>
          <a:xfrm>
            <a:off x="7741103" y="2306959"/>
            <a:ext cx="3520025" cy="916848"/>
            <a:chOff x="7870478" y="2571643"/>
            <a:chExt cx="3520025" cy="91684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0E6C5C4-A690-4094-8C67-9D477C1E9DA2}"/>
                </a:ext>
              </a:extLst>
            </p:cNvPr>
            <p:cNvGrpSpPr/>
            <p:nvPr/>
          </p:nvGrpSpPr>
          <p:grpSpPr>
            <a:xfrm>
              <a:off x="7870478" y="2571643"/>
              <a:ext cx="3520025" cy="916848"/>
              <a:chOff x="7965942" y="3172027"/>
              <a:chExt cx="3520025" cy="916848"/>
            </a:xfrm>
          </p:grpSpPr>
          <p:sp>
            <p:nvSpPr>
              <p:cNvPr id="42" name="iṥľîḓé">
                <a:extLst>
                  <a:ext uri="{FF2B5EF4-FFF2-40B4-BE49-F238E27FC236}">
                    <a16:creationId xmlns:a16="http://schemas.microsoft.com/office/drawing/2014/main" id="{6A41A686-FDE8-4FFB-A900-2F440FBAE8BB}"/>
                  </a:ext>
                </a:extLst>
              </p:cNvPr>
              <p:cNvSpPr/>
              <p:nvPr/>
            </p:nvSpPr>
            <p:spPr>
              <a:xfrm>
                <a:off x="8544045" y="3564904"/>
                <a:ext cx="2941922" cy="5239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endParaRPr lang="zh-CN" altLang="en-US" sz="1200" spc="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íṥḷîďe">
                <a:extLst>
                  <a:ext uri="{FF2B5EF4-FFF2-40B4-BE49-F238E27FC236}">
                    <a16:creationId xmlns:a16="http://schemas.microsoft.com/office/drawing/2014/main" id="{AD08BE38-40E7-448A-8904-9795F8C3B7A3}"/>
                  </a:ext>
                </a:extLst>
              </p:cNvPr>
              <p:cNvSpPr/>
              <p:nvPr/>
            </p:nvSpPr>
            <p:spPr>
              <a:xfrm>
                <a:off x="8486261" y="3172027"/>
                <a:ext cx="2941922" cy="3928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</a:t>
                </a:r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间</a:t>
                </a:r>
                <a:r>
                  <a:rPr lang="zh-CN" altLang="en-US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成本</a:t>
                </a:r>
                <a:endPara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1A63ADB-0097-4AED-88F5-511BEA6870AF}"/>
                  </a:ext>
                </a:extLst>
              </p:cNvPr>
              <p:cNvGrpSpPr/>
              <p:nvPr/>
            </p:nvGrpSpPr>
            <p:grpSpPr>
              <a:xfrm>
                <a:off x="7965942" y="3418872"/>
                <a:ext cx="522466" cy="522466"/>
                <a:chOff x="7965942" y="3418872"/>
                <a:chExt cx="522466" cy="522466"/>
              </a:xfrm>
            </p:grpSpPr>
            <p:sp>
              <p:nvSpPr>
                <p:cNvPr id="45" name="í$lîḋé">
                  <a:extLst>
                    <a:ext uri="{FF2B5EF4-FFF2-40B4-BE49-F238E27FC236}">
                      <a16:creationId xmlns:a16="http://schemas.microsoft.com/office/drawing/2014/main" id="{490B62C9-4DF4-4CCA-87DE-3260F47562A4}"/>
                    </a:ext>
                  </a:extLst>
                </p:cNvPr>
                <p:cNvSpPr/>
                <p:nvPr/>
              </p:nvSpPr>
              <p:spPr>
                <a:xfrm>
                  <a:off x="7965942" y="3418872"/>
                  <a:ext cx="522466" cy="522466"/>
                </a:xfrm>
                <a:prstGeom prst="ellipse">
                  <a:avLst/>
                </a:prstGeom>
                <a:noFill/>
                <a:ln>
                  <a:solidFill>
                    <a:srgbClr val="1257F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i$1íḑe">
                  <a:extLst>
                    <a:ext uri="{FF2B5EF4-FFF2-40B4-BE49-F238E27FC236}">
                      <a16:creationId xmlns:a16="http://schemas.microsoft.com/office/drawing/2014/main" id="{60592479-5DDC-41A8-B187-8BBBD66DBE20}"/>
                    </a:ext>
                  </a:extLst>
                </p:cNvPr>
                <p:cNvSpPr/>
                <p:nvPr/>
              </p:nvSpPr>
              <p:spPr>
                <a:xfrm>
                  <a:off x="8133272" y="3599656"/>
                  <a:ext cx="217308" cy="19039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20000" h="120000" extrusionOk="0">
                      <a:moveTo>
                        <a:pt x="117009" y="65310"/>
                      </a:moveTo>
                      <a:lnTo>
                        <a:pt x="117009" y="65310"/>
                      </a:lnTo>
                      <a:lnTo>
                        <a:pt x="117009" y="65310"/>
                      </a:lnTo>
                      <a:cubicBezTo>
                        <a:pt x="61993" y="91073"/>
                        <a:pt x="61993" y="91073"/>
                        <a:pt x="61993" y="91073"/>
                      </a:cubicBezTo>
                      <a:lnTo>
                        <a:pt x="61993" y="91073"/>
                      </a:lnTo>
                      <a:lnTo>
                        <a:pt x="61993" y="91073"/>
                      </a:lnTo>
                      <a:lnTo>
                        <a:pt x="61993" y="91073"/>
                      </a:lnTo>
                      <a:cubicBezTo>
                        <a:pt x="61993" y="92655"/>
                        <a:pt x="60598" y="92655"/>
                        <a:pt x="60598" y="92655"/>
                      </a:cubicBezTo>
                      <a:cubicBezTo>
                        <a:pt x="59202" y="92655"/>
                        <a:pt x="59202" y="92655"/>
                        <a:pt x="57807" y="91073"/>
                      </a:cubicBezTo>
                      <a:lnTo>
                        <a:pt x="57807" y="91073"/>
                      </a:lnTo>
                      <a:lnTo>
                        <a:pt x="57807" y="91073"/>
                      </a:lnTo>
                      <a:lnTo>
                        <a:pt x="57807" y="91073"/>
                      </a:lnTo>
                      <a:cubicBezTo>
                        <a:pt x="2990" y="65310"/>
                        <a:pt x="2990" y="65310"/>
                        <a:pt x="2990" y="65310"/>
                      </a:cubicBezTo>
                      <a:lnTo>
                        <a:pt x="2990" y="65310"/>
                      </a:lnTo>
                      <a:cubicBezTo>
                        <a:pt x="1395" y="65310"/>
                        <a:pt x="0" y="62146"/>
                        <a:pt x="0" y="60564"/>
                      </a:cubicBezTo>
                      <a:cubicBezTo>
                        <a:pt x="0" y="55819"/>
                        <a:pt x="2990" y="54237"/>
                        <a:pt x="5780" y="54237"/>
                      </a:cubicBezTo>
                      <a:cubicBezTo>
                        <a:pt x="7176" y="54237"/>
                        <a:pt x="7176" y="54237"/>
                        <a:pt x="8571" y="54237"/>
                      </a:cubicBezTo>
                      <a:lnTo>
                        <a:pt x="8571" y="54237"/>
                      </a:lnTo>
                      <a:lnTo>
                        <a:pt x="8571" y="54237"/>
                      </a:lnTo>
                      <a:lnTo>
                        <a:pt x="8571" y="54237"/>
                      </a:lnTo>
                      <a:cubicBezTo>
                        <a:pt x="60598" y="78192"/>
                        <a:pt x="60598" y="78192"/>
                        <a:pt x="60598" y="78192"/>
                      </a:cubicBezTo>
                      <a:cubicBezTo>
                        <a:pt x="112823" y="54237"/>
                        <a:pt x="112823" y="54237"/>
                        <a:pt x="112823" y="54237"/>
                      </a:cubicBezTo>
                      <a:lnTo>
                        <a:pt x="112823" y="54237"/>
                      </a:lnTo>
                      <a:lnTo>
                        <a:pt x="112823" y="54237"/>
                      </a:lnTo>
                      <a:lnTo>
                        <a:pt x="112823" y="54237"/>
                      </a:lnTo>
                      <a:lnTo>
                        <a:pt x="114219" y="54237"/>
                      </a:lnTo>
                      <a:cubicBezTo>
                        <a:pt x="118405" y="54237"/>
                        <a:pt x="119800" y="55819"/>
                        <a:pt x="119800" y="60564"/>
                      </a:cubicBezTo>
                      <a:cubicBezTo>
                        <a:pt x="119800" y="62146"/>
                        <a:pt x="118405" y="65310"/>
                        <a:pt x="117009" y="65310"/>
                      </a:cubicBezTo>
                      <a:close/>
                      <a:moveTo>
                        <a:pt x="117009" y="38192"/>
                      </a:moveTo>
                      <a:lnTo>
                        <a:pt x="117009" y="38192"/>
                      </a:lnTo>
                      <a:lnTo>
                        <a:pt x="117009" y="38192"/>
                      </a:lnTo>
                      <a:cubicBezTo>
                        <a:pt x="61993" y="63728"/>
                        <a:pt x="61993" y="63728"/>
                        <a:pt x="61993" y="63728"/>
                      </a:cubicBezTo>
                      <a:lnTo>
                        <a:pt x="61993" y="63728"/>
                      </a:lnTo>
                      <a:lnTo>
                        <a:pt x="61993" y="63728"/>
                      </a:lnTo>
                      <a:lnTo>
                        <a:pt x="61993" y="63728"/>
                      </a:lnTo>
                      <a:lnTo>
                        <a:pt x="60598" y="63728"/>
                      </a:lnTo>
                      <a:cubicBezTo>
                        <a:pt x="59202" y="63728"/>
                        <a:pt x="59202" y="63728"/>
                        <a:pt x="57807" y="63728"/>
                      </a:cubicBezTo>
                      <a:lnTo>
                        <a:pt x="57807" y="63728"/>
                      </a:lnTo>
                      <a:lnTo>
                        <a:pt x="57807" y="63728"/>
                      </a:lnTo>
                      <a:lnTo>
                        <a:pt x="57807" y="63728"/>
                      </a:lnTo>
                      <a:cubicBezTo>
                        <a:pt x="2990" y="38192"/>
                        <a:pt x="2990" y="38192"/>
                        <a:pt x="2990" y="38192"/>
                      </a:cubicBezTo>
                      <a:lnTo>
                        <a:pt x="2990" y="38192"/>
                      </a:lnTo>
                      <a:cubicBezTo>
                        <a:pt x="1395" y="36610"/>
                        <a:pt x="0" y="35028"/>
                        <a:pt x="0" y="31864"/>
                      </a:cubicBezTo>
                      <a:cubicBezTo>
                        <a:pt x="0" y="30282"/>
                        <a:pt x="1395" y="27118"/>
                        <a:pt x="2990" y="27118"/>
                      </a:cubicBezTo>
                      <a:lnTo>
                        <a:pt x="2990" y="27118"/>
                      </a:lnTo>
                      <a:cubicBezTo>
                        <a:pt x="57807" y="1581"/>
                        <a:pt x="57807" y="1581"/>
                        <a:pt x="57807" y="1581"/>
                      </a:cubicBezTo>
                      <a:lnTo>
                        <a:pt x="57807" y="1581"/>
                      </a:lnTo>
                      <a:lnTo>
                        <a:pt x="57807" y="1581"/>
                      </a:lnTo>
                      <a:lnTo>
                        <a:pt x="57807" y="1581"/>
                      </a:lnTo>
                      <a:cubicBezTo>
                        <a:pt x="59202" y="0"/>
                        <a:pt x="59202" y="0"/>
                        <a:pt x="60598" y="0"/>
                      </a:cubicBezTo>
                      <a:cubicBezTo>
                        <a:pt x="60598" y="0"/>
                        <a:pt x="61993" y="0"/>
                        <a:pt x="61993" y="1581"/>
                      </a:cubicBezTo>
                      <a:lnTo>
                        <a:pt x="61993" y="1581"/>
                      </a:lnTo>
                      <a:lnTo>
                        <a:pt x="61993" y="1581"/>
                      </a:lnTo>
                      <a:lnTo>
                        <a:pt x="61993" y="1581"/>
                      </a:lnTo>
                      <a:cubicBezTo>
                        <a:pt x="117009" y="27118"/>
                        <a:pt x="117009" y="27118"/>
                        <a:pt x="117009" y="27118"/>
                      </a:cubicBezTo>
                      <a:lnTo>
                        <a:pt x="117009" y="27118"/>
                      </a:lnTo>
                      <a:cubicBezTo>
                        <a:pt x="118405" y="27118"/>
                        <a:pt x="119800" y="30282"/>
                        <a:pt x="119800" y="31864"/>
                      </a:cubicBezTo>
                      <a:cubicBezTo>
                        <a:pt x="119800" y="35028"/>
                        <a:pt x="118405" y="36610"/>
                        <a:pt x="117009" y="38192"/>
                      </a:cubicBezTo>
                      <a:close/>
                      <a:moveTo>
                        <a:pt x="5780" y="81355"/>
                      </a:moveTo>
                      <a:lnTo>
                        <a:pt x="5780" y="81355"/>
                      </a:lnTo>
                      <a:cubicBezTo>
                        <a:pt x="7176" y="81355"/>
                        <a:pt x="7176" y="81355"/>
                        <a:pt x="8571" y="81355"/>
                      </a:cubicBezTo>
                      <a:lnTo>
                        <a:pt x="8571" y="81355"/>
                      </a:lnTo>
                      <a:lnTo>
                        <a:pt x="8571" y="81355"/>
                      </a:lnTo>
                      <a:lnTo>
                        <a:pt x="8571" y="81355"/>
                      </a:lnTo>
                      <a:cubicBezTo>
                        <a:pt x="60598" y="106892"/>
                        <a:pt x="60598" y="106892"/>
                        <a:pt x="60598" y="106892"/>
                      </a:cubicBezTo>
                      <a:cubicBezTo>
                        <a:pt x="112823" y="81355"/>
                        <a:pt x="112823" y="81355"/>
                        <a:pt x="112823" y="81355"/>
                      </a:cubicBezTo>
                      <a:lnTo>
                        <a:pt x="112823" y="81355"/>
                      </a:lnTo>
                      <a:lnTo>
                        <a:pt x="112823" y="81355"/>
                      </a:lnTo>
                      <a:lnTo>
                        <a:pt x="112823" y="81355"/>
                      </a:lnTo>
                      <a:lnTo>
                        <a:pt x="114219" y="81355"/>
                      </a:lnTo>
                      <a:cubicBezTo>
                        <a:pt x="118405" y="81355"/>
                        <a:pt x="119800" y="84519"/>
                        <a:pt x="119800" y="87683"/>
                      </a:cubicBezTo>
                      <a:cubicBezTo>
                        <a:pt x="119800" y="91073"/>
                        <a:pt x="118405" y="92655"/>
                        <a:pt x="117009" y="94237"/>
                      </a:cubicBezTo>
                      <a:lnTo>
                        <a:pt x="117009" y="94237"/>
                      </a:lnTo>
                      <a:cubicBezTo>
                        <a:pt x="61993" y="119774"/>
                        <a:pt x="61993" y="119774"/>
                        <a:pt x="61993" y="119774"/>
                      </a:cubicBezTo>
                      <a:lnTo>
                        <a:pt x="61993" y="119774"/>
                      </a:lnTo>
                      <a:lnTo>
                        <a:pt x="61993" y="119774"/>
                      </a:lnTo>
                      <a:lnTo>
                        <a:pt x="61993" y="119774"/>
                      </a:lnTo>
                      <a:lnTo>
                        <a:pt x="60598" y="119774"/>
                      </a:lnTo>
                      <a:cubicBezTo>
                        <a:pt x="59202" y="119774"/>
                        <a:pt x="59202" y="119774"/>
                        <a:pt x="57807" y="119774"/>
                      </a:cubicBezTo>
                      <a:lnTo>
                        <a:pt x="57807" y="119774"/>
                      </a:lnTo>
                      <a:lnTo>
                        <a:pt x="57807" y="119774"/>
                      </a:lnTo>
                      <a:lnTo>
                        <a:pt x="57807" y="119774"/>
                      </a:lnTo>
                      <a:cubicBezTo>
                        <a:pt x="2990" y="94237"/>
                        <a:pt x="2990" y="94237"/>
                        <a:pt x="2990" y="94237"/>
                      </a:cubicBezTo>
                      <a:lnTo>
                        <a:pt x="2990" y="94237"/>
                      </a:lnTo>
                      <a:cubicBezTo>
                        <a:pt x="1395" y="92655"/>
                        <a:pt x="0" y="91073"/>
                        <a:pt x="0" y="87683"/>
                      </a:cubicBezTo>
                      <a:cubicBezTo>
                        <a:pt x="0" y="84519"/>
                        <a:pt x="2990" y="81355"/>
                        <a:pt x="5780" y="81355"/>
                      </a:cubicBezTo>
                      <a:close/>
                    </a:path>
                  </a:pathLst>
                </a:custGeom>
                <a:solidFill>
                  <a:srgbClr val="1257F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5" name="文字方塊 64"/>
            <p:cNvSpPr txBox="1"/>
            <p:nvPr/>
          </p:nvSpPr>
          <p:spPr>
            <a:xfrm>
              <a:off x="8569287" y="3119159"/>
              <a:ext cx="192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</p:grpSp>
      <p:sp>
        <p:nvSpPr>
          <p:cNvPr id="68" name="矩形 67"/>
          <p:cNvSpPr/>
          <p:nvPr/>
        </p:nvSpPr>
        <p:spPr>
          <a:xfrm>
            <a:off x="8358602" y="2929877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系统推广到37个部门,用户125人</a:t>
            </a:r>
            <a:r>
              <a:rPr lang="zh-TW" altLang="en-US" sz="1400" b="1" dirty="0" smtClean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endParaRPr lang="en-US" altLang="zh-TW" sz="1400" b="1" dirty="0" smtClean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 smtClean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</a:t>
            </a:r>
            <a:r>
              <a:rPr lang="zh-TW" altLang="en-US" sz="1400" dirty="0" smtClean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</a:t>
            </a:r>
            <a:r>
              <a:rPr lang="zh-TW" altLang="en-US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每人每天节约0.5小时计算 </a:t>
            </a:r>
          </a:p>
        </p:txBody>
      </p:sp>
    </p:spTree>
    <p:extLst>
      <p:ext uri="{BB962C8B-B14F-4D97-AF65-F5344CB8AC3E}">
        <p14:creationId xmlns:p14="http://schemas.microsoft.com/office/powerpoint/2010/main" val="147923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2000">
        <p14:pan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8391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系统页面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System page 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en-US" altLang="zh-CN" sz="22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3222FBE8-CE17-4A64-8CA7-B69D21DFAA15}"/>
              </a:ext>
            </a:extLst>
          </p:cNvPr>
          <p:cNvSpPr/>
          <p:nvPr/>
        </p:nvSpPr>
        <p:spPr>
          <a:xfrm>
            <a:off x="-14242" y="4747924"/>
            <a:ext cx="1875476" cy="1839602"/>
          </a:xfrm>
          <a:custGeom>
            <a:avLst/>
            <a:gdLst>
              <a:gd name="connsiteX0" fmla="*/ 585307 w 1875476"/>
              <a:gd name="connsiteY0" fmla="*/ 0 h 1839602"/>
              <a:gd name="connsiteX1" fmla="*/ 1875476 w 1875476"/>
              <a:gd name="connsiteY1" fmla="*/ 1280367 h 1839602"/>
              <a:gd name="connsiteX2" fmla="*/ 1774088 w 1875476"/>
              <a:gd name="connsiteY2" fmla="*/ 1778744 h 1839602"/>
              <a:gd name="connsiteX3" fmla="*/ 1744547 w 1875476"/>
              <a:gd name="connsiteY3" fmla="*/ 1839602 h 1839602"/>
              <a:gd name="connsiteX4" fmla="*/ 0 w 1875476"/>
              <a:gd name="connsiteY4" fmla="*/ 1839602 h 1839602"/>
              <a:gd name="connsiteX5" fmla="*/ 0 w 1875476"/>
              <a:gd name="connsiteY5" fmla="*/ 140352 h 1839602"/>
              <a:gd name="connsiteX6" fmla="*/ 83115 w 1875476"/>
              <a:gd name="connsiteY6" fmla="*/ 100618 h 1839602"/>
              <a:gd name="connsiteX7" fmla="*/ 585307 w 1875476"/>
              <a:gd name="connsiteY7" fmla="*/ 0 h 183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5476" h="1839602">
                <a:moveTo>
                  <a:pt x="585307" y="0"/>
                </a:moveTo>
                <a:cubicBezTo>
                  <a:pt x="1297848" y="0"/>
                  <a:pt x="1875476" y="573240"/>
                  <a:pt x="1875476" y="1280367"/>
                </a:cubicBezTo>
                <a:cubicBezTo>
                  <a:pt x="1875476" y="1457149"/>
                  <a:pt x="1839374" y="1625563"/>
                  <a:pt x="1774088" y="1778744"/>
                </a:cubicBezTo>
                <a:lnTo>
                  <a:pt x="1744547" y="1839602"/>
                </a:lnTo>
                <a:lnTo>
                  <a:pt x="0" y="1839602"/>
                </a:lnTo>
                <a:lnTo>
                  <a:pt x="0" y="140352"/>
                </a:lnTo>
                <a:lnTo>
                  <a:pt x="83115" y="100618"/>
                </a:lnTo>
                <a:cubicBezTo>
                  <a:pt x="237469" y="35828"/>
                  <a:pt x="407172" y="0"/>
                  <a:pt x="585307" y="0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0A18B4-6AD6-41C8-9C2A-638DC6263D01}"/>
              </a:ext>
            </a:extLst>
          </p:cNvPr>
          <p:cNvSpPr txBox="1"/>
          <p:nvPr/>
        </p:nvSpPr>
        <p:spPr>
          <a:xfrm>
            <a:off x="851762" y="1076190"/>
            <a:ext cx="28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存可视化图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334" y="1537856"/>
            <a:ext cx="9810802" cy="490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13439"/>
      </p:ext>
    </p:extLst>
  </p:cSld>
  <p:clrMapOvr>
    <a:masterClrMapping/>
  </p:clrMapOvr>
  <p:transition spd="slow" advClick="0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6105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</a:t>
                </a:r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统页面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System page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</a:p>
          </p:txBody>
        </p:sp>
      </p:grpSp>
      <p:pic>
        <p:nvPicPr>
          <p:cNvPr id="34" name="圖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33" y="1445522"/>
            <a:ext cx="9787467" cy="5048411"/>
          </a:xfrm>
          <a:prstGeom prst="rect">
            <a:avLst/>
          </a:prstGeom>
        </p:spPr>
      </p:pic>
      <p:sp>
        <p:nvSpPr>
          <p:cNvPr id="35" name="文本框 42">
            <a:extLst>
              <a:ext uri="{FF2B5EF4-FFF2-40B4-BE49-F238E27FC236}">
                <a16:creationId xmlns:a16="http://schemas.microsoft.com/office/drawing/2014/main" id="{7B0A18B4-6AD6-41C8-9C2A-638DC6263D01}"/>
              </a:ext>
            </a:extLst>
          </p:cNvPr>
          <p:cNvSpPr txBox="1"/>
          <p:nvPr/>
        </p:nvSpPr>
        <p:spPr>
          <a:xfrm>
            <a:off x="851762" y="1076190"/>
            <a:ext cx="28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存可视化图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5950466"/>
      </p:ext>
    </p:extLst>
  </p:cSld>
  <p:clrMapOvr>
    <a:masterClrMapping/>
  </p:clrMapOvr>
  <p:transition spd="slow" advClick="0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115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</a:t>
                </a:r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统页面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System page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</a:p>
          </p:txBody>
        </p:sp>
      </p:grpSp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06" y="1509532"/>
            <a:ext cx="5925377" cy="494945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778" y="1509532"/>
            <a:ext cx="6044616" cy="4852552"/>
          </a:xfrm>
          <a:prstGeom prst="rect">
            <a:avLst/>
          </a:prstGeom>
        </p:spPr>
      </p:pic>
      <p:sp>
        <p:nvSpPr>
          <p:cNvPr id="22" name="文本框 42">
            <a:extLst>
              <a:ext uri="{FF2B5EF4-FFF2-40B4-BE49-F238E27FC236}">
                <a16:creationId xmlns:a16="http://schemas.microsoft.com/office/drawing/2014/main" id="{7B0A18B4-6AD6-41C8-9C2A-638DC6263D01}"/>
              </a:ext>
            </a:extLst>
          </p:cNvPr>
          <p:cNvSpPr txBox="1"/>
          <p:nvPr/>
        </p:nvSpPr>
        <p:spPr>
          <a:xfrm>
            <a:off x="851762" y="1076190"/>
            <a:ext cx="28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治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具利旧系统：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8884352"/>
      </p:ext>
    </p:extLst>
  </p:cSld>
  <p:clrMapOvr>
    <a:masterClrMapping/>
  </p:clrMapOvr>
  <p:transition spd="slow" advClick="0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6105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</a:t>
                </a:r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统页面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System page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</a:p>
          </p:txBody>
        </p:sp>
      </p:grpSp>
      <p:sp>
        <p:nvSpPr>
          <p:cNvPr id="35" name="文本框 42">
            <a:extLst>
              <a:ext uri="{FF2B5EF4-FFF2-40B4-BE49-F238E27FC236}">
                <a16:creationId xmlns:a16="http://schemas.microsoft.com/office/drawing/2014/main" id="{7B0A18B4-6AD6-41C8-9C2A-638DC6263D01}"/>
              </a:ext>
            </a:extLst>
          </p:cNvPr>
          <p:cNvSpPr txBox="1"/>
          <p:nvPr/>
        </p:nvSpPr>
        <p:spPr>
          <a:xfrm>
            <a:off x="851762" y="1076190"/>
            <a:ext cx="28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EMS1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知识管理图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058" y="1621979"/>
            <a:ext cx="9771574" cy="47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35447"/>
      </p:ext>
    </p:extLst>
  </p:cSld>
  <p:clrMapOvr>
    <a:masterClrMapping/>
  </p:clrMapOvr>
  <p:transition spd="slow" advClick="0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6105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</a:t>
                </a:r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统页面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System page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</a:p>
          </p:txBody>
        </p:sp>
      </p:grpSp>
      <p:sp>
        <p:nvSpPr>
          <p:cNvPr id="35" name="文本框 42">
            <a:extLst>
              <a:ext uri="{FF2B5EF4-FFF2-40B4-BE49-F238E27FC236}">
                <a16:creationId xmlns:a16="http://schemas.microsoft.com/office/drawing/2014/main" id="{7B0A18B4-6AD6-41C8-9C2A-638DC6263D01}"/>
              </a:ext>
            </a:extLst>
          </p:cNvPr>
          <p:cNvSpPr txBox="1"/>
          <p:nvPr/>
        </p:nvSpPr>
        <p:spPr>
          <a:xfrm>
            <a:off x="851762" y="1076190"/>
            <a:ext cx="28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EMS1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知识管理图</a:t>
            </a: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812" y="1545034"/>
            <a:ext cx="9318983" cy="491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62889"/>
      </p:ext>
    </p:extLst>
  </p:cSld>
  <p:clrMapOvr>
    <a:masterClrMapping/>
  </p:clrMapOvr>
  <p:transition spd="slow" advClick="0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710A07-2A28-40EC-8D93-D7387474F0E6}"/>
              </a:ext>
            </a:extLst>
          </p:cNvPr>
          <p:cNvSpPr/>
          <p:nvPr/>
        </p:nvSpPr>
        <p:spPr>
          <a:xfrm>
            <a:off x="-28836" y="1053684"/>
            <a:ext cx="12192001" cy="58043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t="1" b="-181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7A7BA-1DE5-4665-9D30-DF265963F3B3}"/>
              </a:ext>
            </a:extLst>
          </p:cNvPr>
          <p:cNvSpPr/>
          <p:nvPr/>
        </p:nvSpPr>
        <p:spPr>
          <a:xfrm>
            <a:off x="-57671" y="1657350"/>
            <a:ext cx="12249671" cy="390525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6B1D381-2032-4BBA-9BCC-3F2ED3F7A23C}"/>
              </a:ext>
            </a:extLst>
          </p:cNvPr>
          <p:cNvSpPr/>
          <p:nvPr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C6F1E2-5A04-4423-A6C1-9B04901EF96E}"/>
              </a:ext>
            </a:extLst>
          </p:cNvPr>
          <p:cNvSpPr/>
          <p:nvPr/>
        </p:nvSpPr>
        <p:spPr>
          <a:xfrm flipH="1">
            <a:off x="-47886" y="2076450"/>
            <a:ext cx="12240000" cy="3009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B152BA-FB3A-4DEF-97AF-2D3132A6379B}"/>
              </a:ext>
            </a:extLst>
          </p:cNvPr>
          <p:cNvGrpSpPr/>
          <p:nvPr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16D1BA4-5DFB-495C-B4C0-D9BF0BD2A928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7585635-9F29-4E63-8ED6-2D0E97E9D29A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D8AB465-9371-4219-94C0-2D44DDA759B9}"/>
              </a:ext>
            </a:extLst>
          </p:cNvPr>
          <p:cNvSpPr txBox="1"/>
          <p:nvPr/>
        </p:nvSpPr>
        <p:spPr>
          <a:xfrm>
            <a:off x="504801" y="2381071"/>
            <a:ext cx="266059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0" dirty="0">
                <a:ln w="15875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5000" dirty="0">
              <a:ln w="15875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4E23612-32A5-4085-A451-FACD073E4899}"/>
              </a:ext>
            </a:extLst>
          </p:cNvPr>
          <p:cNvSpPr txBox="1"/>
          <p:nvPr/>
        </p:nvSpPr>
        <p:spPr>
          <a:xfrm>
            <a:off x="4678113" y="2870304"/>
            <a:ext cx="449258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b="1" dirty="0" smtClean="0">
                <a:ln w="1905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职涯规划</a:t>
            </a:r>
            <a:endParaRPr lang="zh-CN" altLang="en-US" sz="7500" b="1" dirty="0">
              <a:ln w="19050">
                <a:solidFill>
                  <a:schemeClr val="bg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851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2000">
        <p14:pan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115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职涯规划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Career plan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200" spc="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en-US" altLang="zh-CN" sz="22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BEF466E-6733-42E8-A15E-7B87B49AD0F6}"/>
              </a:ext>
            </a:extLst>
          </p:cNvPr>
          <p:cNvSpPr txBox="1"/>
          <p:nvPr/>
        </p:nvSpPr>
        <p:spPr>
          <a:xfrm>
            <a:off x="1413592" y="2957510"/>
            <a:ext cx="103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4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D6A8D9-8C6F-45AA-AA31-E1004CB7BCF2}"/>
              </a:ext>
            </a:extLst>
          </p:cNvPr>
          <p:cNvSpPr txBox="1"/>
          <p:nvPr/>
        </p:nvSpPr>
        <p:spPr>
          <a:xfrm>
            <a:off x="5039102" y="2957014"/>
            <a:ext cx="103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4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3" name="文本框 12" descr="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">
            <a:extLst>
              <a:ext uri="{FF2B5EF4-FFF2-40B4-BE49-F238E27FC236}">
                <a16:creationId xmlns:a16="http://schemas.microsoft.com/office/drawing/2014/main" id="{5129855A-9CFA-45EA-8D29-A01D49A972AF}"/>
              </a:ext>
            </a:extLst>
          </p:cNvPr>
          <p:cNvSpPr txBox="1"/>
          <p:nvPr/>
        </p:nvSpPr>
        <p:spPr>
          <a:xfrm>
            <a:off x="1028139" y="4867540"/>
            <a:ext cx="1886508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开发的系统扩展性，兼容性，安全性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更高。</a:t>
            </a:r>
            <a:endParaRPr lang="en-US" altLang="zh-CN" sz="1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统独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">
            <a:extLst>
              <a:ext uri="{FF2B5EF4-FFF2-40B4-BE49-F238E27FC236}">
                <a16:creationId xmlns:a16="http://schemas.microsoft.com/office/drawing/2014/main" id="{CBB963AB-3826-4ECD-88D9-7FE803BBDD00}"/>
              </a:ext>
            </a:extLst>
          </p:cNvPr>
          <p:cNvSpPr txBox="1"/>
          <p:nvPr/>
        </p:nvSpPr>
        <p:spPr>
          <a:xfrm>
            <a:off x="3692438" y="4800715"/>
            <a:ext cx="1910126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把控项目进度，完善项目管理能力</a:t>
            </a:r>
            <a:endParaRPr lang="en-US" altLang="zh-CN" sz="1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提高系统架构与设计能力</a:t>
            </a: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íšļîde">
            <a:extLst>
              <a:ext uri="{FF2B5EF4-FFF2-40B4-BE49-F238E27FC236}">
                <a16:creationId xmlns:a16="http://schemas.microsoft.com/office/drawing/2014/main" id="{DA85132F-A3DD-4AFC-912D-B56A1547E6F7}"/>
              </a:ext>
            </a:extLst>
          </p:cNvPr>
          <p:cNvSpPr/>
          <p:nvPr/>
        </p:nvSpPr>
        <p:spPr bwMode="auto">
          <a:xfrm>
            <a:off x="879624" y="1757572"/>
            <a:ext cx="4998140" cy="2608697"/>
          </a:xfrm>
          <a:custGeom>
            <a:avLst/>
            <a:gdLst/>
            <a:ahLst/>
            <a:cxnLst>
              <a:cxn ang="0">
                <a:pos x="1558" y="337"/>
              </a:cxn>
              <a:cxn ang="0">
                <a:pos x="1221" y="0"/>
              </a:cxn>
              <a:cxn ang="0">
                <a:pos x="407" y="814"/>
              </a:cxn>
              <a:cxn ang="0">
                <a:pos x="0" y="407"/>
              </a:cxn>
              <a:cxn ang="0">
                <a:pos x="402" y="5"/>
              </a:cxn>
              <a:cxn ang="0">
                <a:pos x="734" y="337"/>
              </a:cxn>
            </a:cxnLst>
            <a:rect l="0" t="0" r="r" b="b"/>
            <a:pathLst>
              <a:path w="1558" h="814">
                <a:moveTo>
                  <a:pt x="1558" y="337"/>
                </a:moveTo>
                <a:lnTo>
                  <a:pt x="1221" y="0"/>
                </a:lnTo>
                <a:lnTo>
                  <a:pt x="407" y="814"/>
                </a:lnTo>
                <a:lnTo>
                  <a:pt x="0" y="407"/>
                </a:lnTo>
                <a:lnTo>
                  <a:pt x="402" y="5"/>
                </a:lnTo>
                <a:lnTo>
                  <a:pt x="734" y="337"/>
                </a:lnTo>
              </a:path>
            </a:pathLst>
          </a:custGeom>
          <a:noFill/>
          <a:ln w="25400" cap="flat" cmpd="sng">
            <a:solidFill>
              <a:srgbClr val="1257F1"/>
            </a:solidFill>
            <a:prstDash val="solid"/>
            <a:round/>
            <a:headEnd/>
            <a:tailEnd/>
          </a:ln>
          <a:effectLst/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0C47F02-30C1-4BBB-B03D-144C8CDB1425}"/>
              </a:ext>
            </a:extLst>
          </p:cNvPr>
          <p:cNvGrpSpPr/>
          <p:nvPr/>
        </p:nvGrpSpPr>
        <p:grpSpPr>
          <a:xfrm>
            <a:off x="1283615" y="2163595"/>
            <a:ext cx="1770259" cy="1770259"/>
            <a:chOff x="1270767" y="1896895"/>
            <a:chExt cx="1770259" cy="1770259"/>
          </a:xfrm>
          <a:solidFill>
            <a:srgbClr val="8EBAE2"/>
          </a:solidFill>
        </p:grpSpPr>
        <p:sp>
          <p:nvSpPr>
            <p:cNvPr id="18" name="íṧlîdê">
              <a:extLst>
                <a:ext uri="{FF2B5EF4-FFF2-40B4-BE49-F238E27FC236}">
                  <a16:creationId xmlns:a16="http://schemas.microsoft.com/office/drawing/2014/main" id="{C636C4F1-71B3-43F4-B7FA-E81C9E2CAB59}"/>
                </a:ext>
              </a:extLst>
            </p:cNvPr>
            <p:cNvSpPr/>
            <p:nvPr/>
          </p:nvSpPr>
          <p:spPr>
            <a:xfrm>
              <a:off x="1270767" y="1896895"/>
              <a:ext cx="1770259" cy="1770259"/>
            </a:xfrm>
            <a:custGeom>
              <a:avLst/>
              <a:gdLst>
                <a:gd name="connsiteX0" fmla="*/ 692680 w 1385360"/>
                <a:gd name="connsiteY0" fmla="*/ 0 h 1385360"/>
                <a:gd name="connsiteX1" fmla="*/ 1385360 w 1385360"/>
                <a:gd name="connsiteY1" fmla="*/ 692679 h 1385360"/>
                <a:gd name="connsiteX2" fmla="*/ 692680 w 1385360"/>
                <a:gd name="connsiteY2" fmla="*/ 1385360 h 1385360"/>
                <a:gd name="connsiteX3" fmla="*/ 0 w 1385360"/>
                <a:gd name="connsiteY3" fmla="*/ 692680 h 138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defRPr/>
              </a:pPr>
              <a:r>
                <a:rPr lang="zh-CN" altLang="en-US" sz="20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zh-CN" altLang="en-US" sz="2000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级工程师</a:t>
              </a:r>
              <a:endPara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ïşľiḑé">
              <a:extLst>
                <a:ext uri="{FF2B5EF4-FFF2-40B4-BE49-F238E27FC236}">
                  <a16:creationId xmlns:a16="http://schemas.microsoft.com/office/drawing/2014/main" id="{3FEEB6F8-C975-487D-878A-8D9EA40701FE}"/>
                </a:ext>
              </a:extLst>
            </p:cNvPr>
            <p:cNvSpPr/>
            <p:nvPr/>
          </p:nvSpPr>
          <p:spPr>
            <a:xfrm>
              <a:off x="1985367" y="2036974"/>
              <a:ext cx="332939" cy="332939"/>
            </a:xfrm>
            <a:custGeom>
              <a:avLst/>
              <a:gdLst>
                <a:gd name="connsiteX0" fmla="*/ 130460 w 260920"/>
                <a:gd name="connsiteY0" fmla="*/ 0 h 260921"/>
                <a:gd name="connsiteX1" fmla="*/ 260920 w 260920"/>
                <a:gd name="connsiteY1" fmla="*/ 130461 h 260921"/>
                <a:gd name="connsiteX2" fmla="*/ 130460 w 260920"/>
                <a:gd name="connsiteY2" fmla="*/ 260921 h 260921"/>
                <a:gd name="connsiteX3" fmla="*/ 0 w 260920"/>
                <a:gd name="connsiteY3" fmla="*/ 130460 h 2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defRPr/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D7A649F-4A38-4100-A868-5288D77C2506}"/>
              </a:ext>
            </a:extLst>
          </p:cNvPr>
          <p:cNvGrpSpPr/>
          <p:nvPr/>
        </p:nvGrpSpPr>
        <p:grpSpPr>
          <a:xfrm>
            <a:off x="3896373" y="2179836"/>
            <a:ext cx="1772289" cy="1770259"/>
            <a:chOff x="3883525" y="1913136"/>
            <a:chExt cx="1772289" cy="1770259"/>
          </a:xfrm>
          <a:solidFill>
            <a:srgbClr val="8EBAE2"/>
          </a:solidFill>
        </p:grpSpPr>
        <p:sp>
          <p:nvSpPr>
            <p:cNvPr id="21" name="ïšḷîḑê">
              <a:extLst>
                <a:ext uri="{FF2B5EF4-FFF2-40B4-BE49-F238E27FC236}">
                  <a16:creationId xmlns:a16="http://schemas.microsoft.com/office/drawing/2014/main" id="{A98A0412-C1FC-4C15-9B60-678160BC7AF4}"/>
                </a:ext>
              </a:extLst>
            </p:cNvPr>
            <p:cNvSpPr/>
            <p:nvPr/>
          </p:nvSpPr>
          <p:spPr>
            <a:xfrm>
              <a:off x="3883525" y="1913136"/>
              <a:ext cx="1772289" cy="1770259"/>
            </a:xfrm>
            <a:custGeom>
              <a:avLst/>
              <a:gdLst>
                <a:gd name="connsiteX0" fmla="*/ 692680 w 1385360"/>
                <a:gd name="connsiteY0" fmla="*/ 0 h 1385360"/>
                <a:gd name="connsiteX1" fmla="*/ 1385360 w 1385360"/>
                <a:gd name="connsiteY1" fmla="*/ 692679 h 1385360"/>
                <a:gd name="connsiteX2" fmla="*/ 692680 w 1385360"/>
                <a:gd name="connsiteY2" fmla="*/ 1385360 h 1385360"/>
                <a:gd name="connsiteX3" fmla="*/ 0 w 1385360"/>
                <a:gd name="connsiteY3" fmla="*/ 692680 h 138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defRPr/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级工程师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ïṥ1íḑe">
              <a:extLst>
                <a:ext uri="{FF2B5EF4-FFF2-40B4-BE49-F238E27FC236}">
                  <a16:creationId xmlns:a16="http://schemas.microsoft.com/office/drawing/2014/main" id="{96E16095-B95D-4C61-A346-F9EFFA45257E}"/>
                </a:ext>
              </a:extLst>
            </p:cNvPr>
            <p:cNvSpPr/>
            <p:nvPr/>
          </p:nvSpPr>
          <p:spPr>
            <a:xfrm>
              <a:off x="4602185" y="2053215"/>
              <a:ext cx="334968" cy="332939"/>
            </a:xfrm>
            <a:custGeom>
              <a:avLst/>
              <a:gdLst>
                <a:gd name="connsiteX0" fmla="*/ 130460 w 260920"/>
                <a:gd name="connsiteY0" fmla="*/ 0 h 260921"/>
                <a:gd name="connsiteX1" fmla="*/ 260920 w 260920"/>
                <a:gd name="connsiteY1" fmla="*/ 130461 h 260921"/>
                <a:gd name="connsiteX2" fmla="*/ 130460 w 260920"/>
                <a:gd name="connsiteY2" fmla="*/ 260921 h 260921"/>
                <a:gd name="connsiteX3" fmla="*/ 0 w 260920"/>
                <a:gd name="connsiteY3" fmla="*/ 130460 h 2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defRPr/>
              </a:pPr>
              <a:r>
                <a:rPr lang="en-US" altLang="zh-CN" sz="1400" b="1">
                  <a:solidFill>
                    <a:schemeClr val="bg1"/>
                  </a:solidFill>
                </a:rPr>
                <a:t>2</a:t>
              </a:r>
              <a:endParaRPr lang="en-US" altLang="zh-CN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A5B59F4-F89E-4D75-B55C-B7A943A2EDD1}"/>
              </a:ext>
            </a:extLst>
          </p:cNvPr>
          <p:cNvGrpSpPr/>
          <p:nvPr/>
        </p:nvGrpSpPr>
        <p:grpSpPr>
          <a:xfrm>
            <a:off x="6525368" y="2179836"/>
            <a:ext cx="1772290" cy="1770259"/>
            <a:chOff x="6512520" y="1913136"/>
            <a:chExt cx="1772290" cy="1770259"/>
          </a:xfrm>
          <a:solidFill>
            <a:srgbClr val="8EBAE2"/>
          </a:solidFill>
        </p:grpSpPr>
        <p:sp>
          <p:nvSpPr>
            <p:cNvPr id="24" name="ïṥḷïḓe">
              <a:extLst>
                <a:ext uri="{FF2B5EF4-FFF2-40B4-BE49-F238E27FC236}">
                  <a16:creationId xmlns:a16="http://schemas.microsoft.com/office/drawing/2014/main" id="{437049BD-0EFA-454D-9C17-C2D320DA6F2E}"/>
                </a:ext>
              </a:extLst>
            </p:cNvPr>
            <p:cNvSpPr/>
            <p:nvPr/>
          </p:nvSpPr>
          <p:spPr>
            <a:xfrm>
              <a:off x="6512520" y="1913136"/>
              <a:ext cx="1772290" cy="1770259"/>
            </a:xfrm>
            <a:custGeom>
              <a:avLst/>
              <a:gdLst>
                <a:gd name="connsiteX0" fmla="*/ 692680 w 1385360"/>
                <a:gd name="connsiteY0" fmla="*/ 0 h 1385360"/>
                <a:gd name="connsiteX1" fmla="*/ 1385360 w 1385360"/>
                <a:gd name="connsiteY1" fmla="*/ 692679 h 1385360"/>
                <a:gd name="connsiteX2" fmla="*/ 692680 w 1385360"/>
                <a:gd name="connsiteY2" fmla="*/ 1385360 h 1385360"/>
                <a:gd name="connsiteX3" fmla="*/ 0 w 1385360"/>
                <a:gd name="connsiteY3" fmla="*/ 692680 h 138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5360" h="1385360">
                  <a:moveTo>
                    <a:pt x="692680" y="0"/>
                  </a:moveTo>
                  <a:lnTo>
                    <a:pt x="1385360" y="692679"/>
                  </a:lnTo>
                  <a:lnTo>
                    <a:pt x="692680" y="1385360"/>
                  </a:lnTo>
                  <a:lnTo>
                    <a:pt x="0" y="69268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defRPr/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目管理师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ïŝļíḍé">
              <a:extLst>
                <a:ext uri="{FF2B5EF4-FFF2-40B4-BE49-F238E27FC236}">
                  <a16:creationId xmlns:a16="http://schemas.microsoft.com/office/drawing/2014/main" id="{69E34651-F511-4FE0-BC75-8D272FAB314E}"/>
                </a:ext>
              </a:extLst>
            </p:cNvPr>
            <p:cNvSpPr/>
            <p:nvPr/>
          </p:nvSpPr>
          <p:spPr>
            <a:xfrm>
              <a:off x="7225091" y="2053215"/>
              <a:ext cx="332939" cy="332939"/>
            </a:xfrm>
            <a:custGeom>
              <a:avLst/>
              <a:gdLst>
                <a:gd name="connsiteX0" fmla="*/ 130460 w 260920"/>
                <a:gd name="connsiteY0" fmla="*/ 0 h 260921"/>
                <a:gd name="connsiteX1" fmla="*/ 260920 w 260920"/>
                <a:gd name="connsiteY1" fmla="*/ 130461 h 260921"/>
                <a:gd name="connsiteX2" fmla="*/ 130460 w 260920"/>
                <a:gd name="connsiteY2" fmla="*/ 260921 h 260921"/>
                <a:gd name="connsiteX3" fmla="*/ 0 w 260920"/>
                <a:gd name="connsiteY3" fmla="*/ 130460 h 26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0920" h="260921">
                  <a:moveTo>
                    <a:pt x="130460" y="0"/>
                  </a:moveTo>
                  <a:lnTo>
                    <a:pt x="260920" y="130461"/>
                  </a:lnTo>
                  <a:lnTo>
                    <a:pt x="130460" y="260921"/>
                  </a:lnTo>
                  <a:lnTo>
                    <a:pt x="0" y="13046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>
                <a:defRPr/>
              </a:pPr>
              <a:r>
                <a:rPr lang="en-US" altLang="zh-CN" sz="1400" b="1">
                  <a:solidFill>
                    <a:schemeClr val="bg1"/>
                  </a:solidFill>
                </a:rPr>
                <a:t>3</a:t>
              </a:r>
              <a:endParaRPr lang="en-US" altLang="zh-CN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iṩ1íḑé">
            <a:extLst>
              <a:ext uri="{FF2B5EF4-FFF2-40B4-BE49-F238E27FC236}">
                <a16:creationId xmlns:a16="http://schemas.microsoft.com/office/drawing/2014/main" id="{5352FF59-9349-469F-B601-B7A51C474BDD}"/>
              </a:ext>
            </a:extLst>
          </p:cNvPr>
          <p:cNvSpPr/>
          <p:nvPr/>
        </p:nvSpPr>
        <p:spPr>
          <a:xfrm>
            <a:off x="3697421" y="1751484"/>
            <a:ext cx="4797158" cy="2626967"/>
          </a:xfrm>
          <a:custGeom>
            <a:avLst/>
            <a:gdLst>
              <a:gd name="connsiteX0" fmla="*/ 0 w 3902075"/>
              <a:gd name="connsiteY0" fmla="*/ 1047871 h 2096659"/>
              <a:gd name="connsiteX1" fmla="*/ 1019175 w 3902075"/>
              <a:gd name="connsiteY1" fmla="*/ 2067046 h 2096659"/>
              <a:gd name="connsiteX2" fmla="*/ 3063875 w 3902075"/>
              <a:gd name="connsiteY2" fmla="*/ 25521 h 2096659"/>
              <a:gd name="connsiteX3" fmla="*/ 3902075 w 3902075"/>
              <a:gd name="connsiteY3" fmla="*/ 866896 h 2096659"/>
              <a:gd name="connsiteX4" fmla="*/ 3902075 w 3902075"/>
              <a:gd name="connsiteY4" fmla="*/ 866896 h 2096659"/>
              <a:gd name="connsiteX0" fmla="*/ 0 w 3902075"/>
              <a:gd name="connsiteY0" fmla="*/ 1047871 h 2096659"/>
              <a:gd name="connsiteX1" fmla="*/ 1019175 w 3902075"/>
              <a:gd name="connsiteY1" fmla="*/ 2067046 h 2096659"/>
              <a:gd name="connsiteX2" fmla="*/ 3063875 w 3902075"/>
              <a:gd name="connsiteY2" fmla="*/ 25521 h 2096659"/>
              <a:gd name="connsiteX3" fmla="*/ 3902075 w 3902075"/>
              <a:gd name="connsiteY3" fmla="*/ 866896 h 2096659"/>
              <a:gd name="connsiteX4" fmla="*/ 3902075 w 3902075"/>
              <a:gd name="connsiteY4" fmla="*/ 866896 h 2096659"/>
              <a:gd name="connsiteX0" fmla="*/ 0 w 3902075"/>
              <a:gd name="connsiteY0" fmla="*/ 1047871 h 2067046"/>
              <a:gd name="connsiteX1" fmla="*/ 1019175 w 3902075"/>
              <a:gd name="connsiteY1" fmla="*/ 2067046 h 2067046"/>
              <a:gd name="connsiteX2" fmla="*/ 3063875 w 3902075"/>
              <a:gd name="connsiteY2" fmla="*/ 25521 h 2067046"/>
              <a:gd name="connsiteX3" fmla="*/ 3902075 w 3902075"/>
              <a:gd name="connsiteY3" fmla="*/ 866896 h 2067046"/>
              <a:gd name="connsiteX4" fmla="*/ 3902075 w 3902075"/>
              <a:gd name="connsiteY4" fmla="*/ 866896 h 2067046"/>
              <a:gd name="connsiteX0" fmla="*/ 0 w 3902075"/>
              <a:gd name="connsiteY0" fmla="*/ 1047871 h 2067046"/>
              <a:gd name="connsiteX1" fmla="*/ 1019175 w 3902075"/>
              <a:gd name="connsiteY1" fmla="*/ 2067046 h 2067046"/>
              <a:gd name="connsiteX2" fmla="*/ 3063875 w 3902075"/>
              <a:gd name="connsiteY2" fmla="*/ 25521 h 2067046"/>
              <a:gd name="connsiteX3" fmla="*/ 3902075 w 3902075"/>
              <a:gd name="connsiteY3" fmla="*/ 866896 h 2067046"/>
              <a:gd name="connsiteX4" fmla="*/ 3902075 w 3902075"/>
              <a:gd name="connsiteY4" fmla="*/ 866896 h 2067046"/>
              <a:gd name="connsiteX0" fmla="*/ 0 w 3902075"/>
              <a:gd name="connsiteY0" fmla="*/ 1047871 h 2067046"/>
              <a:gd name="connsiteX1" fmla="*/ 1019175 w 3902075"/>
              <a:gd name="connsiteY1" fmla="*/ 2067046 h 2067046"/>
              <a:gd name="connsiteX2" fmla="*/ 3063875 w 3902075"/>
              <a:gd name="connsiteY2" fmla="*/ 25521 h 2067046"/>
              <a:gd name="connsiteX3" fmla="*/ 3902075 w 3902075"/>
              <a:gd name="connsiteY3" fmla="*/ 866896 h 2067046"/>
              <a:gd name="connsiteX4" fmla="*/ 3902075 w 3902075"/>
              <a:gd name="connsiteY4" fmla="*/ 866896 h 2067046"/>
              <a:gd name="connsiteX0" fmla="*/ 0 w 3902075"/>
              <a:gd name="connsiteY0" fmla="*/ 1047871 h 2067046"/>
              <a:gd name="connsiteX1" fmla="*/ 1019175 w 3902075"/>
              <a:gd name="connsiteY1" fmla="*/ 2067046 h 2067046"/>
              <a:gd name="connsiteX2" fmla="*/ 3063875 w 3902075"/>
              <a:gd name="connsiteY2" fmla="*/ 25521 h 2067046"/>
              <a:gd name="connsiteX3" fmla="*/ 3902075 w 3902075"/>
              <a:gd name="connsiteY3" fmla="*/ 866896 h 2067046"/>
              <a:gd name="connsiteX4" fmla="*/ 3902075 w 3902075"/>
              <a:gd name="connsiteY4" fmla="*/ 866896 h 2067046"/>
              <a:gd name="connsiteX0" fmla="*/ 0 w 3902075"/>
              <a:gd name="connsiteY0" fmla="*/ 1047871 h 2067046"/>
              <a:gd name="connsiteX1" fmla="*/ 1019175 w 3902075"/>
              <a:gd name="connsiteY1" fmla="*/ 2067046 h 2067046"/>
              <a:gd name="connsiteX2" fmla="*/ 3063875 w 3902075"/>
              <a:gd name="connsiteY2" fmla="*/ 25521 h 2067046"/>
              <a:gd name="connsiteX3" fmla="*/ 3902075 w 3902075"/>
              <a:gd name="connsiteY3" fmla="*/ 866896 h 2067046"/>
              <a:gd name="connsiteX4" fmla="*/ 3902075 w 3902075"/>
              <a:gd name="connsiteY4" fmla="*/ 866896 h 2067046"/>
              <a:gd name="connsiteX0" fmla="*/ 0 w 3902075"/>
              <a:gd name="connsiteY0" fmla="*/ 1047871 h 2067046"/>
              <a:gd name="connsiteX1" fmla="*/ 1019175 w 3902075"/>
              <a:gd name="connsiteY1" fmla="*/ 2067046 h 2067046"/>
              <a:gd name="connsiteX2" fmla="*/ 3063875 w 3902075"/>
              <a:gd name="connsiteY2" fmla="*/ 25521 h 2067046"/>
              <a:gd name="connsiteX3" fmla="*/ 3902075 w 3902075"/>
              <a:gd name="connsiteY3" fmla="*/ 866896 h 2067046"/>
              <a:gd name="connsiteX4" fmla="*/ 3902075 w 3902075"/>
              <a:gd name="connsiteY4" fmla="*/ 866896 h 2067046"/>
              <a:gd name="connsiteX0" fmla="*/ 0 w 3902075"/>
              <a:gd name="connsiteY0" fmla="*/ 1022350 h 2041525"/>
              <a:gd name="connsiteX1" fmla="*/ 1019175 w 3902075"/>
              <a:gd name="connsiteY1" fmla="*/ 2041525 h 2041525"/>
              <a:gd name="connsiteX2" fmla="*/ 3063875 w 3902075"/>
              <a:gd name="connsiteY2" fmla="*/ 0 h 2041525"/>
              <a:gd name="connsiteX3" fmla="*/ 3902075 w 3902075"/>
              <a:gd name="connsiteY3" fmla="*/ 841375 h 2041525"/>
              <a:gd name="connsiteX4" fmla="*/ 3902075 w 3902075"/>
              <a:gd name="connsiteY4" fmla="*/ 841375 h 2041525"/>
              <a:gd name="connsiteX0" fmla="*/ 0 w 3902075"/>
              <a:gd name="connsiteY0" fmla="*/ 1022350 h 1879600"/>
              <a:gd name="connsiteX1" fmla="*/ 847725 w 3902075"/>
              <a:gd name="connsiteY1" fmla="*/ 1879600 h 1879600"/>
              <a:gd name="connsiteX2" fmla="*/ 3063875 w 3902075"/>
              <a:gd name="connsiteY2" fmla="*/ 0 h 1879600"/>
              <a:gd name="connsiteX3" fmla="*/ 3902075 w 3902075"/>
              <a:gd name="connsiteY3" fmla="*/ 841375 h 1879600"/>
              <a:gd name="connsiteX4" fmla="*/ 3902075 w 3902075"/>
              <a:gd name="connsiteY4" fmla="*/ 841375 h 1879600"/>
              <a:gd name="connsiteX0" fmla="*/ 0 w 3902075"/>
              <a:gd name="connsiteY0" fmla="*/ 1196975 h 2054225"/>
              <a:gd name="connsiteX1" fmla="*/ 847725 w 3902075"/>
              <a:gd name="connsiteY1" fmla="*/ 2054225 h 2054225"/>
              <a:gd name="connsiteX2" fmla="*/ 2895600 w 3902075"/>
              <a:gd name="connsiteY2" fmla="*/ 0 h 2054225"/>
              <a:gd name="connsiteX3" fmla="*/ 3902075 w 3902075"/>
              <a:gd name="connsiteY3" fmla="*/ 1016000 h 2054225"/>
              <a:gd name="connsiteX4" fmla="*/ 3902075 w 3902075"/>
              <a:gd name="connsiteY4" fmla="*/ 1016000 h 2054225"/>
              <a:gd name="connsiteX0" fmla="*/ 0 w 3902075"/>
              <a:gd name="connsiteY0" fmla="*/ 1196975 h 2054225"/>
              <a:gd name="connsiteX1" fmla="*/ 847725 w 3902075"/>
              <a:gd name="connsiteY1" fmla="*/ 2054225 h 2054225"/>
              <a:gd name="connsiteX2" fmla="*/ 2895600 w 3902075"/>
              <a:gd name="connsiteY2" fmla="*/ 0 h 2054225"/>
              <a:gd name="connsiteX3" fmla="*/ 3751060 w 3902075"/>
              <a:gd name="connsiteY3" fmla="*/ 864864 h 2054225"/>
              <a:gd name="connsiteX4" fmla="*/ 3902075 w 3902075"/>
              <a:gd name="connsiteY4" fmla="*/ 1016000 h 2054225"/>
              <a:gd name="connsiteX5" fmla="*/ 3902075 w 3902075"/>
              <a:gd name="connsiteY5" fmla="*/ 1016000 h 2054225"/>
              <a:gd name="connsiteX0" fmla="*/ 0 w 3902075"/>
              <a:gd name="connsiteY0" fmla="*/ 1196975 h 2054225"/>
              <a:gd name="connsiteX1" fmla="*/ 847725 w 3902075"/>
              <a:gd name="connsiteY1" fmla="*/ 2054225 h 2054225"/>
              <a:gd name="connsiteX2" fmla="*/ 2895600 w 3902075"/>
              <a:gd name="connsiteY2" fmla="*/ 0 h 2054225"/>
              <a:gd name="connsiteX3" fmla="*/ 3751060 w 3902075"/>
              <a:gd name="connsiteY3" fmla="*/ 864864 h 2054225"/>
              <a:gd name="connsiteX4" fmla="*/ 3902075 w 3902075"/>
              <a:gd name="connsiteY4" fmla="*/ 1016000 h 2054225"/>
              <a:gd name="connsiteX0" fmla="*/ 0 w 3751060"/>
              <a:gd name="connsiteY0" fmla="*/ 1196975 h 2054225"/>
              <a:gd name="connsiteX1" fmla="*/ 847725 w 3751060"/>
              <a:gd name="connsiteY1" fmla="*/ 2054225 h 2054225"/>
              <a:gd name="connsiteX2" fmla="*/ 2895600 w 3751060"/>
              <a:gd name="connsiteY2" fmla="*/ 0 h 2054225"/>
              <a:gd name="connsiteX3" fmla="*/ 3751060 w 3751060"/>
              <a:gd name="connsiteY3" fmla="*/ 864864 h 205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1060" h="2054225">
                <a:moveTo>
                  <a:pt x="0" y="1196975"/>
                </a:moveTo>
                <a:cubicBezTo>
                  <a:pt x="339725" y="1536700"/>
                  <a:pt x="508000" y="1714500"/>
                  <a:pt x="847725" y="2054225"/>
                </a:cubicBezTo>
                <a:lnTo>
                  <a:pt x="2895600" y="0"/>
                </a:lnTo>
                <a:lnTo>
                  <a:pt x="3751060" y="864864"/>
                </a:lnTo>
              </a:path>
            </a:pathLst>
          </a:custGeom>
          <a:noFill/>
          <a:ln w="25400">
            <a:solidFill>
              <a:srgbClr val="1257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ED937D2-B1C3-400B-BC03-73FC64A969E5}"/>
              </a:ext>
            </a:extLst>
          </p:cNvPr>
          <p:cNvCxnSpPr/>
          <p:nvPr/>
        </p:nvCxnSpPr>
        <p:spPr>
          <a:xfrm>
            <a:off x="3516560" y="4772292"/>
            <a:ext cx="0" cy="908538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D9CA482-9060-4B3F-8B6F-34EEDF915441}"/>
              </a:ext>
            </a:extLst>
          </p:cNvPr>
          <p:cNvCxnSpPr/>
          <p:nvPr/>
        </p:nvCxnSpPr>
        <p:spPr>
          <a:xfrm>
            <a:off x="6108848" y="4772292"/>
            <a:ext cx="0" cy="908538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1DFD0FE-96E2-4DFC-A0C1-94971C396484}"/>
              </a:ext>
            </a:extLst>
          </p:cNvPr>
          <p:cNvCxnSpPr/>
          <p:nvPr/>
        </p:nvCxnSpPr>
        <p:spPr>
          <a:xfrm>
            <a:off x="8769752" y="4772292"/>
            <a:ext cx="0" cy="908538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 descr="e7d195523061f1c0deeec63e560781cfd59afb0ea006f2a87ABB68BF51EA6619813959095094C18C62A12F549504892A4AAA8C1554C6663626E05CA27F281A14E6983772AFC3FB97135759321DEA3D704CB8FFD9D2544D205DFD9452AF5C24171A02DC413C4E9E95A0259E43A29C8CF0063CADF8A4F89C6E74ABA5E43AE0EF4BB9CE24E58B8BC46C898B2DB6E1B2C577">
            <a:extLst>
              <a:ext uri="{FF2B5EF4-FFF2-40B4-BE49-F238E27FC236}">
                <a16:creationId xmlns:a16="http://schemas.microsoft.com/office/drawing/2014/main" id="{65D55020-5FD5-40E3-AA28-0F3390D2966C}"/>
              </a:ext>
            </a:extLst>
          </p:cNvPr>
          <p:cNvSpPr txBox="1"/>
          <p:nvPr/>
        </p:nvSpPr>
        <p:spPr>
          <a:xfrm>
            <a:off x="6380355" y="4848998"/>
            <a:ext cx="2114224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项目管理全过程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管理控制</a:t>
            </a:r>
            <a:endParaRPr lang="en-US" altLang="zh-CN" sz="1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团队管理</a:t>
            </a:r>
            <a:endParaRPr lang="en-US" altLang="zh-CN" sz="14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990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2000">
        <p14:pan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 animBg="1"/>
      <p:bldP spid="26" grpId="0" animBg="1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710A07-2A28-40EC-8D93-D7387474F0E6}"/>
              </a:ext>
            </a:extLst>
          </p:cNvPr>
          <p:cNvSpPr/>
          <p:nvPr/>
        </p:nvSpPr>
        <p:spPr>
          <a:xfrm>
            <a:off x="-28836" y="1053684"/>
            <a:ext cx="12192001" cy="5804316"/>
          </a:xfrm>
          <a:prstGeom prst="rect">
            <a:avLst/>
          </a:prstGeom>
          <a:blipFill dpi="0" rotWithShape="1">
            <a:blip r:embed="rId4">
              <a:alphaModFix amt="10000"/>
            </a:blip>
            <a:srcRect/>
            <a:stretch>
              <a:fillRect t="1" b="-181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7A7BA-1DE5-4665-9D30-DF265963F3B3}"/>
              </a:ext>
            </a:extLst>
          </p:cNvPr>
          <p:cNvSpPr/>
          <p:nvPr/>
        </p:nvSpPr>
        <p:spPr>
          <a:xfrm>
            <a:off x="7281261" y="0"/>
            <a:ext cx="4472589" cy="685800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6B1D381-2032-4BBA-9BCC-3F2ED3F7A23C}"/>
              </a:ext>
            </a:extLst>
          </p:cNvPr>
          <p:cNvSpPr/>
          <p:nvPr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C6F1E2-5A04-4423-A6C1-9B04901EF96E}"/>
              </a:ext>
            </a:extLst>
          </p:cNvPr>
          <p:cNvSpPr/>
          <p:nvPr/>
        </p:nvSpPr>
        <p:spPr>
          <a:xfrm flipH="1">
            <a:off x="7707298" y="0"/>
            <a:ext cx="363697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PA_文本框 18">
            <a:extLst>
              <a:ext uri="{FF2B5EF4-FFF2-40B4-BE49-F238E27FC236}">
                <a16:creationId xmlns:a16="http://schemas.microsoft.com/office/drawing/2014/main" id="{85DB1B22-E95D-4460-B4D9-8349FB7A6AA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44011" y="4012467"/>
            <a:ext cx="2513214" cy="51935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MP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15630606399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8" name="PA_文本框 18">
            <a:extLst>
              <a:ext uri="{FF2B5EF4-FFF2-40B4-BE49-F238E27FC236}">
                <a16:creationId xmlns:a16="http://schemas.microsoft.com/office/drawing/2014/main" id="{613F8FCA-D71A-4DB0-BEA6-1CE17527F1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31437" y="4755705"/>
            <a:ext cx="4138362" cy="51935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none" lIns="91440" tIns="45720" rIns="91440" bIns="45720" rtlCol="0" anchor="ctr">
            <a:spAutoFit/>
          </a:bodyPr>
          <a:lstStyle/>
          <a:p>
            <a:pPr lvl="0" algn="ctr" defTabSz="914377"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BLOG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https://blog.csdn.net/l350z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B152BA-FB3A-4DEF-97AF-2D3132A6379B}"/>
              </a:ext>
            </a:extLst>
          </p:cNvPr>
          <p:cNvGrpSpPr/>
          <p:nvPr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16D1BA4-5DFB-495C-B4C0-D9BF0BD2A928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7585635-9F29-4E63-8ED6-2D0E97E9D29A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Rectangle 4">
            <a:hlinkClick r:id="rId5"/>
          </p:cNvPr>
          <p:cNvSpPr>
            <a:spLocks noChangeArrowheads="1"/>
          </p:cNvSpPr>
          <p:nvPr/>
        </p:nvSpPr>
        <p:spPr bwMode="auto">
          <a:xfrm>
            <a:off x="614490" y="1330294"/>
            <a:ext cx="71628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0" lang="zh-CN" altLang="en-US" sz="6600" b="1" dirty="0" smtClean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谢</a:t>
            </a:r>
            <a:r>
              <a:rPr kumimoji="0" lang="zh-CN" altLang="en-US" sz="6600" b="1" dirty="0" smtClean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谢！</a:t>
            </a:r>
            <a:endParaRPr kumimoji="0" lang="zh-TW" altLang="en-US" sz="6600" b="1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1852011" y="2773764"/>
            <a:ext cx="38972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kumimoji="0" lang="zh-CN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ea typeface="SimHei" panose="02010609060101010101" pitchFamily="49" charset="-122"/>
              </a:rPr>
              <a:t>欢</a:t>
            </a:r>
            <a:r>
              <a:rPr kumimoji="0" lang="zh-CN" alt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Hei" panose="02010609060101010101" pitchFamily="49" charset="-122"/>
              </a:rPr>
              <a:t>迎提问指导</a:t>
            </a:r>
            <a:endParaRPr kumimoji="0" lang="zh-TW" altLang="en-US" sz="4800" b="1" dirty="0">
              <a:solidFill>
                <a:srgbClr val="FF0000"/>
              </a:solidFill>
              <a:latin typeface="Times New Roman" panose="02020603050405020304" pitchFamily="18" charset="0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28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8000">
        <p:split orient="vert"/>
      </p:transition>
    </mc:Choice>
    <mc:Fallback xmlns="">
      <p:transition spd="slow" advClick="0" advTm="8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7" grpId="0" animBg="1"/>
      <p:bldP spid="1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1239</Words>
  <Application>Microsoft Office PowerPoint</Application>
  <PresentationFormat>寬螢幕</PresentationFormat>
  <Paragraphs>193</Paragraphs>
  <Slides>18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34" baseType="lpstr">
      <vt:lpstr>Arial Unicode MS</vt:lpstr>
      <vt:lpstr>等线</vt:lpstr>
      <vt:lpstr>等线 Light</vt:lpstr>
      <vt:lpstr>微软雅黑</vt:lpstr>
      <vt:lpstr>微软雅黑</vt:lpstr>
      <vt:lpstr>SimHei</vt:lpstr>
      <vt:lpstr>宋体</vt:lpstr>
      <vt:lpstr>宋体</vt:lpstr>
      <vt:lpstr>思源黑体 CN ExtraLight</vt:lpstr>
      <vt:lpstr>思源宋体</vt:lpstr>
      <vt:lpstr>新細明體</vt:lpstr>
      <vt:lpstr>站酷快乐体2016修订版</vt:lpstr>
      <vt:lpstr>Arial</vt:lpstr>
      <vt:lpstr>Impact</vt:lpstr>
      <vt:lpstr>Times New Roman</vt:lpstr>
      <vt:lpstr>Office 主题​​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swl20</dc:creator>
  <cp:lastModifiedBy>gao</cp:lastModifiedBy>
  <cp:revision>95</cp:revision>
  <dcterms:created xsi:type="dcterms:W3CDTF">2020-05-23T02:50:13Z</dcterms:created>
  <dcterms:modified xsi:type="dcterms:W3CDTF">2024-06-25T07:26:51Z</dcterms:modified>
</cp:coreProperties>
</file>